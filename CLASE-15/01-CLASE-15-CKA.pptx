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2000" y="-1350000"/>
            <a:ext cx="4500000" cy="4500000"/>
          </a:xfrm>
          <a:prstGeom prst="ellipse">
            <a:avLst/>
          </a:prstGeom>
          <a:solidFill>
            <a:srgbClr val="0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42000" y="5308000"/>
            <a:ext cx="2900000" cy="2900000"/>
          </a:xfrm>
          <a:prstGeom prst="ellipse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000" y="1000000"/>
            <a:ext cx="1650000" cy="16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0000" y="300000"/>
            <a:ext cx="86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CKA HANDS-ON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" y="1620000"/>
            <a:ext cx="8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spc="200">
                <a:solidFill>
                  <a:srgbClr val="74A6FF"/>
                </a:solidFill>
                <a:latin typeface="Segoe UI Semibold"/>
              </a:rPr>
              <a:t>SESIÓN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" y="2040000"/>
            <a:ext cx="89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 i="0">
                <a:solidFill>
                  <a:srgbClr val="F3F6FC"/>
                </a:solidFill>
                <a:latin typeface="Segoe UI Light"/>
              </a:rPr>
              <a:t>Proyecto Integrador y Evaluación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000" y="356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000" y="3760000"/>
            <a:ext cx="8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Desplegar GRATITUD entero, validar cada capa y demostrarlo en el examen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0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00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Especial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SESIÓN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55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55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55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6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CAPAS A INTEGRAR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10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10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10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2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EXÁMENES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65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65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65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GRATITUD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ARQUITECTURA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Al terminar esta sesión habrás demostrado que…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10983200" y="326200"/>
            <a:ext cx="537600" cy="537600"/>
          </a:xfrm>
          <a:prstGeom prst="ellipse">
            <a:avLst/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8400" y="441400"/>
            <a:ext cx="307200" cy="307200"/>
          </a:xfrm>
          <a:prstGeom prst="ellipse">
            <a:avLst/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00800" y="543800"/>
            <a:ext cx="102400" cy="102400"/>
          </a:xfrm>
          <a:prstGeom prst="ellipse">
            <a:avLst/>
          </a:prstGeom>
          <a:solidFill>
            <a:srgbClr val="74A6FF"/>
          </a:solidFill>
          <a:ln w="635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0000" y="20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000" y="193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Despliegas una arquitectura de microservicios completa a partir de una especificación.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620000" y="26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000" y="249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Conectas las capas: Ingress, Services entre namespaces y un servicio externo.</a:t>
            </a:r>
          </a:p>
        </p:txBody>
      </p:sp>
      <p:sp>
        <p:nvSpPr>
          <p:cNvPr id="15" name="Oval 14"/>
          <p:cNvSpPr/>
          <p:nvPr/>
        </p:nvSpPr>
        <p:spPr>
          <a:xfrm>
            <a:off x="620000" y="318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000" y="305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Das persistencia a los datos con PVC y externalizas la configuración con ConfigMap y Secret.</a:t>
            </a:r>
          </a:p>
        </p:txBody>
      </p:sp>
      <p:sp>
        <p:nvSpPr>
          <p:cNvPr id="17" name="Oval 16"/>
          <p:cNvSpPr/>
          <p:nvPr/>
        </p:nvSpPr>
        <p:spPr>
          <a:xfrm>
            <a:off x="620000" y="374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000" y="361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Proteges los workloads con sondas, límites de recursos y métricas.</a:t>
            </a:r>
          </a:p>
        </p:txBody>
      </p:sp>
      <p:sp>
        <p:nvSpPr>
          <p:cNvPr id="19" name="Oval 18"/>
          <p:cNvSpPr/>
          <p:nvPr/>
        </p:nvSpPr>
        <p:spPr>
          <a:xfrm>
            <a:off x="620000" y="430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000" y="417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Aplicas RBAC de mínimo privilegio, NetworkPolicy y Pod Security.</a:t>
            </a:r>
          </a:p>
        </p:txBody>
      </p:sp>
      <p:sp>
        <p:nvSpPr>
          <p:cNvPr id="21" name="Oval 20"/>
          <p:cNvSpPr/>
          <p:nvPr/>
        </p:nvSpPr>
        <p:spPr>
          <a:xfrm>
            <a:off x="620000" y="48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000" y="473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Empaquetas todo como un chart de Helm reproducible.</a:t>
            </a:r>
          </a:p>
        </p:txBody>
      </p:sp>
      <p:sp>
        <p:nvSpPr>
          <p:cNvPr id="23" name="Oval 22"/>
          <p:cNvSpPr/>
          <p:nvPr/>
        </p:nvSpPr>
        <p:spPr>
          <a:xfrm>
            <a:off x="620000" y="54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000" y="529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Diagnosticas y reparas fallos repartidos por las seis capas, contra reloj.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SESIÓN ESPECIAL · CIERRE DEL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10983200" y="326200"/>
            <a:ext cx="537600" cy="537600"/>
          </a:xfrm>
          <a:prstGeom prst="ellipse">
            <a:avLst/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1252000" y="415800"/>
            <a:ext cx="0" cy="17920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252000" y="595000"/>
            <a:ext cx="128000" cy="5120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0000" y="201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00–10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0000" y="218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0000" y="201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Repaso del track: de la sesión 9 a la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" y="248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10–25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0000" y="265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20000" y="248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La arquitectura a construir y sus criterios de aceptación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0000" y="2990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000" y="295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25–85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20000" y="3125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20000" y="295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15.1 — Integrador: desplegar GRATITUD de extremo a extremo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0000" y="3460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" y="342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85–110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0000" y="3595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20000" y="342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15.2 — Validación en tiempo real de las seis capas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000" y="389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110–120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20000" y="406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20000" y="389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Formato de la evaluación y errores que cuestan puntos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0000" y="4400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000" y="436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120–160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20000" y="4535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0000" y="436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15.3 — Examen práctico: escenario roto, contra reloj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0000" y="4870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0000" y="483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160–175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20000" y="5005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20000" y="483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15.4 — Examen teórico: casos reales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000" y="530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175–180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20000" y="547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20000" y="530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Cierre del módulo Kubernetes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000" y="2150000"/>
            <a:ext cx="1800000" cy="1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La arquitectura a construir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GRATITUD completo: seis capas, un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PROGRAMA GRATITUD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El flujo de extremo a extremo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05</a:t>
            </a:r>
          </a:p>
        </p:txBody>
      </p:sp>
      <p:pic>
        <p:nvPicPr>
          <p:cNvPr id="8" name="Picture 7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1470000"/>
            <a:ext cx="10952000" cy="776666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0000" y="1693333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0000" y="1470000"/>
            <a:ext cx="2500000" cy="7766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Entrada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0000" y="1640866"/>
            <a:ext cx="8000" cy="434933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0000" y="1470000"/>
            <a:ext cx="7202000" cy="7766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Ingress + TLS Secret. / → portal, /api → api. Único punto de entrada desde fuera.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000" y="2254666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00" y="2416666"/>
            <a:ext cx="10952000" cy="776666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0000" y="2640000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0000" y="2416666"/>
            <a:ext cx="2500000" cy="7766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0000" y="2587533"/>
            <a:ext cx="8000" cy="434933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70000" y="2416666"/>
            <a:ext cx="7202000" cy="7766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portal, api y cache: Deployments no-root con startup/liveness/readiness, requests/limits y prometheus.io/scrape.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000" y="3201333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000" y="3363333"/>
            <a:ext cx="10952000" cy="776666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0000" y="3586666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0000" y="3363333"/>
            <a:ext cx="2500000" cy="7766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Datos y config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0000" y="3534199"/>
            <a:ext cx="8000" cy="434933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70000" y="3363333"/>
            <a:ext cx="7202000" cy="7766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PVC de 1Gi en la capa de datos. ConfigMap + 2 Secrets inyectados en la API. db-externa por ExternalName.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El cliente entra por un Ingress con TLS propio (host gratitud.example.com). El Ingress enruta / al portal y /api a la API. El portal, la API y la caché corren como Deployments con sondas, límites de recursos y anotaciones de métricas para Prometheus; la imagen es no-root y el namespace aplica el nivel restricted de Pod Security.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La API lee su configuración de un ConfigMap (nivel de log, flags) y sus credenciales de dos Secrets (base de datos y tokens). Llama a la caché por su Service ClusterIP y a la base de datos externa a través de un Service ExternalName. La capa de datos monta un PVC de 1Gi para los ficheros que suben los usuarios, que sobrevive a la recreación de los Pods.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El tráfico está cerrado por defecto: una NetworkPolicy default deny en el namespace, y solo se permite DNS, cliente→portal, portal→api y api→(caché, db-externa). Una ServiceAccount de despliegue tiene un Role acotado para actualizar los Deployments y ConfigMaps de GRATITUD, y nada más. Todo se instala con helm install gratitud ./gratitud.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LAS SEIS CAPAS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Qué se integra y de qué sesión viene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06</a:t>
            </a:r>
          </a:p>
        </p:txBody>
      </p:sp>
      <p:pic>
        <p:nvPicPr>
          <p:cNvPr id="8" name="Picture 7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0000" y="1470000"/>
            <a:ext cx="10952000" cy="420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1882000"/>
            <a:ext cx="10952000" cy="1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000" y="1470000"/>
            <a:ext cx="2766909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CAPA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6909" y="1470000"/>
            <a:ext cx="5753818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OBJETOS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40727" y="1470000"/>
            <a:ext cx="1771272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SESIÓN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000" y="24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" y="189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Services y DNS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6909" y="1890000"/>
            <a:ext cx="5753818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ClusterIP, ExternalName, EndpointSlice, FQDN entre namespaces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40727" y="1890000"/>
            <a:ext cx="1771272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S9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000" y="245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000" y="301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0000" y="245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Ingress y TLS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6909" y="2450000"/>
            <a:ext cx="5753818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Ingress por host y path, Secret kubernetes.io/tls, controlador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0727" y="2450000"/>
            <a:ext cx="1771272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S10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357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000" y="301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Config y almacenamiento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6909" y="3010000"/>
            <a:ext cx="5753818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ConfigMap, Secrets, envFrom/valueFrom/volumen, PVC, StorageClass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0727" y="3010000"/>
            <a:ext cx="1771272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S11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000" y="357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000" y="413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000" y="357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Observabilidad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6909" y="3570000"/>
            <a:ext cx="5753818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startup/liveness/readiness, requests/limits, metrics-server, anotaciones Prometheus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0727" y="3570000"/>
            <a:ext cx="1771272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S12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000" y="469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000" y="413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Seguridad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66909" y="4130000"/>
            <a:ext cx="5753818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SA + Role + RoleBinding, NetworkPolicy default deny, Pod Security restricted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0727" y="4130000"/>
            <a:ext cx="1771272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S13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0000" y="469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0000" y="52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0000" y="469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Empaquetado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66909" y="4690000"/>
            <a:ext cx="5753818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Chart de Helm: Chart.yaml, values por entorno, templates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40727" y="4690000"/>
            <a:ext cx="1771272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S14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CRITERIOS DE ACEPTACIÓN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Cuándo el integrador está terminado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07</a:t>
            </a:r>
          </a:p>
        </p:txBody>
      </p:sp>
      <p:pic>
        <p:nvPicPr>
          <p:cNvPr id="8" name="Picture 7" descr="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36000" y="1751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000" y="1470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Las seis capas funcionan JUNTAS, verificadas de extremo a extremo.</a:t>
            </a:r>
          </a:p>
        </p:txBody>
      </p:sp>
      <p:sp>
        <p:nvSpPr>
          <p:cNvPr id="11" name="Oval 10"/>
          <p:cNvSpPr/>
          <p:nvPr/>
        </p:nvSpPr>
        <p:spPr>
          <a:xfrm>
            <a:off x="636000" y="2419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000" y="2137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HTTPS externo 200 con tu certificado; API alcanza caché y db-externa por nombre.</a:t>
            </a:r>
          </a:p>
        </p:txBody>
      </p:sp>
      <p:sp>
        <p:nvSpPr>
          <p:cNvPr id="13" name="Oval 12"/>
          <p:cNvSpPr/>
          <p:nvPr/>
        </p:nvSpPr>
        <p:spPr>
          <a:xfrm>
            <a:off x="636000" y="3086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000" y="2805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PVC Bound y persistente; kubectl top con cifras; RBAC de despliegue acotado.</a:t>
            </a:r>
          </a:p>
        </p:txBody>
      </p:sp>
      <p:sp>
        <p:nvSpPr>
          <p:cNvPr id="15" name="Oval 14"/>
          <p:cNvSpPr/>
          <p:nvPr/>
        </p:nvSpPr>
        <p:spPr>
          <a:xfrm>
            <a:off x="636000" y="3754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000" y="3472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validar-gratitud.sh recorre todos los puntos; el examen los puntúa con evaluar.sh.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35040" y="1470000"/>
            <a:ext cx="4936960" cy="2670000"/>
          </a:xfrm>
          <a:prstGeom prst="roundRect">
            <a:avLst>
              <a:gd name="adj" fmla="val 3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35040" y="1770000"/>
            <a:ext cx="46000" cy="237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5040" y="1530000"/>
            <a:ext cx="4556960" cy="2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LA PRUEBA QUE LO RESUME TODO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25040" y="1764000"/>
            <a:ext cx="4556960" cy="1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65040" y="1960000"/>
            <a:ext cx="4516960" cy="1388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curl -k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--resolve gratitud.example.com:443:$IP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https://gratitud.example.com/api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-&gt; 200, cert CN=gratitud.example.com,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   respuesta de la API,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   que ha hablado con la cache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   y con db-externa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El integrador se da por bueno cuando las seis capas funcionan a la vez, no por separado. La validación es de extremo a extremo: una petición HTTPS real desde fuera del cluster tiene que llegar hasta la caché y volver, con el certificado propio, sin que ninguna NetworkPolicy la bloquee y con todos los Pods pasando sus sondas.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Los criterios objetivos: curl -k https://gratitud.example.com/ devuelve 200 con tu certificado; /api responde y la API alcanza a cache y a db-externa por nombre; el PVC está Bound y un fichero escrito sobrevive a kubectl delete pod; kubectl top pod da cifras; auth can-i muestra que la SA de despliegue puede actualizar Deployments pero no leer Secrets; y kubectl get networkpolicy y las etiquetas de Pod Security del namespace están en su sitio.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El script de validación de la sesión (validar-gratitud.sh) recorre exactamente esos puntos. El examen práctico (LAB 15.3) parte de este mismo GRATITUD pero roto en varios sitios a la vez, y se puntúa con evaluar.sh.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4716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integrador — solo especificación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15.1 — Desplegar GRATITUD de extremo a extremo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A partir de la especificación, dejar GRATITUD completo funcionando: las seis capas, empaquetadas como un chart de Helm e instaladas en el cluster.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Leer especificacion-integrador.md: hosts, puertos, nombres, políticas, recursos.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Completar el chart de RECURSOS/CHART/gratitud (templates de las seis capas).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helm lint + helm template para verificar antes de instalar.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Instalar el controlador de Ingress y metrics-server si no están.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helm install gratitud ./gratitud -n gratitud y comprobar que todo levanta.</a:t>
            </a:r>
          </a:p>
        </p:txBody>
      </p:sp>
      <p:sp>
        <p:nvSpPr>
          <p:cNvPr id="16" name="Freeform 15"/>
          <p:cNvSpPr/>
          <p:nvPr/>
        </p:nvSpPr>
        <p:spPr>
          <a:xfrm>
            <a:off x="9590000" y="1418800"/>
            <a:ext cx="784000" cy="842800"/>
          </a:xfrm>
          <a:custGeom>
            <a:avLst/>
            <a:gdLst/>
            <a:ahLst/>
            <a:cxnLst/>
            <a:rect l="l" t="t" r="r" b="b"/>
            <a:pathLst>
              <a:path w="784000" h="842800">
                <a:moveTo>
                  <a:pt x="235200" y="0"/>
                </a:moveTo>
                <a:lnTo>
                  <a:pt x="235200" y="333200"/>
                </a:lnTo>
                <a:lnTo>
                  <a:pt x="0" y="842800"/>
                </a:lnTo>
                <a:lnTo>
                  <a:pt x="784000" y="842800"/>
                </a:lnTo>
                <a:lnTo>
                  <a:pt x="548800" y="333200"/>
                </a:lnTo>
                <a:lnTo>
                  <a:pt x="548800" y="0"/>
                </a:lnTo>
              </a:path>
            </a:pathLst>
          </a:custGeom>
          <a:noFill/>
          <a:ln w="3302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766400" y="1418800"/>
            <a:ext cx="4312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27200" y="2006800"/>
            <a:ext cx="5096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CLASE-15/LABORATORIOS/LAB-01-BASICO.md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60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./validar-gratitud.sh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000" y="2150000"/>
            <a:ext cx="1800000" cy="1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Validación en tiempo real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Recorrer las seis capas con datos, no con fe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EL RECORRIDO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De dentro hacia fuera, capa por capa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10</a:t>
            </a:r>
          </a:p>
        </p:txBody>
      </p:sp>
      <p:pic>
        <p:nvPicPr>
          <p:cNvPr id="8" name="Picture 7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1470000"/>
            <a:ext cx="10952000" cy="776666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0000" y="1693333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0000" y="1470000"/>
            <a:ext cx="2500000" cy="7766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Adentro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0000" y="1640866"/>
            <a:ext cx="8000" cy="434933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0000" y="1470000"/>
            <a:ext cx="7202000" cy="7766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get pod (Ready + RESTARTS), get endpointslices, nslookup/curl por FQDN, get pvc (Bound), top pod.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000" y="2254666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00" y="2416666"/>
            <a:ext cx="10952000" cy="776666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0000" y="2640000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0000" y="2416666"/>
            <a:ext cx="2500000" cy="7766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Afuera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0000" y="2587533"/>
            <a:ext cx="8000" cy="434933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70000" y="2416666"/>
            <a:ext cx="7202000" cy="7766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get ingress (ADDRESS), curl -k --resolve por HTTP y HTTPS, subject/issuer del certificado.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000" y="3201333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000" y="3363333"/>
            <a:ext cx="10952000" cy="776666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0000" y="3586666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0000" y="3363333"/>
            <a:ext cx="2500000" cy="7766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Seguridad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0000" y="3534199"/>
            <a:ext cx="8000" cy="434933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70000" y="3363333"/>
            <a:ext cx="7202000" cy="7766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auth can-i --as, matriz de NetworkPolicy (permitido/bloqueado), etiquetas pod-security del namespace.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La validación sigue el mismo orden que un diagnóstico: primero lo de más adentro. Pods Ready y sus sondas verdes; luego los EndpointSlice de cada Service con las direcciones esperadas; luego la resolución DNS y las llamadas por FQDN entre capas; luego el PVC en Bound y la persistencia real; luego kubectl top para confirmar que las métricas fluyen.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Después lo de fuera: el Ingress con ADDRESS, la respuesta 200 por HTTP y por HTTPS con curl --resolve, y el certificado presentado (subject e issuer). Y en paralelo, la seguridad: auth can-i --as para la ServiceAccount de despliegue, la matriz de conectividad que imponen las NetworkPolicies (frontend→api sí, otro→api no, nadie→Internet), y las etiquetas de Pod Security del namespace.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validar-gratitud.sh automatiza este recorrido y marca cada punto como OK o FALLA. Es la herramienta que usarás en el LAB 15.1 para saber cuándo has terminado, y la base de evaluar.sh en el examen.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COMANDOS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Validación por capa, en orden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11</a:t>
            </a:r>
          </a:p>
        </p:txBody>
      </p:sp>
      <p:pic>
        <p:nvPicPr>
          <p:cNvPr id="8" name="Picture 7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1507092"/>
            <a:ext cx="10952000" cy="166909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1507092"/>
            <a:ext cx="46000" cy="166909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000" y="1627092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APLICACIÓN, DATOS Y MÉTRICAS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000" y="1907092"/>
            <a:ext cx="10412000" cy="12090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k -n gratitud get pod -o wide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k -n gratitud get endpointslices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k -n gratitud exec deploy/api -- sh -c 'wget -qO- http://cache &amp;&amp; echo OK'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k -n gratitud get pvc gratitud-uploads        </a:t>
            </a:r>
            <a:r>
              <a:rPr sz="1050" b="0" i="1">
                <a:solidFill>
                  <a:srgbClr val="7C8AA5"/>
                </a:solidFill>
                <a:latin typeface="Consolas"/>
              </a:rPr>
              <a:t>  # Bound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k -n gratitud top pod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" y="3376182"/>
            <a:ext cx="10952000" cy="1241454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00" y="3376182"/>
            <a:ext cx="46000" cy="1241454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000" y="3496182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ENTRADA Y TLS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000" y="3776182"/>
            <a:ext cx="10412000" cy="78145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k -n gratitud get ingress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curl -sk -o /dev/null -w '%{http_code}\n' --resolve gratitud.example.com:443:$IP https://gratitud.example.com/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curl -skv --resolve gratitud.example.com:443:$IP https://gratitud.example.com/ 2&gt;&amp;1 | grep -E 'subject:|issuer:'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" y="4817636"/>
            <a:ext cx="10952000" cy="1455272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000" y="4817636"/>
            <a:ext cx="46000" cy="1455272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000" y="4937636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SEGURIDAD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000" y="5217636"/>
            <a:ext cx="10412000" cy="9952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k auth can-i update deploy -n gratitud --as=system:serviceaccount:gratitud:gratitud-deployer </a:t>
            </a:r>
            <a:r>
              <a:rPr sz="1050" b="0" i="1">
                <a:solidFill>
                  <a:srgbClr val="7C8AA5"/>
                </a:solidFill>
                <a:latin typeface="Consolas"/>
              </a:rPr>
              <a:t>  # yes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k auth can-i get secrets -n gratitud --as=system:serviceaccount:gratitud:gratitud-deployer   </a:t>
            </a:r>
            <a:r>
              <a:rPr sz="1050" b="0" i="1">
                <a:solidFill>
                  <a:srgbClr val="7C8AA5"/>
                </a:solidFill>
                <a:latin typeface="Consolas"/>
              </a:rPr>
              <a:t>  # no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k -n gratitud get networkpolicy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k get ns gratitud -o jsonpath='{.metadata.labels}' | tr ',' '\n' | grep pod-security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250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15.2 — Validación en tiempo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Recorrer las seis capas de GRATITUD con el script de validación y a mano, entender qué comprueba cada punto y dejar constancia del estado.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Ejecutar ./validar-gratitud.sh y leer cada línea OK/FALLA.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Reproducir tres o cuatro comprobaciones a mano y explicar qué demuestran.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Provocar un fallo controlado (borrar un endpoint, editar el ConfigMap) y ver el script detectarlo.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Revertir y dejar el script en verde.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Anotar el mapa capa → comando → señal de éxito.</a:t>
            </a:r>
          </a:p>
        </p:txBody>
      </p:sp>
      <p:sp>
        <p:nvSpPr>
          <p:cNvPr id="16" name="Freeform 15"/>
          <p:cNvSpPr/>
          <p:nvPr/>
        </p:nvSpPr>
        <p:spPr>
          <a:xfrm>
            <a:off x="9590000" y="1418800"/>
            <a:ext cx="784000" cy="842800"/>
          </a:xfrm>
          <a:custGeom>
            <a:avLst/>
            <a:gdLst/>
            <a:ahLst/>
            <a:cxnLst/>
            <a:rect l="l" t="t" r="r" b="b"/>
            <a:pathLst>
              <a:path w="784000" h="842800">
                <a:moveTo>
                  <a:pt x="235200" y="0"/>
                </a:moveTo>
                <a:lnTo>
                  <a:pt x="235200" y="333200"/>
                </a:lnTo>
                <a:lnTo>
                  <a:pt x="0" y="842800"/>
                </a:lnTo>
                <a:lnTo>
                  <a:pt x="784000" y="842800"/>
                </a:lnTo>
                <a:lnTo>
                  <a:pt x="548800" y="333200"/>
                </a:lnTo>
                <a:lnTo>
                  <a:pt x="548800" y="0"/>
                </a:lnTo>
              </a:path>
            </a:pathLst>
          </a:custGeom>
          <a:noFill/>
          <a:ln w="3302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766400" y="1418800"/>
            <a:ext cx="4312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27200" y="2006800"/>
            <a:ext cx="5096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CLASE-15/LABORATORIOS/LAB-02-INTERMEDIO.md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25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./validar-gratitud.sh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000" y="2150000"/>
            <a:ext cx="1800000" cy="1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La evaluación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Un escenario roto contra reloj y un examen de casos reales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RÚBRICA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Qué se puntúa en el examen práctico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14</a:t>
            </a:r>
          </a:p>
        </p:txBody>
      </p:sp>
      <p:pic>
        <p:nvPicPr>
          <p:cNvPr id="8" name="Picture 7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0000" y="1470000"/>
            <a:ext cx="10952000" cy="420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1882000"/>
            <a:ext cx="10952000" cy="1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000" y="1470000"/>
            <a:ext cx="2766909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ÁREA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6909" y="1470000"/>
            <a:ext cx="5753818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QUÉ SE COMPRUEBA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40727" y="1470000"/>
            <a:ext cx="1771272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PESO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000" y="24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" y="189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Services y DNS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6909" y="1890000"/>
            <a:ext cx="5753818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Selector, targetPort, EndpointSlice, FQDN entre capas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40727" y="1890000"/>
            <a:ext cx="1771272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20 %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000" y="245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000" y="301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0000" y="245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Ingress y TLS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6909" y="2450000"/>
            <a:ext cx="5753818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ingressClassName, backend/puerto, pathType, Secret TLS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0727" y="2450000"/>
            <a:ext cx="1771272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15 %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357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000" y="301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Config y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6909" y="3010000"/>
            <a:ext cx="5753818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Clave de Secret, nombre de ConfigMap, PVC Bound, subPath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0727" y="3010000"/>
            <a:ext cx="1771272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15 %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000" y="357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000" y="413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000" y="357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Observabilidad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6909" y="3570000"/>
            <a:ext cx="5753818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Sondas correctas, límites, kubectl top, logs a stdout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0727" y="3570000"/>
            <a:ext cx="1771272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15 %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000" y="469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000" y="413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Seguridad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66909" y="4130000"/>
            <a:ext cx="5753818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RBAC acotado, NetworkPolicy (DNS + cadenas), Pod 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0727" y="4130000"/>
            <a:ext cx="1771272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25 %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0000" y="469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0000" y="52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0000" y="469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Método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66909" y="4690000"/>
            <a:ext cx="5753818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Diagnóstico ordenado, sin cluster-admin, sin borrar default-deny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40727" y="4690000"/>
            <a:ext cx="1771272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10 %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EN EL EXAMEN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Hábitos que ganan puntos, errores que los cuestan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15</a:t>
            </a:r>
          </a:p>
        </p:txBody>
      </p:sp>
      <p:pic>
        <p:nvPicPr>
          <p:cNvPr id="8" name="Picture 7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1470000"/>
            <a:ext cx="5316000" cy="2670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000" y="1470000"/>
            <a:ext cx="5268000" cy="460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000" y="1730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Ganan puntos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Método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00" y="2300000"/>
            <a:ext cx="4796000" cy="16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get + describe antes de tocar.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Verificar Services antes del Ingress.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Permitir DNS antes que nada en NetworkPolicy.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auth can-i --as para RBAC; -n siempre.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Verificar cada arreglo antes del siguiente.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6000" y="1470000"/>
            <a:ext cx="5316000" cy="2670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0000" y="1470000"/>
            <a:ext cx="5268000" cy="4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6000" y="1730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Cuestan puntos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Atajos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000" y="2300000"/>
            <a:ext cx="4796000" cy="16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cluster-admin / edit para 'desatascar' RBAC.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Borrar el default-deny en vez de un allow.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Quitar sondas o límites para que arranque.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NodePort para saltarse el Ingress.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Recrear objetos y perder la traza.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El examen práctico parte del GRATITUD del integrador con entre ocho y diez fallos repartidos por las seis capas. Está cronometrado y se puntúa con evaluar.sh, que aplica la rúbrica anterior. El teórico son casos: se describe un síntoma y hay que decir la causa más probable y el comando que la confirma.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Ganan puntos: empezar por kubectl get y kubectl describe antes de tocar nada; verificar los Services antes del Ingress; permitir el DNS antes que nada al aplicar NetworkPolicies; usar auth can-i --as para RBAC; fijar el namespace con -n en todos los comandos; y dejar cada arreglo verificado antes de pasar al siguiente.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Cuestan puntos: conceder cluster-admin o edit para 'desatascar' RBAC; borrar el default-deny en vez de añadir un allow; quitar sondas o límites para que un Pod arranque; convertir Services a NodePort para saltarse el Ingress; y recrear objetos desde cero perdiendo la traza del fallo.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382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FF7B72"/>
                </a:solidFill>
                <a:latin typeface="Segoe UI"/>
              </a:rPr>
              <a:t>Examen práctico — contra reloj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15.3 — Escenario roto de extremo a extremo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GRATITUD desplegado pero con 8–10 fallos repartidos por las seis capas. Diagnosticar y reparar en el tiempo asignado. Se puntúa con evaluar.sh según la rúbrica.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Prepara el escenario: RECURSOS/SCRIPTS/setup-examen.sh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Clasifica los síntomas por capa antes de tocar nada.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Repara siguiendo el orden: adentro (Pods, Services, DNS) → afuera (Ingress) → seguridad.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Ejecuta ./evaluar.sh para ver tu puntuación por área.</a:t>
            </a:r>
          </a:p>
        </p:txBody>
      </p:sp>
      <p:sp>
        <p:nvSpPr>
          <p:cNvPr id="14" name="Freeform 13"/>
          <p:cNvSpPr/>
          <p:nvPr/>
        </p:nvSpPr>
        <p:spPr>
          <a:xfrm>
            <a:off x="9590000" y="1418800"/>
            <a:ext cx="784000" cy="842800"/>
          </a:xfrm>
          <a:custGeom>
            <a:avLst/>
            <a:gdLst/>
            <a:ahLst/>
            <a:cxnLst/>
            <a:rect l="l" t="t" r="r" b="b"/>
            <a:pathLst>
              <a:path w="784000" h="842800">
                <a:moveTo>
                  <a:pt x="235200" y="0"/>
                </a:moveTo>
                <a:lnTo>
                  <a:pt x="235200" y="333200"/>
                </a:lnTo>
                <a:lnTo>
                  <a:pt x="0" y="842800"/>
                </a:lnTo>
                <a:lnTo>
                  <a:pt x="784000" y="842800"/>
                </a:lnTo>
                <a:lnTo>
                  <a:pt x="548800" y="333200"/>
                </a:lnTo>
                <a:lnTo>
                  <a:pt x="548800" y="0"/>
                </a:lnTo>
              </a:path>
            </a:pathLst>
          </a:custGeom>
          <a:noFill/>
          <a:ln w="33020">
            <a:solidFill>
              <a:srgbClr val="FF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766400" y="1418800"/>
            <a:ext cx="431200" cy="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727200" y="2006800"/>
            <a:ext cx="509600" cy="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CLASE-15/LABORATORIOS/LAB-03-AVANZADO.md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40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./evaluar.sh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3708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F0C96B"/>
                </a:solidFill>
                <a:latin typeface="Segoe UI"/>
              </a:rPr>
              <a:t>Examen teórico — casos reales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15.4 — Preguntas de caso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Veinte casos: un síntoma descrito y, para cada uno, la causa más probable y el comando que la confirma. Cubre las seis sesiones del track.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Responde EXAMEN-TEORICO.md sin consultar apuntes.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Para cada caso: causa raíz + comando de confirmación + capa afectada.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Corrige con la plantilla de respuestas (material del instructor).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Repasa las sesiones de los casos que fallaste.</a:t>
            </a:r>
          </a:p>
        </p:txBody>
      </p:sp>
      <p:sp>
        <p:nvSpPr>
          <p:cNvPr id="14" name="Freeform 13"/>
          <p:cNvSpPr/>
          <p:nvPr/>
        </p:nvSpPr>
        <p:spPr>
          <a:xfrm>
            <a:off x="9590000" y="1418800"/>
            <a:ext cx="784000" cy="842800"/>
          </a:xfrm>
          <a:custGeom>
            <a:avLst/>
            <a:gdLst/>
            <a:ahLst/>
            <a:cxnLst/>
            <a:rect l="l" t="t" r="r" b="b"/>
            <a:pathLst>
              <a:path w="784000" h="842800">
                <a:moveTo>
                  <a:pt x="235200" y="0"/>
                </a:moveTo>
                <a:lnTo>
                  <a:pt x="235200" y="333200"/>
                </a:lnTo>
                <a:lnTo>
                  <a:pt x="0" y="842800"/>
                </a:lnTo>
                <a:lnTo>
                  <a:pt x="784000" y="842800"/>
                </a:lnTo>
                <a:lnTo>
                  <a:pt x="548800" y="333200"/>
                </a:lnTo>
                <a:lnTo>
                  <a:pt x="548800" y="0"/>
                </a:lnTo>
              </a:path>
            </a:pathLst>
          </a:custGeom>
          <a:noFill/>
          <a:ln w="33020">
            <a:solidFill>
              <a:srgbClr val="F0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766400" y="1418800"/>
            <a:ext cx="431200" cy="0"/>
          </a:xfrm>
          <a:prstGeom prst="line">
            <a:avLst/>
          </a:prstGeom>
          <a:ln w="33020">
            <a:solidFill>
              <a:srgbClr val="F0C9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727200" y="2006800"/>
            <a:ext cx="509600" cy="0"/>
          </a:xfrm>
          <a:prstGeom prst="line">
            <a:avLst/>
          </a:prstGeom>
          <a:ln w="33020">
            <a:solidFill>
              <a:srgbClr val="F0C9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CLASE-15/LABORATORIOS/LAB-04-CHALLENGE.md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20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plantilla de respuestas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MENTAL MODEL DEL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Un síntoma, una capa, un comando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18</a:t>
            </a:r>
          </a:p>
        </p:txBody>
      </p:sp>
      <p:pic>
        <p:nvPicPr>
          <p:cNvPr id="8" name="Picture 7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0000" y="1470000"/>
            <a:ext cx="10952000" cy="420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1882000"/>
            <a:ext cx="10952000" cy="1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000" y="1470000"/>
            <a:ext cx="3762545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SÍNTOMA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45" y="1470000"/>
            <a:ext cx="3762545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CAPA / CAUSA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5090" y="1470000"/>
            <a:ext cx="2766909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COMANDO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000" y="2332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" y="1890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EndpointSlice vacío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45" y="1890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Selector del Service vs. labels del Pod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5090" y="1890000"/>
            <a:ext cx="2766909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get pod --show-labels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000" y="2332000"/>
            <a:ext cx="10952000" cy="442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000" y="2774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0000" y="2332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Hay endpoints, curl timeout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45" y="2332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targetPort, o NetworkPolicy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5090" y="2332000"/>
            <a:ext cx="2766909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get svc -o yaml · get netpol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3216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000" y="2774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Ingress sin ADDRESS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2545" y="2774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ingressClassName sin controlador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45090" y="2774000"/>
            <a:ext cx="2766909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get ingressclass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000" y="3216000"/>
            <a:ext cx="10952000" cy="442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000" y="3658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000" y="3216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HTTPS con cert por defecto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2545" y="3216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Secret TLS ausente o mal nombrado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45090" y="3216000"/>
            <a:ext cx="2766909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get secret -n &lt;ns-ingress&gt;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000" y="410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000" y="3658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CreateContainerConfigError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2545" y="3658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Clave de Secret / nombre de ConfigMap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45090" y="3658000"/>
            <a:ext cx="2766909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pod (Events)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0000" y="4100000"/>
            <a:ext cx="10952000" cy="442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0000" y="4542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0000" y="4100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PVC en Pending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2545" y="4100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storageClassName / accessModes / sin PV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5090" y="4100000"/>
            <a:ext cx="2766909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pvc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0000" y="4984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0000" y="4542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RESTARTS sube sin parar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62545" y="4542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Liveness agresiva o falta startupProbe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5090" y="4542000"/>
            <a:ext cx="2766909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logs --previous · describe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0000" y="4984000"/>
            <a:ext cx="10952000" cy="442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000" y="5426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0000" y="4984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Forbidden de la 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62545" y="4984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RBAC: verbo, recurso o binding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5090" y="4984000"/>
            <a:ext cx="2766909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auth can-i --as --list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0000" y="5868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0000" y="5426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nslookup falla en un Pod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62545" y="5426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NetworkPolicy de egress sin el puerto 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45090" y="5426000"/>
            <a:ext cx="2766909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networkpolicy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0000" y="5868000"/>
            <a:ext cx="10952000" cy="442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0000" y="631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0000" y="5868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Deployment a 0, violates PodSecurity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62545" y="5868000"/>
            <a:ext cx="3762545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securityContext vs. enforce del namespace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45090" y="5868000"/>
            <a:ext cx="2766909" cy="44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rs · get ns --show-labels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CHECKLIST DEL MÓDULO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Al cerrar el track deberías poder, sin apuntes…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19</a:t>
            </a:r>
          </a:p>
        </p:txBody>
      </p:sp>
      <p:pic>
        <p:nvPicPr>
          <p:cNvPr id="8" name="Picture 7" descr="p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262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000" y="249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Explicar por qué la IP de un Pod es efímera y qué da el Service.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" y="318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000" y="305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Elegir ClusterIP / NodePort / LoadBalancer y resolver un FQDN entre namespaces.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" y="374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000" y="361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Publicar por host y path con Ingress y terminar TLS con un Secret.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00" y="430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000" y="417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Externalizar config con ConfigMap y Secret e inyectarla por env y por volumen.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" y="486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000" y="473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Dar almacenamiento persistente con PVC y StorageClass.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6000" y="262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6000" y="249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Configurar liveness, readiness y startup, y diagnosticar con describe/logs/top.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6000" y="318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6000" y="305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Distinguir metrics-server de Prometheus.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6000" y="374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6000" y="361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Escribir RBAC de mínimo privilegio y comprobarlo con auth can-i.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6000" y="430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6000" y="417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Aislar tráfico con NetworkPolicy sin romper el DNS.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6000" y="486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6000" y="473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Endurecer un contenedor y aplicar Pod Security; empaquetar todo con Helm.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92000" y="-1400000"/>
            <a:ext cx="4000000" cy="40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00000" y="4358000"/>
            <a:ext cx="3800000" cy="38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000" y="900000"/>
            <a:ext cx="1650000" cy="16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00" y="300000"/>
            <a:ext cx="90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CIERRE DEL MÓDULO KUBERNETES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1560000"/>
            <a:ext cx="9200000" cy="9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 i="0">
                <a:solidFill>
                  <a:srgbClr val="F3F6FC"/>
                </a:solidFill>
                <a:latin typeface="Segoe UI Light"/>
              </a:rPr>
              <a:t>Track completado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256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2820000"/>
            <a:ext cx="9752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Has construido GRATITUD capa a capa —Services, Ingress, configuración, almacenamiento, observabilidad y seguridad— y lo has empaquetado para desplegarlo de forma reproducible.</a:t>
            </a:r>
          </a:p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El método es siempre el mismo: de dentro hacia fuera, un síntoma a la vez, verificando cada arreglo. Es lo que se puntúa en el examen y lo que sirve en producción.</a:t>
            </a:r>
          </a:p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Con esto cierras el bloque especial. Lo que viene es práctica: repetir el integrador desde cero hasta que las seis capas te salgan sin pensar.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15 — Proyecto Integrador y Evaluación</dc:title>
  <dc:subject>Sesión 15 — Proyecto Integrador y Evaluación</dc:subject>
  <dc:creator>CKA Hands-On Training</dc:creator>
  <cp:keywords/>
  <dc:description>Generado con generador-diapositivas/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