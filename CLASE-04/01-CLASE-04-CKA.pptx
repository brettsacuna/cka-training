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2000" y="-1350000"/>
            <a:ext cx="4500000" cy="4500000"/>
          </a:xfrm>
          <a:prstGeom prst="ellipse">
            <a:avLst/>
          </a:prstGeom>
          <a:solidFill>
            <a:srgbClr val="0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42000" y="5308000"/>
            <a:ext cx="2900000" cy="2900000"/>
          </a:xfrm>
          <a:prstGeom prst="ellipse">
            <a:avLst/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uberne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2000" y="1000000"/>
            <a:ext cx="1650000" cy="165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0000" y="300000"/>
            <a:ext cx="8600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CKA HANDS-ON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" y="1620000"/>
            <a:ext cx="8600000" cy="5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spc="200">
                <a:solidFill>
                  <a:srgbClr val="74A6FF"/>
                </a:solidFill>
                <a:latin typeface="Segoe UI Semibold"/>
              </a:rPr>
              <a:t>CLASE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" y="2040000"/>
            <a:ext cx="8900000" cy="15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0" i="0">
                <a:solidFill>
                  <a:srgbClr val="F3F6FC"/>
                </a:solidFill>
                <a:latin typeface="Segoe UI Light"/>
              </a:rPr>
              <a:t>Lifecycle, ConfigMaps, Secrets y Recursos</a:t>
            </a:r>
          </a:p>
        </p:txBody>
      </p:sp>
      <p:sp>
        <p:nvSpPr>
          <p:cNvPr id="8" name="Rectangle 7"/>
          <p:cNvSpPr/>
          <p:nvPr/>
        </p:nvSpPr>
        <p:spPr>
          <a:xfrm>
            <a:off x="660000" y="3560000"/>
            <a:ext cx="62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000" y="3760000"/>
            <a:ext cx="8600000" cy="5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1">
                <a:solidFill>
                  <a:srgbClr val="BDC9DB"/>
                </a:solidFill>
                <a:latin typeface="Segoe UI"/>
              </a:rPr>
              <a:t>Actualizar sin cortar, revertir sin drama, configurar desde fuera de la imagen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0000" y="4650000"/>
            <a:ext cx="2645500" cy="90000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0000" y="4650000"/>
            <a:ext cx="26455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000" y="4770000"/>
            <a:ext cx="2345500" cy="6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i="0">
                <a:solidFill>
                  <a:srgbClr val="F3F6FC"/>
                </a:solidFill>
                <a:latin typeface="Segoe UI Light"/>
              </a:rPr>
              <a:t>180 min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8493AD"/>
                </a:solidFill>
                <a:latin typeface="Segoe UI Semibold"/>
              </a:rPr>
              <a:t>DURACIÓN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55500" y="4650000"/>
            <a:ext cx="2645500" cy="90000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55500" y="4650000"/>
            <a:ext cx="26455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5500" y="4770000"/>
            <a:ext cx="2345500" cy="6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i="0">
                <a:solidFill>
                  <a:srgbClr val="F3F6FC"/>
                </a:solidFill>
                <a:latin typeface="Segoe UI Light"/>
              </a:rPr>
              <a:t>4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8493AD"/>
                </a:solidFill>
                <a:latin typeface="Segoe UI Semibold"/>
              </a:rPr>
              <a:t>LABORATORIOS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1000" y="4650000"/>
            <a:ext cx="2645500" cy="90000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51000" y="4650000"/>
            <a:ext cx="26455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1000" y="4770000"/>
            <a:ext cx="2345500" cy="6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i="0">
                <a:solidFill>
                  <a:srgbClr val="F3F6FC"/>
                </a:solidFill>
                <a:latin typeface="Segoe UI Light"/>
              </a:rPr>
              <a:t>15 %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8493AD"/>
                </a:solidFill>
                <a:latin typeface="Segoe UI Semibold"/>
              </a:rPr>
              <a:t>WORKLOADS EN EL CKA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46500" y="4650000"/>
            <a:ext cx="2645500" cy="90000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46500" y="4650000"/>
            <a:ext cx="26455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96500" y="4770000"/>
            <a:ext cx="2345500" cy="6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i="0">
                <a:solidFill>
                  <a:srgbClr val="F3F6FC"/>
                </a:solidFill>
                <a:latin typeface="Segoe UI Light"/>
              </a:rPr>
              <a:t>v0.8.1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8493AD"/>
                </a:solidFill>
                <a:latin typeface="Segoe UI Semibold"/>
              </a:rPr>
              <a:t>METRICS SERVER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OBJETIVOS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0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Al terminar esta clase serás capaz de…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02</a:t>
            </a:r>
          </a:p>
        </p:txBody>
      </p:sp>
      <p:sp>
        <p:nvSpPr>
          <p:cNvPr id="8" name="Oval 7"/>
          <p:cNvSpPr/>
          <p:nvPr/>
        </p:nvSpPr>
        <p:spPr>
          <a:xfrm>
            <a:off x="10983200" y="326200"/>
            <a:ext cx="537600" cy="537600"/>
          </a:xfrm>
          <a:prstGeom prst="ellipse">
            <a:avLst/>
          </a:prstGeom>
          <a:noFill/>
          <a:ln w="38100">
            <a:solidFill>
              <a:srgbClr val="74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98400" y="441400"/>
            <a:ext cx="307200" cy="307200"/>
          </a:xfrm>
          <a:prstGeom prst="ellipse">
            <a:avLst/>
          </a:prstGeom>
          <a:noFill/>
          <a:ln w="38100">
            <a:solidFill>
              <a:srgbClr val="74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00800" y="543800"/>
            <a:ext cx="102400" cy="102400"/>
          </a:xfrm>
          <a:prstGeom prst="ellipse">
            <a:avLst/>
          </a:prstGeom>
          <a:solidFill>
            <a:srgbClr val="74A6FF"/>
          </a:solidFill>
          <a:ln w="6350">
            <a:solidFill>
              <a:srgbClr val="74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20000" y="206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000" y="1930000"/>
            <a:ext cx="1045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Ejecutar un Rolling Update controlado y seguir su progreso.</a:t>
            </a:r>
          </a:p>
        </p:txBody>
      </p:sp>
      <p:sp>
        <p:nvSpPr>
          <p:cNvPr id="13" name="Oval 12"/>
          <p:cNvSpPr/>
          <p:nvPr/>
        </p:nvSpPr>
        <p:spPr>
          <a:xfrm>
            <a:off x="620000" y="262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000" y="2490000"/>
            <a:ext cx="1045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Consultar el historial de revisiones y volver a una anterior.</a:t>
            </a:r>
          </a:p>
        </p:txBody>
      </p:sp>
      <p:sp>
        <p:nvSpPr>
          <p:cNvPr id="15" name="Oval 14"/>
          <p:cNvSpPr/>
          <p:nvPr/>
        </p:nvSpPr>
        <p:spPr>
          <a:xfrm>
            <a:off x="620000" y="318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000" y="3050000"/>
            <a:ext cx="1045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Detectar un despliegue defectuoso antes de que afecte a todas las réplicas.</a:t>
            </a:r>
          </a:p>
        </p:txBody>
      </p:sp>
      <p:sp>
        <p:nvSpPr>
          <p:cNvPr id="17" name="Oval 16"/>
          <p:cNvSpPr/>
          <p:nvPr/>
        </p:nvSpPr>
        <p:spPr>
          <a:xfrm>
            <a:off x="620000" y="374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000" y="3610000"/>
            <a:ext cx="1045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Externalizar configuración con ConfigMaps: variables, envFrom y volumen.</a:t>
            </a:r>
          </a:p>
        </p:txBody>
      </p:sp>
      <p:sp>
        <p:nvSpPr>
          <p:cNvPr id="19" name="Oval 18"/>
          <p:cNvSpPr/>
          <p:nvPr/>
        </p:nvSpPr>
        <p:spPr>
          <a:xfrm>
            <a:off x="620000" y="430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000" y="4170000"/>
            <a:ext cx="1045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Gestionar datos sensibles con Secrets, y explicar qué protegen y qué no.</a:t>
            </a:r>
          </a:p>
        </p:txBody>
      </p:sp>
      <p:sp>
        <p:nvSpPr>
          <p:cNvPr id="21" name="Oval 20"/>
          <p:cNvSpPr/>
          <p:nvPr/>
        </p:nvSpPr>
        <p:spPr>
          <a:xfrm>
            <a:off x="620000" y="486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000" y="4730000"/>
            <a:ext cx="1045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Definir requests y limits, y deducir la clase de QoS resultante.</a:t>
            </a:r>
          </a:p>
        </p:txBody>
      </p:sp>
      <p:sp>
        <p:nvSpPr>
          <p:cNvPr id="23" name="Oval 22"/>
          <p:cNvSpPr/>
          <p:nvPr/>
        </p:nvSpPr>
        <p:spPr>
          <a:xfrm>
            <a:off x="620000" y="542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000" y="5290000"/>
            <a:ext cx="1045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Instalar Metrics Server y medir el consumo real frente al solicitado.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180 MINUTOS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0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03</a:t>
            </a:r>
          </a:p>
        </p:txBody>
      </p:sp>
      <p:sp>
        <p:nvSpPr>
          <p:cNvPr id="8" name="Oval 7"/>
          <p:cNvSpPr/>
          <p:nvPr/>
        </p:nvSpPr>
        <p:spPr>
          <a:xfrm>
            <a:off x="10983200" y="326200"/>
            <a:ext cx="537600" cy="537600"/>
          </a:xfrm>
          <a:prstGeom prst="ellipse">
            <a:avLst/>
          </a:prstGeom>
          <a:noFill/>
          <a:ln w="38100">
            <a:solidFill>
              <a:srgbClr val="74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V="1">
            <a:off x="11252000" y="415800"/>
            <a:ext cx="0" cy="179200"/>
          </a:xfrm>
          <a:prstGeom prst="line">
            <a:avLst/>
          </a:prstGeom>
          <a:ln w="38100">
            <a:solidFill>
              <a:srgbClr val="74A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252000" y="595000"/>
            <a:ext cx="128000" cy="51200"/>
          </a:xfrm>
          <a:prstGeom prst="line">
            <a:avLst/>
          </a:prstGeom>
          <a:ln w="38100">
            <a:solidFill>
              <a:srgbClr val="74A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20000" y="1540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8493AD"/>
                </a:solidFill>
                <a:latin typeface="Consolas"/>
              </a:rPr>
              <a:t>00–12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20000" y="1715000"/>
            <a:ext cx="8000" cy="120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20000" y="1540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Repaso de la Clase 3 y objetivos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" y="2010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8493AD"/>
                </a:solidFill>
                <a:latin typeface="Consolas"/>
              </a:rPr>
              <a:t>12–32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0000" y="2185000"/>
            <a:ext cx="8000" cy="120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20000" y="2010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Conceptos: rollout, revisiones, rollback, estrategias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0000" y="2480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8493AD"/>
                </a:solidFill>
                <a:latin typeface="Consolas"/>
              </a:rPr>
              <a:t>32–48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20000" y="2655000"/>
            <a:ext cx="8000" cy="120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20000" y="2480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Demo: rollout con imagen rota y rollout undo en vivo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0000" y="2990000"/>
            <a:ext cx="11072000" cy="390000"/>
          </a:xfrm>
          <a:prstGeom prst="roundRect">
            <a:avLst>
              <a:gd name="adj" fmla="val 16000"/>
            </a:avLst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0000" y="2950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74A6FF"/>
                </a:solidFill>
                <a:latin typeface="Consolas"/>
              </a:rPr>
              <a:t>48–72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20000" y="3125000"/>
            <a:ext cx="8000" cy="120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20000" y="2950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3F6FC"/>
                </a:solidFill>
                <a:latin typeface="Segoe UI"/>
              </a:rPr>
              <a:t>LAB 4.1 — Básico: Rolling Update y Rollback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0000" y="3420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8493AD"/>
                </a:solidFill>
                <a:latin typeface="Consolas"/>
              </a:rPr>
              <a:t>72–90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20000" y="3595000"/>
            <a:ext cx="8000" cy="120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20000" y="3420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Conceptos: ConfigMaps y Secrets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0000" y="3930000"/>
            <a:ext cx="11072000" cy="390000"/>
          </a:xfrm>
          <a:prstGeom prst="roundRect">
            <a:avLst>
              <a:gd name="adj" fmla="val 16000"/>
            </a:avLst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0000" y="3890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74A6FF"/>
                </a:solidFill>
                <a:latin typeface="Consolas"/>
              </a:rPr>
              <a:t>90–120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20000" y="4065000"/>
            <a:ext cx="8000" cy="120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20000" y="3890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3F6FC"/>
                </a:solidFill>
                <a:latin typeface="Segoe UI"/>
              </a:rPr>
              <a:t>LAB 4.2 — Intermedio: configuración externalizada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0000" y="4360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8493AD"/>
                </a:solidFill>
                <a:latin typeface="Consolas"/>
              </a:rPr>
              <a:t>120–132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20000" y="4535000"/>
            <a:ext cx="8000" cy="120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20000" y="4360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Conceptos: requests, limits, QoS y Metrics Server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0000" y="4870000"/>
            <a:ext cx="11072000" cy="390000"/>
          </a:xfrm>
          <a:prstGeom prst="roundRect">
            <a:avLst>
              <a:gd name="adj" fmla="val 16000"/>
            </a:avLst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0000" y="4830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74A6FF"/>
                </a:solidFill>
                <a:latin typeface="Consolas"/>
              </a:rPr>
              <a:t>132–158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20000" y="5005000"/>
            <a:ext cx="8000" cy="120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320000" y="4830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3F6FC"/>
                </a:solidFill>
                <a:latin typeface="Segoe UI"/>
              </a:rPr>
              <a:t>LAB 4.3 — Avanzado: recursos, escalado y métricas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0000" y="5340000"/>
            <a:ext cx="11072000" cy="390000"/>
          </a:xfrm>
          <a:prstGeom prst="roundRect">
            <a:avLst>
              <a:gd name="adj" fmla="val 16000"/>
            </a:avLst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0000" y="5300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74A6FF"/>
                </a:solidFill>
                <a:latin typeface="Consolas"/>
              </a:rPr>
              <a:t>158–176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20000" y="5475000"/>
            <a:ext cx="8000" cy="120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320000" y="5300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3F6FC"/>
                </a:solidFill>
                <a:latin typeface="Segoe UI"/>
              </a:rPr>
              <a:t>LAB 4.4 — Challenge: el despliegue que no arranca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0000" y="5770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8493AD"/>
                </a:solidFill>
                <a:latin typeface="Consolas"/>
              </a:rPr>
              <a:t>176–180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20000" y="5945000"/>
            <a:ext cx="8000" cy="120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320000" y="5770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Cierre y CKA Tips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500000" y="4258000"/>
            <a:ext cx="4200000" cy="42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eplo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2000" y="2150000"/>
            <a:ext cx="1800000" cy="18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0000" y="1150000"/>
            <a:ext cx="4000000" cy="26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0" b="0" i="0">
                <a:solidFill>
                  <a:srgbClr val="4C5B75"/>
                </a:solidFill>
                <a:latin typeface="Segoe UI Light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50000"/>
            <a:ext cx="9200000" cy="3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60">
                <a:solidFill>
                  <a:srgbClr val="74A6FF"/>
                </a:solidFill>
                <a:latin typeface="Segoe UI Semibold"/>
              </a:rPr>
              <a:t>BLOQUE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350000"/>
            <a:ext cx="10200000" cy="10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400" b="0" i="0">
                <a:solidFill>
                  <a:srgbClr val="F3F6FC"/>
                </a:solidFill>
                <a:latin typeface="Segoe UI Light"/>
              </a:rPr>
              <a:t>Rolling Update y Rollback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000" y="4380000"/>
            <a:ext cx="62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00" y="4560000"/>
            <a:ext cx="9600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1">
                <a:solidFill>
                  <a:srgbClr val="BDC9DB"/>
                </a:solidFill>
                <a:latin typeface="Segoe UI"/>
              </a:rPr>
              <a:t>Cambiar la versión sin que nadie se entere</a:t>
            </a:r>
          </a:p>
        </p:txBody>
      </p:sp>
      <p:sp>
        <p:nvSpPr>
          <p:cNvPr id="9" name="Rectangle 8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MECÁNICA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0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Qué ocurre durante un Rolling Update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05</a:t>
            </a:r>
          </a:p>
        </p:txBody>
      </p:sp>
      <p:pic>
        <p:nvPicPr>
          <p:cNvPr id="8" name="Picture 7" descr="deplo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2000" y="275000"/>
            <a:ext cx="640000" cy="640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0000" y="1470000"/>
            <a:ext cx="10952000" cy="54000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40000" y="1575000"/>
            <a:ext cx="330000" cy="33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0000" y="1470000"/>
            <a:ext cx="2500000" cy="5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Cambio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70000" y="1588800"/>
            <a:ext cx="8000" cy="3024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70000" y="1470000"/>
            <a:ext cx="7202000" cy="5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Modificas spec.template: se crea un ReplicaSet nuevo con 0 réplicas.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5000" y="2018000"/>
            <a:ext cx="180000" cy="154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74A6FF"/>
                </a:solidFill>
                <a:latin typeface="Segoe UI"/>
              </a:rPr>
              <a:t>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000" y="2180000"/>
            <a:ext cx="10952000" cy="54000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0000" y="2285000"/>
            <a:ext cx="330000" cy="33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0000" y="2180000"/>
            <a:ext cx="2500000" cy="5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Escalado cruzado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70000" y="2298800"/>
            <a:ext cx="8000" cy="3024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70000" y="2180000"/>
            <a:ext cx="7202000" cy="5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El nuevo sube, el viejo baja, respetando maxSurge y maxUnavailable.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000" y="2728000"/>
            <a:ext cx="180000" cy="154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74A6FF"/>
                </a:solidFill>
                <a:latin typeface="Segoe UI"/>
              </a:rPr>
              <a:t>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000" y="2890000"/>
            <a:ext cx="10952000" cy="54000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0000" y="2995000"/>
            <a:ext cx="330000" cy="33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0000" y="2890000"/>
            <a:ext cx="2500000" cy="5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Readiness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70000" y="3008800"/>
            <a:ext cx="8000" cy="3024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70000" y="2890000"/>
            <a:ext cx="7202000" cy="5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Un Pod nuevo solo cuenta cuando su readinessProbe pasa.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000" y="3438000"/>
            <a:ext cx="180000" cy="154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74A6FF"/>
                </a:solidFill>
                <a:latin typeface="Segoe UI"/>
              </a:rPr>
              <a:t>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000" y="3600000"/>
            <a:ext cx="10952000" cy="54000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40000" y="3705000"/>
            <a:ext cx="330000" cy="33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0000" y="3600000"/>
            <a:ext cx="2500000" cy="5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Completo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70000" y="3718800"/>
            <a:ext cx="8000" cy="3024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70000" y="3600000"/>
            <a:ext cx="7202000" cy="5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El ReplicaSet viejo queda a 0 réplicas, pero no se borra: es tu rollback.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0000" y="4310000"/>
            <a:ext cx="10952000" cy="2000000"/>
          </a:xfrm>
          <a:prstGeom prst="roundRect">
            <a:avLst>
              <a:gd name="adj" fmla="val 4500"/>
            </a:avLst>
          </a:prstGeom>
          <a:solidFill>
            <a:srgbClr val="111A2C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6000" y="4332000"/>
            <a:ext cx="40000" cy="195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0000" y="4440000"/>
            <a:ext cx="10522000" cy="174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00" b="1" i="0" spc="200">
                <a:solidFill>
                  <a:srgbClr val="326CE5"/>
                </a:solidFill>
                <a:latin typeface="Segoe UI Semibold"/>
              </a:rPr>
              <a:t>TEORÍA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Segoe UI"/>
              </a:rPr>
              <a:t>Un Rolling Update no reemplaza los Pods de golpe. Al cambiar spec.template el Deployment crea un ReplicaSet nuevo con 0 réplicas y luego hace un escalado cruzado: sube el nuevo de uno en uno y baja el viejo, manteniendo en todo momento un número de réplicas dentro de los márgenes que fijan maxSurge y maxUnavailable.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Segoe UI"/>
              </a:rPr>
              <a:t>maxSurge es cuántos Pods de más se permiten por encima del total deseado; maxUnavailable, cuántos de menos. Con los valores por defecto (25 %) y 3 réplicas, maxSurge redondea a 1 Pod extra y maxUnavailable a 0 indisponibles, así que el rollout es muy conservador: siempre hay 3 sirviendo.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Segoe UI"/>
              </a:rPr>
              <a:t>Un Pod nuevo solo CUENTA como disponible cuando su readinessProbe pasa. Por eso, si la imagen nueva está rota y nunca llega a Ready, el rollout se BLOQUEA en lugar de tumbar el servicio: las réplicas viejas siguen atendiendo. Al terminar, el ReplicaSet viejo queda a 0 réplicas pero no se borra —es el material del rollback.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CONCEPTO CLAVE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0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Un despliegue roto no debería tumbar el servicio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06</a:t>
            </a:r>
          </a:p>
        </p:txBody>
      </p:sp>
      <p:pic>
        <p:nvPicPr>
          <p:cNvPr id="8" name="Picture 7" descr="deplo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2000" y="275000"/>
            <a:ext cx="640000" cy="64000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636000" y="1751750"/>
            <a:ext cx="104000" cy="104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0000" y="1470000"/>
            <a:ext cx="5435040" cy="6675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Si la imagen nueva no existe, el Pod nuevo nunca llega a Ready.</a:t>
            </a:r>
          </a:p>
        </p:txBody>
      </p:sp>
      <p:sp>
        <p:nvSpPr>
          <p:cNvPr id="11" name="Oval 10"/>
          <p:cNvSpPr/>
          <p:nvPr/>
        </p:nvSpPr>
        <p:spPr>
          <a:xfrm>
            <a:off x="636000" y="2419250"/>
            <a:ext cx="104000" cy="104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0000" y="2137500"/>
            <a:ext cx="5435040" cy="6675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Con maxUnavailable en 0, el controlador no puede retirar ninguna réplica vieja hasta que una nueva esté lista.</a:t>
            </a:r>
          </a:p>
        </p:txBody>
      </p:sp>
      <p:sp>
        <p:nvSpPr>
          <p:cNvPr id="13" name="Oval 12"/>
          <p:cNvSpPr/>
          <p:nvPr/>
        </p:nvSpPr>
        <p:spPr>
          <a:xfrm>
            <a:off x="636000" y="3086750"/>
            <a:ext cx="104000" cy="104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0000" y="2805000"/>
            <a:ext cx="5435040" cy="6675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Resultado: el rollout se BLOQUEA y las réplicas buenas siguen sirviendo. Eso es lo correcto.</a:t>
            </a:r>
          </a:p>
        </p:txBody>
      </p:sp>
      <p:sp>
        <p:nvSpPr>
          <p:cNvPr id="15" name="Oval 14"/>
          <p:cNvSpPr/>
          <p:nvPr/>
        </p:nvSpPr>
        <p:spPr>
          <a:xfrm>
            <a:off x="636000" y="3754250"/>
            <a:ext cx="104000" cy="104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0000" y="3472500"/>
            <a:ext cx="5435040" cy="6675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Sin readinessProbe, un Pod que arranca se considera listo aunque la aplicación no responda: ahí sí cae el servicio.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35040" y="1470000"/>
            <a:ext cx="4936960" cy="2670000"/>
          </a:xfrm>
          <a:prstGeom prst="roundRect">
            <a:avLst>
              <a:gd name="adj" fmla="val 3000"/>
            </a:avLst>
          </a:prstGeom>
          <a:solidFill>
            <a:srgbClr val="0A1120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35040" y="1770000"/>
            <a:ext cx="46000" cy="2370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25040" y="1530000"/>
            <a:ext cx="4556960" cy="2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80">
                <a:solidFill>
                  <a:srgbClr val="8493AD"/>
                </a:solidFill>
                <a:latin typeface="Segoe UI Semibold"/>
              </a:rPr>
              <a:t>SÍNTOMA DE ROLLOUT BLOQUEADO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25040" y="1764000"/>
            <a:ext cx="4556960" cy="10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65040" y="1960000"/>
            <a:ext cx="4516960" cy="178536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$ k rollout status deploy/web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Waiting for deployment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"web" rollout to finish: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1 out of 3 new replicas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have been updated...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/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1">
                <a:solidFill>
                  <a:srgbClr val="7C8AA5"/>
                </a:solidFill>
                <a:latin typeface="Consolas"/>
              </a:rPr>
              <a:t># y no termina nunca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/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$ k rollout undo deploy/web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000" y="4310000"/>
            <a:ext cx="10952000" cy="2000000"/>
          </a:xfrm>
          <a:prstGeom prst="roundRect">
            <a:avLst>
              <a:gd name="adj" fmla="val 4500"/>
            </a:avLst>
          </a:prstGeom>
          <a:solidFill>
            <a:srgbClr val="111A2C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6000" y="4332000"/>
            <a:ext cx="40000" cy="195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0000" y="4440000"/>
            <a:ext cx="10522000" cy="174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00" b="1" i="0" spc="200">
                <a:solidFill>
                  <a:srgbClr val="326CE5"/>
                </a:solidFill>
                <a:latin typeface="Segoe UI Semibold"/>
              </a:rPr>
              <a:t>TEORÍA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Segoe UI"/>
              </a:rPr>
              <a:t>El comportamiento correcto ante un despliegue defectuoso es que el rollout se detenga, no que caiga el servicio. Si la imagen nueva no existe o el proceso no arranca, el Pod nuevo nunca llega a Ready. Con maxUnavailable en 0, el controlador no puede retirar ninguna réplica vieja hasta tener una nueva lista, así que el rollout se queda a la espera y las réplicas buenas siguen sirviendo indefinidamente.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Segoe UI"/>
              </a:rPr>
              <a:t>El síntoma es claro: kubectl rollout status se queda en «Waiting for deployment … X out of N new replicas have been updated» y no termina nunca. La solución inmediata es kubectl rollout undo, que vuelve a la revisión anterior.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Segoe UI"/>
              </a:rPr>
              <a:t>Todo esto depende de tener una readinessProbe. Sin ella, Kubernetes considera «listo» a cualquier Pod que arranque su proceso, aunque la aplicación aún no responda o esté rota; entonces sí entra en el Service, empieza a recibir tráfico y el servicio se degrada. La readinessProbe es lo que convierte un rollout peligroso en uno seguro.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F0C96B"/>
                </a:solidFill>
                <a:latin typeface="Segoe UI Semibold"/>
              </a:rPr>
              <a:t>ACTUALIZACIÓN TÉCNICA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0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--record ya no existe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07</a:t>
            </a:r>
          </a:p>
        </p:txBody>
      </p:sp>
      <p:sp>
        <p:nvSpPr>
          <p:cNvPr id="8" name="Freeform 7"/>
          <p:cNvSpPr/>
          <p:nvPr/>
        </p:nvSpPr>
        <p:spPr>
          <a:xfrm>
            <a:off x="10970400" y="326200"/>
            <a:ext cx="563200" cy="512000"/>
          </a:xfrm>
          <a:custGeom>
            <a:avLst/>
            <a:gdLst/>
            <a:ahLst/>
            <a:cxnLst/>
            <a:rect l="l" t="t" r="r" b="b"/>
            <a:pathLst>
              <a:path w="563200" h="512000">
                <a:moveTo>
                  <a:pt x="281600" y="0"/>
                </a:moveTo>
                <a:lnTo>
                  <a:pt x="563200" y="512000"/>
                </a:lnTo>
                <a:lnTo>
                  <a:pt x="0" y="512000"/>
                </a:lnTo>
                <a:close/>
              </a:path>
            </a:pathLst>
          </a:custGeom>
          <a:noFill/>
          <a:ln w="38100">
            <a:solidFill>
              <a:srgbClr val="F0C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11252000" y="518200"/>
            <a:ext cx="0" cy="153600"/>
          </a:xfrm>
          <a:prstGeom prst="line">
            <a:avLst/>
          </a:prstGeom>
          <a:ln w="49530">
            <a:solidFill>
              <a:srgbClr val="F0C9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1220000" y="716600"/>
            <a:ext cx="64000" cy="64000"/>
          </a:xfrm>
          <a:prstGeom prst="ellipse">
            <a:avLst/>
          </a:prstGeom>
          <a:solidFill>
            <a:srgbClr val="F0C96B"/>
          </a:solidFill>
          <a:ln w="6350">
            <a:solidFill>
              <a:srgbClr val="F0C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0000" y="1470000"/>
            <a:ext cx="10952000" cy="5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1">
                <a:solidFill>
                  <a:srgbClr val="BDC9DB"/>
                </a:solidFill>
                <a:latin typeface="Segoe UI"/>
              </a:rPr>
              <a:t>La opción --record fue eliminada de kubectl. La causa del cambio se registra ahora con una anotación, y hay que ponerla junto al cambio para que quede asociada a la revisión correcta.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000" y="2410000"/>
            <a:ext cx="10952000" cy="1644000"/>
          </a:xfrm>
          <a:prstGeom prst="roundRect">
            <a:avLst>
              <a:gd name="adj" fmla="val 5000"/>
            </a:avLst>
          </a:prstGeom>
          <a:solidFill>
            <a:srgbClr val="0A1120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000" y="2410000"/>
            <a:ext cx="46000" cy="1644000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0000" y="2560000"/>
            <a:ext cx="10412000" cy="138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set image deploy/web nginx=nginx:1.27-alpine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annotate deploy/web kubernetes.io/change-cause="Actualizacion a 1.27" --overwrite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/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rollout history deploy/web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rollout history deploy/web --revision=3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rollout undo    deploy/web --to-revision=1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000" y="5840000"/>
            <a:ext cx="10952000" cy="470000"/>
          </a:xfrm>
          <a:prstGeom prst="roundRect">
            <a:avLst>
              <a:gd name="adj" fmla="val 10000"/>
            </a:avLst>
          </a:prstGeom>
          <a:solidFill>
            <a:srgbClr val="111A2C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0000" y="5864000"/>
            <a:ext cx="40000" cy="422000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0000" y="5840000"/>
            <a:ext cx="1048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>
                <a:solidFill>
                  <a:srgbClr val="BDC9DB"/>
                </a:solidFill>
                <a:latin typeface="Segoe UI"/>
              </a:rPr>
              <a:t>rollout undo no borra revisiones: crea una nueva con el contenido de la antigua. Por eso el contador sigue subiendo.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92000" y="-1500000"/>
            <a:ext cx="3400000" cy="34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00" y="470000"/>
            <a:ext cx="2500000" cy="3600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40">
                <a:solidFill>
                  <a:srgbClr val="74A6FF"/>
                </a:solidFill>
                <a:latin typeface="Segoe UI"/>
              </a:rPr>
              <a:t>Nivel básico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990000"/>
            <a:ext cx="10912000" cy="7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0" i="0">
                <a:solidFill>
                  <a:srgbClr val="F3F6FC"/>
                </a:solidFill>
                <a:latin typeface="Segoe UI Light"/>
              </a:rPr>
              <a:t>LAB 4.1 — Rolling Update y Rollback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1800000"/>
            <a:ext cx="7452000" cy="64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1">
                <a:solidFill>
                  <a:srgbClr val="BDC9DB"/>
                </a:solidFill>
                <a:latin typeface="Segoe UI"/>
              </a:rPr>
              <a:t>Llevar una aplicación por tres versiones, meter la pata a propósito en la cuarta y recuperarse sin caída de servicio.</a:t>
            </a:r>
          </a:p>
        </p:txBody>
      </p:sp>
      <p:sp>
        <p:nvSpPr>
          <p:cNvPr id="6" name="Oval 5"/>
          <p:cNvSpPr/>
          <p:nvPr/>
        </p:nvSpPr>
        <p:spPr>
          <a:xfrm>
            <a:off x="640000" y="269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000" y="256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Tres actualizaciones de imagen con su causa de cambio anotada.</a:t>
            </a:r>
          </a:p>
        </p:txBody>
      </p:sp>
      <p:sp>
        <p:nvSpPr>
          <p:cNvPr id="8" name="Oval 7"/>
          <p:cNvSpPr/>
          <p:nvPr/>
        </p:nvSpPr>
        <p:spPr>
          <a:xfrm>
            <a:off x="640000" y="325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000" y="312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Observar en otra terminal la convivencia de dos ReplicaSets.</a:t>
            </a:r>
          </a:p>
        </p:txBody>
      </p:sp>
      <p:sp>
        <p:nvSpPr>
          <p:cNvPr id="10" name="Oval 9"/>
          <p:cNvSpPr/>
          <p:nvPr/>
        </p:nvSpPr>
        <p:spPr>
          <a:xfrm>
            <a:off x="640000" y="381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000" y="368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Desplegar nginx:1.99-inexistente y explicar por qué NO cae el servicio.</a:t>
            </a:r>
          </a:p>
        </p:txBody>
      </p:sp>
      <p:sp>
        <p:nvSpPr>
          <p:cNvPr id="12" name="Oval 11"/>
          <p:cNvSpPr/>
          <p:nvPr/>
        </p:nvSpPr>
        <p:spPr>
          <a:xfrm>
            <a:off x="640000" y="437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000" y="424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rollout undo y rollout undo --to-revision=1.</a:t>
            </a:r>
          </a:p>
        </p:txBody>
      </p:sp>
      <p:sp>
        <p:nvSpPr>
          <p:cNvPr id="14" name="Oval 13"/>
          <p:cNvSpPr/>
          <p:nvPr/>
        </p:nvSpPr>
        <p:spPr>
          <a:xfrm>
            <a:off x="640000" y="493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000" y="480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Configurar revisionHistoryLimit y explicar su efecto.</a:t>
            </a:r>
          </a:p>
        </p:txBody>
      </p:sp>
      <p:sp>
        <p:nvSpPr>
          <p:cNvPr id="16" name="Freeform 15"/>
          <p:cNvSpPr/>
          <p:nvPr/>
        </p:nvSpPr>
        <p:spPr>
          <a:xfrm>
            <a:off x="9590000" y="1418800"/>
            <a:ext cx="784000" cy="842800"/>
          </a:xfrm>
          <a:custGeom>
            <a:avLst/>
            <a:gdLst/>
            <a:ahLst/>
            <a:cxnLst/>
            <a:rect l="l" t="t" r="r" b="b"/>
            <a:pathLst>
              <a:path w="784000" h="842800">
                <a:moveTo>
                  <a:pt x="235200" y="0"/>
                </a:moveTo>
                <a:lnTo>
                  <a:pt x="235200" y="333200"/>
                </a:lnTo>
                <a:lnTo>
                  <a:pt x="0" y="842800"/>
                </a:lnTo>
                <a:lnTo>
                  <a:pt x="784000" y="842800"/>
                </a:lnTo>
                <a:lnTo>
                  <a:pt x="548800" y="333200"/>
                </a:lnTo>
                <a:lnTo>
                  <a:pt x="548800" y="0"/>
                </a:lnTo>
              </a:path>
            </a:pathLst>
          </a:custGeom>
          <a:noFill/>
          <a:ln w="33020">
            <a:solidFill>
              <a:srgbClr val="74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9766400" y="1418800"/>
            <a:ext cx="431200" cy="0"/>
          </a:xfrm>
          <a:prstGeom prst="line">
            <a:avLst/>
          </a:prstGeom>
          <a:ln w="33020">
            <a:solidFill>
              <a:srgbClr val="74A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727200" y="2006800"/>
            <a:ext cx="509600" cy="0"/>
          </a:xfrm>
          <a:prstGeom prst="line">
            <a:avLst/>
          </a:prstGeom>
          <a:ln w="33020">
            <a:solidFill>
              <a:srgbClr val="74A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392000" y="2560000"/>
            <a:ext cx="3180000" cy="3510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92000" y="2560000"/>
            <a:ext cx="318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2000" y="274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ARCHIVO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CLASE-04/LABORATORIOS/LAB-01-BASICO.md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92000" y="379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2000" y="383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DURACIÓN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24 min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92000" y="488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2000" y="492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VALIDACIÓN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k rollout history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500000" y="4258000"/>
            <a:ext cx="4200000" cy="42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cr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2000" y="2150000"/>
            <a:ext cx="1800000" cy="18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0000" y="1150000"/>
            <a:ext cx="4000000" cy="26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0" b="0" i="0">
                <a:solidFill>
                  <a:srgbClr val="4C5B75"/>
                </a:solidFill>
                <a:latin typeface="Segoe UI Light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50000"/>
            <a:ext cx="9200000" cy="3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60">
                <a:solidFill>
                  <a:srgbClr val="74A6FF"/>
                </a:solidFill>
                <a:latin typeface="Segoe UI Semibold"/>
              </a:rPr>
              <a:t>BLOQUE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350000"/>
            <a:ext cx="10200000" cy="10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400" b="0" i="0">
                <a:solidFill>
                  <a:srgbClr val="F3F6FC"/>
                </a:solidFill>
                <a:latin typeface="Segoe UI Light"/>
              </a:rPr>
              <a:t>ConfigMaps y Secrets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000" y="4380000"/>
            <a:ext cx="62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00" y="4560000"/>
            <a:ext cx="9600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1">
                <a:solidFill>
                  <a:srgbClr val="BDC9DB"/>
                </a:solidFill>
                <a:latin typeface="Segoe UI"/>
              </a:rPr>
              <a:t>Sacar la configuración fuera de la imagen</a:t>
            </a:r>
          </a:p>
        </p:txBody>
      </p:sp>
      <p:sp>
        <p:nvSpPr>
          <p:cNvPr id="9" name="Rectangle 8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DECISIÓN DE DISEÑO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0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Cuatro formas de consumir, dos comportamientos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10</a:t>
            </a:r>
          </a:p>
        </p:txBody>
      </p:sp>
      <p:pic>
        <p:nvPicPr>
          <p:cNvPr id="8" name="Picture 7" descr="kuberne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2000" y="275000"/>
            <a:ext cx="640000" cy="640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20000" y="1470000"/>
            <a:ext cx="10952000" cy="420000"/>
          </a:xfrm>
          <a:prstGeom prst="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0000" y="1882000"/>
            <a:ext cx="10952000" cy="10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0000" y="1470000"/>
            <a:ext cx="3762545" cy="4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74A6FF"/>
                </a:solidFill>
                <a:latin typeface="Segoe UI Semibold"/>
              </a:rPr>
              <a:t>FORMA DE CONSUMO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2545" y="1470000"/>
            <a:ext cx="2766909" cy="4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74A6FF"/>
                </a:solidFill>
                <a:latin typeface="Segoe UI Semibold"/>
              </a:rPr>
              <a:t>¿SE ACTUALIZA EN CALIENTE?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49454" y="1470000"/>
            <a:ext cx="3762545" cy="4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74A6FF"/>
                </a:solidFill>
                <a:latin typeface="Segoe UI Semibold"/>
              </a:rPr>
              <a:t>CUÁNDO USARLA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000" y="245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" y="1890000"/>
            <a:ext cx="3762545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env + configMapKeyRef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2545" y="1890000"/>
            <a:ext cx="2766909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9454" y="1890000"/>
            <a:ext cx="3762545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Una o dos claves concretas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000" y="2450000"/>
            <a:ext cx="10952000" cy="560000"/>
          </a:xfrm>
          <a:prstGeom prst="rect">
            <a:avLst/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000" y="301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0000" y="2450000"/>
            <a:ext cx="3762545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env + secretKeyRef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62545" y="2450000"/>
            <a:ext cx="2766909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49454" y="2450000"/>
            <a:ext cx="3762545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Una credencial concreta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0000" y="357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0000" y="3010000"/>
            <a:ext cx="3762545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envFrom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62545" y="3010000"/>
            <a:ext cx="2766909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No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49454" y="3010000"/>
            <a:ext cx="3762545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Todas las claves de golpe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0000" y="3570000"/>
            <a:ext cx="10952000" cy="560000"/>
          </a:xfrm>
          <a:prstGeom prst="rect">
            <a:avLst/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000" y="413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0000" y="3570000"/>
            <a:ext cx="3762545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Volumen (configMap o secret)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62545" y="3570000"/>
            <a:ext cx="2766909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Sí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49454" y="3570000"/>
            <a:ext cx="3762545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Archivos de configuración, certificados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0000" y="4310000"/>
            <a:ext cx="10952000" cy="2000000"/>
          </a:xfrm>
          <a:prstGeom prst="roundRect">
            <a:avLst>
              <a:gd name="adj" fmla="val 4500"/>
            </a:avLst>
          </a:prstGeom>
          <a:solidFill>
            <a:srgbClr val="111A2C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6000" y="4332000"/>
            <a:ext cx="40000" cy="195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0000" y="4440000"/>
            <a:ext cx="10522000" cy="174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00" b="1" i="0" spc="200">
                <a:solidFill>
                  <a:srgbClr val="326CE5"/>
                </a:solidFill>
                <a:latin typeface="Segoe UI Semibold"/>
              </a:rPr>
              <a:t>TEORÍA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>
                <a:solidFill>
                  <a:srgbClr val="BDC9DB"/>
                </a:solidFill>
                <a:latin typeface="Segoe UI"/>
              </a:rPr>
              <a:t>Un ConfigMap o un Secret se puede consumir de cuatro maneras, y lo que decide cuál usar es si el valor debe poder recargarse sin reiniciar el Pod. Las tres formas basadas en variables de entorno —env con configMapKeyRef o secretKeyRef para claves sueltas, y envFrom para volcar todas las claves de golpe— fijan el valor en el arranque del contenedor y NO se actualizan en caliente. Cambiar el ConfigMap no afecta a los Pods que ya corren.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>
                <a:solidFill>
                  <a:srgbClr val="BDC9DB"/>
                </a:solidFill>
                <a:latin typeface="Segoe UI"/>
              </a:rPr>
              <a:t>Montar el ConfigMap o el Secret como VOLUMEN sí propaga los cambios: el kubelet actualiza los ficheros del volumen al cabo de un tiempo, sin recrear el Pod. Por eso los archivos de configuración y los certificados se montan como volumen, y las variables simples se pasan como env.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>
                <a:solidFill>
                  <a:srgbClr val="BDC9DB"/>
                </a:solidFill>
                <a:latin typeface="Segoe UI"/>
              </a:rPr>
              <a:t>Para forzar que una variable de entorno tome el valor nuevo hay que provocar una recreación de los Pods, típicamente con kubectl rollout restart deployment/&lt;d&gt;. Y un Secret montado como volumen se guarda en un tmpfs (memoria), nunca en el disco del nodo.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CORRECCIÓN CONCEPTUAL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0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Un Secret no cifra nada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11</a:t>
            </a:r>
          </a:p>
        </p:txBody>
      </p:sp>
      <p:pic>
        <p:nvPicPr>
          <p:cNvPr id="8" name="Picture 7" descr="secr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2000" y="275000"/>
            <a:ext cx="640000" cy="64000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636000" y="1751750"/>
            <a:ext cx="104000" cy="104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0000" y="1470000"/>
            <a:ext cx="5435040" cy="6675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El contenido de un Secret está en base64, que es codificación reversible por cualquiera con acceso al objeto.</a:t>
            </a:r>
          </a:p>
        </p:txBody>
      </p:sp>
      <p:sp>
        <p:nvSpPr>
          <p:cNvPr id="11" name="Oval 10"/>
          <p:cNvSpPr/>
          <p:nvPr/>
        </p:nvSpPr>
        <p:spPr>
          <a:xfrm>
            <a:off x="636000" y="2419250"/>
            <a:ext cx="104000" cy="104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0000" y="2137500"/>
            <a:ext cx="5435040" cy="6675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Lo que protege un Secret es otra cosa: el acceso al objeto vía RBAC.</a:t>
            </a:r>
          </a:p>
        </p:txBody>
      </p:sp>
      <p:sp>
        <p:nvSpPr>
          <p:cNvPr id="13" name="Oval 12"/>
          <p:cNvSpPr/>
          <p:nvPr/>
        </p:nvSpPr>
        <p:spPr>
          <a:xfrm>
            <a:off x="636000" y="3086750"/>
            <a:ext cx="104000" cy="104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0000" y="2805000"/>
            <a:ext cx="5435040" cy="6675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Y, si está configurado, el cifrado en reposo de etcd (EncryptionConfiguration).</a:t>
            </a:r>
          </a:p>
        </p:txBody>
      </p:sp>
      <p:sp>
        <p:nvSpPr>
          <p:cNvPr id="15" name="Oval 14"/>
          <p:cNvSpPr/>
          <p:nvPr/>
        </p:nvSpPr>
        <p:spPr>
          <a:xfrm>
            <a:off x="636000" y="3754250"/>
            <a:ext cx="104000" cy="104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0000" y="3472500"/>
            <a:ext cx="5435040" cy="6675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Y el hecho de no estar dentro de la imagen del contenedor, que se distribuye a todas partes.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35040" y="1470000"/>
            <a:ext cx="4936960" cy="2670000"/>
          </a:xfrm>
          <a:prstGeom prst="roundRect">
            <a:avLst>
              <a:gd name="adj" fmla="val 3000"/>
            </a:avLst>
          </a:prstGeom>
          <a:solidFill>
            <a:srgbClr val="0A1120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35040" y="1770000"/>
            <a:ext cx="46000" cy="2370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25040" y="1530000"/>
            <a:ext cx="4556960" cy="2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80">
                <a:solidFill>
                  <a:srgbClr val="8493AD"/>
                </a:solidFill>
                <a:latin typeface="Segoe UI Semibold"/>
              </a:rPr>
              <a:t>COMPRUÉBALO EN CLASE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25040" y="1764000"/>
            <a:ext cx="4556960" cy="10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65040" y="1960000"/>
            <a:ext cx="4516960" cy="19837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E6EDF3"/>
                </a:solidFill>
                <a:latin typeface="Consolas"/>
              </a:rPr>
              <a:t>k get secret db-cred -o yaml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E6EDF3"/>
                </a:solidFill>
                <a:latin typeface="Consolas"/>
              </a:rPr>
              <a:t/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E6EDF3"/>
                </a:solidFill>
                <a:latin typeface="Consolas"/>
              </a:rPr>
              <a:t>k get secret db-cred \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E6EDF3"/>
                </a:solidFill>
                <a:latin typeface="Consolas"/>
              </a:rPr>
              <a:t>  -o jsonpath='{.data.password}' \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E6EDF3"/>
                </a:solidFill>
                <a:latin typeface="Consolas"/>
              </a:rPr>
              <a:t>  | base64 -d; echo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E6EDF3"/>
                </a:solidFill>
                <a:latin typeface="Consolas"/>
              </a:rPr>
              <a:t/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00" b="0" i="1">
                <a:solidFill>
                  <a:srgbClr val="7C8AA5"/>
                </a:solidFill>
                <a:latin typeface="Consolas"/>
              </a:rPr>
              <a:t># -&gt; Sup3rS3cret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E6EDF3"/>
                </a:solidFill>
                <a:latin typeface="Consolas"/>
              </a:rPr>
              <a:t/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00" b="0" i="1">
                <a:solidFill>
                  <a:srgbClr val="7C8AA5"/>
                </a:solidFill>
                <a:latin typeface="Consolas"/>
              </a:rPr>
              <a:t># Montado como volumen: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E6EDF3"/>
                </a:solidFill>
                <a:latin typeface="Consolas"/>
              </a:rPr>
              <a:t>k exec pod -- mount | grep cred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00" b="0" i="1">
                <a:solidFill>
                  <a:srgbClr val="7C8AA5"/>
                </a:solidFill>
                <a:latin typeface="Consolas"/>
              </a:rPr>
              <a:t># tmpfs ... (ro)  -&gt; en memoria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000" y="4310000"/>
            <a:ext cx="10952000" cy="2000000"/>
          </a:xfrm>
          <a:prstGeom prst="roundRect">
            <a:avLst>
              <a:gd name="adj" fmla="val 4500"/>
            </a:avLst>
          </a:prstGeom>
          <a:solidFill>
            <a:srgbClr val="111A2C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6000" y="4332000"/>
            <a:ext cx="40000" cy="195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0000" y="4440000"/>
            <a:ext cx="10522000" cy="174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00" b="1" i="0" spc="200">
                <a:solidFill>
                  <a:srgbClr val="326CE5"/>
                </a:solidFill>
                <a:latin typeface="Segoe UI Semibold"/>
              </a:rPr>
              <a:t>TEORÍA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>
                <a:solidFill>
                  <a:srgbClr val="BDC9DB"/>
                </a:solidFill>
                <a:latin typeface="Segoe UI"/>
              </a:rPr>
              <a:t>El contenido de un Secret se guarda en base64, que es una CODIFICACIÓN, no un cifrado: cualquiera con acceso al objeto puede decodificarlo con base64 -d. Un Secret y un ConfigMap son, en cuanto a confidencialidad del valor en sí, prácticamente lo mismo.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>
                <a:solidFill>
                  <a:srgbClr val="BDC9DB"/>
                </a:solidFill>
                <a:latin typeface="Segoe UI"/>
              </a:rPr>
              <a:t>Lo que aporta un Secret es otra cosa. Primero, es un tipo de objeto separado sobre el que se pueden dar permisos RBAC distintos: puedes permitir leer ConfigMaps a mucha gente y restringir los Secrets a unos pocos. Segundo, si el cluster tiene configurado EncryptionConfiguration, los Secrets (y solo ellos) se cifran en reposo dentro de etcd. Tercero, al montarse en tmpfs y no en la imagen, no se distribuye a todos los nodos ni queda en el registro de contenedores.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>
                <a:solidFill>
                  <a:srgbClr val="BDC9DB"/>
                </a:solidFill>
                <a:latin typeface="Segoe UI"/>
              </a:rPr>
              <a:t>En resumen: la protección de un Secret está en el control de acceso y en la configuración del cluster, no en el base64. Tratarlo como si el base64 fuera seguro es el malentendido más común.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IMPERATIVO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0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Crear y consumir sin escribir YAML a mano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12</a:t>
            </a:r>
          </a:p>
        </p:txBody>
      </p:sp>
      <p:sp>
        <p:nvSpPr>
          <p:cNvPr id="8" name="Freeform 7"/>
          <p:cNvSpPr/>
          <p:nvPr/>
        </p:nvSpPr>
        <p:spPr>
          <a:xfrm>
            <a:off x="11034400" y="300600"/>
            <a:ext cx="448000" cy="588800"/>
          </a:xfrm>
          <a:custGeom>
            <a:avLst/>
            <a:gdLst/>
            <a:ahLst/>
            <a:cxnLst/>
            <a:rect l="l" t="t" r="r" b="b"/>
            <a:pathLst>
              <a:path w="448000" h="588800">
                <a:moveTo>
                  <a:pt x="0" y="0"/>
                </a:moveTo>
                <a:lnTo>
                  <a:pt x="345600" y="0"/>
                </a:lnTo>
                <a:lnTo>
                  <a:pt x="448000" y="102400"/>
                </a:lnTo>
                <a:lnTo>
                  <a:pt x="448000" y="588800"/>
                </a:lnTo>
                <a:lnTo>
                  <a:pt x="0" y="588800"/>
                </a:lnTo>
                <a:close/>
              </a:path>
            </a:pathLst>
          </a:custGeom>
          <a:noFill/>
          <a:ln w="38100">
            <a:solidFill>
              <a:srgbClr val="74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11380000" y="300600"/>
            <a:ext cx="0" cy="102400"/>
          </a:xfrm>
          <a:prstGeom prst="line">
            <a:avLst/>
          </a:prstGeom>
          <a:ln w="38100">
            <a:solidFill>
              <a:srgbClr val="74A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380000" y="403000"/>
            <a:ext cx="102400" cy="0"/>
          </a:xfrm>
          <a:prstGeom prst="line">
            <a:avLst/>
          </a:prstGeom>
          <a:ln w="38100">
            <a:solidFill>
              <a:srgbClr val="74A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111200" y="543800"/>
            <a:ext cx="281600" cy="0"/>
          </a:xfrm>
          <a:prstGeom prst="line">
            <a:avLst/>
          </a:prstGeom>
          <a:ln w="38100">
            <a:solidFill>
              <a:srgbClr val="74A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111200" y="646200"/>
            <a:ext cx="281600" cy="0"/>
          </a:xfrm>
          <a:prstGeom prst="line">
            <a:avLst/>
          </a:prstGeom>
          <a:ln w="38100">
            <a:solidFill>
              <a:srgbClr val="74A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111200" y="748600"/>
            <a:ext cx="281600" cy="0"/>
          </a:xfrm>
          <a:prstGeom prst="line">
            <a:avLst/>
          </a:prstGeom>
          <a:ln w="38100">
            <a:solidFill>
              <a:srgbClr val="74A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20000" y="1678000"/>
            <a:ext cx="10952000" cy="1720000"/>
          </a:xfrm>
          <a:prstGeom prst="roundRect">
            <a:avLst>
              <a:gd name="adj" fmla="val 5000"/>
            </a:avLst>
          </a:prstGeom>
          <a:solidFill>
            <a:srgbClr val="0A1120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000" y="1678000"/>
            <a:ext cx="46000" cy="1720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000" y="1798000"/>
            <a:ext cx="10492000" cy="2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80">
                <a:solidFill>
                  <a:srgbClr val="8493AD"/>
                </a:solidFill>
                <a:latin typeface="Segoe UI Semibold"/>
              </a:rPr>
              <a:t>CREAR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0000" y="2078000"/>
            <a:ext cx="10412000" cy="12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create configmap app-config --from-literal=APP_COLOR=blue --from-literal=APP_MODE=prod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create configmap web-html --from-file=index.html=web-moon.html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create configmap vars --from-env-file=vars.env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create secret generic db-cred --from-literal=user=admin --from-literal=password=x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create secret tls secure-ingress --cert=cert.pem --key=key.pem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000" y="3598000"/>
            <a:ext cx="10952000" cy="1944000"/>
          </a:xfrm>
          <a:prstGeom prst="roundRect">
            <a:avLst>
              <a:gd name="adj" fmla="val 5000"/>
            </a:avLst>
          </a:prstGeom>
          <a:solidFill>
            <a:srgbClr val="0A1120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000" y="3598000"/>
            <a:ext cx="46000" cy="1944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000" y="3718000"/>
            <a:ext cx="10492000" cy="2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80">
                <a:solidFill>
                  <a:srgbClr val="8493AD"/>
                </a:solidFill>
                <a:latin typeface="Segoe UI Semibold"/>
              </a:rPr>
              <a:t>CONSUMIR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0000" y="3998000"/>
            <a:ext cx="10412000" cy="148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envFrom: [{configMapRef: {name: app-config}}]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env: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- name: DB_PASSWORD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  valueFrom: {secretKeyRef: {name: db-cred, key: password}}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volumeMounts: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- {name: cred, mountPath: /etc/db-cred, readOnly: true}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000" y="5840000"/>
            <a:ext cx="10952000" cy="470000"/>
          </a:xfrm>
          <a:prstGeom prst="roundRect">
            <a:avLst>
              <a:gd name="adj" fmla="val 10000"/>
            </a:avLst>
          </a:prstGeom>
          <a:solidFill>
            <a:srgbClr val="111A2C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0000" y="5864000"/>
            <a:ext cx="40000" cy="422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0000" y="5840000"/>
            <a:ext cx="1048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>
                <a:solidFill>
                  <a:srgbClr val="BDC9DB"/>
                </a:solidFill>
                <a:latin typeface="Segoe UI"/>
              </a:rPr>
              <a:t>--from-file=web-moon.html crea la clave 'web-moon.html'. Para que la clave sea index.html: --from-file=index.html=web-moon.html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92000" y="-1500000"/>
            <a:ext cx="3400000" cy="34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00" y="470000"/>
            <a:ext cx="2500000" cy="3600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40">
                <a:solidFill>
                  <a:srgbClr val="74A6FF"/>
                </a:solidFill>
                <a:latin typeface="Segoe UI"/>
              </a:rPr>
              <a:t>Nivel intermedio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990000"/>
            <a:ext cx="10912000" cy="7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0" i="0">
                <a:solidFill>
                  <a:srgbClr val="F3F6FC"/>
                </a:solidFill>
                <a:latin typeface="Segoe UI Light"/>
              </a:rPr>
              <a:t>LAB 4.2 — ConfigMaps y Secrets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1800000"/>
            <a:ext cx="7452000" cy="64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1">
                <a:solidFill>
                  <a:srgbClr val="BDC9DB"/>
                </a:solidFill>
                <a:latin typeface="Segoe UI"/>
              </a:rPr>
              <a:t>Sacar de la imagen el index.html, los parámetros de la aplicación y la contraseña de la base de datos.</a:t>
            </a:r>
          </a:p>
        </p:txBody>
      </p:sp>
      <p:sp>
        <p:nvSpPr>
          <p:cNvPr id="6" name="Oval 5"/>
          <p:cNvSpPr/>
          <p:nvPr/>
        </p:nvSpPr>
        <p:spPr>
          <a:xfrm>
            <a:off x="640000" y="269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000" y="256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ConfigMap desde literales y desde archivo, con la clave correcta.</a:t>
            </a:r>
          </a:p>
        </p:txBody>
      </p:sp>
      <p:sp>
        <p:nvSpPr>
          <p:cNvPr id="8" name="Oval 7"/>
          <p:cNvSpPr/>
          <p:nvPr/>
        </p:nvSpPr>
        <p:spPr>
          <a:xfrm>
            <a:off x="640000" y="325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000" y="312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Consumo con envFrom y como volumen montado que nginx sirve.</a:t>
            </a:r>
          </a:p>
        </p:txBody>
      </p:sp>
      <p:sp>
        <p:nvSpPr>
          <p:cNvPr id="10" name="Oval 9"/>
          <p:cNvSpPr/>
          <p:nvPr/>
        </p:nvSpPr>
        <p:spPr>
          <a:xfrm>
            <a:off x="640000" y="381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000" y="368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Secret consumido por secretKeyRef y montado en solo lectura. Identificar el tmpfs.</a:t>
            </a:r>
          </a:p>
        </p:txBody>
      </p:sp>
      <p:sp>
        <p:nvSpPr>
          <p:cNvPr id="12" name="Oval 11"/>
          <p:cNvSpPr/>
          <p:nvPr/>
        </p:nvSpPr>
        <p:spPr>
          <a:xfrm>
            <a:off x="640000" y="437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000" y="424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Cambiar ambos y comprobar qué se actualiza solo y qué no.</a:t>
            </a:r>
          </a:p>
        </p:txBody>
      </p:sp>
      <p:sp>
        <p:nvSpPr>
          <p:cNvPr id="14" name="Freeform 13"/>
          <p:cNvSpPr/>
          <p:nvPr/>
        </p:nvSpPr>
        <p:spPr>
          <a:xfrm>
            <a:off x="9590000" y="1418800"/>
            <a:ext cx="784000" cy="842800"/>
          </a:xfrm>
          <a:custGeom>
            <a:avLst/>
            <a:gdLst/>
            <a:ahLst/>
            <a:cxnLst/>
            <a:rect l="l" t="t" r="r" b="b"/>
            <a:pathLst>
              <a:path w="784000" h="842800">
                <a:moveTo>
                  <a:pt x="235200" y="0"/>
                </a:moveTo>
                <a:lnTo>
                  <a:pt x="235200" y="333200"/>
                </a:lnTo>
                <a:lnTo>
                  <a:pt x="0" y="842800"/>
                </a:lnTo>
                <a:lnTo>
                  <a:pt x="784000" y="842800"/>
                </a:lnTo>
                <a:lnTo>
                  <a:pt x="548800" y="333200"/>
                </a:lnTo>
                <a:lnTo>
                  <a:pt x="548800" y="0"/>
                </a:lnTo>
              </a:path>
            </a:pathLst>
          </a:custGeom>
          <a:noFill/>
          <a:ln w="33020">
            <a:solidFill>
              <a:srgbClr val="74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9766400" y="1418800"/>
            <a:ext cx="431200" cy="0"/>
          </a:xfrm>
          <a:prstGeom prst="line">
            <a:avLst/>
          </a:prstGeom>
          <a:ln w="33020">
            <a:solidFill>
              <a:srgbClr val="74A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727200" y="2006800"/>
            <a:ext cx="509600" cy="0"/>
          </a:xfrm>
          <a:prstGeom prst="line">
            <a:avLst/>
          </a:prstGeom>
          <a:ln w="33020">
            <a:solidFill>
              <a:srgbClr val="74A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392000" y="2560000"/>
            <a:ext cx="3180000" cy="3510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92000" y="2560000"/>
            <a:ext cx="318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2000" y="274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ARCHIVO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CLASE-04/LABORATORIOS/LAB-02-INTERMEDIO.md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92000" y="379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2000" y="383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DURACIÓN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30 min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92000" y="488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2000" y="492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VALIDACIÓN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k exec deploy/web-moon -- env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500000" y="4258000"/>
            <a:ext cx="4200000" cy="42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im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2000" y="2150000"/>
            <a:ext cx="1800000" cy="18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0000" y="1150000"/>
            <a:ext cx="4000000" cy="26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0" b="0" i="0">
                <a:solidFill>
                  <a:srgbClr val="4C5B75"/>
                </a:solidFill>
                <a:latin typeface="Segoe UI Light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50000"/>
            <a:ext cx="9200000" cy="3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60">
                <a:solidFill>
                  <a:srgbClr val="74A6FF"/>
                </a:solidFill>
                <a:latin typeface="Segoe UI Semibold"/>
              </a:rPr>
              <a:t>BLOQUE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350000"/>
            <a:ext cx="10200000" cy="10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400" b="0" i="0">
                <a:solidFill>
                  <a:srgbClr val="F3F6FC"/>
                </a:solidFill>
                <a:latin typeface="Segoe UI Light"/>
              </a:rPr>
              <a:t>Recursos y métricas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000" y="4380000"/>
            <a:ext cx="62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00" y="4560000"/>
            <a:ext cx="9600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1">
                <a:solidFill>
                  <a:srgbClr val="BDC9DB"/>
                </a:solidFill>
                <a:latin typeface="Segoe UI"/>
              </a:rPr>
              <a:t>Cuánto reservas, cuánto usas y qué pasa cuando te pasas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CONCEPTO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0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requests y limits actúan en momentos distintos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15</a:t>
            </a:r>
          </a:p>
        </p:txBody>
      </p:sp>
      <p:pic>
        <p:nvPicPr>
          <p:cNvPr id="8" name="Picture 7" descr="lim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2000" y="275000"/>
            <a:ext cx="640000" cy="640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0000" y="1470000"/>
            <a:ext cx="5316000" cy="2670000"/>
          </a:xfrm>
          <a:prstGeom prst="roundRect">
            <a:avLst>
              <a:gd name="adj" fmla="val 5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4000" y="1470000"/>
            <a:ext cx="5268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0000" y="1730000"/>
            <a:ext cx="4796000" cy="57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600" b="1" i="0">
                <a:solidFill>
                  <a:srgbClr val="F3F6FC"/>
                </a:solidFill>
                <a:latin typeface="Segoe UI Semibold"/>
              </a:rPr>
              <a:t>requests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>
                <a:solidFill>
                  <a:srgbClr val="8493AD"/>
                </a:solidFill>
                <a:latin typeface="Segoe UI"/>
              </a:rPr>
              <a:t>Los usa el SCHEDULER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0000" y="2300000"/>
            <a:ext cx="4796000" cy="16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/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Deciden en qué nodo cabe el Pod.</a:t>
            </a:r>
          </a:p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Reservan capacidad aunque no se consuma.</a:t>
            </a:r>
          </a:p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Si no caben en ningún nodo: Pending + Insufficient cpu.</a:t>
            </a:r>
          </a:p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El fallo ocurre ANTES de arrancar.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6000" y="1470000"/>
            <a:ext cx="5316000" cy="2670000"/>
          </a:xfrm>
          <a:prstGeom prst="roundRect">
            <a:avLst>
              <a:gd name="adj" fmla="val 5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80000" y="1470000"/>
            <a:ext cx="5268000" cy="46000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6000" y="1730000"/>
            <a:ext cx="4796000" cy="57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600" b="1" i="0">
                <a:solidFill>
                  <a:srgbClr val="F3F6FC"/>
                </a:solidFill>
                <a:latin typeface="Segoe UI Semibold"/>
              </a:rPr>
              <a:t>limits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>
                <a:solidFill>
                  <a:srgbClr val="8493AD"/>
                </a:solidFill>
                <a:latin typeface="Segoe UI"/>
              </a:rPr>
              <a:t>Los aplica el RUNTIME (cgroups)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6000" y="2300000"/>
            <a:ext cx="4796000" cy="16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/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Ponen un techo al contenedor en ejecución.</a:t>
            </a:r>
          </a:p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CPU es comprimible: superar el límite provoca throttling, no muerte.</a:t>
            </a:r>
          </a:p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Memoria NO es comprimible: superarla provoca OOMKilled, exit 137.</a:t>
            </a:r>
          </a:p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El fallo ocurre DURANTE la ejecución.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000" y="4310000"/>
            <a:ext cx="10952000" cy="2000000"/>
          </a:xfrm>
          <a:prstGeom prst="roundRect">
            <a:avLst>
              <a:gd name="adj" fmla="val 4500"/>
            </a:avLst>
          </a:prstGeom>
          <a:solidFill>
            <a:srgbClr val="111A2C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6000" y="4332000"/>
            <a:ext cx="40000" cy="195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0000" y="4440000"/>
            <a:ext cx="10522000" cy="174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00" b="1" i="0" spc="200">
                <a:solidFill>
                  <a:srgbClr val="326CE5"/>
                </a:solidFill>
                <a:latin typeface="Segoe UI Semibold"/>
              </a:rPr>
              <a:t>TEORÍA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50" b="0" i="0">
                <a:solidFill>
                  <a:srgbClr val="BDC9DB"/>
                </a:solidFill>
                <a:latin typeface="Segoe UI"/>
              </a:rPr>
              <a:t>requests y limits parecen dos caras de lo mismo, pero actúan en momentos distintos y los usan actores distintos. Los REQUESTS los usa el SCHEDULER: son la cantidad de CPU y memoria que el Pod reserva, y con ellos decide en qué nodo cabe. Si la suma de requests no cabe en ningún nodo, el Pod se queda en Pending con el evento «Insufficient cpu/memory». El fallo ocurre ANTES de arrancar.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50" b="0" i="0">
                <a:solidFill>
                  <a:srgbClr val="BDC9DB"/>
                </a:solidFill>
                <a:latin typeface="Segoe UI"/>
              </a:rPr>
              <a:t>Los LIMITS los aplica el RUNTIME mediante cgroups, ya con el contenedor en ejecución: son el techo que no puede superar. La CPU es un recurso comprimible: pasarse del límite provoca throttling (el proceso va más lento), no muerte. La memoria NO es comprimible: superar limits.memory provoca que el kernel mate el contenedor con OOMKilled y exit code 137.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50" b="0" i="0">
                <a:solidFill>
                  <a:srgbClr val="BDC9DB"/>
                </a:solidFill>
                <a:latin typeface="Segoe UI"/>
              </a:rPr>
              <a:t>La consecuencia para el diagnóstico es que Pending por CPU y OOMKilled por memoria son ramas completamente separadas: una se investiga en los eventos del scheduler, la otra en el Last State del contenedor. Y cuidado: si defines solo limits, Kubernetes copia esos valores a los requests y el Pod acaba en QoS Guaranteed sin que lo pretendieras.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QOS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0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Tu configuración decide quién muere primero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000" y="1470000"/>
            <a:ext cx="3437333" cy="2670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000" y="1470000"/>
            <a:ext cx="3389333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0000" y="169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1</a:t>
            </a:r>
          </a:p>
        </p:txBody>
      </p:sp>
      <p:pic>
        <p:nvPicPr>
          <p:cNvPr id="11" name="Picture 10" descr="c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7333" y="1676000"/>
            <a:ext cx="330000" cy="33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30000" y="1670000"/>
            <a:ext cx="2407333" cy="3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Guaranteed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000" y="2030000"/>
            <a:ext cx="3037333" cy="205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Segoe UI"/>
              </a:rPr>
              <a:t>requests == limits en TODOS los recursos de TODOS los contenedores. Es el último en ser desalojado bajo presión.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7333" y="1470000"/>
            <a:ext cx="3437333" cy="2670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1333" y="1470000"/>
            <a:ext cx="3389333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7333" y="169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2</a:t>
            </a:r>
          </a:p>
        </p:txBody>
      </p:sp>
      <p:pic>
        <p:nvPicPr>
          <p:cNvPr id="17" name="Picture 16" descr="c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4666" y="1676000"/>
            <a:ext cx="330000" cy="330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987333" y="1670000"/>
            <a:ext cx="2407333" cy="3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Burstable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7333" y="2030000"/>
            <a:ext cx="3037333" cy="205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Segoe UI"/>
              </a:rPr>
              <a:t>Hay requests o limits, pero no coinciden en todo. Es el caso más habitual en producción.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4666" y="1470000"/>
            <a:ext cx="3437333" cy="2670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58666" y="1470000"/>
            <a:ext cx="3389333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34666" y="169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3</a:t>
            </a:r>
          </a:p>
        </p:txBody>
      </p:sp>
      <p:pic>
        <p:nvPicPr>
          <p:cNvPr id="23" name="Picture 22" descr="c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2000" y="1676000"/>
            <a:ext cx="330000" cy="330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744666" y="1670000"/>
            <a:ext cx="2407333" cy="3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BestEffort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4666" y="2030000"/>
            <a:ext cx="3037333" cy="205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Segoe UI"/>
              </a:rPr>
              <a:t>Sin requests ni limits. El PRIMERO en ser desalojado cuando el nodo se queda sin memoria.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000" y="4310000"/>
            <a:ext cx="10952000" cy="2000000"/>
          </a:xfrm>
          <a:prstGeom prst="roundRect">
            <a:avLst>
              <a:gd name="adj" fmla="val 4500"/>
            </a:avLst>
          </a:prstGeom>
          <a:solidFill>
            <a:srgbClr val="111A2C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6000" y="4332000"/>
            <a:ext cx="40000" cy="195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0000" y="4440000"/>
            <a:ext cx="10522000" cy="174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00" b="1" i="0" spc="200">
                <a:solidFill>
                  <a:srgbClr val="326CE5"/>
                </a:solidFill>
                <a:latin typeface="Segoe UI Semibold"/>
              </a:rPr>
              <a:t>TEORÍA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>
                <a:solidFill>
                  <a:srgbClr val="BDC9DB"/>
                </a:solidFill>
                <a:latin typeface="Segoe UI"/>
              </a:rPr>
              <a:t>La clase de QoS de un Pod no se declara: Kubernetes la deduce de cómo hayas puesto requests y limits, y determina el orden en que se desalojan los Pods cuando un nodo se queda sin memoria. Guaranteed exige que requests sea igual a limits en TODOS los recursos de TODOS los contenedores; es el último en ser desalojado.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>
                <a:solidFill>
                  <a:srgbClr val="BDC9DB"/>
                </a:solidFill>
                <a:latin typeface="Segoe UI"/>
              </a:rPr>
              <a:t>Burstable es cualquier Pod que tenga algún request o limit pero no cumpla la condición de Guaranteed. Es el caso más habitual en producción. BestEffort es un Pod sin ningún request ni limit: es el PRIMERO en caer cuando hay presión de memoria.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>
                <a:solidFill>
                  <a:srgbClr val="BDC9DB"/>
                </a:solidFill>
                <a:latin typeface="Segoe UI"/>
              </a:rPr>
              <a:t>La regla práctica: para cargas críticas, pon requests == limits y consigue Guaranteed; para el resto, define al menos requests realistas para no acabar en BestEffort. Y recuerda que definir solo limits te lleva a Guaranteed de forma implícita.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F0C96B"/>
                </a:solidFill>
                <a:latin typeface="Segoe UI Semibold"/>
              </a:rPr>
              <a:t>ACTUALIZACIÓN TÉCNICA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0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Metrics Server: olvida el procedimiento antiguo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17</a:t>
            </a:r>
          </a:p>
        </p:txBody>
      </p:sp>
      <p:pic>
        <p:nvPicPr>
          <p:cNvPr id="8" name="Picture 7" descr="lim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2000" y="275000"/>
            <a:ext cx="640000" cy="64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0000" y="1470000"/>
            <a:ext cx="10952000" cy="5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1">
                <a:solidFill>
                  <a:srgbClr val="BDC9DB"/>
                </a:solidFill>
                <a:latin typeface="Segoe UI"/>
              </a:rPr>
              <a:t>El material original instalaba la v0.3.6 y editaba a mano la línea 42 para cambiar apiregistration v1beta1 por v1. Ese arreglo ya no aplica. Hoy se instala el manifiesto oficial tal cual.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000" y="2410000"/>
            <a:ext cx="10952000" cy="1868000"/>
          </a:xfrm>
          <a:prstGeom prst="roundRect">
            <a:avLst>
              <a:gd name="adj" fmla="val 5000"/>
            </a:avLst>
          </a:prstGeom>
          <a:solidFill>
            <a:srgbClr val="0A1120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000" y="2410000"/>
            <a:ext cx="46000" cy="1868000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0000" y="2560000"/>
            <a:ext cx="10412000" cy="160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kubectl apply -f https://github.com/kubernetes-sigs/metrics-server/releases/\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download/v0.8.1/components.yaml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/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1">
                <a:solidFill>
                  <a:srgbClr val="7C8AA5"/>
                </a:solidFill>
                <a:latin typeface="Consolas"/>
              </a:rPr>
              <a:t># Si no llega a Ready, los LOGS te dicen por qué (certificados de kubelet):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kubectl -n kube-system logs deploy/metrics-server | tail -20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/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kubectl top nodes ; kubectl top pods -A --sort-by=cpu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000" y="5840000"/>
            <a:ext cx="10952000" cy="470000"/>
          </a:xfrm>
          <a:prstGeom prst="roundRect">
            <a:avLst>
              <a:gd name="adj" fmla="val 10000"/>
            </a:avLst>
          </a:prstGeom>
          <a:solidFill>
            <a:srgbClr val="111A2C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0000" y="5864000"/>
            <a:ext cx="40000" cy="422000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0000" y="5840000"/>
            <a:ext cx="1048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>
                <a:solidFill>
                  <a:srgbClr val="BDC9DB"/>
                </a:solidFill>
                <a:latin typeface="Segoe UI"/>
              </a:rPr>
              <a:t>--kubelet-insecure-tls es aceptable en laboratorio. En producción se configura la rotación de certificados de serving del kubelet.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92000" y="-1500000"/>
            <a:ext cx="3400000" cy="34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00" y="470000"/>
            <a:ext cx="4492000" cy="3600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40">
                <a:solidFill>
                  <a:srgbClr val="74A6FF"/>
                </a:solidFill>
                <a:latin typeface="Segoe UI"/>
              </a:rPr>
              <a:t>Nivel avanzado — solo requerimientos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990000"/>
            <a:ext cx="10912000" cy="7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0" i="0">
                <a:solidFill>
                  <a:srgbClr val="F3F6FC"/>
                </a:solidFill>
                <a:latin typeface="Segoe UI Light"/>
              </a:rPr>
              <a:t>LAB 4.3 — Recursos, QoS, escalado y métricas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1800000"/>
            <a:ext cx="7452000" cy="64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1">
                <a:solidFill>
                  <a:srgbClr val="BDC9DB"/>
                </a:solidFill>
                <a:latin typeface="Segoe UI"/>
              </a:rPr>
              <a:t>Dimensionar aplicaciones y provocar deliberadamente los dos fallos clásicos para reconocer su firma.</a:t>
            </a:r>
          </a:p>
        </p:txBody>
      </p:sp>
      <p:sp>
        <p:nvSpPr>
          <p:cNvPr id="6" name="Oval 5"/>
          <p:cNvSpPr/>
          <p:nvPr/>
        </p:nvSpPr>
        <p:spPr>
          <a:xfrm>
            <a:off x="640000" y="269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000" y="256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Instalar Metrics Server y diagnosticar por tu cuenta el argumento que falta.</a:t>
            </a:r>
          </a:p>
        </p:txBody>
      </p:sp>
      <p:sp>
        <p:nvSpPr>
          <p:cNvPr id="8" name="Oval 7"/>
          <p:cNvSpPr/>
          <p:nvPr/>
        </p:nvSpPr>
        <p:spPr>
          <a:xfrm>
            <a:off x="640000" y="325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000" y="312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Tres Pods con las tres clases de QoS. Explicar la regla.</a:t>
            </a:r>
          </a:p>
        </p:txBody>
      </p:sp>
      <p:sp>
        <p:nvSpPr>
          <p:cNvPr id="10" name="Oval 9"/>
          <p:cNvSpPr/>
          <p:nvPr/>
        </p:nvSpPr>
        <p:spPr>
          <a:xfrm>
            <a:off x="640000" y="381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000" y="368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Provocar un Pending por requests y un OOMKilled por limits.</a:t>
            </a:r>
          </a:p>
        </p:txBody>
      </p:sp>
      <p:sp>
        <p:nvSpPr>
          <p:cNvPr id="12" name="Oval 11"/>
          <p:cNvSpPr/>
          <p:nvPr/>
        </p:nvSpPr>
        <p:spPr>
          <a:xfrm>
            <a:off x="640000" y="437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000" y="424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Explicar por qué la CPU no mata el contenedor y la memoria sí.</a:t>
            </a:r>
          </a:p>
        </p:txBody>
      </p:sp>
      <p:sp>
        <p:nvSpPr>
          <p:cNvPr id="14" name="Oval 13"/>
          <p:cNvSpPr/>
          <p:nvPr/>
        </p:nvSpPr>
        <p:spPr>
          <a:xfrm>
            <a:off x="640000" y="493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000" y="480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Comparar consumo real y solicitado: ¿estás sobredimensionando?</a:t>
            </a:r>
          </a:p>
        </p:txBody>
      </p:sp>
      <p:sp>
        <p:nvSpPr>
          <p:cNvPr id="16" name="Freeform 15"/>
          <p:cNvSpPr/>
          <p:nvPr/>
        </p:nvSpPr>
        <p:spPr>
          <a:xfrm>
            <a:off x="9590000" y="1418800"/>
            <a:ext cx="784000" cy="842800"/>
          </a:xfrm>
          <a:custGeom>
            <a:avLst/>
            <a:gdLst/>
            <a:ahLst/>
            <a:cxnLst/>
            <a:rect l="l" t="t" r="r" b="b"/>
            <a:pathLst>
              <a:path w="784000" h="842800">
                <a:moveTo>
                  <a:pt x="235200" y="0"/>
                </a:moveTo>
                <a:lnTo>
                  <a:pt x="235200" y="333200"/>
                </a:lnTo>
                <a:lnTo>
                  <a:pt x="0" y="842800"/>
                </a:lnTo>
                <a:lnTo>
                  <a:pt x="784000" y="842800"/>
                </a:lnTo>
                <a:lnTo>
                  <a:pt x="548800" y="333200"/>
                </a:lnTo>
                <a:lnTo>
                  <a:pt x="548800" y="0"/>
                </a:lnTo>
              </a:path>
            </a:pathLst>
          </a:custGeom>
          <a:noFill/>
          <a:ln w="33020">
            <a:solidFill>
              <a:srgbClr val="74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9766400" y="1418800"/>
            <a:ext cx="431200" cy="0"/>
          </a:xfrm>
          <a:prstGeom prst="line">
            <a:avLst/>
          </a:prstGeom>
          <a:ln w="33020">
            <a:solidFill>
              <a:srgbClr val="74A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727200" y="2006800"/>
            <a:ext cx="509600" cy="0"/>
          </a:xfrm>
          <a:prstGeom prst="line">
            <a:avLst/>
          </a:prstGeom>
          <a:ln w="33020">
            <a:solidFill>
              <a:srgbClr val="74A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392000" y="2560000"/>
            <a:ext cx="3180000" cy="3510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92000" y="2560000"/>
            <a:ext cx="318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2000" y="274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ARCHIVO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CLASE-04/LABORATORIOS/LAB-03-AVANZADO.md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92000" y="379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2000" y="383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DURACIÓN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26 min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92000" y="488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2000" y="492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VALIDACIÓN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k top pods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92000" y="-1500000"/>
            <a:ext cx="3400000" cy="34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00" y="470000"/>
            <a:ext cx="4604000" cy="3600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40">
                <a:solidFill>
                  <a:srgbClr val="FF7B72"/>
                </a:solidFill>
                <a:latin typeface="Segoe UI"/>
              </a:rPr>
              <a:t>Challenge — el escenario arranca roto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990000"/>
            <a:ext cx="10912000" cy="7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0" i="0">
                <a:solidFill>
                  <a:srgbClr val="F3F6FC"/>
                </a:solidFill>
                <a:latin typeface="Segoe UI Light"/>
              </a:rPr>
              <a:t>LAB 4.4 — Challenge: el despliegue que no arranca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1800000"/>
            <a:ext cx="7452000" cy="64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1">
                <a:solidFill>
                  <a:srgbClr val="BDC9DB"/>
                </a:solidFill>
                <a:latin typeface="Segoe UI"/>
              </a:rPr>
              <a:t>Ninguna réplica de billing levanta. Cuatro fallos que se manifiestan por capas: hasta que no resuelves uno, no ves el siguiente.</a:t>
            </a:r>
          </a:p>
        </p:txBody>
      </p:sp>
      <p:sp>
        <p:nvSpPr>
          <p:cNvPr id="6" name="Oval 5"/>
          <p:cNvSpPr/>
          <p:nvPr/>
        </p:nvSpPr>
        <p:spPr>
          <a:xfrm>
            <a:off x="640000" y="2690000"/>
            <a:ext cx="300000" cy="300000"/>
          </a:xfrm>
          <a:prstGeom prst="ellipse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000" y="256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Prepara el escenario: RECURSOS/SCRIPTS/setup-lab.sh</a:t>
            </a:r>
          </a:p>
        </p:txBody>
      </p:sp>
      <p:sp>
        <p:nvSpPr>
          <p:cNvPr id="8" name="Oval 7"/>
          <p:cNvSpPr/>
          <p:nvPr/>
        </p:nvSpPr>
        <p:spPr>
          <a:xfrm>
            <a:off x="640000" y="3250000"/>
            <a:ext cx="300000" cy="300000"/>
          </a:xfrm>
          <a:prstGeom prst="ellipse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000" y="312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Distinguir Pending, ImagePullBackOff, CreateContainerConfigError y CrashLoopBackOff.</a:t>
            </a:r>
          </a:p>
        </p:txBody>
      </p:sp>
      <p:sp>
        <p:nvSpPr>
          <p:cNvPr id="10" name="Oval 9"/>
          <p:cNvSpPr/>
          <p:nvPr/>
        </p:nvSpPr>
        <p:spPr>
          <a:xfrm>
            <a:off x="640000" y="3810000"/>
            <a:ext cx="300000" cy="300000"/>
          </a:xfrm>
          <a:prstGeom prst="ellipse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000" y="368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Prohibido pegar la contraseña en el manifiesto: debe venir del Secret.</a:t>
            </a:r>
          </a:p>
        </p:txBody>
      </p:sp>
      <p:sp>
        <p:nvSpPr>
          <p:cNvPr id="12" name="Oval 11"/>
          <p:cNvSpPr/>
          <p:nvPr/>
        </p:nvSpPr>
        <p:spPr>
          <a:xfrm>
            <a:off x="640000" y="4370000"/>
            <a:ext cx="300000" cy="300000"/>
          </a:xfrm>
          <a:prstGeom prst="ellipse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000" y="424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Objetivo: 3/3 Running y Ready, el Service responde, y el cambio queda registrado.</a:t>
            </a:r>
          </a:p>
        </p:txBody>
      </p:sp>
      <p:sp>
        <p:nvSpPr>
          <p:cNvPr id="14" name="Oval 13"/>
          <p:cNvSpPr/>
          <p:nvPr/>
        </p:nvSpPr>
        <p:spPr>
          <a:xfrm>
            <a:off x="9825200" y="1497200"/>
            <a:ext cx="313600" cy="313600"/>
          </a:xfrm>
          <a:prstGeom prst="ellipse">
            <a:avLst/>
          </a:prstGeom>
          <a:noFill/>
          <a:ln w="33020">
            <a:solidFill>
              <a:srgbClr val="FF7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766400" y="1752000"/>
            <a:ext cx="431200" cy="490000"/>
          </a:xfrm>
          <a:prstGeom prst="ellipse">
            <a:avLst/>
          </a:prstGeom>
          <a:noFill/>
          <a:ln w="33020">
            <a:solidFill>
              <a:srgbClr val="FF7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9550800" y="1791200"/>
            <a:ext cx="235200" cy="58800"/>
          </a:xfrm>
          <a:prstGeom prst="line">
            <a:avLst/>
          </a:prstGeom>
          <a:ln w="33020">
            <a:solidFill>
              <a:srgbClr val="FF7B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0178000" y="1791200"/>
            <a:ext cx="235200" cy="58800"/>
          </a:xfrm>
          <a:prstGeom prst="line">
            <a:avLst/>
          </a:prstGeom>
          <a:ln w="33020">
            <a:solidFill>
              <a:srgbClr val="FF7B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9550800" y="1948000"/>
            <a:ext cx="235200" cy="58800"/>
          </a:xfrm>
          <a:prstGeom prst="line">
            <a:avLst/>
          </a:prstGeom>
          <a:ln w="33020">
            <a:solidFill>
              <a:srgbClr val="FF7B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0178000" y="1948000"/>
            <a:ext cx="235200" cy="58800"/>
          </a:xfrm>
          <a:prstGeom prst="line">
            <a:avLst/>
          </a:prstGeom>
          <a:ln w="33020">
            <a:solidFill>
              <a:srgbClr val="FF7B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9550800" y="2104800"/>
            <a:ext cx="235200" cy="58800"/>
          </a:xfrm>
          <a:prstGeom prst="line">
            <a:avLst/>
          </a:prstGeom>
          <a:ln w="33020">
            <a:solidFill>
              <a:srgbClr val="FF7B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0178000" y="2104800"/>
            <a:ext cx="235200" cy="58800"/>
          </a:xfrm>
          <a:prstGeom prst="line">
            <a:avLst/>
          </a:prstGeom>
          <a:ln w="33020">
            <a:solidFill>
              <a:srgbClr val="FF7B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392000" y="2560000"/>
            <a:ext cx="3180000" cy="3510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92000" y="2560000"/>
            <a:ext cx="3180000" cy="46000"/>
          </a:xfrm>
          <a:prstGeom prst="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2000" y="274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ARCHIVO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CLASE-04/LABORATORIOS/LAB-04-CHALLENGE.md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92000" y="379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2000" y="383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DURACIÓN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20 min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92000" y="488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2000" y="492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VALIDACIÓN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./validate-lab.sh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F0C96B"/>
                </a:solidFill>
                <a:latin typeface="Segoe UI Semibold"/>
              </a:rPr>
              <a:t>CKA TIP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0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Comandos que te ahorran escribir YAML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20</a:t>
            </a:r>
          </a:p>
        </p:txBody>
      </p:sp>
      <p:sp>
        <p:nvSpPr>
          <p:cNvPr id="8" name="Oval 7"/>
          <p:cNvSpPr/>
          <p:nvPr/>
        </p:nvSpPr>
        <p:spPr>
          <a:xfrm>
            <a:off x="11060000" y="339000"/>
            <a:ext cx="384000" cy="384000"/>
          </a:xfrm>
          <a:prstGeom prst="ellipse">
            <a:avLst/>
          </a:prstGeom>
          <a:noFill/>
          <a:ln w="38100">
            <a:solidFill>
              <a:srgbClr val="F0C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11188000" y="748600"/>
            <a:ext cx="128000" cy="0"/>
          </a:xfrm>
          <a:prstGeom prst="line">
            <a:avLst/>
          </a:prstGeom>
          <a:ln w="38100">
            <a:solidFill>
              <a:srgbClr val="F0C9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200800" y="825400"/>
            <a:ext cx="102400" cy="0"/>
          </a:xfrm>
          <a:prstGeom prst="line">
            <a:avLst/>
          </a:prstGeom>
          <a:ln w="38100">
            <a:solidFill>
              <a:srgbClr val="F0C9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20000" y="1470000"/>
            <a:ext cx="10952000" cy="5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1">
                <a:solidFill>
                  <a:srgbClr val="BDC9DB"/>
                </a:solidFill>
                <a:latin typeface="Segoe UI"/>
              </a:rPr>
              <a:t>El nombre del contenedor no es el del Deployment. Compruébalo antes de hacer set image o perderás un intento.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000" y="2410000"/>
            <a:ext cx="10952000" cy="1644000"/>
          </a:xfrm>
          <a:prstGeom prst="roundRect">
            <a:avLst>
              <a:gd name="adj" fmla="val 5000"/>
            </a:avLst>
          </a:prstGeom>
          <a:solidFill>
            <a:srgbClr val="0A1120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000" y="2410000"/>
            <a:ext cx="46000" cy="1644000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0000" y="2560000"/>
            <a:ext cx="10412000" cy="138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get deploy &lt;d&gt; -o jsonpath='{.spec.template.spec.containers[*].name}{"\n"}'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set image     deploy/&lt;d&gt; &lt;cont&gt;=&lt;img&gt;:&lt;tag&gt;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set resources deploy/&lt;d&gt; --requests=cpu=100m,memory=64Mi --limits=cpu=500m,memory=256Mi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get pod &lt;p&gt; -o jsonpath='{.status.qosClass}{"\n"}'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describe pod &lt;p&gt; | grep -A5 'Last State'    </a:t>
            </a:r>
            <a:r>
              <a:rPr sz="1100" b="0" i="1">
                <a:solidFill>
                  <a:srgbClr val="7C8AA5"/>
                </a:solidFill>
                <a:latin typeface="Consolas"/>
              </a:rPr>
              <a:t>  # ¿por qué murió?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rollout restart deploy/&lt;d&gt;                  </a:t>
            </a:r>
            <a:r>
              <a:rPr sz="1100" b="0" i="1">
                <a:solidFill>
                  <a:srgbClr val="7C8AA5"/>
                </a:solidFill>
                <a:latin typeface="Consolas"/>
              </a:rPr>
              <a:t>  # recargar variables de entorno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0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Comprueba que puedes hacer esto sin apuntes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96000" y="339000"/>
            <a:ext cx="512000" cy="512000"/>
          </a:xfrm>
          <a:prstGeom prst="roundRect">
            <a:avLst>
              <a:gd name="adj" fmla="val 20000"/>
            </a:avLst>
          </a:prstGeom>
          <a:noFill/>
          <a:ln w="38100">
            <a:solidFill>
              <a:srgbClr val="74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11124000" y="607800"/>
            <a:ext cx="89600" cy="102400"/>
          </a:xfrm>
          <a:prstGeom prst="line">
            <a:avLst/>
          </a:prstGeom>
          <a:ln w="49530">
            <a:solidFill>
              <a:srgbClr val="74A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213600" y="479800"/>
            <a:ext cx="179200" cy="230400"/>
          </a:xfrm>
          <a:prstGeom prst="line">
            <a:avLst/>
          </a:prstGeom>
          <a:ln w="49530">
            <a:solidFill>
              <a:srgbClr val="74A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20000" y="262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000" y="249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Ejecuto un Rolling Update y sigo su progreso.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000" y="318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000" y="305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Consulto el historial y el detalle de una revisión concreta.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000" y="374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000" y="361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Registro la causa del cambio sin usar --record.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000" y="430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000" y="417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Hago rollback a una revisión concreta.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000" y="486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000" y="473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Explico maxSurge y maxUnavailable con 3 réplicas.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56000" y="262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56000" y="249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Creo un ConfigMap de tres formas distintas.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56000" y="318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56000" y="305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Consumo ConfigMap y Secret como variable y como volumen.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56000" y="374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56000" y="361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Explico por qué base64 no es cifrado.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56000" y="430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56000" y="417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Defino requests y limits y deduzco la QoS.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56000" y="486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56000" y="473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Instalo Metrics Server y uso kubectl top.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592000" y="-1400000"/>
            <a:ext cx="4000000" cy="40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00000" y="4358000"/>
            <a:ext cx="3800000" cy="38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uberne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2000" y="900000"/>
            <a:ext cx="1650000" cy="165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00" y="300000"/>
            <a:ext cx="9000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CIERRE DE LA CLASE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1560000"/>
            <a:ext cx="9200000" cy="9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0" i="0">
                <a:solidFill>
                  <a:srgbClr val="F3F6FC"/>
                </a:solidFill>
                <a:latin typeface="Segoe UI Light"/>
              </a:rPr>
              <a:t>Clase 4 completada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000" y="2560000"/>
            <a:ext cx="62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00" y="2820000"/>
            <a:ext cx="9752000" cy="26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32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sz="1500" b="0" i="0">
                <a:solidFill>
                  <a:srgbClr val="BDC9DB"/>
                </a:solidFill>
                <a:latin typeface="Segoe UI"/>
              </a:rPr>
              <a:t>Sabes actualizar, revertir, configurar y dimensionar aplicaciones.</a:t>
            </a:r>
          </a:p>
          <a:p>
            <a:pPr algn="l" marL="0" indent="0">
              <a:lnSpc>
                <a:spcPct val="132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sz="1500" b="0" i="0">
                <a:solidFill>
                  <a:srgbClr val="BDC9DB"/>
                </a:solidFill>
                <a:latin typeface="Segoe UI"/>
              </a:rPr>
              <a:t>En la Clase 5 abrimos la puerta al exterior: Services, Ingress, TLS, CoreDNS y control de tráfico con NetworkPolicy. Es el 20 % del examen y donde más incidentes reales se producen.</a:t>
            </a:r>
          </a:p>
          <a:p>
            <a:pPr algn="l" marL="0" indent="0">
              <a:lnSpc>
                <a:spcPct val="132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sz="1500" b="0" i="0">
                <a:solidFill>
                  <a:srgbClr val="BDC9DB"/>
                </a:solidFill>
                <a:latin typeface="Segoe UI"/>
              </a:rPr>
              <a:t>Repasa antes: la cadena Service → selector → EndpointSlice → Pod.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4 — Lifecycle, ConfigMaps, Secrets y Recursos</dc:title>
  <dc:subject>Clase 4 — Lifecycle, ConfigMaps, Secrets y Recursos</dc:subject>
  <dc:creator>CKA Hands-On Training</dc:creator>
  <cp:keywords/>
  <dc:description>Generado con generador-diapositivas/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