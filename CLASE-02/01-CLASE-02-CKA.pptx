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9142000" y="-1350000"/>
            <a:ext cx="4500000" cy="4500000"/>
          </a:xfrm>
          <a:prstGeom prst="ellipse">
            <a:avLst/>
          </a:prstGeom>
          <a:solidFill>
            <a:srgbClr val="0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42000" y="5308000"/>
            <a:ext cx="2900000" cy="2900000"/>
          </a:xfrm>
          <a:prstGeom prst="ellipse">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642000" y="1000000"/>
            <a:ext cx="1650000" cy="1650000"/>
          </a:xfrm>
          <a:prstGeom prst="rect">
            <a:avLst/>
          </a:prstGeom>
        </p:spPr>
      </p:pic>
      <p:sp>
        <p:nvSpPr>
          <p:cNvPr id="5" name="TextBox 4"/>
          <p:cNvSpPr txBox="1"/>
          <p:nvPr/>
        </p:nvSpPr>
        <p:spPr>
          <a:xfrm>
            <a:off x="660000" y="300000"/>
            <a:ext cx="86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CKA HANDS-ON TRAINING</a:t>
            </a:r>
          </a:p>
        </p:txBody>
      </p:sp>
      <p:sp>
        <p:nvSpPr>
          <p:cNvPr id="6" name="TextBox 5"/>
          <p:cNvSpPr txBox="1"/>
          <p:nvPr/>
        </p:nvSpPr>
        <p:spPr>
          <a:xfrm>
            <a:off x="660000" y="1620000"/>
            <a:ext cx="8600000" cy="52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500" b="1" i="0" spc="200">
                <a:solidFill>
                  <a:srgbClr val="74A6FF"/>
                </a:solidFill>
                <a:latin typeface="Segoe UI Semibold"/>
              </a:rPr>
              <a:t>CLASE 2</a:t>
            </a:r>
          </a:p>
        </p:txBody>
      </p:sp>
      <p:sp>
        <p:nvSpPr>
          <p:cNvPr id="7" name="TextBox 6"/>
          <p:cNvSpPr txBox="1"/>
          <p:nvPr/>
        </p:nvSpPr>
        <p:spPr>
          <a:xfrm>
            <a:off x="660000" y="2040000"/>
            <a:ext cx="8900000" cy="150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4400" b="0" i="0">
                <a:solidFill>
                  <a:srgbClr val="F3F6FC"/>
                </a:solidFill>
                <a:latin typeface="Segoe UI Light"/>
              </a:rPr>
              <a:t>Administración del Cluster — Upgrade, ETCD y RBAC</a:t>
            </a:r>
          </a:p>
        </p:txBody>
      </p:sp>
      <p:sp>
        <p:nvSpPr>
          <p:cNvPr id="8" name="Rectangle 7"/>
          <p:cNvSpPr/>
          <p:nvPr/>
        </p:nvSpPr>
        <p:spPr>
          <a:xfrm>
            <a:off x="660000" y="3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TextBox 8"/>
          <p:cNvSpPr txBox="1"/>
          <p:nvPr/>
        </p:nvSpPr>
        <p:spPr>
          <a:xfrm>
            <a:off x="660000" y="3760000"/>
            <a:ext cx="8600000" cy="5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Mantener, recuperar y controlar el acceso a lo que sostiene tus aplicaciones</a:t>
            </a:r>
          </a:p>
        </p:txBody>
      </p:sp>
      <p:sp>
        <p:nvSpPr>
          <p:cNvPr id="10" name="Rounded Rectangle 9"/>
          <p:cNvSpPr/>
          <p:nvPr/>
        </p:nvSpPr>
        <p:spPr>
          <a:xfrm>
            <a:off x="660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60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10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180 min</a:t>
            </a:r>
          </a:p>
          <a:p>
            <a:pPr algn="l" marL="0" indent="0">
              <a:lnSpc>
                <a:spcPct val="100000"/>
              </a:lnSpc>
              <a:spcBef>
                <a:spcPts val="0"/>
              </a:spcBef>
              <a:spcAft>
                <a:spcPts val="0"/>
              </a:spcAft>
              <a:buNone/>
            </a:pPr>
            <a:r>
              <a:rPr sz="1000" b="1" i="0" spc="160">
                <a:solidFill>
                  <a:srgbClr val="8493AD"/>
                </a:solidFill>
                <a:latin typeface="Segoe UI Semibold"/>
              </a:rPr>
              <a:t>DURACIÓN</a:t>
            </a:r>
          </a:p>
        </p:txBody>
      </p:sp>
      <p:sp>
        <p:nvSpPr>
          <p:cNvPr id="13" name="Rounded Rectangle 12"/>
          <p:cNvSpPr/>
          <p:nvPr/>
        </p:nvSpPr>
        <p:spPr>
          <a:xfrm>
            <a:off x="3455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3455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3605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4</a:t>
            </a:r>
          </a:p>
          <a:p>
            <a:pPr algn="l" marL="0" indent="0">
              <a:lnSpc>
                <a:spcPct val="100000"/>
              </a:lnSpc>
              <a:spcBef>
                <a:spcPts val="0"/>
              </a:spcBef>
              <a:spcAft>
                <a:spcPts val="0"/>
              </a:spcAft>
              <a:buNone/>
            </a:pPr>
            <a:r>
              <a:rPr sz="1000" b="1" i="0" spc="160">
                <a:solidFill>
                  <a:srgbClr val="8493AD"/>
                </a:solidFill>
                <a:latin typeface="Segoe UI Semibold"/>
              </a:rPr>
              <a:t>LABORATORIOS</a:t>
            </a:r>
          </a:p>
        </p:txBody>
      </p:sp>
      <p:sp>
        <p:nvSpPr>
          <p:cNvPr id="16" name="Rounded Rectangle 15"/>
          <p:cNvSpPr/>
          <p:nvPr/>
        </p:nvSpPr>
        <p:spPr>
          <a:xfrm>
            <a:off x="6251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Rectangle 16"/>
          <p:cNvSpPr/>
          <p:nvPr/>
        </p:nvSpPr>
        <p:spPr>
          <a:xfrm>
            <a:off x="6251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401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25 %</a:t>
            </a:r>
          </a:p>
          <a:p>
            <a:pPr algn="l" marL="0" indent="0">
              <a:lnSpc>
                <a:spcPct val="100000"/>
              </a:lnSpc>
              <a:spcBef>
                <a:spcPts val="0"/>
              </a:spcBef>
              <a:spcAft>
                <a:spcPts val="0"/>
              </a:spcAft>
              <a:buNone/>
            </a:pPr>
            <a:r>
              <a:rPr sz="1000" b="1" i="0" spc="160">
                <a:solidFill>
                  <a:srgbClr val="8493AD"/>
                </a:solidFill>
                <a:latin typeface="Segoe UI Semibold"/>
              </a:rPr>
              <a:t>PESO EN EL CKA</a:t>
            </a:r>
          </a:p>
        </p:txBody>
      </p:sp>
      <p:sp>
        <p:nvSpPr>
          <p:cNvPr id="19" name="Rounded Rectangle 18"/>
          <p:cNvSpPr/>
          <p:nvPr/>
        </p:nvSpPr>
        <p:spPr>
          <a:xfrm>
            <a:off x="9046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9046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9196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1.34→1.35</a:t>
            </a:r>
          </a:p>
          <a:p>
            <a:pPr algn="l" marL="0" indent="0">
              <a:lnSpc>
                <a:spcPct val="100000"/>
              </a:lnSpc>
              <a:spcBef>
                <a:spcPts val="0"/>
              </a:spcBef>
              <a:spcAft>
                <a:spcPts val="0"/>
              </a:spcAft>
              <a:buNone/>
            </a:pPr>
            <a:r>
              <a:rPr sz="1000" b="1" i="0" spc="160">
                <a:solidFill>
                  <a:srgbClr val="8493AD"/>
                </a:solidFill>
                <a:latin typeface="Segoe UI Semibold"/>
              </a:rPr>
              <a:t>UPGRADE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OBJETIVOS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Al terminar esta clase serás capaz 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02</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98400" y="441400"/>
            <a:ext cx="307200" cy="3072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00800" y="543800"/>
            <a:ext cx="102400" cy="1024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0000" y="20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2" name="TextBox 11"/>
          <p:cNvSpPr txBox="1"/>
          <p:nvPr/>
        </p:nvSpPr>
        <p:spPr>
          <a:xfrm>
            <a:off x="1120000" y="19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Inventariar los componentes de un cluster kubeadm y sus versiones.</a:t>
            </a:r>
          </a:p>
        </p:txBody>
      </p:sp>
      <p:sp>
        <p:nvSpPr>
          <p:cNvPr id="13" name="Oval 12"/>
          <p:cNvSpPr/>
          <p:nvPr/>
        </p:nvSpPr>
        <p:spPr>
          <a:xfrm>
            <a:off x="620000" y="26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4" name="TextBox 13"/>
          <p:cNvSpPr txBox="1"/>
          <p:nvPr/>
        </p:nvSpPr>
        <p:spPr>
          <a:xfrm>
            <a:off x="1120000" y="24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Vaciar y devolver un nodo al servicio con cordon, drain y uncordon.</a:t>
            </a:r>
          </a:p>
        </p:txBody>
      </p:sp>
      <p:sp>
        <p:nvSpPr>
          <p:cNvPr id="15" name="Oval 14"/>
          <p:cNvSpPr/>
          <p:nvPr/>
        </p:nvSpPr>
        <p:spPr>
          <a:xfrm>
            <a:off x="620000" y="31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6" name="TextBox 15"/>
          <p:cNvSpPr txBox="1"/>
          <p:nvPr/>
        </p:nvSpPr>
        <p:spPr>
          <a:xfrm>
            <a:off x="1120000" y="305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Actualizar un cluster completo: control plane primero, workers después.</a:t>
            </a:r>
          </a:p>
        </p:txBody>
      </p:sp>
      <p:sp>
        <p:nvSpPr>
          <p:cNvPr id="17" name="Oval 16"/>
          <p:cNvSpPr/>
          <p:nvPr/>
        </p:nvSpPr>
        <p:spPr>
          <a:xfrm>
            <a:off x="620000" y="374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8" name="TextBox 17"/>
          <p:cNvSpPr txBox="1"/>
          <p:nvPr/>
        </p:nvSpPr>
        <p:spPr>
          <a:xfrm>
            <a:off x="1120000" y="361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Localizar endpoint y certificados de etcd sin buscar en Internet.</a:t>
            </a:r>
          </a:p>
        </p:txBody>
      </p:sp>
      <p:sp>
        <p:nvSpPr>
          <p:cNvPr id="19" name="Oval 18"/>
          <p:cNvSpPr/>
          <p:nvPr/>
        </p:nvSpPr>
        <p:spPr>
          <a:xfrm>
            <a:off x="620000" y="43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20" name="TextBox 19"/>
          <p:cNvSpPr txBox="1"/>
          <p:nvPr/>
        </p:nvSpPr>
        <p:spPr>
          <a:xfrm>
            <a:off x="1120000" y="417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Crear, validar y restaurar un snapshot de etcd.</a:t>
            </a:r>
          </a:p>
        </p:txBody>
      </p:sp>
      <p:sp>
        <p:nvSpPr>
          <p:cNvPr id="21" name="Oval 20"/>
          <p:cNvSpPr/>
          <p:nvPr/>
        </p:nvSpPr>
        <p:spPr>
          <a:xfrm>
            <a:off x="620000" y="48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22" name="TextBox 21"/>
          <p:cNvSpPr txBox="1"/>
          <p:nvPr/>
        </p:nvSpPr>
        <p:spPr>
          <a:xfrm>
            <a:off x="1120000" y="47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Diseñar permisos RBAC aplicando mínimo privilegio.</a:t>
            </a:r>
          </a:p>
        </p:txBody>
      </p:sp>
      <p:sp>
        <p:nvSpPr>
          <p:cNvPr id="23" name="Oval 22"/>
          <p:cNvSpPr/>
          <p:nvPr/>
        </p:nvSpPr>
        <p:spPr>
          <a:xfrm>
            <a:off x="620000" y="54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7</a:t>
            </a:r>
          </a:p>
        </p:txBody>
      </p:sp>
      <p:sp>
        <p:nvSpPr>
          <p:cNvPr id="24" name="TextBox 23"/>
          <p:cNvSpPr txBox="1"/>
          <p:nvPr/>
        </p:nvSpPr>
        <p:spPr>
          <a:xfrm>
            <a:off x="1120000" y="52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Diagnosticar un Forbidden con kubectl auth can-i.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180 MINUTOS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Agenda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03</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1252000" y="415800"/>
            <a:ext cx="0" cy="179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252000" y="595000"/>
            <a:ext cx="128000" cy="51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0000" y="154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00–12</a:t>
            </a:r>
          </a:p>
        </p:txBody>
      </p:sp>
      <p:sp>
        <p:nvSpPr>
          <p:cNvPr id="12" name="Rectangle 11"/>
          <p:cNvSpPr/>
          <p:nvPr/>
        </p:nvSpPr>
        <p:spPr>
          <a:xfrm>
            <a:off x="2120000" y="171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320000" y="154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Repaso de la Clase 1 y objetivos</a:t>
            </a:r>
          </a:p>
        </p:txBody>
      </p:sp>
      <p:sp>
        <p:nvSpPr>
          <p:cNvPr id="14" name="TextBox 13"/>
          <p:cNvSpPr txBox="1"/>
          <p:nvPr/>
        </p:nvSpPr>
        <p:spPr>
          <a:xfrm>
            <a:off x="620000" y="201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12–35</a:t>
            </a:r>
          </a:p>
        </p:txBody>
      </p:sp>
      <p:sp>
        <p:nvSpPr>
          <p:cNvPr id="15" name="Rectangle 14"/>
          <p:cNvSpPr/>
          <p:nvPr/>
        </p:nvSpPr>
        <p:spPr>
          <a:xfrm>
            <a:off x="2120000" y="218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2320000" y="201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arquitectura kubeadm, static Pods, version skew</a:t>
            </a:r>
          </a:p>
        </p:txBody>
      </p:sp>
      <p:sp>
        <p:nvSpPr>
          <p:cNvPr id="17" name="TextBox 16"/>
          <p:cNvSpPr txBox="1"/>
          <p:nvPr/>
        </p:nvSpPr>
        <p:spPr>
          <a:xfrm>
            <a:off x="620000" y="248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35–50</a:t>
            </a:r>
          </a:p>
        </p:txBody>
      </p:sp>
      <p:sp>
        <p:nvSpPr>
          <p:cNvPr id="18" name="Rectangle 17"/>
          <p:cNvSpPr/>
          <p:nvPr/>
        </p:nvSpPr>
        <p:spPr>
          <a:xfrm>
            <a:off x="2120000" y="265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2320000" y="248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Demo: drain en vivo, ver a dónde se mueven los Pods, uncordon</a:t>
            </a:r>
          </a:p>
        </p:txBody>
      </p:sp>
      <p:sp>
        <p:nvSpPr>
          <p:cNvPr id="20" name="Rounded Rectangle 19"/>
          <p:cNvSpPr/>
          <p:nvPr/>
        </p:nvSpPr>
        <p:spPr>
          <a:xfrm>
            <a:off x="560000" y="299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20000" y="295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50–70</a:t>
            </a:r>
          </a:p>
        </p:txBody>
      </p:sp>
      <p:sp>
        <p:nvSpPr>
          <p:cNvPr id="22" name="Rectangle 21"/>
          <p:cNvSpPr/>
          <p:nvPr/>
        </p:nvSpPr>
        <p:spPr>
          <a:xfrm>
            <a:off x="2120000" y="312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2320000" y="295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2.1 — Básico: inventario, cordon, drain, uncordon</a:t>
            </a:r>
          </a:p>
        </p:txBody>
      </p:sp>
      <p:sp>
        <p:nvSpPr>
          <p:cNvPr id="24" name="Rounded Rectangle 23"/>
          <p:cNvSpPr/>
          <p:nvPr/>
        </p:nvSpPr>
        <p:spPr>
          <a:xfrm>
            <a:off x="560000" y="346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620000" y="342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70–105</a:t>
            </a:r>
          </a:p>
        </p:txBody>
      </p:sp>
      <p:sp>
        <p:nvSpPr>
          <p:cNvPr id="26" name="Rectangle 25"/>
          <p:cNvSpPr/>
          <p:nvPr/>
        </p:nvSpPr>
        <p:spPr>
          <a:xfrm>
            <a:off x="2120000" y="359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2320000" y="342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2.2 — Intermedio: upgrade del control plane y del worker</a:t>
            </a:r>
          </a:p>
        </p:txBody>
      </p:sp>
      <p:sp>
        <p:nvSpPr>
          <p:cNvPr id="28" name="TextBox 27"/>
          <p:cNvSpPr txBox="1"/>
          <p:nvPr/>
        </p:nvSpPr>
        <p:spPr>
          <a:xfrm>
            <a:off x="620000" y="389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105–118</a:t>
            </a:r>
          </a:p>
        </p:txBody>
      </p:sp>
      <p:sp>
        <p:nvSpPr>
          <p:cNvPr id="29" name="Rectangle 28"/>
          <p:cNvSpPr/>
          <p:nvPr/>
        </p:nvSpPr>
        <p:spPr>
          <a:xfrm>
            <a:off x="2120000" y="406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2320000" y="389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etcd, certificados y estrategia de backup</a:t>
            </a:r>
          </a:p>
        </p:txBody>
      </p:sp>
      <p:sp>
        <p:nvSpPr>
          <p:cNvPr id="31" name="Rounded Rectangle 30"/>
          <p:cNvSpPr/>
          <p:nvPr/>
        </p:nvSpPr>
        <p:spPr>
          <a:xfrm>
            <a:off x="560000" y="440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2" name="TextBox 31"/>
          <p:cNvSpPr txBox="1"/>
          <p:nvPr/>
        </p:nvSpPr>
        <p:spPr>
          <a:xfrm>
            <a:off x="620000" y="436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118–145</a:t>
            </a:r>
          </a:p>
        </p:txBody>
      </p:sp>
      <p:sp>
        <p:nvSpPr>
          <p:cNvPr id="33" name="Rectangle 32"/>
          <p:cNvSpPr/>
          <p:nvPr/>
        </p:nvSpPr>
        <p:spPr>
          <a:xfrm>
            <a:off x="2120000" y="453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2320000" y="436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2.3 — Avanzado: snapshot, validación y restore de etcd</a:t>
            </a:r>
          </a:p>
        </p:txBody>
      </p:sp>
      <p:sp>
        <p:nvSpPr>
          <p:cNvPr id="35" name="TextBox 34"/>
          <p:cNvSpPr txBox="1"/>
          <p:nvPr/>
        </p:nvSpPr>
        <p:spPr>
          <a:xfrm>
            <a:off x="620000" y="483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145–158</a:t>
            </a:r>
          </a:p>
        </p:txBody>
      </p:sp>
      <p:sp>
        <p:nvSpPr>
          <p:cNvPr id="36" name="Rectangle 35"/>
          <p:cNvSpPr/>
          <p:nvPr/>
        </p:nvSpPr>
        <p:spPr>
          <a:xfrm>
            <a:off x="2120000" y="500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7" name="TextBox 36"/>
          <p:cNvSpPr txBox="1"/>
          <p:nvPr/>
        </p:nvSpPr>
        <p:spPr>
          <a:xfrm>
            <a:off x="2320000" y="483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RBAC en 10 minutos</a:t>
            </a:r>
          </a:p>
        </p:txBody>
      </p:sp>
      <p:sp>
        <p:nvSpPr>
          <p:cNvPr id="38" name="Rounded Rectangle 37"/>
          <p:cNvSpPr/>
          <p:nvPr/>
        </p:nvSpPr>
        <p:spPr>
          <a:xfrm>
            <a:off x="560000" y="534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TextBox 38"/>
          <p:cNvSpPr txBox="1"/>
          <p:nvPr/>
        </p:nvSpPr>
        <p:spPr>
          <a:xfrm>
            <a:off x="620000" y="530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158–176</a:t>
            </a:r>
          </a:p>
        </p:txBody>
      </p:sp>
      <p:sp>
        <p:nvSpPr>
          <p:cNvPr id="40" name="Rectangle 39"/>
          <p:cNvSpPr/>
          <p:nvPr/>
        </p:nvSpPr>
        <p:spPr>
          <a:xfrm>
            <a:off x="2120000" y="547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1" name="TextBox 40"/>
          <p:cNvSpPr txBox="1"/>
          <p:nvPr/>
        </p:nvSpPr>
        <p:spPr>
          <a:xfrm>
            <a:off x="2320000" y="530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2.4 — Challenge: Forbidden en producción</a:t>
            </a:r>
          </a:p>
        </p:txBody>
      </p:sp>
      <p:sp>
        <p:nvSpPr>
          <p:cNvPr id="42" name="TextBox 41"/>
          <p:cNvSpPr txBox="1"/>
          <p:nvPr/>
        </p:nvSpPr>
        <p:spPr>
          <a:xfrm>
            <a:off x="620000" y="577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176–180</a:t>
            </a:r>
          </a:p>
        </p:txBody>
      </p:sp>
      <p:sp>
        <p:nvSpPr>
          <p:cNvPr id="43" name="Rectangle 42"/>
          <p:cNvSpPr/>
          <p:nvPr/>
        </p:nvSpPr>
        <p:spPr>
          <a:xfrm>
            <a:off x="2120000" y="594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4" name="TextBox 43"/>
          <p:cNvSpPr txBox="1"/>
          <p:nvPr/>
        </p:nvSpPr>
        <p:spPr>
          <a:xfrm>
            <a:off x="2320000" y="577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Cierre y CKA Tips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ntrol-plane.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01</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1</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Arquitectura kubeadm</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Qué hay debajo de kubectl y quién lo arranca</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CONCEPTO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control plane no son Deployments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05</a:t>
            </a:r>
          </a:p>
        </p:txBody>
      </p:sp>
      <p:pic>
        <p:nvPicPr>
          <p:cNvPr id="8" name="Picture 7" descr="control-plane.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En kubeadm, el control plane son static Pods: el kubelet los arranca leyendo archivos del disco.</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scheduler no interviene y no puedes borrarlos con kubectl: el kubelet los recrea al instante.</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Cambiar un manifiesto de esa carpeta reinicia el componente en segundos. Es la palanca de recuperación.</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kubelet, en cambio, sí es un servicio de systemd: sobrevive aunque el API server esté caído.</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/ETC/KUBERNETES/MANIFESTS/</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586992"/>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etcd.yaml</a:t>
            </a:r>
          </a:p>
          <a:p>
            <a:pPr marL="0" indent="0">
              <a:lnSpc>
                <a:spcPct val="134000"/>
              </a:lnSpc>
              <a:spcAft>
                <a:spcPts val="0"/>
              </a:spcAft>
              <a:buNone/>
            </a:pPr>
            <a:r>
              <a:rPr sz="1100" b="0" i="0">
                <a:solidFill>
                  <a:srgbClr val="E6EDF3"/>
                </a:solidFill>
                <a:latin typeface="Consolas"/>
              </a:rPr>
              <a:t>kube-apiserver.yaml</a:t>
            </a:r>
          </a:p>
          <a:p>
            <a:pPr marL="0" indent="0">
              <a:lnSpc>
                <a:spcPct val="134000"/>
              </a:lnSpc>
              <a:spcAft>
                <a:spcPts val="0"/>
              </a:spcAft>
              <a:buNone/>
            </a:pPr>
            <a:r>
              <a:rPr sz="1100" b="0" i="0">
                <a:solidFill>
                  <a:srgbClr val="E6EDF3"/>
                </a:solidFill>
                <a:latin typeface="Consolas"/>
              </a:rPr>
              <a:t>kube-controller-manager.yaml</a:t>
            </a:r>
          </a:p>
          <a:p>
            <a:pPr marL="0" indent="0">
              <a:lnSpc>
                <a:spcPct val="134000"/>
              </a:lnSpc>
              <a:spcAft>
                <a:spcPts val="0"/>
              </a:spcAft>
              <a:buNone/>
            </a:pPr>
            <a:r>
              <a:rPr sz="1100" b="0" i="0">
                <a:solidFill>
                  <a:srgbClr val="E6EDF3"/>
                </a:solidFill>
                <a:latin typeface="Consolas"/>
              </a:rPr>
              <a:t>kube-scheduler.yaml</a:t>
            </a:r>
          </a:p>
          <a:p>
            <a:pPr marL="0" indent="0">
              <a:lnSpc>
                <a:spcPct val="134000"/>
              </a:lnSpc>
              <a:spcAft>
                <a:spcPts val="0"/>
              </a:spcAft>
              <a:buNone/>
            </a:pPr>
            <a:r>
              <a:rPr sz="1100" b="0" i="0">
                <a:solidFill>
                  <a:srgbClr val="E6EDF3"/>
                </a:solidFill>
                <a:latin typeface="Consolas"/>
              </a:rPr>
              <a:t/>
            </a:r>
          </a:p>
          <a:p>
            <a:pPr marL="0" indent="0">
              <a:lnSpc>
                <a:spcPct val="134000"/>
              </a:lnSpc>
              <a:spcAft>
                <a:spcPts val="0"/>
              </a:spcAft>
              <a:buNone/>
            </a:pPr>
            <a:r>
              <a:rPr sz="1100" b="0" i="1">
                <a:solidFill>
                  <a:srgbClr val="7C8AA5"/>
                </a:solidFill>
                <a:latin typeface="Consolas"/>
              </a:rPr>
              <a:t># Sin kubectl:</a:t>
            </a:r>
          </a:p>
          <a:p>
            <a:pPr marL="0" indent="0">
              <a:lnSpc>
                <a:spcPct val="134000"/>
              </a:lnSpc>
              <a:spcAft>
                <a:spcPts val="0"/>
              </a:spcAft>
              <a:buNone/>
            </a:pPr>
            <a:r>
              <a:rPr sz="1100" b="0" i="0">
                <a:solidFill>
                  <a:srgbClr val="E6EDF3"/>
                </a:solidFill>
                <a:latin typeface="Consolas"/>
              </a:rPr>
              <a:t>crictl ps -a</a:t>
            </a:r>
          </a:p>
          <a:p>
            <a:pPr marL="0" indent="0">
              <a:lnSpc>
                <a:spcPct val="134000"/>
              </a:lnSpc>
              <a:spcAft>
                <a:spcPts val="0"/>
              </a:spcAft>
              <a:buNone/>
            </a:pPr>
            <a:r>
              <a:rPr sz="1100" b="0" i="0">
                <a:solidFill>
                  <a:srgbClr val="E6EDF3"/>
                </a:solidFill>
                <a:latin typeface="Consolas"/>
              </a:rPr>
              <a:t>journalctl -u kubelet -n 80</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En un cluster montado con kubeadm, los componentes del control plane —kube-apiserver, kube-controller-manager, kube-scheduler y etcd— no son Deployments ni los gestiona el propio Kubernetes. Son static Pods: el kubelet del nodo maestro vigila la carpeta /etc/kubernetes/manifests/, y por cada archivo YAML que encuentra allí crea y mantiene un Pod, sin pasar por el API server ni por el scheduler.</a:t>
            </a:r>
          </a:p>
          <a:p>
            <a:pPr algn="l" marL="0" indent="0">
              <a:lnSpc>
                <a:spcPct val="128000"/>
              </a:lnSpc>
              <a:spcBef>
                <a:spcPts val="0"/>
              </a:spcBef>
              <a:spcAft>
                <a:spcPts val="400"/>
              </a:spcAft>
              <a:buNone/>
            </a:pPr>
            <a:r>
              <a:rPr sz="1000" b="0" i="0">
                <a:solidFill>
                  <a:srgbClr val="BDC9DB"/>
                </a:solidFill>
                <a:latin typeface="Segoe UI"/>
              </a:rPr>
              <a:t>Esto tiene consecuencias prácticas muy directas. No puedes borrar estos Pods con kubectl: el kubelet los recrea al instante. Sí puedes intervenir editando su manifiesto en esa carpeta —el kubelet detecta el cambio y reinicia el componente en segundos—, y esa es la palanca principal de recuperación cuando algo va mal.</a:t>
            </a:r>
          </a:p>
          <a:p>
            <a:pPr algn="l" marL="0" indent="0">
              <a:lnSpc>
                <a:spcPct val="128000"/>
              </a:lnSpc>
              <a:spcBef>
                <a:spcPts val="0"/>
              </a:spcBef>
              <a:spcAft>
                <a:spcPts val="400"/>
              </a:spcAft>
              <a:buNone/>
            </a:pPr>
            <a:r>
              <a:rPr sz="1000" b="0" i="0">
                <a:solidFill>
                  <a:srgbClr val="BDC9DB"/>
                </a:solidFill>
                <a:latin typeface="Segoe UI"/>
              </a:rPr>
              <a:t>El kubelet, en cambio, es un servicio de systemd normal: sobrevive aunque el API server esté caído. Por eso, cuando kubectl no responde, el diagnóstico se hace por SSH al nodo con systemctl status kubelet, journalctl -u kubelet y crictl ps -a, nunca con kubectl.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MANTENIMIENTO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Vaciar un nodo sin cortar el servicio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06</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10952000" cy="540000"/>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Oval 9"/>
          <p:cNvSpPr/>
          <p:nvPr/>
        </p:nvSpPr>
        <p:spPr>
          <a:xfrm>
            <a:off x="840000" y="1575000"/>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1" name="TextBox 10"/>
          <p:cNvSpPr txBox="1"/>
          <p:nvPr/>
        </p:nvSpPr>
        <p:spPr>
          <a:xfrm>
            <a:off x="1370000" y="1470000"/>
            <a:ext cx="2500000" cy="5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cordon</a:t>
            </a:r>
          </a:p>
        </p:txBody>
      </p:sp>
      <p:sp>
        <p:nvSpPr>
          <p:cNvPr id="12" name="Rectangle 11"/>
          <p:cNvSpPr/>
          <p:nvPr/>
        </p:nvSpPr>
        <p:spPr>
          <a:xfrm>
            <a:off x="3970000" y="1588800"/>
            <a:ext cx="8000" cy="3024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4170000" y="1470000"/>
            <a:ext cx="7202000" cy="54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El nodo deja de aceptar Pods nuevos. Los actuales siguen ahí.</a:t>
            </a:r>
          </a:p>
        </p:txBody>
      </p:sp>
      <p:sp>
        <p:nvSpPr>
          <p:cNvPr id="14" name="TextBox 13"/>
          <p:cNvSpPr txBox="1"/>
          <p:nvPr/>
        </p:nvSpPr>
        <p:spPr>
          <a:xfrm>
            <a:off x="915000" y="2018000"/>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15" name="Rounded Rectangle 14"/>
          <p:cNvSpPr/>
          <p:nvPr/>
        </p:nvSpPr>
        <p:spPr>
          <a:xfrm>
            <a:off x="620000" y="2180000"/>
            <a:ext cx="10952000" cy="540000"/>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Oval 15"/>
          <p:cNvSpPr/>
          <p:nvPr/>
        </p:nvSpPr>
        <p:spPr>
          <a:xfrm>
            <a:off x="840000" y="2285000"/>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7" name="TextBox 16"/>
          <p:cNvSpPr txBox="1"/>
          <p:nvPr/>
        </p:nvSpPr>
        <p:spPr>
          <a:xfrm>
            <a:off x="1370000" y="2180000"/>
            <a:ext cx="2500000" cy="5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drain</a:t>
            </a:r>
          </a:p>
        </p:txBody>
      </p:sp>
      <p:sp>
        <p:nvSpPr>
          <p:cNvPr id="18" name="Rectangle 17"/>
          <p:cNvSpPr/>
          <p:nvPr/>
        </p:nvSpPr>
        <p:spPr>
          <a:xfrm>
            <a:off x="3970000" y="2298800"/>
            <a:ext cx="8000" cy="3024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4170000" y="2180000"/>
            <a:ext cx="7202000" cy="54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Desaloja los Pods existentes. Los controladores los recrean en otros nodos.</a:t>
            </a:r>
          </a:p>
        </p:txBody>
      </p:sp>
      <p:sp>
        <p:nvSpPr>
          <p:cNvPr id="20" name="TextBox 19"/>
          <p:cNvSpPr txBox="1"/>
          <p:nvPr/>
        </p:nvSpPr>
        <p:spPr>
          <a:xfrm>
            <a:off x="915000" y="2728000"/>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21" name="Rounded Rectangle 20"/>
          <p:cNvSpPr/>
          <p:nvPr/>
        </p:nvSpPr>
        <p:spPr>
          <a:xfrm>
            <a:off x="620000" y="2890000"/>
            <a:ext cx="10952000" cy="540000"/>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Oval 21"/>
          <p:cNvSpPr/>
          <p:nvPr/>
        </p:nvSpPr>
        <p:spPr>
          <a:xfrm>
            <a:off x="840000" y="2995000"/>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23" name="TextBox 22"/>
          <p:cNvSpPr txBox="1"/>
          <p:nvPr/>
        </p:nvSpPr>
        <p:spPr>
          <a:xfrm>
            <a:off x="1370000" y="2890000"/>
            <a:ext cx="2500000" cy="5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Mantener</a:t>
            </a:r>
          </a:p>
        </p:txBody>
      </p:sp>
      <p:sp>
        <p:nvSpPr>
          <p:cNvPr id="24" name="Rectangle 23"/>
          <p:cNvSpPr/>
          <p:nvPr/>
        </p:nvSpPr>
        <p:spPr>
          <a:xfrm>
            <a:off x="3970000" y="3008800"/>
            <a:ext cx="8000" cy="3024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4170000" y="2890000"/>
            <a:ext cx="7202000" cy="54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Upgrade, parches, reinicio del hardware.</a:t>
            </a:r>
          </a:p>
        </p:txBody>
      </p:sp>
      <p:sp>
        <p:nvSpPr>
          <p:cNvPr id="26" name="TextBox 25"/>
          <p:cNvSpPr txBox="1"/>
          <p:nvPr/>
        </p:nvSpPr>
        <p:spPr>
          <a:xfrm>
            <a:off x="915000" y="3438000"/>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27" name="Rounded Rectangle 26"/>
          <p:cNvSpPr/>
          <p:nvPr/>
        </p:nvSpPr>
        <p:spPr>
          <a:xfrm>
            <a:off x="620000" y="3600000"/>
            <a:ext cx="10952000" cy="540000"/>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Oval 27"/>
          <p:cNvSpPr/>
          <p:nvPr/>
        </p:nvSpPr>
        <p:spPr>
          <a:xfrm>
            <a:off x="840000" y="3705000"/>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29" name="TextBox 28"/>
          <p:cNvSpPr txBox="1"/>
          <p:nvPr/>
        </p:nvSpPr>
        <p:spPr>
          <a:xfrm>
            <a:off x="1370000" y="3600000"/>
            <a:ext cx="2500000" cy="5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uncordon</a:t>
            </a:r>
          </a:p>
        </p:txBody>
      </p:sp>
      <p:sp>
        <p:nvSpPr>
          <p:cNvPr id="30" name="Rectangle 29"/>
          <p:cNvSpPr/>
          <p:nvPr/>
        </p:nvSpPr>
        <p:spPr>
          <a:xfrm>
            <a:off x="3970000" y="3718800"/>
            <a:ext cx="8000" cy="3024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1" name="TextBox 30"/>
          <p:cNvSpPr txBox="1"/>
          <p:nvPr/>
        </p:nvSpPr>
        <p:spPr>
          <a:xfrm>
            <a:off x="4170000" y="3600000"/>
            <a:ext cx="7202000" cy="54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El nodo vuelve a aceptar Pods. Los antiguos NO regresan solos.</a:t>
            </a:r>
          </a:p>
        </p:txBody>
      </p:sp>
      <p:sp>
        <p:nvSpPr>
          <p:cNvPr id="32" name="Rounded Rectangle 3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Antes de tocar un nodo (actualizarlo, parchear el kernel, reiniciar el hardware) hay que sacarle la carga sin cortar el servicio. cordon marca el nodo como no programable: deja de aceptar Pods nuevos, pero los que ya corren siguen intactos. drain va más allá: además de acordonar, desaloja los Pods existentes para que sus controladores los recreen en otros nodos.</a:t>
            </a:r>
          </a:p>
          <a:p>
            <a:pPr algn="l" marL="0" indent="0">
              <a:lnSpc>
                <a:spcPct val="128000"/>
              </a:lnSpc>
              <a:spcBef>
                <a:spcPts val="0"/>
              </a:spcBef>
              <a:spcAft>
                <a:spcPts val="400"/>
              </a:spcAft>
              <a:buNone/>
            </a:pPr>
            <a:r>
              <a:rPr sz="1000" b="0" i="0">
                <a:solidFill>
                  <a:srgbClr val="BDC9DB"/>
                </a:solidFill>
                <a:latin typeface="Segoe UI"/>
              </a:rPr>
              <a:t>drain se detiene a propósito en dos casos y hay que autorizarlos explícitamente. Con --ignore-daemonsets porque los Pods de un DaemonSet están atados a cada nodo y no tiene sentido moverlos. Con --delete-emptydir-data porque un emptyDir contiene datos que se perderán al recrear el Pod en otro sitio, y Kubernetes exige que confirmes que asumes esa pérdida. El mensaje de error te dice exactamente qué flag falta.</a:t>
            </a:r>
          </a:p>
          <a:p>
            <a:pPr algn="l" marL="0" indent="0">
              <a:lnSpc>
                <a:spcPct val="128000"/>
              </a:lnSpc>
              <a:spcBef>
                <a:spcPts val="0"/>
              </a:spcBef>
              <a:spcAft>
                <a:spcPts val="400"/>
              </a:spcAft>
              <a:buNone/>
            </a:pPr>
            <a:r>
              <a:rPr sz="1000" b="0" i="0">
                <a:solidFill>
                  <a:srgbClr val="BDC9DB"/>
                </a:solidFill>
                <a:latin typeface="Segoe UI"/>
              </a:rPr>
              <a:t>uncordon revierte el acordonado y el nodo vuelve a aceptar Pods nuevos, pero los que se movieron NO regresan solos: el scheduler solo decide al crear un Pod, no reequilibra los que ya están colocados. Para repartir de nuevo hay que forzar la recreación, por ejemplo con kubectl rollout restart.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F7B72"/>
                </a:solidFill>
                <a:latin typeface="Segoe UI Semibold"/>
              </a:rPr>
              <a:t>AVISO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Kubernetes no reequilibra por sí solo</a:t>
            </a:r>
          </a:p>
        </p:txBody>
      </p:sp>
      <p:sp>
        <p:nvSpPr>
          <p:cNvPr id="4" name="Rectangle 3"/>
          <p:cNvSpPr/>
          <p:nvPr/>
        </p:nvSpPr>
        <p:spPr>
          <a:xfrm>
            <a:off x="620000" y="1230000"/>
            <a:ext cx="56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07</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TextBox 8"/>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Tras un uncordon, las réplicas no vuelven al nodo. El scheduler solo decide en el momento de CREAR un Pod; una vez colocado, nadie lo mueve. Si necesitas repartir de nuevo, fuerza la recreación.</a:t>
            </a:r>
          </a:p>
        </p:txBody>
      </p:sp>
      <p:sp>
        <p:nvSpPr>
          <p:cNvPr id="10" name="Rounded Rectangle 9"/>
          <p:cNvSpPr/>
          <p:nvPr/>
        </p:nvSpPr>
        <p:spPr>
          <a:xfrm>
            <a:off x="620000" y="2410000"/>
            <a:ext cx="10952000" cy="972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20000" y="2410000"/>
            <a:ext cx="46000" cy="972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90000" y="2560000"/>
            <a:ext cx="10412000" cy="712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 drain &lt;node&gt; --ignore-daemonsets --delete-emptydir-data</a:t>
            </a:r>
          </a:p>
          <a:p>
            <a:pPr marL="0" indent="0">
              <a:lnSpc>
                <a:spcPct val="134000"/>
              </a:lnSpc>
              <a:spcAft>
                <a:spcPts val="0"/>
              </a:spcAft>
              <a:buNone/>
            </a:pPr>
            <a:r>
              <a:rPr sz="1100" b="0" i="0">
                <a:solidFill>
                  <a:srgbClr val="E6EDF3"/>
                </a:solidFill>
                <a:latin typeface="Consolas"/>
              </a:rPr>
              <a:t>k uncordon &lt;node&gt;</a:t>
            </a:r>
          </a:p>
          <a:p>
            <a:pPr marL="0" indent="0">
              <a:lnSpc>
                <a:spcPct val="134000"/>
              </a:lnSpc>
              <a:spcAft>
                <a:spcPts val="0"/>
              </a:spcAft>
              <a:buNone/>
            </a:pPr>
            <a:r>
              <a:rPr sz="1100" b="0" i="0">
                <a:solidFill>
                  <a:srgbClr val="E6EDF3"/>
                </a:solidFill>
                <a:latin typeface="Consolas"/>
              </a:rPr>
              <a:t>k rollout restart deployment/&lt;d&gt;  </a:t>
            </a:r>
            <a:r>
              <a:rPr sz="1100" b="0" i="1">
                <a:solidFill>
                  <a:srgbClr val="7C8AA5"/>
                </a:solidFill>
                <a:latin typeface="Consolas"/>
              </a:rPr>
              <a:t>  # así sí se reequilibra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básico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2.1 — Inventario del cluster, cordon y drain</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Conocer el cluster antes de tocarlo y practicar la operación que precede a cualquier mantenimiento.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Tabla de versiones: nodos, cliente, servidor, kubeadm, kubelet, runtime.</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Identificar los cuatro static Pods y el data dir de etcd.</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Desplegar 4 réplicas, cordonar y comprobar que un Pod nuevo evita el nodo.</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Resolver por tu cuenta los dos errores que da drain.</a:t>
            </a:r>
          </a:p>
        </p:txBody>
      </p:sp>
      <p:sp>
        <p:nvSpPr>
          <p:cNvPr id="14" name="Freeform 13"/>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CLASE-02/LABORATORIOS/LAB-01-BASICO.md</a:t>
            </a:r>
          </a:p>
        </p:txBody>
      </p:sp>
      <p:sp>
        <p:nvSpPr>
          <p:cNvPr id="20" name="Rectangle 19"/>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20 min</a:t>
            </a:r>
          </a:p>
        </p:txBody>
      </p:sp>
      <p:sp>
        <p:nvSpPr>
          <p:cNvPr id="22" name="Rectangle 21"/>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nodes -o wide</a:t>
            </a:r>
          </a:p>
        </p:txBody>
      </p:sp>
      <p:sp>
        <p:nvSpPr>
          <p:cNvPr id="24" name="Rectangle 23"/>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26" name="TextBox 25"/>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ntrol-plane.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02</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2</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Upgrade del cluster</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Una minor cada vez, y siempre en el mismo orden</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PROCEDIMIENTO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orden no es negociable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10</a:t>
            </a:r>
          </a:p>
        </p:txBody>
      </p:sp>
      <p:sp>
        <p:nvSpPr>
          <p:cNvPr id="8" name="Oval 7"/>
          <p:cNvSpPr/>
          <p:nvPr/>
        </p:nvSpPr>
        <p:spPr>
          <a:xfrm>
            <a:off x="10996000" y="3902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36800" y="4286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996000" y="5438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1136800" y="5822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996000" y="6974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1136800" y="7358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0000" y="167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90000" y="167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Validar versiones</a:t>
            </a:r>
          </a:p>
        </p:txBody>
      </p:sp>
      <p:cxnSp>
        <p:nvCxnSpPr>
          <p:cNvPr id="16" name="Connector 15"/>
          <p:cNvCxnSpPr/>
          <p:nvPr/>
        </p:nvCxnSpPr>
        <p:spPr>
          <a:xfrm>
            <a:off x="3224500" y="200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10500" y="167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3480500" y="167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Snapshot de etcd</a:t>
            </a:r>
          </a:p>
        </p:txBody>
      </p:sp>
      <p:cxnSp>
        <p:nvCxnSpPr>
          <p:cNvPr id="19" name="Connector 18"/>
          <p:cNvCxnSpPr/>
          <p:nvPr/>
        </p:nvCxnSpPr>
        <p:spPr>
          <a:xfrm>
            <a:off x="6015000" y="200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01000" y="167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271000" y="167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kubeadm</a:t>
            </a:r>
          </a:p>
        </p:txBody>
      </p:sp>
      <p:cxnSp>
        <p:nvCxnSpPr>
          <p:cNvPr id="22" name="Connector 21"/>
          <p:cNvCxnSpPr/>
          <p:nvPr/>
        </p:nvCxnSpPr>
        <p:spPr>
          <a:xfrm>
            <a:off x="8805500" y="200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991500" y="167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9061500" y="167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upgrade plan / apply</a:t>
            </a:r>
          </a:p>
        </p:txBody>
      </p:sp>
      <p:cxnSp>
        <p:nvCxnSpPr>
          <p:cNvPr id="25" name="Connector 24"/>
          <p:cNvCxnSpPr/>
          <p:nvPr/>
        </p:nvCxnSpPr>
        <p:spPr>
          <a:xfrm>
            <a:off x="10281750" y="2356000"/>
            <a:ext cx="0" cy="16800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0000" y="255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90000" y="255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drain</a:t>
            </a:r>
          </a:p>
        </p:txBody>
      </p:sp>
      <p:cxnSp>
        <p:nvCxnSpPr>
          <p:cNvPr id="28" name="Connector 27"/>
          <p:cNvCxnSpPr/>
          <p:nvPr/>
        </p:nvCxnSpPr>
        <p:spPr>
          <a:xfrm>
            <a:off x="3224500" y="288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410500" y="255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3480500" y="255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kubelet + kubectl</a:t>
            </a:r>
          </a:p>
        </p:txBody>
      </p:sp>
      <p:cxnSp>
        <p:nvCxnSpPr>
          <p:cNvPr id="31" name="Connector 30"/>
          <p:cNvCxnSpPr/>
          <p:nvPr/>
        </p:nvCxnSpPr>
        <p:spPr>
          <a:xfrm>
            <a:off x="6015000" y="288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201000" y="255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6271000" y="255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restart kubelet</a:t>
            </a:r>
          </a:p>
        </p:txBody>
      </p:sp>
      <p:cxnSp>
        <p:nvCxnSpPr>
          <p:cNvPr id="34" name="Connector 33"/>
          <p:cNvCxnSpPr/>
          <p:nvPr/>
        </p:nvCxnSpPr>
        <p:spPr>
          <a:xfrm>
            <a:off x="8805500" y="288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91500" y="2550000"/>
            <a:ext cx="2580500"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6" name="TextBox 35"/>
          <p:cNvSpPr txBox="1"/>
          <p:nvPr/>
        </p:nvSpPr>
        <p:spPr>
          <a:xfrm>
            <a:off x="9061500" y="2550000"/>
            <a:ext cx="2440500"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uncordon</a:t>
            </a:r>
          </a:p>
        </p:txBody>
      </p:sp>
      <p:sp>
        <p:nvSpPr>
          <p:cNvPr id="37" name="Rounded Rectangle 36"/>
          <p:cNvSpPr/>
          <p:nvPr/>
        </p:nvSpPr>
        <p:spPr>
          <a:xfrm>
            <a:off x="620000" y="3510000"/>
            <a:ext cx="10952000" cy="277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8" name="Rectangle 37"/>
          <p:cNvSpPr/>
          <p:nvPr/>
        </p:nvSpPr>
        <p:spPr>
          <a:xfrm>
            <a:off x="646000" y="3532000"/>
            <a:ext cx="40000" cy="272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TextBox 38"/>
          <p:cNvSpPr txBox="1"/>
          <p:nvPr/>
        </p:nvSpPr>
        <p:spPr>
          <a:xfrm>
            <a:off x="860000" y="3640000"/>
            <a:ext cx="10522000" cy="251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POR QUÉ ESE ORDEN</a:t>
            </a:r>
          </a:p>
          <a:p>
            <a:pPr algn="l" marL="0" indent="0">
              <a:lnSpc>
                <a:spcPct val="128000"/>
              </a:lnSpc>
              <a:spcBef>
                <a:spcPts val="0"/>
              </a:spcBef>
              <a:spcAft>
                <a:spcPts val="400"/>
              </a:spcAft>
              <a:buNone/>
            </a:pPr>
            <a:r>
              <a:rPr sz="1100" b="0" i="0">
                <a:solidFill>
                  <a:srgbClr val="BDC9DB"/>
                </a:solidFill>
                <a:latin typeface="Segoe UI"/>
              </a:rPr>
              <a:t>El upgrade de un cluster kubeadm sigue un orden fijo que no es arbitrario. Primero el control plane, después los workers, y siempre una minor cada vez (1.33 → 1.34 → 1.35, nunca saltos). El motivo es la regla de version skew: el kubelet puede estar en la misma versión que el API server o hasta tres minors por debajo, pero nunca por encima. Si actualizaras el kubelet primero, el cluster quedaría en un estado no soportado.</a:t>
            </a:r>
          </a:p>
          <a:p>
            <a:pPr algn="l" marL="0" indent="0">
              <a:lnSpc>
                <a:spcPct val="128000"/>
              </a:lnSpc>
              <a:spcBef>
                <a:spcPts val="0"/>
              </a:spcBef>
              <a:spcAft>
                <a:spcPts val="400"/>
              </a:spcAft>
              <a:buNone/>
            </a:pPr>
            <a:r>
              <a:rPr sz="1100" b="0" i="0">
                <a:solidFill>
                  <a:srgbClr val="BDC9DB"/>
                </a:solidFill>
                <a:latin typeface="Segoe UI"/>
              </a:rPr>
              <a:t>Dentro de cada nodo, kubeadm va primero porque es quien reescribe los manifiestos de los static Pods con las imágenes nuevas: kubeadm upgrade apply &lt;versión&gt; en el primer control plane, kubeadm upgrade node en el resto de nodos (no aplican una versión de cluster, solo se ponen al día). Solo después se actualizan los paquetes kubelet y kubectl, se hace systemctl daemon-reload y se reinicia el kubelet.</a:t>
            </a:r>
          </a:p>
          <a:p>
            <a:pPr algn="l" marL="0" indent="0">
              <a:lnSpc>
                <a:spcPct val="128000"/>
              </a:lnSpc>
              <a:spcBef>
                <a:spcPts val="0"/>
              </a:spcBef>
              <a:spcAft>
                <a:spcPts val="400"/>
              </a:spcAft>
              <a:buNone/>
            </a:pPr>
            <a:r>
              <a:rPr sz="1100" b="0" i="0">
                <a:solidFill>
                  <a:srgbClr val="BDC9DB"/>
                </a:solidFill>
                <a:latin typeface="Segoe UI"/>
              </a:rPr>
              <a:t>El snapshot de etcd va antes de empezar, sin excepción: es la única red de seguridad si el upgrade deja el cluster inconsistente. Y en cada nodo hay que acordonar y drenar antes de reiniciar el kubelet, y hacer uncordon al terminar.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0C96B"/>
                </a:solidFill>
                <a:latin typeface="Segoe UI Semibold"/>
              </a:rPr>
              <a:t>ACTUALIZACIÓN TÉCNICA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repositorio cambió: hay uno por cada minor</a:t>
            </a:r>
          </a:p>
        </p:txBody>
      </p:sp>
      <p:sp>
        <p:nvSpPr>
          <p:cNvPr id="4" name="Rectangle 3"/>
          <p:cNvSpPr/>
          <p:nvPr/>
        </p:nvSpPr>
        <p:spPr>
          <a:xfrm>
            <a:off x="620000" y="1230000"/>
            <a:ext cx="560000" cy="4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11</a:t>
            </a:r>
          </a:p>
        </p:txBody>
      </p:sp>
      <p:sp>
        <p:nvSpPr>
          <p:cNvPr id="8" name="Freeform 7"/>
          <p:cNvSpPr/>
          <p:nvPr/>
        </p:nvSpPr>
        <p:spPr>
          <a:xfrm>
            <a:off x="10970400" y="326200"/>
            <a:ext cx="563200" cy="512000"/>
          </a:xfrm>
          <a:custGeom>
            <a:avLst/>
            <a:gdLst/>
            <a:ahLst/>
            <a:cxnLst/>
            <a:rect l="l" t="t" r="r" b="b"/>
            <a:pathLst>
              <a:path w="563200" h="512000">
                <a:moveTo>
                  <a:pt x="281600" y="0"/>
                </a:moveTo>
                <a:lnTo>
                  <a:pt x="563200" y="512000"/>
                </a:lnTo>
                <a:lnTo>
                  <a:pt x="0" y="512000"/>
                </a:lnTo>
                <a:close/>
              </a:path>
            </a:pathLst>
          </a:custGeom>
          <a:noFill/>
          <a:ln w="38100">
            <a:solidFill>
              <a:srgbClr val="F0C9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252000" y="518200"/>
            <a:ext cx="0" cy="153600"/>
          </a:xfrm>
          <a:prstGeom prst="line">
            <a:avLst/>
          </a:prstGeom>
          <a:ln w="49530">
            <a:solidFill>
              <a:srgbClr val="F0C96B"/>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220000" y="716600"/>
            <a:ext cx="64000" cy="64000"/>
          </a:xfrm>
          <a:prstGeom prst="ellipse">
            <a:avLst/>
          </a:prstGeom>
          <a:solidFill>
            <a:srgbClr val="F0C96B"/>
          </a:solidFill>
          <a:ln w="6350">
            <a:solidFill>
              <a:srgbClr val="F0C9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El error número uno del upgrade. apt install kubeadm=1.35.x falla con «Version not found» no porque la versión no exista, sino porque el repositorio sigue apuntando a la minor anterior. Los antiguos apt.kubernetes.io y packages.cloud.google.com están retirados.</a:t>
            </a:r>
          </a:p>
        </p:txBody>
      </p:sp>
      <p:sp>
        <p:nvSpPr>
          <p:cNvPr id="12" name="Rounded Rectangle 11"/>
          <p:cNvSpPr/>
          <p:nvPr/>
        </p:nvSpPr>
        <p:spPr>
          <a:xfrm>
            <a:off x="620000" y="2410000"/>
            <a:ext cx="10952000" cy="1196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Rectangle 12"/>
          <p:cNvSpPr/>
          <p:nvPr/>
        </p:nvSpPr>
        <p:spPr>
          <a:xfrm>
            <a:off x="620000" y="2410000"/>
            <a:ext cx="46000" cy="119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TextBox 13"/>
          <p:cNvSpPr txBox="1"/>
          <p:nvPr/>
        </p:nvSpPr>
        <p:spPr>
          <a:xfrm>
            <a:off x="890000" y="2560000"/>
            <a:ext cx="10412000" cy="936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sed -i 's#/v1.34/#/v1.35/#' /etc/apt/sources.list.d/kubernetes.list</a:t>
            </a:r>
          </a:p>
          <a:p>
            <a:pPr marL="0" indent="0">
              <a:lnSpc>
                <a:spcPct val="134000"/>
              </a:lnSpc>
              <a:spcAft>
                <a:spcPts val="0"/>
              </a:spcAft>
              <a:buNone/>
            </a:pPr>
            <a:r>
              <a:rPr sz="1100" b="0" i="0">
                <a:solidFill>
                  <a:srgbClr val="E6EDF3"/>
                </a:solidFill>
                <a:latin typeface="Consolas"/>
              </a:rPr>
              <a:t>curl -fsSL https://pkgs.k8s.io/core:/stable:/v1.35/deb/Release.key \</a:t>
            </a:r>
          </a:p>
          <a:p>
            <a:pPr marL="0" indent="0">
              <a:lnSpc>
                <a:spcPct val="134000"/>
              </a:lnSpc>
              <a:spcAft>
                <a:spcPts val="0"/>
              </a:spcAft>
              <a:buNone/>
            </a:pPr>
            <a:r>
              <a:rPr sz="1100" b="0" i="0">
                <a:solidFill>
                  <a:srgbClr val="E6EDF3"/>
                </a:solidFill>
                <a:latin typeface="Consolas"/>
              </a:rPr>
              <a:t>  | gpg --dearmor -o /etc/apt/keyrings/kubernetes-apt-keyring.gpg --yes</a:t>
            </a:r>
          </a:p>
          <a:p>
            <a:pPr marL="0" indent="0">
              <a:lnSpc>
                <a:spcPct val="134000"/>
              </a:lnSpc>
              <a:spcAft>
                <a:spcPts val="0"/>
              </a:spcAft>
              <a:buNone/>
            </a:pPr>
            <a:r>
              <a:rPr sz="1100" b="0" i="0">
                <a:solidFill>
                  <a:srgbClr val="E6EDF3"/>
                </a:solidFill>
                <a:latin typeface="Consolas"/>
              </a:rPr>
              <a:t>apt update &amp;&amp; apt-cache madison kubeadm | head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SECUENCIA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Control plane y worker, lado a lado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12</a:t>
            </a:r>
          </a:p>
        </p:txBody>
      </p:sp>
      <p:pic>
        <p:nvPicPr>
          <p:cNvPr id="8" name="Picture 7" descr="control-plane.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850000"/>
            <a:ext cx="10952000" cy="2168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50000"/>
            <a:ext cx="46000" cy="2168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970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CONTROL PLANE</a:t>
            </a:r>
          </a:p>
        </p:txBody>
      </p:sp>
      <p:sp>
        <p:nvSpPr>
          <p:cNvPr id="12" name="TextBox 11"/>
          <p:cNvSpPr txBox="1"/>
          <p:nvPr/>
        </p:nvSpPr>
        <p:spPr>
          <a:xfrm>
            <a:off x="890000" y="2250000"/>
            <a:ext cx="10412000" cy="1708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apt-mark unhold kubeadm &amp;&amp; apt install -y kubeadm=1.35.0-1.1 &amp;&amp; apt-mark hold kubeadm</a:t>
            </a:r>
          </a:p>
          <a:p>
            <a:pPr marL="0" indent="0">
              <a:lnSpc>
                <a:spcPct val="134000"/>
              </a:lnSpc>
              <a:spcAft>
                <a:spcPts val="0"/>
              </a:spcAft>
              <a:buNone/>
            </a:pPr>
            <a:r>
              <a:rPr sz="1100" b="0" i="0">
                <a:solidFill>
                  <a:srgbClr val="E6EDF3"/>
                </a:solidFill>
                <a:latin typeface="Consolas"/>
              </a:rPr>
              <a:t>kubeadm upgrade plan</a:t>
            </a:r>
          </a:p>
          <a:p>
            <a:pPr marL="0" indent="0">
              <a:lnSpc>
                <a:spcPct val="134000"/>
              </a:lnSpc>
              <a:spcAft>
                <a:spcPts val="0"/>
              </a:spcAft>
              <a:buNone/>
            </a:pPr>
            <a:r>
              <a:rPr sz="1100" b="0" i="0">
                <a:solidFill>
                  <a:srgbClr val="E6EDF3"/>
                </a:solidFill>
                <a:latin typeface="Consolas"/>
              </a:rPr>
              <a:t>kubeadm upgrade apply v1.35.0</a:t>
            </a:r>
          </a:p>
          <a:p>
            <a:pPr marL="0" indent="0">
              <a:lnSpc>
                <a:spcPct val="134000"/>
              </a:lnSpc>
              <a:spcAft>
                <a:spcPts val="0"/>
              </a:spcAft>
              <a:buNone/>
            </a:pPr>
            <a:r>
              <a:rPr sz="1100" b="0" i="0">
                <a:solidFill>
                  <a:srgbClr val="E6EDF3"/>
                </a:solidFill>
                <a:latin typeface="Consolas"/>
              </a:rPr>
              <a:t>kubectl drain cka-master --ignore-daemonsets --delete-emptydir-data</a:t>
            </a:r>
          </a:p>
          <a:p>
            <a:pPr marL="0" indent="0">
              <a:lnSpc>
                <a:spcPct val="134000"/>
              </a:lnSpc>
              <a:spcAft>
                <a:spcPts val="0"/>
              </a:spcAft>
              <a:buNone/>
            </a:pPr>
            <a:r>
              <a:rPr sz="1100" b="0" i="0">
                <a:solidFill>
                  <a:srgbClr val="E6EDF3"/>
                </a:solidFill>
                <a:latin typeface="Consolas"/>
              </a:rPr>
              <a:t>apt-mark unhold kubelet kubectl &amp;&amp; apt install -y kubelet=1.35.0-1.1 kubectl=1.35.0-1.1</a:t>
            </a:r>
          </a:p>
          <a:p>
            <a:pPr marL="0" indent="0">
              <a:lnSpc>
                <a:spcPct val="134000"/>
              </a:lnSpc>
              <a:spcAft>
                <a:spcPts val="0"/>
              </a:spcAft>
              <a:buNone/>
            </a:pPr>
            <a:r>
              <a:rPr sz="1100" b="0" i="0">
                <a:solidFill>
                  <a:srgbClr val="E6EDF3"/>
                </a:solidFill>
                <a:latin typeface="Consolas"/>
              </a:rPr>
              <a:t>systemctl daemon-reload &amp;&amp; systemctl restart kubelet</a:t>
            </a:r>
          </a:p>
          <a:p>
            <a:pPr marL="0" indent="0">
              <a:lnSpc>
                <a:spcPct val="134000"/>
              </a:lnSpc>
              <a:spcAft>
                <a:spcPts val="0"/>
              </a:spcAft>
              <a:buNone/>
            </a:pPr>
            <a:r>
              <a:rPr sz="1100" b="0" i="0">
                <a:solidFill>
                  <a:srgbClr val="E6EDF3"/>
                </a:solidFill>
                <a:latin typeface="Consolas"/>
              </a:rPr>
              <a:t>kubectl uncordon cka-master</a:t>
            </a:r>
          </a:p>
        </p:txBody>
      </p:sp>
      <p:sp>
        <p:nvSpPr>
          <p:cNvPr id="13" name="Rounded Rectangle 12"/>
          <p:cNvSpPr/>
          <p:nvPr/>
        </p:nvSpPr>
        <p:spPr>
          <a:xfrm>
            <a:off x="620000" y="4218000"/>
            <a:ext cx="10952000" cy="824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0000" y="4218000"/>
            <a:ext cx="46000" cy="824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50000" y="4338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WORKER: IDÉNTICO, CAMBIANDO UNA SOLA LÍNEA</a:t>
            </a:r>
          </a:p>
        </p:txBody>
      </p:sp>
      <p:sp>
        <p:nvSpPr>
          <p:cNvPr id="16" name="TextBox 15"/>
          <p:cNvSpPr txBox="1"/>
          <p:nvPr/>
        </p:nvSpPr>
        <p:spPr>
          <a:xfrm>
            <a:off x="890000" y="4618000"/>
            <a:ext cx="10412000" cy="364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kubeadm upgrade node      </a:t>
            </a:r>
            <a:r>
              <a:rPr sz="1100" b="0" i="1">
                <a:solidFill>
                  <a:srgbClr val="7C8AA5"/>
                </a:solidFill>
                <a:latin typeface="Consolas"/>
              </a:rPr>
              <a:t>  # en lugar de 'kubeadm upgrade apply'</a:t>
            </a:r>
          </a:p>
        </p:txBody>
      </p:sp>
      <p:sp>
        <p:nvSpPr>
          <p:cNvPr id="17" name="Rounded Rectangle 16"/>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En el examen léelo dos veces: casi siempre piden actualizar solo el control plane, o solo un nodo concreto.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intermedio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2.2 — Upgrade kubeadm v1.34 → v1.35</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Actualizar el cluster completo sin que la aplicación testigo deje de responder en ningún momento.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Snapshot de etcd ANTES de empezar. Sin excepción.</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Repositorio a la minor de destino en cada nodo.</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kubeadm → upgrade plan → upgrade apply → kubelet/kubectl → restart → uncordon.</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Workers uno a uno, con kubeadm upgrade node.</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Vigilar la disponibilidad en otra terminal durante toda la ventana.</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CLASE-02/LABORATORIOS/LAB-02-INTERMEDIO.md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35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nodes -o wide</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tcd.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03</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3</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ETCD</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Todo el estado del cluster cabe en un archivo</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CONCEPTO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backup que nadie ha restaurado no es un backup</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15</a:t>
            </a:r>
          </a:p>
        </p:txBody>
      </p:sp>
      <p:pic>
        <p:nvPicPr>
          <p:cNvPr id="8" name="Picture 7" descr="etcd.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etcd guarda el estado completo del cluster. Restaurarlo devuelve el cluster a ese instante exacto.</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Todo lo creado después del snapshot desaparece. Eso es el RPO, y es el argumento para automatizar.</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No hace falta memorizar rutas: el manifiesto del API server declara el endpoint y los certificados que usa.</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restore va SIEMPRE a un data dir nuevo, con el control plane parado.</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DE DÓNDE SALEN LAS RUTAS</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586992"/>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grep etcd \</a:t>
            </a:r>
          </a:p>
          <a:p>
            <a:pPr marL="0" indent="0">
              <a:lnSpc>
                <a:spcPct val="134000"/>
              </a:lnSpc>
              <a:spcAft>
                <a:spcPts val="0"/>
              </a:spcAft>
              <a:buNone/>
            </a:pPr>
            <a:r>
              <a:rPr sz="1100" b="0" i="0">
                <a:solidFill>
                  <a:srgbClr val="E6EDF3"/>
                </a:solidFill>
                <a:latin typeface="Consolas"/>
              </a:rPr>
              <a:t>  /etc/kubernetes/manifests/ \</a:t>
            </a:r>
          </a:p>
          <a:p>
            <a:pPr marL="0" indent="0">
              <a:lnSpc>
                <a:spcPct val="134000"/>
              </a:lnSpc>
              <a:spcAft>
                <a:spcPts val="0"/>
              </a:spcAft>
              <a:buNone/>
            </a:pPr>
            <a:r>
              <a:rPr sz="1100" b="0" i="0">
                <a:solidFill>
                  <a:srgbClr val="E6EDF3"/>
                </a:solidFill>
                <a:latin typeface="Consolas"/>
              </a:rPr>
              <a:t>  kube-apiserver.yaml</a:t>
            </a:r>
          </a:p>
          <a:p>
            <a:pPr marL="0" indent="0">
              <a:lnSpc>
                <a:spcPct val="134000"/>
              </a:lnSpc>
              <a:spcAft>
                <a:spcPts val="0"/>
              </a:spcAft>
              <a:buNone/>
            </a:pPr>
            <a:r>
              <a:rPr sz="1100" b="0" i="0">
                <a:solidFill>
                  <a:srgbClr val="E6EDF3"/>
                </a:solidFill>
                <a:latin typeface="Consolas"/>
              </a:rPr>
              <a:t/>
            </a:r>
          </a:p>
          <a:p>
            <a:pPr marL="0" indent="0">
              <a:lnSpc>
                <a:spcPct val="134000"/>
              </a:lnSpc>
              <a:spcAft>
                <a:spcPts val="0"/>
              </a:spcAft>
              <a:buNone/>
            </a:pPr>
            <a:r>
              <a:rPr sz="1100" b="0" i="0">
                <a:solidFill>
                  <a:srgbClr val="E6EDF3"/>
                </a:solidFill>
                <a:latin typeface="Consolas"/>
              </a:rPr>
              <a:t>--etcd-cafile=.../etcd/ca.crt</a:t>
            </a:r>
          </a:p>
          <a:p>
            <a:pPr marL="0" indent="0">
              <a:lnSpc>
                <a:spcPct val="134000"/>
              </a:lnSpc>
              <a:spcAft>
                <a:spcPts val="0"/>
              </a:spcAft>
              <a:buNone/>
            </a:pPr>
            <a:r>
              <a:rPr sz="1100" b="0" i="0">
                <a:solidFill>
                  <a:srgbClr val="E6EDF3"/>
                </a:solidFill>
                <a:latin typeface="Consolas"/>
              </a:rPr>
              <a:t>--etcd-certfile=...client.crt</a:t>
            </a:r>
          </a:p>
          <a:p>
            <a:pPr marL="0" indent="0">
              <a:lnSpc>
                <a:spcPct val="134000"/>
              </a:lnSpc>
              <a:spcAft>
                <a:spcPts val="0"/>
              </a:spcAft>
              <a:buNone/>
            </a:pPr>
            <a:r>
              <a:rPr sz="1100" b="0" i="0">
                <a:solidFill>
                  <a:srgbClr val="E6EDF3"/>
                </a:solidFill>
                <a:latin typeface="Consolas"/>
              </a:rPr>
              <a:t>--etcd-keyfile=...client.key</a:t>
            </a:r>
          </a:p>
          <a:p>
            <a:pPr marL="0" indent="0">
              <a:lnSpc>
                <a:spcPct val="134000"/>
              </a:lnSpc>
              <a:spcAft>
                <a:spcPts val="0"/>
              </a:spcAft>
              <a:buNone/>
            </a:pPr>
            <a:r>
              <a:rPr sz="1100" b="0" i="0">
                <a:solidFill>
                  <a:srgbClr val="E6EDF3"/>
                </a:solidFill>
                <a:latin typeface="Consolas"/>
              </a:rPr>
              <a:t>--etcd-servers=https://127.0.0.1:2379</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950" b="0" i="0">
                <a:solidFill>
                  <a:srgbClr val="BDC9DB"/>
                </a:solidFill>
                <a:latin typeface="Segoe UI"/>
              </a:rPr>
              <a:t>etcd es la única fuente de verdad del cluster: guarda todos los objetos (Pods, Deployments, Secrets, ConfigMaps, RBAC, estado de los nodos) como pares clave-valor. Si etcd se corrompe o se pierde, el cluster deja de existir aunque los nodos sigan encendidos. Restaurar un snapshot devuelve el cluster exactamente al instante en que se tomó; todo lo creado después desaparece, y esa ventana de pérdida (el RPO) es el argumento para automatizar los backups.</a:t>
            </a:r>
          </a:p>
          <a:p>
            <a:pPr algn="l" marL="0" indent="0">
              <a:lnSpc>
                <a:spcPct val="128000"/>
              </a:lnSpc>
              <a:spcBef>
                <a:spcPts val="0"/>
              </a:spcBef>
              <a:spcAft>
                <a:spcPts val="400"/>
              </a:spcAft>
              <a:buNone/>
            </a:pPr>
            <a:r>
              <a:rPr sz="950" b="0" i="0">
                <a:solidFill>
                  <a:srgbClr val="BDC9DB"/>
                </a:solidFill>
                <a:latin typeface="Segoe UI"/>
              </a:rPr>
              <a:t>No hace falta memorizar rutas ni puertos: el manifiesto del API server (/etc/kubernetes/manifests/kube-apiserver.yaml) declara en sus argumentos el endpoint de etcd y los tres certificados que usa para hablar con él (--etcd-cafile, --etcd-certfile, --etcd-keyfile, --etcd-servers). Un grep sobre ese archivo te da todo lo necesario.</a:t>
            </a:r>
          </a:p>
          <a:p>
            <a:pPr algn="l" marL="0" indent="0">
              <a:lnSpc>
                <a:spcPct val="128000"/>
              </a:lnSpc>
              <a:spcBef>
                <a:spcPts val="0"/>
              </a:spcBef>
              <a:spcAft>
                <a:spcPts val="400"/>
              </a:spcAft>
              <a:buNone/>
            </a:pPr>
            <a:r>
              <a:rPr sz="950" b="0" i="0">
                <a:solidFill>
                  <a:srgbClr val="BDC9DB"/>
                </a:solidFill>
                <a:latin typeface="Segoe UI"/>
              </a:rPr>
              <a:t>El restore va SIEMPRE a un data-dir nuevo y con el control plane parado. El procedimiento: mover los manifiestos fuera de la carpeta para detener API server y etcd, ejecutar el restore hacia el directorio nuevo, reapuntar el hostPath del volumen de datos de etcd en su manifiesto, y devolver los manifiestos para que el kubelet lo levante todo.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ACTUALIZACIÓN TÉCNICA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etcdctl y etcdutl no son lo mismo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16</a:t>
            </a:r>
          </a:p>
        </p:txBody>
      </p:sp>
      <p:pic>
        <p:nvPicPr>
          <p:cNvPr id="8" name="Picture 7" descr="etcd.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47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etcdctl</a:t>
            </a:r>
          </a:p>
          <a:p>
            <a:pPr algn="l" marL="0" indent="0">
              <a:lnSpc>
                <a:spcPct val="112000"/>
              </a:lnSpc>
              <a:spcBef>
                <a:spcPts val="0"/>
              </a:spcBef>
              <a:spcAft>
                <a:spcPts val="0"/>
              </a:spcAft>
              <a:buNone/>
            </a:pPr>
            <a:r>
              <a:rPr sz="1100" b="0" i="1">
                <a:solidFill>
                  <a:srgbClr val="8493AD"/>
                </a:solidFill>
                <a:latin typeface="Segoe UI"/>
              </a:rPr>
              <a:t>Habla con un etcd VIVO</a:t>
            </a:r>
          </a:p>
        </p:txBody>
      </p:sp>
      <p:sp>
        <p:nvSpPr>
          <p:cNvPr id="12" name="TextBox 11"/>
          <p:cNvSpPr txBox="1"/>
          <p:nvPr/>
        </p:nvSpPr>
        <p:spPr>
          <a:xfrm>
            <a:off x="880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Necesita certificados y endpoint.</a:t>
            </a:r>
          </a:p>
          <a:p>
            <a:pPr algn="l" marL="182880" indent="-182880">
              <a:lnSpc>
                <a:spcPct val="116000"/>
              </a:lnSpc>
              <a:spcBef>
                <a:spcPts val="0"/>
              </a:spcBef>
              <a:spcAft>
                <a:spcPts val="800"/>
              </a:spcAft>
              <a:buFont typeface="Arial"/>
              <a:buChar char="•"/>
            </a:pPr>
            <a:r>
              <a:rPr sz="1100" b="0" i="0">
                <a:solidFill>
                  <a:srgbClr val="BDC9DB"/>
                </a:solidFill>
                <a:latin typeface="Segoe UI"/>
              </a:rPr>
              <a:t>endpoint health · endpoint status</a:t>
            </a:r>
          </a:p>
          <a:p>
            <a:pPr algn="l" marL="182880" indent="-182880">
              <a:lnSpc>
                <a:spcPct val="116000"/>
              </a:lnSpc>
              <a:spcBef>
                <a:spcPts val="0"/>
              </a:spcBef>
              <a:spcAft>
                <a:spcPts val="800"/>
              </a:spcAft>
              <a:buFont typeface="Arial"/>
              <a:buChar char="•"/>
            </a:pPr>
            <a:r>
              <a:rPr sz="1100" b="0" i="0">
                <a:solidFill>
                  <a:srgbClr val="BDC9DB"/>
                </a:solidFill>
                <a:latin typeface="Segoe UI"/>
              </a:rPr>
              <a:t>snapshot save</a:t>
            </a:r>
          </a:p>
          <a:p>
            <a:pPr algn="l" marL="182880" indent="-182880">
              <a:lnSpc>
                <a:spcPct val="116000"/>
              </a:lnSpc>
              <a:spcBef>
                <a:spcPts val="0"/>
              </a:spcBef>
              <a:spcAft>
                <a:spcPts val="800"/>
              </a:spcAft>
              <a:buFont typeface="Arial"/>
              <a:buChar char="•"/>
            </a:pPr>
            <a:r>
              <a:rPr sz="1100" b="0" i="0">
                <a:solidFill>
                  <a:srgbClr val="BDC9DB"/>
                </a:solidFill>
                <a:latin typeface="Segoe UI"/>
              </a:rPr>
              <a:t>snapshot restore está DEPRECADO: avisa por consola.</a:t>
            </a:r>
          </a:p>
        </p:txBody>
      </p:sp>
      <p:sp>
        <p:nvSpPr>
          <p:cNvPr id="13" name="Rounded Rectangle 12"/>
          <p:cNvSpPr/>
          <p:nvPr/>
        </p:nvSpPr>
        <p:spPr>
          <a:xfrm>
            <a:off x="6256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470000"/>
            <a:ext cx="5268000" cy="4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etcdutl</a:t>
            </a:r>
          </a:p>
          <a:p>
            <a:pPr algn="l" marL="0" indent="0">
              <a:lnSpc>
                <a:spcPct val="112000"/>
              </a:lnSpc>
              <a:spcBef>
                <a:spcPts val="0"/>
              </a:spcBef>
              <a:spcAft>
                <a:spcPts val="0"/>
              </a:spcAft>
              <a:buNone/>
            </a:pPr>
            <a:r>
              <a:rPr sz="1100" b="0" i="1">
                <a:solidFill>
                  <a:srgbClr val="8493AD"/>
                </a:solidFill>
                <a:latin typeface="Segoe UI"/>
              </a:rPr>
              <a:t>Trabaja sobre un ARCHIVO</a:t>
            </a:r>
          </a:p>
        </p:txBody>
      </p:sp>
      <p:sp>
        <p:nvSpPr>
          <p:cNvPr id="16" name="TextBox 15"/>
          <p:cNvSpPr txBox="1"/>
          <p:nvPr/>
        </p:nvSpPr>
        <p:spPr>
          <a:xfrm>
            <a:off x="6516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No necesita certificados ni endpoint.</a:t>
            </a:r>
          </a:p>
          <a:p>
            <a:pPr algn="l" marL="182880" indent="-182880">
              <a:lnSpc>
                <a:spcPct val="116000"/>
              </a:lnSpc>
              <a:spcBef>
                <a:spcPts val="0"/>
              </a:spcBef>
              <a:spcAft>
                <a:spcPts val="800"/>
              </a:spcAft>
              <a:buFont typeface="Arial"/>
              <a:buChar char="•"/>
            </a:pPr>
            <a:r>
              <a:rPr sz="1100" b="0" i="0">
                <a:solidFill>
                  <a:srgbClr val="BDC9DB"/>
                </a:solidFill>
                <a:latin typeface="Segoe UI"/>
              </a:rPr>
              <a:t>snapshot status — valida el .db</a:t>
            </a:r>
          </a:p>
          <a:p>
            <a:pPr algn="l" marL="182880" indent="-182880">
              <a:lnSpc>
                <a:spcPct val="116000"/>
              </a:lnSpc>
              <a:spcBef>
                <a:spcPts val="0"/>
              </a:spcBef>
              <a:spcAft>
                <a:spcPts val="800"/>
              </a:spcAft>
              <a:buFont typeface="Arial"/>
              <a:buChar char="•"/>
            </a:pPr>
            <a:r>
              <a:rPr sz="1100" b="0" i="0">
                <a:solidFill>
                  <a:srgbClr val="BDC9DB"/>
                </a:solidFill>
                <a:latin typeface="Segoe UI"/>
              </a:rPr>
              <a:t>snapshot restore — es el comando correcto hoy</a:t>
            </a:r>
          </a:p>
          <a:p>
            <a:pPr algn="l" marL="182880" indent="-182880">
              <a:lnSpc>
                <a:spcPct val="116000"/>
              </a:lnSpc>
              <a:spcBef>
                <a:spcPts val="0"/>
              </a:spcBef>
              <a:spcAft>
                <a:spcPts val="800"/>
              </a:spcAft>
              <a:buFont typeface="Arial"/>
              <a:buChar char="•"/>
            </a:pPr>
            <a:r>
              <a:rPr sz="1100" b="0" i="0">
                <a:solidFill>
                  <a:srgbClr val="BDC9DB"/>
                </a:solidFill>
                <a:latin typeface="Segoe UI"/>
              </a:rPr>
              <a:t>Si te piden certificados para un status, estás usando el binario equivocado.</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Son dos binarios distintos con propósitos distintos y confundirlos hace perder tiempo en el examen. etcdctl es el cliente de red: habla con una instancia de etcd EN FUNCIONAMIENTO, así que necesita el endpoint y los certificados. Con él se comprueba la salud (endpoint health, endpoint status) y se toma el snapshot en caliente (snapshot save).</a:t>
            </a:r>
          </a:p>
          <a:p>
            <a:pPr algn="l" marL="0" indent="0">
              <a:lnSpc>
                <a:spcPct val="128000"/>
              </a:lnSpc>
              <a:spcBef>
                <a:spcPts val="0"/>
              </a:spcBef>
              <a:spcAft>
                <a:spcPts val="400"/>
              </a:spcAft>
              <a:buNone/>
            </a:pPr>
            <a:r>
              <a:rPr sz="1000" b="0" i="0">
                <a:solidFill>
                  <a:srgbClr val="BDC9DB"/>
                </a:solidFill>
                <a:latin typeface="Segoe UI"/>
              </a:rPr>
              <a:t>etcdutl es la herramienta offline: trabaja directamente sobre el ARCHIVO .db del snapshot, sin cluster, sin endpoint y sin certificados. Con él se valida la integridad del snapshot (snapshot status) y se hace el restore (snapshot restore). Si un procedimiento te pide certificados para consultar el estado de un archivo, estás usando el binario equivocado.</a:t>
            </a:r>
          </a:p>
          <a:p>
            <a:pPr algn="l" marL="0" indent="0">
              <a:lnSpc>
                <a:spcPct val="128000"/>
              </a:lnSpc>
              <a:spcBef>
                <a:spcPts val="0"/>
              </a:spcBef>
              <a:spcAft>
                <a:spcPts val="400"/>
              </a:spcAft>
              <a:buNone/>
            </a:pPr>
            <a:r>
              <a:rPr sz="1000" b="0" i="0">
                <a:solidFill>
                  <a:srgbClr val="BDC9DB"/>
                </a:solidFill>
                <a:latin typeface="Segoe UI"/>
              </a:rPr>
              <a:t>Dos notas de versión: snapshot restore en etcdctl está deprecado y avisa por consola —el comando correcto hoy es etcdutl snapshot restore—; y la variable ETCDCTL_API=3 ya no hace falta, porque la v3 es el valor por defecto desde hace varias versiones.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LOS TRES COMANDOS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Backup, validación y restore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17</a:t>
            </a:r>
          </a:p>
        </p:txBody>
      </p:sp>
      <p:pic>
        <p:nvPicPr>
          <p:cNvPr id="8" name="Picture 7" descr="etcd.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850000"/>
            <a:ext cx="10952000" cy="1720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50000"/>
            <a:ext cx="46000" cy="17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970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1 · SNAPSHOT (MEMORIZA ESTA LÍNEA)</a:t>
            </a:r>
          </a:p>
        </p:txBody>
      </p:sp>
      <p:sp>
        <p:nvSpPr>
          <p:cNvPr id="12" name="TextBox 11"/>
          <p:cNvSpPr txBox="1"/>
          <p:nvPr/>
        </p:nvSpPr>
        <p:spPr>
          <a:xfrm>
            <a:off x="890000" y="2250000"/>
            <a:ext cx="10412000" cy="1260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etcdctl --endpoints=https://127.0.0.1:2379 \</a:t>
            </a:r>
          </a:p>
          <a:p>
            <a:pPr marL="0" indent="0">
              <a:lnSpc>
                <a:spcPct val="134000"/>
              </a:lnSpc>
              <a:spcAft>
                <a:spcPts val="0"/>
              </a:spcAft>
              <a:buNone/>
            </a:pPr>
            <a:r>
              <a:rPr sz="1100" b="0" i="0">
                <a:solidFill>
                  <a:srgbClr val="E6EDF3"/>
                </a:solidFill>
                <a:latin typeface="Consolas"/>
              </a:rPr>
              <a:t>  --cacert=/etc/kubernetes/pki/etcd/ca.crt \</a:t>
            </a:r>
          </a:p>
          <a:p>
            <a:pPr marL="0" indent="0">
              <a:lnSpc>
                <a:spcPct val="134000"/>
              </a:lnSpc>
              <a:spcAft>
                <a:spcPts val="0"/>
              </a:spcAft>
              <a:buNone/>
            </a:pPr>
            <a:r>
              <a:rPr sz="1100" b="0" i="0">
                <a:solidFill>
                  <a:srgbClr val="E6EDF3"/>
                </a:solidFill>
                <a:latin typeface="Consolas"/>
              </a:rPr>
              <a:t>  --cert=/etc/kubernetes/pki/etcd/server.crt \</a:t>
            </a:r>
          </a:p>
          <a:p>
            <a:pPr marL="0" indent="0">
              <a:lnSpc>
                <a:spcPct val="134000"/>
              </a:lnSpc>
              <a:spcAft>
                <a:spcPts val="0"/>
              </a:spcAft>
              <a:buNone/>
            </a:pPr>
            <a:r>
              <a:rPr sz="1100" b="0" i="0">
                <a:solidFill>
                  <a:srgbClr val="E6EDF3"/>
                </a:solidFill>
                <a:latin typeface="Consolas"/>
              </a:rPr>
              <a:t>  --key=/etc/kubernetes/pki/etcd/server.key \</a:t>
            </a:r>
          </a:p>
          <a:p>
            <a:pPr marL="0" indent="0">
              <a:lnSpc>
                <a:spcPct val="134000"/>
              </a:lnSpc>
              <a:spcAft>
                <a:spcPts val="0"/>
              </a:spcAft>
              <a:buNone/>
            </a:pPr>
            <a:r>
              <a:rPr sz="1100" b="0" i="0">
                <a:solidFill>
                  <a:srgbClr val="E6EDF3"/>
                </a:solidFill>
                <a:latin typeface="Consolas"/>
              </a:rPr>
              <a:t>  snapshot save /opt/backup/etcd.db</a:t>
            </a:r>
          </a:p>
        </p:txBody>
      </p:sp>
      <p:sp>
        <p:nvSpPr>
          <p:cNvPr id="13" name="Rounded Rectangle 12"/>
          <p:cNvSpPr/>
          <p:nvPr/>
        </p:nvSpPr>
        <p:spPr>
          <a:xfrm>
            <a:off x="620000" y="3770000"/>
            <a:ext cx="10952000" cy="1048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0000" y="3770000"/>
            <a:ext cx="46000" cy="1048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50000" y="3890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2 · VALIDAR   ·   3 · RESTAURAR</a:t>
            </a:r>
          </a:p>
        </p:txBody>
      </p:sp>
      <p:sp>
        <p:nvSpPr>
          <p:cNvPr id="16" name="TextBox 15"/>
          <p:cNvSpPr txBox="1"/>
          <p:nvPr/>
        </p:nvSpPr>
        <p:spPr>
          <a:xfrm>
            <a:off x="890000" y="4170000"/>
            <a:ext cx="10412000" cy="588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etcdutl snapshot status  /opt/backup/etcd.db --write-out=table</a:t>
            </a:r>
          </a:p>
          <a:p>
            <a:pPr marL="0" indent="0">
              <a:lnSpc>
                <a:spcPct val="134000"/>
              </a:lnSpc>
              <a:spcAft>
                <a:spcPts val="0"/>
              </a:spcAft>
              <a:buNone/>
            </a:pPr>
            <a:r>
              <a:rPr sz="1100" b="0" i="0">
                <a:solidFill>
                  <a:srgbClr val="E6EDF3"/>
                </a:solidFill>
                <a:latin typeface="Consolas"/>
              </a:rPr>
              <a:t>etcdutl snapshot restore /opt/backup/etcd.db --data-dir /var/lib/etcd-restore</a:t>
            </a:r>
          </a:p>
        </p:txBody>
      </p:sp>
      <p:sp>
        <p:nvSpPr>
          <p:cNvPr id="17" name="Rounded Rectangle 16"/>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Y después: parar el control plane moviendo los manifiestos, reapuntar el hostPath del volumen etcd-data, y devolverlos.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avanzado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2.3 — ETCD: snapshot, validación y restore</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Demostrar que el backup funciona. Un snapshot que nadie ha restaurado nunca no es un backup.</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Deducir endpoint, certificados y data dir leyendo los manifiestos.</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el Deployment 'antes', tomar snapshot, validarlo y anotar el número de claves.</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el Deployment 'despues' — que se perderá.</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Restaurar a un data dir nuevo, parar el control plane y reapuntar etcd.yaml.</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Explicar por escrito por qué 'despues' desapareció.</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CLASE-02/LABORATORIOS/LAB-03-AVANZADO.md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27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etcdutl snapshot status</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ole.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04</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4</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RBAC</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Quién puede hacer qué, y dónde</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CONCEPTO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RBAC en cuatro ideas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20</a:t>
            </a:r>
          </a:p>
        </p:txBody>
      </p:sp>
      <p:pic>
        <p:nvPicPr>
          <p:cNvPr id="8" name="Picture 7" descr="role.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Es whitelisting puro: todo lo que no se concede explícitamente está denegado.</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Los permisos son aditivos. No existen reglas de denegación: solo se suman.</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Los usuarios NO son objetos del API. jane y jim solo existen dentro de los bindings y en los certificados.</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Las ServiceAccounts sí son objetos, y su identidad real es system:serviceaccount:&lt;ns&gt;:&lt;nombre&gt;.</a:t>
            </a:r>
          </a:p>
        </p:txBody>
      </p:sp>
      <p:sp>
        <p:nvSpPr>
          <p:cNvPr id="17" name="Rounded Rectangle 16"/>
          <p:cNvSpPr/>
          <p:nvPr/>
        </p:nvSpPr>
        <p:spPr>
          <a:xfrm>
            <a:off x="6635040" y="1470000"/>
            <a:ext cx="493696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59040" y="1470000"/>
            <a:ext cx="488896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75040" y="1710000"/>
            <a:ext cx="4456960" cy="2190000"/>
          </a:xfrm>
          <a:prstGeom prst="rect">
            <a:avLst/>
          </a:prstGeom>
          <a:noFill/>
        </p:spPr>
        <p:txBody>
          <a:bodyPr wrap="square" anchor="ctr" lIns="0" rIns="0" tIns="0" bIns="0">
            <a:noAutofit/>
          </a:bodyPr>
          <a:lstStyle/>
          <a:p>
            <a:pPr algn="l" marL="0" indent="0">
              <a:lnSpc>
                <a:spcPct val="100000"/>
              </a:lnSpc>
              <a:spcBef>
                <a:spcPts val="0"/>
              </a:spcBef>
              <a:spcAft>
                <a:spcPts val="1400"/>
              </a:spcAft>
              <a:buNone/>
            </a:pPr>
            <a:r>
              <a:rPr sz="1000" b="1" i="0" spc="180">
                <a:solidFill>
                  <a:srgbClr val="74A6FF"/>
                </a:solidFill>
                <a:latin typeface="Segoe UI Semibold"/>
              </a:rPr>
              <a:t>LOS CUATRO OBJETOS</a:t>
            </a:r>
          </a:p>
          <a:p>
            <a:pPr algn="l" marL="182880" indent="-182880">
              <a:lnSpc>
                <a:spcPct val="120000"/>
              </a:lnSpc>
              <a:spcBef>
                <a:spcPts val="0"/>
              </a:spcBef>
              <a:spcAft>
                <a:spcPts val="1100"/>
              </a:spcAft>
              <a:buFont typeface="Arial"/>
              <a:buChar char="•"/>
            </a:pPr>
            <a:r>
              <a:rPr sz="1100" b="0" i="0">
                <a:solidFill>
                  <a:srgbClr val="BDC9DB"/>
                </a:solidFill>
                <a:latin typeface="Segoe UI"/>
              </a:rPr>
              <a:t>Role — qué se puede hacer, en un namespace</a:t>
            </a:r>
          </a:p>
          <a:p>
            <a:pPr algn="l" marL="182880" indent="-182880">
              <a:lnSpc>
                <a:spcPct val="120000"/>
              </a:lnSpc>
              <a:spcBef>
                <a:spcPts val="0"/>
              </a:spcBef>
              <a:spcAft>
                <a:spcPts val="1100"/>
              </a:spcAft>
              <a:buFont typeface="Arial"/>
              <a:buChar char="•"/>
            </a:pPr>
            <a:r>
              <a:rPr sz="1100" b="0" i="0">
                <a:solidFill>
                  <a:srgbClr val="BDC9DB"/>
                </a:solidFill>
                <a:latin typeface="Segoe UI"/>
              </a:rPr>
              <a:t>ClusterRole — qué se puede hacer, sin ámbito</a:t>
            </a:r>
          </a:p>
          <a:p>
            <a:pPr algn="l" marL="182880" indent="-182880">
              <a:lnSpc>
                <a:spcPct val="120000"/>
              </a:lnSpc>
              <a:spcBef>
                <a:spcPts val="0"/>
              </a:spcBef>
              <a:spcAft>
                <a:spcPts val="1100"/>
              </a:spcAft>
              <a:buFont typeface="Arial"/>
              <a:buChar char="•"/>
            </a:pPr>
            <a:r>
              <a:rPr sz="1100" b="0" i="0">
                <a:solidFill>
                  <a:srgbClr val="BDC9DB"/>
                </a:solidFill>
                <a:latin typeface="Segoe UI"/>
              </a:rPr>
              <a:t>RoleBinding — a quién, en un namespace</a:t>
            </a:r>
          </a:p>
          <a:p>
            <a:pPr algn="l" marL="182880" indent="-182880">
              <a:lnSpc>
                <a:spcPct val="120000"/>
              </a:lnSpc>
              <a:spcBef>
                <a:spcPts val="0"/>
              </a:spcBef>
              <a:spcAft>
                <a:spcPts val="1100"/>
              </a:spcAft>
              <a:buFont typeface="Arial"/>
              <a:buChar char="•"/>
            </a:pPr>
            <a:r>
              <a:rPr sz="1100" b="0" i="0">
                <a:solidFill>
                  <a:srgbClr val="BDC9DB"/>
                </a:solidFill>
                <a:latin typeface="Segoe UI"/>
              </a:rPr>
              <a:t>ClusterRoleBinding — a quién, en todo el cluster</a:t>
            </a:r>
          </a:p>
        </p:txBody>
      </p:sp>
      <p:sp>
        <p:nvSpPr>
          <p:cNvPr id="20" name="Rounded Rectangle 19"/>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Rectangle 20"/>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RBAC (Role-Based Access Control) responde a una sola pregunta: ¿esta identidad puede ejecutar este verbo sobre este recurso, en este ámbito? Es whitelisting puro: todo lo que no se concede explícitamente está denegado, y no existen reglas de denegación. Los permisos son aditivos: si una identidad tiene varios bindings, sus permisos efectivos son la unión de todos, y el orden en que se evalúan no importa.</a:t>
            </a:r>
          </a:p>
          <a:p>
            <a:pPr algn="l" marL="0" indent="0">
              <a:lnSpc>
                <a:spcPct val="128000"/>
              </a:lnSpc>
              <a:spcBef>
                <a:spcPts val="0"/>
              </a:spcBef>
              <a:spcAft>
                <a:spcPts val="400"/>
              </a:spcAft>
              <a:buNone/>
            </a:pPr>
            <a:r>
              <a:rPr sz="1000" b="0" i="0">
                <a:solidFill>
                  <a:srgbClr val="BDC9DB"/>
                </a:solidFill>
                <a:latin typeface="Segoe UI"/>
              </a:rPr>
              <a:t>Hay dos tipos de sujeto. Las ServiceAccounts sí son objetos del API, viven en un namespace y su identidad real es system:serviceaccount:&lt;ns&gt;:&lt;nombre&gt;. Los usuarios y grupos NO son objetos: no se crean con kubectl; existen únicamente dentro de los bindings y en los certificados o tokens que presenta el cliente al autenticarse.</a:t>
            </a:r>
          </a:p>
          <a:p>
            <a:pPr algn="l" marL="0" indent="0">
              <a:lnSpc>
                <a:spcPct val="128000"/>
              </a:lnSpc>
              <a:spcBef>
                <a:spcPts val="0"/>
              </a:spcBef>
              <a:spcAft>
                <a:spcPts val="400"/>
              </a:spcAft>
              <a:buNone/>
            </a:pPr>
            <a:r>
              <a:rPr sz="1000" b="0" i="0">
                <a:solidFill>
                  <a:srgbClr val="BDC9DB"/>
                </a:solidFill>
                <a:latin typeface="Segoe UI"/>
              </a:rPr>
              <a:t>Cuatro objetos combinan el qué y el a-quién. Role y ClusterRole definen QUÉ se puede hacer (verbos sobre recursos); el Role está limitado a un namespace, el ClusterRole no tiene ámbito. RoleBinding y ClusterRoleBinding asignan un rol A UN SUJETO; el RoleBinding concede solo en su namespace, el ClusterRoleBinding en todo el cluster.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LA PREGUNTA QUE LO RESUELVE TODO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permiso vale en un namespace o en todos?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21</a:t>
            </a:r>
          </a:p>
        </p:txBody>
      </p:sp>
      <p:pic>
        <p:nvPicPr>
          <p:cNvPr id="8" name="Picture 7" descr="role.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2213777"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ROLE USADO</a:t>
            </a:r>
          </a:p>
        </p:txBody>
      </p:sp>
      <p:sp>
        <p:nvSpPr>
          <p:cNvPr id="12" name="TextBox 11"/>
          <p:cNvSpPr txBox="1"/>
          <p:nvPr/>
        </p:nvSpPr>
        <p:spPr>
          <a:xfrm>
            <a:off x="3213777" y="1470000"/>
            <a:ext cx="2213777"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BINDING USADO</a:t>
            </a:r>
          </a:p>
        </p:txBody>
      </p:sp>
      <p:sp>
        <p:nvSpPr>
          <p:cNvPr id="13" name="TextBox 12"/>
          <p:cNvSpPr txBox="1"/>
          <p:nvPr/>
        </p:nvSpPr>
        <p:spPr>
          <a:xfrm>
            <a:off x="5647555" y="1470000"/>
            <a:ext cx="5864444"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ALCANCE RESULTANTE</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Role</a:t>
            </a:r>
          </a:p>
        </p:txBody>
      </p:sp>
      <p:sp>
        <p:nvSpPr>
          <p:cNvPr id="16" name="TextBox 15"/>
          <p:cNvSpPr txBox="1"/>
          <p:nvPr/>
        </p:nvSpPr>
        <p:spPr>
          <a:xfrm>
            <a:off x="3213777" y="189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RoleBinding</a:t>
            </a:r>
          </a:p>
        </p:txBody>
      </p:sp>
      <p:sp>
        <p:nvSpPr>
          <p:cNvPr id="17" name="TextBox 16"/>
          <p:cNvSpPr txBox="1"/>
          <p:nvPr/>
        </p:nvSpPr>
        <p:spPr>
          <a:xfrm>
            <a:off x="5647555" y="1890000"/>
            <a:ext cx="5864444"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Solo ese namespace</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ClusterRole</a:t>
            </a:r>
          </a:p>
        </p:txBody>
      </p:sp>
      <p:sp>
        <p:nvSpPr>
          <p:cNvPr id="21" name="TextBox 20"/>
          <p:cNvSpPr txBox="1"/>
          <p:nvPr/>
        </p:nvSpPr>
        <p:spPr>
          <a:xfrm>
            <a:off x="3213777" y="245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ClusterRoleBinding</a:t>
            </a:r>
          </a:p>
        </p:txBody>
      </p:sp>
      <p:sp>
        <p:nvSpPr>
          <p:cNvPr id="22" name="TextBox 21"/>
          <p:cNvSpPr txBox="1"/>
          <p:nvPr/>
        </p:nvSpPr>
        <p:spPr>
          <a:xfrm>
            <a:off x="5647555" y="2450000"/>
            <a:ext cx="5864444"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Todo el cluster, incluidos recursos no namespaced</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ClusterRole</a:t>
            </a:r>
          </a:p>
        </p:txBody>
      </p:sp>
      <p:sp>
        <p:nvSpPr>
          <p:cNvPr id="25" name="TextBox 24"/>
          <p:cNvSpPr txBox="1"/>
          <p:nvPr/>
        </p:nvSpPr>
        <p:spPr>
          <a:xfrm>
            <a:off x="3213777" y="301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RoleBinding</a:t>
            </a:r>
          </a:p>
        </p:txBody>
      </p:sp>
      <p:sp>
        <p:nvSpPr>
          <p:cNvPr id="26" name="TextBox 25"/>
          <p:cNvSpPr txBox="1"/>
          <p:nvPr/>
        </p:nvSpPr>
        <p:spPr>
          <a:xfrm>
            <a:off x="5647555" y="3010000"/>
            <a:ext cx="5864444"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Solo ese namespace, reutilizando la definición</a:t>
            </a:r>
          </a:p>
        </p:txBody>
      </p:sp>
      <p:sp>
        <p:nvSpPr>
          <p:cNvPr id="27" name="Rectangle 26"/>
          <p:cNvSpPr/>
          <p:nvPr/>
        </p:nvSpPr>
        <p:spPr>
          <a:xfrm>
            <a:off x="620000" y="357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413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357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Role</a:t>
            </a:r>
          </a:p>
        </p:txBody>
      </p:sp>
      <p:sp>
        <p:nvSpPr>
          <p:cNvPr id="30" name="TextBox 29"/>
          <p:cNvSpPr txBox="1"/>
          <p:nvPr/>
        </p:nvSpPr>
        <p:spPr>
          <a:xfrm>
            <a:off x="3213777" y="3570000"/>
            <a:ext cx="2213777"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ClusterRoleBinding</a:t>
            </a:r>
          </a:p>
        </p:txBody>
      </p:sp>
      <p:sp>
        <p:nvSpPr>
          <p:cNvPr id="31" name="TextBox 30"/>
          <p:cNvSpPr txBox="1"/>
          <p:nvPr/>
        </p:nvSpPr>
        <p:spPr>
          <a:xfrm>
            <a:off x="5647555" y="3570000"/>
            <a:ext cx="5864444"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NO ES VÁLIDO — el API lo acepta y no concede nada</a:t>
            </a:r>
          </a:p>
        </p:txBody>
      </p:sp>
      <p:sp>
        <p:nvSpPr>
          <p:cNvPr id="32" name="Rounded Rectangle 3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El alcance real de un permiso lo determina el BINDING, no el rol. Un Role con un RoleBinding concede solo en ese namespace, como cabe esperar. Un ClusterRole con un ClusterRoleBinding concede en todo el cluster, incluidos los recursos que no tienen namespace (nodos, PersistentVolumes, la propia definición de namespaces).</a:t>
            </a:r>
          </a:p>
          <a:p>
            <a:pPr algn="l" marL="0" indent="0">
              <a:lnSpc>
                <a:spcPct val="128000"/>
              </a:lnSpc>
              <a:spcBef>
                <a:spcPts val="0"/>
              </a:spcBef>
              <a:spcAft>
                <a:spcPts val="400"/>
              </a:spcAft>
              <a:buNone/>
            </a:pPr>
            <a:r>
              <a:rPr sz="1000" b="0" i="0">
                <a:solidFill>
                  <a:srgbClr val="BDC9DB"/>
                </a:solidFill>
                <a:latin typeface="Segoe UI"/>
              </a:rPr>
              <a:t>La combinación potente y a la vez peligrosa es un ClusterRole con un RoleBinding: reutiliza una definición de permisos común (por ejemplo, «leer pods») pero la aplica solo dentro del namespace del binding. Es la forma correcta de dar permisos acotados sin repetir el mismo Role en cada namespace.</a:t>
            </a:r>
          </a:p>
          <a:p>
            <a:pPr algn="l" marL="0" indent="0">
              <a:lnSpc>
                <a:spcPct val="128000"/>
              </a:lnSpc>
              <a:spcBef>
                <a:spcPts val="0"/>
              </a:spcBef>
              <a:spcAft>
                <a:spcPts val="400"/>
              </a:spcAft>
              <a:buNone/>
            </a:pPr>
            <a:r>
              <a:rPr sz="1000" b="0" i="0">
                <a:solidFill>
                  <a:srgbClr val="BDC9DB"/>
                </a:solidFill>
                <a:latin typeface="Segoe UI"/>
              </a:rPr>
              <a:t>La combinación inválida es un Role con un ClusterRoleBinding: el API la acepta sin error, pero no concede absolutamente nada. Y el error más caro en producción es poner un ClusterRoleBinding donde debía ir un RoleBinding: se cree que se ha dado acceso a un namespace y en realidad se ha dado a los treinta. Auditar siempre con kubectl auth can-i --as, nunca leyendo los YAML.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IMPERATIVO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RBAC sin pelearse con la indentación</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22</a:t>
            </a:r>
          </a:p>
        </p:txBody>
      </p:sp>
      <p:pic>
        <p:nvPicPr>
          <p:cNvPr id="8" name="Picture 7" descr="role.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850000"/>
            <a:ext cx="10952000" cy="1944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50000"/>
            <a:ext cx="46000" cy="1944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970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CREAR</a:t>
            </a:r>
          </a:p>
        </p:txBody>
      </p:sp>
      <p:sp>
        <p:nvSpPr>
          <p:cNvPr id="12" name="TextBox 11"/>
          <p:cNvSpPr txBox="1"/>
          <p:nvPr/>
        </p:nvSpPr>
        <p:spPr>
          <a:xfrm>
            <a:off x="890000" y="2250000"/>
            <a:ext cx="10412000" cy="1484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 create role r1 --verb=get,list --resource=pods -n ns1</a:t>
            </a:r>
          </a:p>
          <a:p>
            <a:pPr marL="0" indent="0">
              <a:lnSpc>
                <a:spcPct val="134000"/>
              </a:lnSpc>
              <a:spcAft>
                <a:spcPts val="0"/>
              </a:spcAft>
              <a:buNone/>
            </a:pPr>
            <a:r>
              <a:rPr sz="1100" b="0" i="0">
                <a:solidFill>
                  <a:srgbClr val="E6EDF3"/>
                </a:solidFill>
                <a:latin typeface="Consolas"/>
              </a:rPr>
              <a:t>k create rolebinding rb1 --role=r1 --user=jane -n ns1</a:t>
            </a:r>
          </a:p>
          <a:p>
            <a:pPr marL="0" indent="0">
              <a:lnSpc>
                <a:spcPct val="134000"/>
              </a:lnSpc>
              <a:spcAft>
                <a:spcPts val="0"/>
              </a:spcAft>
              <a:buNone/>
            </a:pPr>
            <a:r>
              <a:rPr sz="1100" b="0" i="0">
                <a:solidFill>
                  <a:srgbClr val="E6EDF3"/>
                </a:solidFill>
                <a:latin typeface="Consolas"/>
              </a:rPr>
              <a:t>k create clusterrole cr1 --verb=delete --resource=deployments</a:t>
            </a:r>
          </a:p>
          <a:p>
            <a:pPr marL="0" indent="0">
              <a:lnSpc>
                <a:spcPct val="134000"/>
              </a:lnSpc>
              <a:spcAft>
                <a:spcPts val="0"/>
              </a:spcAft>
              <a:buNone/>
            </a:pPr>
            <a:r>
              <a:rPr sz="1100" b="0" i="0">
                <a:solidFill>
                  <a:srgbClr val="E6EDF3"/>
                </a:solidFill>
                <a:latin typeface="Consolas"/>
              </a:rPr>
              <a:t>k create clusterrolebinding crb1 --clusterrole=cr1 --user=jane</a:t>
            </a:r>
          </a:p>
          <a:p>
            <a:pPr marL="0" indent="0">
              <a:lnSpc>
                <a:spcPct val="134000"/>
              </a:lnSpc>
              <a:spcAft>
                <a:spcPts val="0"/>
              </a:spcAft>
              <a:buNone/>
            </a:pPr>
            <a:r>
              <a:rPr sz="1100" b="0" i="0">
                <a:solidFill>
                  <a:srgbClr val="E6EDF3"/>
                </a:solidFill>
                <a:latin typeface="Consolas"/>
              </a:rPr>
              <a:t>k create rolebinding rb2 --clusterrole=cr1 --user=jim -n red </a:t>
            </a:r>
            <a:r>
              <a:rPr sz="1100" b="0" i="1">
                <a:solidFill>
                  <a:srgbClr val="7C8AA5"/>
                </a:solidFill>
                <a:latin typeface="Consolas"/>
              </a:rPr>
              <a:t>  # alcance limitado</a:t>
            </a:r>
          </a:p>
          <a:p>
            <a:pPr marL="0" indent="0">
              <a:lnSpc>
                <a:spcPct val="134000"/>
              </a:lnSpc>
              <a:spcAft>
                <a:spcPts val="0"/>
              </a:spcAft>
              <a:buNone/>
            </a:pPr>
            <a:r>
              <a:rPr sz="1100" b="0" i="0">
                <a:solidFill>
                  <a:srgbClr val="E6EDF3"/>
                </a:solidFill>
                <a:latin typeface="Consolas"/>
              </a:rPr>
              <a:t>k create rolebinding rb3 --role=r1 --serviceaccount=ns1:processor -n ns1</a:t>
            </a:r>
          </a:p>
        </p:txBody>
      </p:sp>
      <p:sp>
        <p:nvSpPr>
          <p:cNvPr id="13" name="Rounded Rectangle 12"/>
          <p:cNvSpPr/>
          <p:nvPr/>
        </p:nvSpPr>
        <p:spPr>
          <a:xfrm>
            <a:off x="620000" y="3994000"/>
            <a:ext cx="10952000" cy="1272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0000" y="3994000"/>
            <a:ext cx="46000" cy="127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50000" y="4114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AUDITAR</a:t>
            </a:r>
          </a:p>
        </p:txBody>
      </p:sp>
      <p:sp>
        <p:nvSpPr>
          <p:cNvPr id="16" name="TextBox 15"/>
          <p:cNvSpPr txBox="1"/>
          <p:nvPr/>
        </p:nvSpPr>
        <p:spPr>
          <a:xfrm>
            <a:off x="890000" y="4394000"/>
            <a:ext cx="10412000" cy="812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 auth can-i delete secrets --as jane -n red</a:t>
            </a:r>
          </a:p>
          <a:p>
            <a:pPr marL="0" indent="0">
              <a:lnSpc>
                <a:spcPct val="134000"/>
              </a:lnSpc>
              <a:spcAft>
                <a:spcPts val="0"/>
              </a:spcAft>
              <a:buNone/>
            </a:pPr>
            <a:r>
              <a:rPr sz="1100" b="0" i="0">
                <a:solidFill>
                  <a:srgbClr val="E6EDF3"/>
                </a:solidFill>
                <a:latin typeface="Consolas"/>
              </a:rPr>
              <a:t>k auth can-i --list --as jane -n red</a:t>
            </a:r>
          </a:p>
          <a:p>
            <a:pPr marL="0" indent="0">
              <a:lnSpc>
                <a:spcPct val="134000"/>
              </a:lnSpc>
              <a:spcAft>
                <a:spcPts val="0"/>
              </a:spcAft>
              <a:buNone/>
            </a:pPr>
            <a:r>
              <a:rPr sz="1100" b="0" i="0">
                <a:solidFill>
                  <a:srgbClr val="E6EDF3"/>
                </a:solidFill>
                <a:latin typeface="Consolas"/>
              </a:rPr>
              <a:t>k auth can-i create pods --as system:serviceaccount:ns1:processor -n ns1</a:t>
            </a:r>
          </a:p>
        </p:txBody>
      </p:sp>
      <p:sp>
        <p:nvSpPr>
          <p:cNvPr id="17" name="Rounded Rectangle 16"/>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auth can-i responde yes o no. Es la única forma fiable de auditar: leer los YAML induce a error.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604000" cy="360000"/>
          </a:xfrm>
          <a:prstGeom prst="roundRect">
            <a:avLst>
              <a:gd name="adj" fmla="val 50000"/>
            </a:avLst>
          </a:prstGeom>
          <a:no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FF7B72"/>
                </a:solidFill>
                <a:latin typeface="Segoe UI"/>
              </a:rPr>
              <a:t>Challenge — el escenario arranca roto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2.4 — Challenge: Forbidden en producción</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La implementación RBAC no coincide con el diseño aprobado. Faltan permisos y, peor, sobran otros.</a:t>
            </a:r>
          </a:p>
        </p:txBody>
      </p:sp>
      <p:sp>
        <p:nvSpPr>
          <p:cNvPr id="6" name="Oval 5"/>
          <p:cNvSpPr/>
          <p:nvPr/>
        </p:nvSpPr>
        <p:spPr>
          <a:xfrm>
            <a:off x="640000" y="269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Prepara el escenario: RECURSOS/SCRIPTS/setup-lab.sh</a:t>
            </a:r>
          </a:p>
        </p:txBody>
      </p:sp>
      <p:sp>
        <p:nvSpPr>
          <p:cNvPr id="8" name="Oval 7"/>
          <p:cNvSpPr/>
          <p:nvPr/>
        </p:nvSpPr>
        <p:spPr>
          <a:xfrm>
            <a:off x="640000" y="325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Audita con auth can-i y construye la tabla diseño vs. estado real.</a:t>
            </a:r>
          </a:p>
        </p:txBody>
      </p:sp>
      <p:sp>
        <p:nvSpPr>
          <p:cNvPr id="10" name="Oval 9"/>
          <p:cNvSpPr/>
          <p:nvPr/>
        </p:nvSpPr>
        <p:spPr>
          <a:xfrm>
            <a:off x="640000" y="381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Identifica el permiso EXCESIVO y explica por qué es peligroso.</a:t>
            </a:r>
          </a:p>
        </p:txBody>
      </p:sp>
      <p:sp>
        <p:nvSpPr>
          <p:cNvPr id="12" name="Oval 11"/>
          <p:cNvSpPr/>
          <p:nvPr/>
        </p:nvSpPr>
        <p:spPr>
          <a:xfrm>
            <a:off x="640000" y="437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Corrige con mínimo privilegio. Prohibido cluster-admin, admin y edit.</a:t>
            </a:r>
          </a:p>
        </p:txBody>
      </p:sp>
      <p:sp>
        <p:nvSpPr>
          <p:cNvPr id="14" name="Oval 13"/>
          <p:cNvSpPr/>
          <p:nvPr/>
        </p:nvSpPr>
        <p:spPr>
          <a:xfrm>
            <a:off x="9825200" y="1497200"/>
            <a:ext cx="313600" cy="3136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66400" y="1752000"/>
            <a:ext cx="431200" cy="4900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flipV="1">
            <a:off x="95508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1780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5508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1780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95508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1780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8392000" y="2560000"/>
            <a:ext cx="318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CLASE-02/LABORATORIOS/LAB-04-CHALLENGE.md</a:t>
            </a:r>
          </a:p>
        </p:txBody>
      </p:sp>
      <p:sp>
        <p:nvSpPr>
          <p:cNvPr id="25" name="Rectangle 24"/>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18 min</a:t>
            </a:r>
          </a:p>
        </p:txBody>
      </p:sp>
      <p:sp>
        <p:nvSpPr>
          <p:cNvPr id="27" name="Rectangle 26"/>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a:t>
            </a:r>
          </a:p>
        </p:txBody>
      </p:sp>
      <p:sp>
        <p:nvSpPr>
          <p:cNvPr id="29" name="Rectangle 2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31" name="TextBox 3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CHECKLIST</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Comprueba que puedes hacer esto sin apuntes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24</a:t>
            </a:r>
          </a:p>
        </p:txBody>
      </p:sp>
      <p:sp>
        <p:nvSpPr>
          <p:cNvPr id="8" name="Rounded Rectangle 7"/>
          <p:cNvSpPr/>
          <p:nvPr/>
        </p:nvSpPr>
        <p:spPr>
          <a:xfrm>
            <a:off x="10996000" y="339000"/>
            <a:ext cx="512000" cy="512000"/>
          </a:xfrm>
          <a:prstGeom prst="roundRect">
            <a:avLst>
              <a:gd name="adj" fmla="val 20000"/>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24000" y="607800"/>
            <a:ext cx="89600" cy="102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213600" y="479800"/>
            <a:ext cx="179200" cy="230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2" name="TextBox 11"/>
          <p:cNvSpPr txBox="1"/>
          <p:nvPr/>
        </p:nvSpPr>
        <p:spPr>
          <a:xfrm>
            <a:off x="1120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Listo versiones de kubeadm, kubelet, kubectl y del servidor.</a:t>
            </a:r>
          </a:p>
        </p:txBody>
      </p:sp>
      <p:sp>
        <p:nvSpPr>
          <p:cNvPr id="13" name="Rounded Rectangle 12"/>
          <p:cNvSpPr/>
          <p:nvPr/>
        </p:nvSpPr>
        <p:spPr>
          <a:xfrm>
            <a:off x="620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4" name="TextBox 13"/>
          <p:cNvSpPr txBox="1"/>
          <p:nvPr/>
        </p:nvSpPr>
        <p:spPr>
          <a:xfrm>
            <a:off x="1120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Vacío un nodo y sé por qué drain necesita --ignore-daemonsets.</a:t>
            </a:r>
          </a:p>
        </p:txBody>
      </p:sp>
      <p:sp>
        <p:nvSpPr>
          <p:cNvPr id="15" name="Rounded Rectangle 14"/>
          <p:cNvSpPr/>
          <p:nvPr/>
        </p:nvSpPr>
        <p:spPr>
          <a:xfrm>
            <a:off x="620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6" name="TextBox 15"/>
          <p:cNvSpPr txBox="1"/>
          <p:nvPr/>
        </p:nvSpPr>
        <p:spPr>
          <a:xfrm>
            <a:off x="1120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Actualizo el control plane con kubeadm upgrade apply.</a:t>
            </a:r>
          </a:p>
        </p:txBody>
      </p:sp>
      <p:sp>
        <p:nvSpPr>
          <p:cNvPr id="17" name="Rounded Rectangle 16"/>
          <p:cNvSpPr/>
          <p:nvPr/>
        </p:nvSpPr>
        <p:spPr>
          <a:xfrm>
            <a:off x="620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8" name="TextBox 17"/>
          <p:cNvSpPr txBox="1"/>
          <p:nvPr/>
        </p:nvSpPr>
        <p:spPr>
          <a:xfrm>
            <a:off x="1120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Actualizo un worker con kubeadm upgrade node.</a:t>
            </a:r>
          </a:p>
        </p:txBody>
      </p:sp>
      <p:sp>
        <p:nvSpPr>
          <p:cNvPr id="19" name="Rounded Rectangle 18"/>
          <p:cNvSpPr/>
          <p:nvPr/>
        </p:nvSpPr>
        <p:spPr>
          <a:xfrm>
            <a:off x="620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0" name="TextBox 19"/>
          <p:cNvSpPr txBox="1"/>
          <p:nvPr/>
        </p:nvSpPr>
        <p:spPr>
          <a:xfrm>
            <a:off x="1120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Sé el orden: kubeadm, luego kubelet y kubectl.</a:t>
            </a:r>
          </a:p>
        </p:txBody>
      </p:sp>
      <p:sp>
        <p:nvSpPr>
          <p:cNvPr id="21" name="Rounded Rectangle 20"/>
          <p:cNvSpPr/>
          <p:nvPr/>
        </p:nvSpPr>
        <p:spPr>
          <a:xfrm>
            <a:off x="6256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2" name="TextBox 21"/>
          <p:cNvSpPr txBox="1"/>
          <p:nvPr/>
        </p:nvSpPr>
        <p:spPr>
          <a:xfrm>
            <a:off x="6756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Localizo endpoint y certificados de etcd sin buscar en Google.</a:t>
            </a:r>
          </a:p>
        </p:txBody>
      </p:sp>
      <p:sp>
        <p:nvSpPr>
          <p:cNvPr id="23" name="Rounded Rectangle 22"/>
          <p:cNvSpPr/>
          <p:nvPr/>
        </p:nvSpPr>
        <p:spPr>
          <a:xfrm>
            <a:off x="6256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4" name="TextBox 23"/>
          <p:cNvSpPr txBox="1"/>
          <p:nvPr/>
        </p:nvSpPr>
        <p:spPr>
          <a:xfrm>
            <a:off x="6756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Creo un snapshot y lo valido con etcdutl snapshot status.</a:t>
            </a:r>
          </a:p>
        </p:txBody>
      </p:sp>
      <p:sp>
        <p:nvSpPr>
          <p:cNvPr id="25" name="Rounded Rectangle 24"/>
          <p:cNvSpPr/>
          <p:nvPr/>
        </p:nvSpPr>
        <p:spPr>
          <a:xfrm>
            <a:off x="6256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6" name="TextBox 25"/>
          <p:cNvSpPr txBox="1"/>
          <p:nvPr/>
        </p:nvSpPr>
        <p:spPr>
          <a:xfrm>
            <a:off x="6756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Restauro etcd y recupero el cluster.</a:t>
            </a:r>
          </a:p>
        </p:txBody>
      </p:sp>
      <p:sp>
        <p:nvSpPr>
          <p:cNvPr id="27" name="Rounded Rectangle 26"/>
          <p:cNvSpPr/>
          <p:nvPr/>
        </p:nvSpPr>
        <p:spPr>
          <a:xfrm>
            <a:off x="6256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8" name="TextBox 27"/>
          <p:cNvSpPr txBox="1"/>
          <p:nvPr/>
        </p:nvSpPr>
        <p:spPr>
          <a:xfrm>
            <a:off x="6756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Distingo Role de ClusterRole y RoleBinding de ClusterRoleBinding.</a:t>
            </a:r>
          </a:p>
        </p:txBody>
      </p:sp>
      <p:sp>
        <p:nvSpPr>
          <p:cNvPr id="29" name="Rounded Rectangle 28"/>
          <p:cNvSpPr/>
          <p:nvPr/>
        </p:nvSpPr>
        <p:spPr>
          <a:xfrm>
            <a:off x="6256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30" name="TextBox 29"/>
          <p:cNvSpPr txBox="1"/>
          <p:nvPr/>
        </p:nvSpPr>
        <p:spPr>
          <a:xfrm>
            <a:off x="6756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Diagnostico un Forbidden con auth can-i --as.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592000" y="-1400000"/>
            <a:ext cx="4000000" cy="40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00000" y="4358000"/>
            <a:ext cx="3800000" cy="38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542000" y="900000"/>
            <a:ext cx="1650000" cy="1650000"/>
          </a:xfrm>
          <a:prstGeom prst="rect">
            <a:avLst/>
          </a:prstGeom>
        </p:spPr>
      </p:pic>
      <p:sp>
        <p:nvSpPr>
          <p:cNvPr id="5" name="TextBox 4"/>
          <p:cNvSpPr txBox="1"/>
          <p:nvPr/>
        </p:nvSpPr>
        <p:spPr>
          <a:xfrm>
            <a:off x="640000" y="300000"/>
            <a:ext cx="90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CIERRE DE LA CLASE</a:t>
            </a:r>
          </a:p>
        </p:txBody>
      </p:sp>
      <p:sp>
        <p:nvSpPr>
          <p:cNvPr id="6" name="TextBox 5"/>
          <p:cNvSpPr txBox="1"/>
          <p:nvPr/>
        </p:nvSpPr>
        <p:spPr>
          <a:xfrm>
            <a:off x="640000" y="1560000"/>
            <a:ext cx="9200000" cy="900000"/>
          </a:xfrm>
          <a:prstGeom prst="rect">
            <a:avLst/>
          </a:prstGeom>
          <a:noFill/>
        </p:spPr>
        <p:txBody>
          <a:bodyPr wrap="square" anchor="t" lIns="0" rIns="0" tIns="0" bIns="0">
            <a:noAutofit/>
          </a:bodyPr>
          <a:lstStyle/>
          <a:p>
            <a:pPr algn="l" marL="0" indent="0">
              <a:lnSpc>
                <a:spcPct val="104000"/>
              </a:lnSpc>
              <a:spcBef>
                <a:spcPts val="0"/>
              </a:spcBef>
              <a:spcAft>
                <a:spcPts val="0"/>
              </a:spcAft>
              <a:buNone/>
            </a:pPr>
            <a:r>
              <a:rPr sz="4400" b="0" i="0">
                <a:solidFill>
                  <a:srgbClr val="F3F6FC"/>
                </a:solidFill>
                <a:latin typeface="Segoe UI Light"/>
              </a:rPr>
              <a:t>Clase 2 completada</a:t>
            </a:r>
          </a:p>
        </p:txBody>
      </p:sp>
      <p:sp>
        <p:nvSpPr>
          <p:cNvPr id="7" name="Rectangle 6"/>
          <p:cNvSpPr/>
          <p:nvPr/>
        </p:nvSpPr>
        <p:spPr>
          <a:xfrm>
            <a:off x="644000" y="2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2820000"/>
            <a:ext cx="9752000" cy="2600000"/>
          </a:xfrm>
          <a:prstGeom prst="rect">
            <a:avLst/>
          </a:prstGeom>
          <a:noFill/>
        </p:spPr>
        <p:txBody>
          <a:bodyPr wrap="square" anchor="t" lIns="0" rIns="0" tIns="0" bIns="0">
            <a:noAutofit/>
          </a:bodyPr>
          <a:lstStyle/>
          <a:p>
            <a:pPr algn="l" marL="0" indent="0">
              <a:lnSpc>
                <a:spcPct val="132000"/>
              </a:lnSpc>
              <a:spcBef>
                <a:spcPts val="0"/>
              </a:spcBef>
              <a:spcAft>
                <a:spcPts val="1400"/>
              </a:spcAft>
              <a:buNone/>
            </a:pPr>
            <a:r>
              <a:rPr sz="1500" b="0" i="0">
                <a:solidFill>
                  <a:srgbClr val="BDC9DB"/>
                </a:solidFill>
                <a:latin typeface="Segoe UI"/>
              </a:rPr>
              <a:t>Sabes mantener el cluster, recuperarlo de un desastre y controlar quién hace qué dentro de él.</a:t>
            </a:r>
          </a:p>
          <a:p>
            <a:pPr algn="l" marL="0" indent="0">
              <a:lnSpc>
                <a:spcPct val="132000"/>
              </a:lnSpc>
              <a:spcBef>
                <a:spcPts val="0"/>
              </a:spcBef>
              <a:spcAft>
                <a:spcPts val="1400"/>
              </a:spcAft>
              <a:buNone/>
            </a:pPr>
            <a:r>
              <a:rPr sz="1500" b="0" i="0">
                <a:solidFill>
                  <a:srgbClr val="BDC9DB"/>
                </a:solidFill>
                <a:latin typeface="Segoe UI"/>
              </a:rPr>
              <a:t>En la Clase 3 volvemos a las aplicaciones, pero a las difíciles: las que tienen estado. Workloads, almacenamiento persistente y StatefulSets.</a:t>
            </a:r>
          </a:p>
          <a:p>
            <a:pPr algn="l" marL="0" indent="0">
              <a:lnSpc>
                <a:spcPct val="132000"/>
              </a:lnSpc>
              <a:spcBef>
                <a:spcPts val="0"/>
              </a:spcBef>
              <a:spcAft>
                <a:spcPts val="1400"/>
              </a:spcAft>
              <a:buNone/>
            </a:pPr>
            <a:r>
              <a:rPr sz="1500" b="0" i="0">
                <a:solidFill>
                  <a:srgbClr val="BDC9DB"/>
                </a:solidFill>
                <a:latin typeface="Segoe UI"/>
              </a:rPr>
              <a:t>Repasa antes: la relación Deployment → ReplicaSet → Pod.</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2</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2 — Administración del Cluster: Upgrade, ETCD y RBAC</dc:title>
  <dc:subject>Clase 2 — Administración del Cluster: Upgrade, ETCD y RBAC</dc:subject>
  <dc:creator>CKA Hands-On Training</dc:creator>
  <cp:keywords/>
  <dc:description>Generado con generador-diapositivas/</dc:description>
  <cp:lastModifiedBy>Steve Canny</cp:lastModifiedBy>
  <cp:revision>1</cp:revision>
  <dcterms:created xsi:type="dcterms:W3CDTF">2013-01-27T09:14:16Z</dcterms:created>
  <dcterms:modified xsi:type="dcterms:W3CDTF">2013-01-27T09:15:58Z</dcterms:modified>
  <cp:category/>
</cp:coreProperties>
</file>