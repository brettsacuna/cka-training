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2000" y="-1350000"/>
            <a:ext cx="4500000" cy="4500000"/>
          </a:xfrm>
          <a:prstGeom prst="ellipse">
            <a:avLst/>
          </a:prstGeom>
          <a:solidFill>
            <a:srgbClr val="0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42000" y="5308000"/>
            <a:ext cx="2900000" cy="2900000"/>
          </a:xfrm>
          <a:prstGeom prst="ellipse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720832" y="400000"/>
            <a:ext cx="2242335" cy="2186114"/>
          </a:xfrm>
          <a:custGeom>
            <a:avLst/>
            <a:gdLst/>
            <a:ahLst/>
            <a:cxnLst/>
            <a:rect l="l" t="t" r="r" b="b"/>
            <a:pathLst>
              <a:path w="2242335" h="2186114">
                <a:moveTo>
                  <a:pt x="1121168" y="0"/>
                </a:moveTo>
                <a:lnTo>
                  <a:pt x="2020274" y="432986"/>
                </a:lnTo>
                <a:lnTo>
                  <a:pt x="2242335" y="1405899"/>
                </a:lnTo>
                <a:lnTo>
                  <a:pt x="1620134" y="2186114"/>
                </a:lnTo>
                <a:lnTo>
                  <a:pt x="622201" y="2186114"/>
                </a:lnTo>
                <a:lnTo>
                  <a:pt x="0" y="1405899"/>
                </a:lnTo>
                <a:lnTo>
                  <a:pt x="222061" y="432986"/>
                </a:lnTo>
                <a:close/>
              </a:path>
            </a:pathLst>
          </a:custGeom>
          <a:noFill/>
          <a:ln w="28575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0000" y="300000"/>
            <a:ext cx="86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CKA HANDS-ON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" y="162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spc="200">
                <a:solidFill>
                  <a:srgbClr val="74A6FF"/>
                </a:solidFill>
                <a:latin typeface="Segoe UI Semibold"/>
              </a:rPr>
              <a:t>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" y="2040000"/>
            <a:ext cx="89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 i="0">
                <a:solidFill>
                  <a:srgbClr val="F3F6FC"/>
                </a:solidFill>
                <a:latin typeface="Segoe UI Light"/>
              </a:rPr>
              <a:t>Pods, YAML, Services y Scheduling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000" y="3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000" y="376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De ejecutar un comando a decidir dónde corre tu aplicación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0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180 min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DURACIÓN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5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5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5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4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LABORATORIOS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1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1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1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70 %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PRÁCTICA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6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6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6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v1.35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Al terminar esta clase serás capaz de…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620000" y="20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000" y="19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Crear Pods de forma imperativa y declarativa, y saber cuándo usar cada vía.</a:t>
            </a:r>
          </a:p>
        </p:txBody>
      </p:sp>
      <p:sp>
        <p:nvSpPr>
          <p:cNvPr id="10" name="Oval 9"/>
          <p:cNvSpPr/>
          <p:nvPr/>
        </p:nvSpPr>
        <p:spPr>
          <a:xfrm>
            <a:off x="620000" y="26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000" y="24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Generar manifiestos en segundos con --dry-run=client -o yaml.</a:t>
            </a:r>
          </a:p>
        </p:txBody>
      </p:sp>
      <p:sp>
        <p:nvSpPr>
          <p:cNvPr id="12" name="Oval 11"/>
          <p:cNvSpPr/>
          <p:nvPr/>
        </p:nvSpPr>
        <p:spPr>
          <a:xfrm>
            <a:off x="620000" y="318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000" y="305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Agrupar y seleccionar objetos con labels y selectors.</a:t>
            </a:r>
          </a:p>
        </p:txBody>
      </p:sp>
      <p:sp>
        <p:nvSpPr>
          <p:cNvPr id="14" name="Oval 13"/>
          <p:cNvSpPr/>
          <p:nvPr/>
        </p:nvSpPr>
        <p:spPr>
          <a:xfrm>
            <a:off x="620000" y="374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000" y="361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Exponer aplicaciones con ClusterIP y NodePort.</a:t>
            </a:r>
          </a:p>
        </p:txBody>
      </p:sp>
      <p:sp>
        <p:nvSpPr>
          <p:cNvPr id="16" name="Oval 15"/>
          <p:cNvSpPr/>
          <p:nvPr/>
        </p:nvSpPr>
        <p:spPr>
          <a:xfrm>
            <a:off x="620000" y="430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000" y="417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Explicar por qué un Service se queda sin endpoints, y repararlo.</a:t>
            </a:r>
          </a:p>
        </p:txBody>
      </p:sp>
      <p:sp>
        <p:nvSpPr>
          <p:cNvPr id="18" name="Oval 17"/>
          <p:cNvSpPr/>
          <p:nvPr/>
        </p:nvSpPr>
        <p:spPr>
          <a:xfrm>
            <a:off x="620000" y="48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000" y="47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Controlar dónde se ejecuta un Pod: nodeSelector, taints, affinity, priority.</a:t>
            </a:r>
          </a:p>
        </p:txBody>
      </p:sp>
      <p:sp>
        <p:nvSpPr>
          <p:cNvPr id="20" name="Oval 19"/>
          <p:cNvSpPr/>
          <p:nvPr/>
        </p:nvSpPr>
        <p:spPr>
          <a:xfrm>
            <a:off x="620000" y="54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000" y="52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Diagnosticar un Pod en estado Pending leyendo sus eventos.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180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" y="177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00–15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120000" y="195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20000" y="177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Entorno, alias y atajos de examen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224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15–45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0000" y="242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0000" y="224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Pod, YAML, labels/selectors,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" y="271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45–65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0000" y="289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20000" y="271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Demo: crear → inspeccionar → exponer → romper → reparar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000" y="322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000" y="318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65–90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20000" y="336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20000" y="318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1.1 — Básico: Pods, YAML e inspección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0000" y="369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" y="365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90–120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0000" y="383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20000" y="365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1.2 — Intermedio: Services, EndpointSlice y DNS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000" y="412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120–128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20000" y="430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0000" y="412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scheduling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0000" y="463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000" y="459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128–155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20000" y="477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0000" y="459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1.3 — Avanzado: colocación de Pods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0000" y="510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0000" y="506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155–175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20000" y="524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20000" y="506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1.4 — Challenge: Pending y Service sin endpoints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000" y="553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175–180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20000" y="571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20000" y="553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Cierre, mental models y CKA Tips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ANTES DE EMPEZAR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Prepara tu shell. Hoy y en el examen.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" y="1470000"/>
            <a:ext cx="10952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Estos cinco comandos ahorran entre 30 y 60 segundos por tarea. En un examen de dos horas, eso es media hora.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" y="2410000"/>
            <a:ext cx="10952000" cy="1720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2410000"/>
            <a:ext cx="46000" cy="17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000" y="2530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EN CADA LABORATORIO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000" y="2810000"/>
            <a:ext cx="10412000" cy="1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alias k=kubectl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export do='--dry-run=client -o yaml'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export now='--force --grace-period=0'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source &lt;(kubectl completion bash)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complete -o default -F __start_kubectl 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" y="584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0000" y="586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0000" y="584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spc="180">
                <a:solidFill>
                  <a:srgbClr val="74A6FF"/>
                </a:solidFill>
                <a:latin typeface="Segoe UI Semibold"/>
              </a:rPr>
              <a:t>RECUERDA</a:t>
            </a:r>
          </a:p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Escríbelos en cada laboratorio hasta que salgan sin pensar.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479608" y="4208000"/>
            <a:ext cx="2924783" cy="2851453"/>
          </a:xfrm>
          <a:custGeom>
            <a:avLst/>
            <a:gdLst/>
            <a:ahLst/>
            <a:cxnLst/>
            <a:rect l="l" t="t" r="r" b="b"/>
            <a:pathLst>
              <a:path w="2924783" h="2851453">
                <a:moveTo>
                  <a:pt x="1462392" y="0"/>
                </a:moveTo>
                <a:lnTo>
                  <a:pt x="2635139" y="564765"/>
                </a:lnTo>
                <a:lnTo>
                  <a:pt x="2924783" y="1833781"/>
                </a:lnTo>
                <a:lnTo>
                  <a:pt x="2113217" y="2851453"/>
                </a:lnTo>
                <a:lnTo>
                  <a:pt x="811566" y="2851453"/>
                </a:lnTo>
                <a:lnTo>
                  <a:pt x="0" y="1833781"/>
                </a:lnTo>
                <a:lnTo>
                  <a:pt x="289644" y="564765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El Pod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La unidad mínima que Kubernetes programa y gestiona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Qué es realmente un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06</a:t>
            </a:r>
          </a:p>
        </p:txBody>
      </p:sp>
      <p:sp>
        <p:nvSpPr>
          <p:cNvPr id="8" name="Oval 7"/>
          <p:cNvSpPr/>
          <p:nvPr/>
        </p:nvSpPr>
        <p:spPr>
          <a:xfrm>
            <a:off x="636000" y="242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000" y="201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Es la unidad mínima de despliegue: uno o varios contenedores que comparten red y almacenamiento.</a:t>
            </a:r>
          </a:p>
        </p:txBody>
      </p:sp>
      <p:sp>
        <p:nvSpPr>
          <p:cNvPr id="10" name="Oval 9"/>
          <p:cNvSpPr/>
          <p:nvPr/>
        </p:nvSpPr>
        <p:spPr>
          <a:xfrm>
            <a:off x="636000" y="336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000" y="295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Todos sus contenedores comparten la misma IP y el mismo espacio de puertos.</a:t>
            </a:r>
          </a:p>
        </p:txBody>
      </p:sp>
      <p:sp>
        <p:nvSpPr>
          <p:cNvPr id="12" name="Oval 11"/>
          <p:cNvSpPr/>
          <p:nvPr/>
        </p:nvSpPr>
        <p:spPr>
          <a:xfrm>
            <a:off x="636000" y="430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000" y="389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Es efímero: si muere, no vuelve por sí solo. Quien lo repone es un controlador.</a:t>
            </a:r>
          </a:p>
        </p:txBody>
      </p:sp>
      <p:sp>
        <p:nvSpPr>
          <p:cNvPr id="14" name="Oval 13"/>
          <p:cNvSpPr/>
          <p:nvPr/>
        </p:nvSpPr>
        <p:spPr>
          <a:xfrm>
            <a:off x="636000" y="524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000" y="483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Un Pod suelto no se autorrepara. Por eso en producción casi nunca se crean Pods sueltos.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5040" y="2010000"/>
            <a:ext cx="4936960" cy="3760000"/>
          </a:xfrm>
          <a:prstGeom prst="roundRect">
            <a:avLst>
              <a:gd name="adj" fmla="val 3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35040" y="2310000"/>
            <a:ext cx="46000" cy="346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25040" y="2070000"/>
            <a:ext cx="4556960" cy="2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ANATOMÍA MÍNIMA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25040" y="2304000"/>
            <a:ext cx="4556960" cy="1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5040" y="2500000"/>
            <a:ext cx="4516960" cy="2380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apiVersion: v1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kind: Pod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metadata: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name: web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labels: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app: web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spec: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containers: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- name: nginx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image: nginx:1.27-alpine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ports: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  - containerPort: 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Imperativo o declarativo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205000"/>
            <a:ext cx="5316000" cy="2770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000" y="2205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00" y="2465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Imperativo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Le dices a Kubernetes qué hacer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00" y="3035000"/>
            <a:ext cx="4796000" cy="1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Consolas"/>
              </a:rPr>
              <a:t>kubectl run · create · expose · scale · set image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Rapidísimo para tareas puntuales.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No deja rastro de la intención.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En el examen: úsalo siempre que puedas.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6000" y="2205000"/>
            <a:ext cx="5316000" cy="2770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0000" y="2205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6000" y="2465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Declarativo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Le dices cómo debe quedar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000" y="3035000"/>
            <a:ext cx="4796000" cy="1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Consolas"/>
              </a:rPr>
              <a:t>kubectl apply -f manifiesto.yaml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Idempotente y versionable en Git.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Es lo que se usa en producción.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En el examen: cuando el enunciado pide campos que no tienen flag.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00" y="586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0000" y="588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0000" y="586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El atajo que resuelve la tensión: genera con imperativo, edita el YAML, aplica con apply.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DEMOSTRACIÓN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Crear, inspeccionar, entender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726000"/>
            <a:ext cx="10952000" cy="1048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" y="1726000"/>
            <a:ext cx="46000" cy="1048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000" y="1846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CREAR Y UBICAR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0000" y="2126000"/>
            <a:ext cx="10412000" cy="5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run web --image=nginx:1.27-alpine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get pod web -o wide   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¿en qué nodo? ¿qué IP?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" y="2974000"/>
            <a:ext cx="10952000" cy="1048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000" y="2974000"/>
            <a:ext cx="46000" cy="1048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000" y="3094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GENERAR UN MANIFIESTO SIN ESCRIBIRLO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00" y="3374000"/>
            <a:ext cx="10412000" cy="5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run api --image=httpd:2.4-alpine --port=80 $do &gt; api.yaml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explain pod.spec.terminationGracePeriodSeconds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00" y="4222000"/>
            <a:ext cx="10952000" cy="1272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000" y="4222000"/>
            <a:ext cx="46000" cy="127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000" y="4342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INSPECCIONAR CUANDO ALGO VA 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000" y="4622000"/>
            <a:ext cx="10412000" cy="81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describe pod web | sed -n '/Events/,$p'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logs web         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contenedor actual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logs web --previous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# instancia anterior (CrashLoopBackOff)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000" y="584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0000" y="586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0000" y="584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El 90 % de los diagnósticos empieza y termina en describe, events y logs.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TRADUCCIÓN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El estado de un Pod ya te dice dónde mirar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" y="1470000"/>
            <a:ext cx="10952000" cy="420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" y="1882000"/>
            <a:ext cx="10952000" cy="1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000" y="1470000"/>
            <a:ext cx="25180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ESTADO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8000" y="1470000"/>
            <a:ext cx="4343333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SIGNIFICA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1333" y="1470000"/>
            <a:ext cx="3430666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PRIMER COMANDO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000" y="24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000" y="189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8000" y="189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scheduler no encontró nodo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1333" y="189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pod → 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000" y="245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000" y="301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000" y="245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ContainerCreating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8000" y="245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Hay nodo; falla el volumen o la 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1333" y="245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pod → Events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000" y="357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000" y="301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ImagePullBackOff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8000" y="301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nodo no puede traer la imagen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1333" y="301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pod → Events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357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000" y="413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000" y="357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CreateContainerConfigError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8000" y="357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Falta un ConfigMap, Secret o clave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1333" y="357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+ get cm,secret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000" y="469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0000" y="413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CrashLoopBackOff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18000" y="413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proceso arrancó y murió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1333" y="413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logs --previous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0000" y="469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0000" y="52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0000" y="469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Running 0/1 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18000" y="469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La readinessProbe falla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81333" y="469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pod → Conditions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0000" y="591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0000" y="593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0000" y="591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Volveremos a esta tabla en la Clase 6. Empieza a memorizarla hoy.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básico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1.1 — Pods, YAML e inspección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Crear Pods por las dos vías, generar manifiestos sin copiarlos y leer un Pod hasta entender por qué está o no está corriendo.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Namespace c1-basico y Pod web imperativo.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Generar api.yaml con --dry-run=client -o yaml y añadirle labels y puerto nombrado.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Filtrar Pods por label y localizar un campo con kubectl explain.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Romper a propósito: imagen inexistente. Identificar el evento exacto.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CLASE-01/LABORATORIOS/LAB-01-BASICO.md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25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get pods -o wide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479608" y="4208000"/>
            <a:ext cx="2924783" cy="2851453"/>
          </a:xfrm>
          <a:custGeom>
            <a:avLst/>
            <a:gdLst/>
            <a:ahLst/>
            <a:cxnLst/>
            <a:rect l="l" t="t" r="r" b="b"/>
            <a:pathLst>
              <a:path w="2924783" h="2851453">
                <a:moveTo>
                  <a:pt x="1462392" y="0"/>
                </a:moveTo>
                <a:lnTo>
                  <a:pt x="2635139" y="564765"/>
                </a:lnTo>
                <a:lnTo>
                  <a:pt x="2924783" y="1833781"/>
                </a:lnTo>
                <a:lnTo>
                  <a:pt x="2113217" y="2851453"/>
                </a:lnTo>
                <a:lnTo>
                  <a:pt x="811566" y="2851453"/>
                </a:lnTo>
                <a:lnTo>
                  <a:pt x="0" y="1833781"/>
                </a:lnTo>
                <a:lnTo>
                  <a:pt x="289644" y="564765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Cómo se alcanza un Pod cuando su IP cambia cada vez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El problema que resuelve un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636000" y="242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000" y="201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Las IP de Pod son efímeras: cada recreación cambia la dirección.</a:t>
            </a:r>
          </a:p>
        </p:txBody>
      </p:sp>
      <p:sp>
        <p:nvSpPr>
          <p:cNvPr id="10" name="Oval 9"/>
          <p:cNvSpPr/>
          <p:nvPr/>
        </p:nvSpPr>
        <p:spPr>
          <a:xfrm>
            <a:off x="636000" y="336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000" y="295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Un Service da un nombre y una IP estables a un conjunto de Pods.</a:t>
            </a:r>
          </a:p>
        </p:txBody>
      </p:sp>
      <p:sp>
        <p:nvSpPr>
          <p:cNvPr id="12" name="Oval 11"/>
          <p:cNvSpPr/>
          <p:nvPr/>
        </p:nvSpPr>
        <p:spPr>
          <a:xfrm>
            <a:off x="636000" y="430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000" y="389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 vínculo no es una lista fija: es un selector sobre labels.</a:t>
            </a:r>
          </a:p>
        </p:txBody>
      </p:sp>
      <p:sp>
        <p:nvSpPr>
          <p:cNvPr id="14" name="Oval 13"/>
          <p:cNvSpPr/>
          <p:nvPr/>
        </p:nvSpPr>
        <p:spPr>
          <a:xfrm>
            <a:off x="636000" y="524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000" y="483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 objeto que materializa ese vínculo es el EndpointSlice.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5040" y="2010000"/>
            <a:ext cx="4936960" cy="3760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59040" y="2010000"/>
            <a:ext cx="488896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5040" y="2250000"/>
            <a:ext cx="4456960" cy="328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000" b="1" i="0" spc="180">
                <a:solidFill>
                  <a:srgbClr val="74A6FF"/>
                </a:solidFill>
                <a:latin typeface="Segoe UI Semibold"/>
              </a:rPr>
              <a:t>TRES PUERTOS, TRES SIGNIFICADOS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port: el puerto del Service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targetPort: el puerto del contenedor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nodePort: el puerto publicado en cada nodo (30000–32767)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Confundir port con targetPort es el error más repetido del curso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RELACIÓN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La cadena que hay que memorizar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0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04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04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04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selector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08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08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08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EndpointSlice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12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12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2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Pod 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16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16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16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Pod : targetPort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" y="2830000"/>
            <a:ext cx="10952000" cy="20700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0000" y="2854000"/>
            <a:ext cx="40000" cy="20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000" y="3070000"/>
            <a:ext cx="10432000" cy="16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000" b="1" i="0" spc="180">
                <a:solidFill>
                  <a:srgbClr val="74A6FF"/>
                </a:solidFill>
                <a:latin typeface="Segoe UI Semibold"/>
              </a:rPr>
              <a:t>CUANDO SE ROMPE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 el selector no casa con los labels del Pod, el EndpointSlice queda vacío.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Service sigue existiendo, sigue teniendo ClusterIP y sigue resolviendo por DNS.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Lo único que falla es que no hay backends a los que enviar el tráfico.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Síntoma típico: nslookup funciona, curl da timeout.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Diagnóstico: k get endpointslices -l kubernetes.io/service-name=&lt;svc&gt;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TIPOS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Qué tipo de Service usar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902000"/>
            <a:ext cx="5316000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000" y="1902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000" y="2152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2132000"/>
            <a:ext cx="4626000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ClusterIP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2552000"/>
            <a:ext cx="4856000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Por defecto. Solo accesible dentro del cluster. Es lo que usas para que un componente hable con otro.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6000" y="1902000"/>
            <a:ext cx="5316000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0000" y="1902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6000" y="2152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6000" y="2132000"/>
            <a:ext cx="4626000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NodePort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000" y="2552000"/>
            <a:ext cx="4856000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Abre el mismo puerto en todos los nodos, en el rango 30000–32767. Útil en laboratorio y detrás de un balanceador propio.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000" y="3710000"/>
            <a:ext cx="5316000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000" y="3710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000" y="39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0000" y="3940000"/>
            <a:ext cx="4626000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LoadBalancer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000" y="4360000"/>
            <a:ext cx="4856000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Pide una IP pública al proveedor de nube. Una IP por Service: caro cuando hay muchos.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6000" y="3710000"/>
            <a:ext cx="5316000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0000" y="3710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86000" y="39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6000" y="3940000"/>
            <a:ext cx="4626000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ExternalName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000" y="4360000"/>
            <a:ext cx="4856000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No crea IP ni endpoints. CoreDNS devuelve un CNAME a un nombre externo.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000" y="586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0000" y="588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0000" y="586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Añade Headless (clusterIP: None) cuando necesites direccionar Pods individualmente: lo verás en la Clase 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DEMOSTRACIÓN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Exponer, verificar y romper el selector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838000"/>
            <a:ext cx="10952000" cy="1048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" y="1838000"/>
            <a:ext cx="46000" cy="1048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000" y="1958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EXPONER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0000" y="2238000"/>
            <a:ext cx="10412000" cy="5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expose pod webserver --name=svc-web --port=8080 --target-port=80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get svc,endpointslices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" y="3086000"/>
            <a:ext cx="10952000" cy="1272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000" y="3086000"/>
            <a:ext cx="46000" cy="127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000" y="3206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ROMPER DELIBERADAMENTE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00" y="3486000"/>
            <a:ext cx="10412000" cy="81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label pod webserver app=web-old --overwrite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get endpointslices -l kubernetes.io/service-name=svc-web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ADDRESSES vacío  -&gt;  el curl deja de responder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00" y="4558000"/>
            <a:ext cx="10952000" cy="824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000" y="4558000"/>
            <a:ext cx="46000" cy="824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000" y="4678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REPARAR SIN DESTRUIR NADA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000" y="4958000"/>
            <a:ext cx="10412000" cy="36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label pod webserver app=webserver --overwrite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000" y="584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0000" y="586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0000" y="584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Explicar → demostrar → practicar → romper → diagnosticar → corregir → validar. Es el método de todo el curso.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intermedio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1.2 — Services, EndpointSlice y DNS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Publicar un web y una base de datos, alcanzarlos por nombre, y provocar y reparar la pérdida de endpoints.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svc-dbserver ClusterIP 15432 → 5432 y svc-webserver NodePort 8080 → 80 con nodePort 31100.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Resolver por DNS y hacer curl desde un Pod temporal.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Acceder por NodePort desde fuera del cluster.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Cambiar el label del Pod, observar el EndpointSlice vacío y repararlo sin recrear nada.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CLASE-01/LABORATORIOS/LAB-02-INTERMEDIO.md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30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get endpointslices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479608" y="4208000"/>
            <a:ext cx="2924783" cy="2851453"/>
          </a:xfrm>
          <a:custGeom>
            <a:avLst/>
            <a:gdLst/>
            <a:ahLst/>
            <a:cxnLst/>
            <a:rect l="l" t="t" r="r" b="b"/>
            <a:pathLst>
              <a:path w="2924783" h="2851453">
                <a:moveTo>
                  <a:pt x="1462392" y="0"/>
                </a:moveTo>
                <a:lnTo>
                  <a:pt x="2635139" y="564765"/>
                </a:lnTo>
                <a:lnTo>
                  <a:pt x="2924783" y="1833781"/>
                </a:lnTo>
                <a:lnTo>
                  <a:pt x="2113217" y="2851453"/>
                </a:lnTo>
                <a:lnTo>
                  <a:pt x="811566" y="2851453"/>
                </a:lnTo>
                <a:lnTo>
                  <a:pt x="0" y="1833781"/>
                </a:lnTo>
                <a:lnTo>
                  <a:pt x="289644" y="564765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Scheduling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Cómo decide Kubernetes dónde se ejecuta cada Pod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PROCESO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Cómo elige nodo el scheduler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470000"/>
            <a:ext cx="10952000" cy="9525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0000" y="178125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0000" y="1470000"/>
            <a:ext cx="2500000" cy="952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Filtrar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0000" y="1679550"/>
            <a:ext cx="8000" cy="5334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0000" y="1470000"/>
            <a:ext cx="7202000" cy="952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Descarta nodos que no cumplen: recursos, nodeSelector, taints, affinity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000" y="2430500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0" y="2592500"/>
            <a:ext cx="10952000" cy="9525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0000" y="290375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0000" y="2592500"/>
            <a:ext cx="2500000" cy="952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Puntuar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0000" y="2802050"/>
            <a:ext cx="8000" cy="5334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0000" y="2592500"/>
            <a:ext cx="7202000" cy="952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Da una nota a los que quedan: affinity preferred, reparto de carga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000" y="3553000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000" y="3715000"/>
            <a:ext cx="10952000" cy="9525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0000" y="402625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0000" y="3715000"/>
            <a:ext cx="2500000" cy="952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Elegir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0000" y="3924550"/>
            <a:ext cx="8000" cy="5334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0000" y="3715000"/>
            <a:ext cx="7202000" cy="952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Se queda con el de mayor puntuación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000" y="4675500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000" y="4837500"/>
            <a:ext cx="10952000" cy="9525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0000" y="514875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0000" y="4837500"/>
            <a:ext cx="2500000" cy="952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Vincular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0000" y="5047050"/>
            <a:ext cx="8000" cy="5334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70000" y="4837500"/>
            <a:ext cx="7202000" cy="952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Escribe nodeName en el Pod y el kubelet lo arranca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000" y="591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0000" y="593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0000" y="591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Si ningún nodo supera el filtrado, el Pod queda Pending y el evento FailedScheduling dice exactamente por qué. Ese evento es la respuesta, no una pista.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HERRAMIENTAS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Cinco formas de influir en la colocación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202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000" y="2202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000" y="2452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2432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nodeSelector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2852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Igualdad exacta sobre labels de nodo. Simple y suficiente el 80 % de las veces.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7333" y="2202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1333" y="2202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07333" y="2452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7333" y="2432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Taints y Tolerations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7333" y="2852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taint repele; la toleration solo levanta el veto. NO atrae.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4666" y="2202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8666" y="2202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4666" y="2452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4666" y="2432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Node Affinity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4666" y="2852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Como nodeSelector pero con operadores, y con variante preferida que puntúa sin filtrar.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000" y="4010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000" y="401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0000" y="42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0000" y="4240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Pod (Anti-)Affinity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000" y="4660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Coloca o separa Pods según los labels de otros Pods. topologyKey define el ámbito.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7333" y="4010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1333" y="401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07333" y="42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7333" y="4240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PriorityClass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7333" y="4660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Da preferencia a cargas críticas y permite desalojar (preemption) las de menor prioridad.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4666" y="4010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58666" y="401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64666" y="42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4666" y="4240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Recursos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4666" y="4660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requests reserva capacidad. Si no cabe en ningún nodo, Pending. Es la causa más frecuente.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MATIZ CRÍTICO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required frente a preferred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354000"/>
            <a:ext cx="5316000" cy="2472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000" y="2354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00" y="2614000"/>
            <a:ext cx="4796000" cy="5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000" b="1" i="0" spc="180">
                <a:solidFill>
                  <a:srgbClr val="74A6FF"/>
                </a:solidFill>
                <a:latin typeface="Segoe UI Semibold"/>
              </a:rPr>
              <a:t>FILTRA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requiredDuringScheduling…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00" y="3174000"/>
            <a:ext cx="4796000" cy="14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 ningún nodo cumple, el Pod queda Pending.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Es una condición, no una preferencia.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Equivale a nodeSelector, con más operadores.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Es lo único que puede dejarte un Pod sin arrancar.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6000" y="2354000"/>
            <a:ext cx="5316000" cy="2472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0000" y="2354000"/>
            <a:ext cx="5268000" cy="46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6000" y="2614000"/>
            <a:ext cx="4796000" cy="5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000" b="1" i="0" spc="180">
                <a:solidFill>
                  <a:srgbClr val="F0C96B"/>
                </a:solidFill>
                <a:latin typeface="Segoe UI Semibold"/>
              </a:rPr>
              <a:t>PUNTÚA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preferredDuringScheduling…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000" y="3174000"/>
            <a:ext cx="4796000" cy="14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 ningún nodo cumple, el Pod se programa igual.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Suma weight (1–100) a la puntuación del nodo.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Su estructura es distinta: lista de {weight, preference}.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Nunca deja un Pod en Pending.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00" y="586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0000" y="588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0000" y="586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IgnoredDuringExecution significa que si los labels del nodo cambian después, el Pod que ya corre se queda donde está.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SINTAXIS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Los fragmentos que hay que saber escribir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510000"/>
            <a:ext cx="10952000" cy="1496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" y="1510000"/>
            <a:ext cx="46000" cy="149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000" y="1630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NODESELECTOR Y TOLERATION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0000" y="1910000"/>
            <a:ext cx="10412000" cy="103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nodeSelector: {environment: production}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tolerations: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 {key: team, operator: Equal, value: data, effect: NoSchedule}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" y="3206000"/>
            <a:ext cx="10952000" cy="3064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000" y="3206000"/>
            <a:ext cx="46000" cy="3064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000" y="3326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NODE AFFINITY CON REGLA OBLIGATORIA Y PREFERIDA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00" y="3606000"/>
            <a:ext cx="10412000" cy="260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affinity: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nodeAffinity: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requiredDuringSchedulingIgnoredDuringExecution: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nodeSelectorTerms: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  - matchExpressions: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      - {key: environment, operator: In, values: [production, staging]}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preferredDuringSchedulingIgnoredDuringExecution: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- weight: 60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  preference: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    matchExpressions: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      - {key: disktype, operator: In, values: [ssd]}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Un Pod en Pending: ruta de diagnóstico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67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000" y="167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Pod 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0666" y="1670000"/>
            <a:ext cx="2300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666" y="167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0666" y="167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1333" y="1670000"/>
            <a:ext cx="2300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1333" y="167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1333" y="167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Recursos (requests)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6666" y="2300000"/>
            <a:ext cx="200000" cy="21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74A6FF"/>
                </a:solidFill>
                <a:latin typeface="Segoe U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" y="248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000" y="248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nodeSelector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666" y="2480000"/>
            <a:ext cx="2300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666" y="248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0666" y="248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Affinity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1333" y="2480000"/>
            <a:ext cx="2300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1333" y="248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1333" y="248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Taints / Tolerations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000" y="3460000"/>
            <a:ext cx="10952000" cy="18200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0000" y="3484000"/>
            <a:ext cx="40000" cy="177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000" y="3700000"/>
            <a:ext cx="10432000" cy="14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000" b="1" i="0" spc="180">
                <a:solidFill>
                  <a:srgbClr val="74A6FF"/>
                </a:solidFill>
                <a:latin typeface="Segoe UI Semibold"/>
              </a:rPr>
              <a:t>CÓMO SE APLICA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Empieza siempre por los eventos: el mensaje FailedScheduling enumera cuántos nodos hay y por qué falló cada uno.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Ejemplo real: 0/3 nodes are available: 1 node(s) had untolerated taint, 2 node(s) didn't match node selector.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Ese mensaje te está diciendo que hay dos causas distintas actuando a la vez.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No adivines: k describe pod &lt;p&gt; | sed -n '/Events/,$p'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4492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avanzado — solo requerimientos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1.3 — Colocación de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Resolver un escenario de colocación decidiendo tú los recursos, comandos, orden y validaciones. No hay solución paso a paso.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Reservar un nodo para el equipo de datos con un taint, y que solo un Pod pueda ir allí.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Forzar una carga de producción con nodeSelector.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Escribir nodeAffinity required + preferred con weight 60.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Repartir réplicas con podAntiAffinity y provocar un FailedScheduling.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Crear PriorityClasses y documentar un evento de preemption.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CLASE-01/LABORATORIOS/LAB-03-AVANZADO.md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27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get nodes -L environment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4604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FF7B72"/>
                </a:solidFill>
                <a:latin typeface="Segoe UI"/>
              </a:rPr>
              <a:t>Challenge — el escenario arranca roto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1.4 — Challenge: la aplicación shop no responde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Cuatro fallos encadenados, ninguno anunciado. Identificar, diagnosticar, corregir y validar sin borrar el Deployment ni el Service.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Prepara el escenario: RECURSOS/SCRIPTS/setup-lab.sh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Documenta por cada fallo: síntoma, comando que lo reveló, causa raíz.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Objetivo: 3/3 réplicas Running y curl http://&lt;IP-worker&gt;:31200 devuelve 200.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Prohibido: eliminar y recrear. Repara in situ con edit, patch, set, label o scale.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CLASE-01/LABORATORIOS/LAB-04-CHALLENGE.md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./validate-lab.sh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F0C96B"/>
                </a:solidFill>
                <a:latin typeface="Segoe UI Semibold"/>
              </a:rPr>
              <a:t>CKA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Atajos que te devuelven minutos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" y="1470000"/>
            <a:ext cx="10952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Ninguno de estos comandos es opcional en el examen. El nodePort no se puede fijar con expose: hay que generar el YAML y editarlo.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" y="2410000"/>
            <a:ext cx="10952000" cy="1644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2410000"/>
            <a:ext cx="46000" cy="1644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0000" y="2560000"/>
            <a:ext cx="10412000" cy="138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run nginx --image=nginx --port=80 $do &gt; pod.yaml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create deployment web --image=nginx --replicas=3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expose deployment web --port=80 --target-port=8080 --name=web-svc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config set-context --current --namespace=&lt;ns&gt;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deja de escribir -n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get pods -A -o wide | grep -vE 'Running|Completed'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taint node &lt;n&gt; key=value:NoSchedule   /   k taint node &lt;n&gt; key-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Comprueba que puedes hacer esto sin apuntes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62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000" y="24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Creo un Pod imperativa y declarativamente.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" y="318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000" y="30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Genero YAML con --dry-run=client -o yaml.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" y="374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000" y="361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Uso kubectl explain para recordar un campo.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0" y="430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000" y="41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Expongo un Pod con ClusterIP y con NodePort.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00" y="486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000" y="47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Explico por qué un Service tiene 0 endpoints y lo reparo.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6000" y="262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6000" y="24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Resuelvo un Service por DNS desde otro Pod.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6000" y="318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6000" y="30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Fuerzo un Pod a un nodo con nodeSelector.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6000" y="374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6000" y="361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Aplico y tolero un taint.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6000" y="430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6000" y="41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Escribo nodeAffinity required y preferred.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6000" y="486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6000" y="47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Diagnostico un FailedScheduling leyendo los eventos.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92000" y="-1400000"/>
            <a:ext cx="4000000" cy="40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63645" y="4308000"/>
            <a:ext cx="2827290" cy="2756404"/>
          </a:xfrm>
          <a:custGeom>
            <a:avLst/>
            <a:gdLst/>
            <a:ahLst/>
            <a:cxnLst/>
            <a:rect l="l" t="t" r="r" b="b"/>
            <a:pathLst>
              <a:path w="2827290" h="2756404">
                <a:moveTo>
                  <a:pt x="1413645" y="0"/>
                </a:moveTo>
                <a:lnTo>
                  <a:pt x="2547300" y="545939"/>
                </a:lnTo>
                <a:lnTo>
                  <a:pt x="2827290" y="1772655"/>
                </a:lnTo>
                <a:lnTo>
                  <a:pt x="2042776" y="2756404"/>
                </a:lnTo>
                <a:lnTo>
                  <a:pt x="784513" y="2756404"/>
                </a:lnTo>
                <a:lnTo>
                  <a:pt x="0" y="1772655"/>
                </a:lnTo>
                <a:lnTo>
                  <a:pt x="279989" y="545939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00" y="300000"/>
            <a:ext cx="90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CIERRE DE LA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500000"/>
            <a:ext cx="10000000" cy="9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0" i="0">
                <a:solidFill>
                  <a:srgbClr val="F3F6FC"/>
                </a:solidFill>
                <a:latin typeface="Segoe UI Light"/>
              </a:rPr>
              <a:t>Clase 1 completada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000" y="2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00" y="2820000"/>
            <a:ext cx="9752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Ya sabes crear workloads, exponerlos y controlar dónde se ejecutan.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En la Clase 2 bajamos un nivel: administrar el cluster que los sostiene. Upgrade de kubeadm, backup y restore de etcd, y control de acceso con RBAC.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Repasa antes: kubectl explain, describe y la lectura de eventos.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 — Pods, YAML, Services y Scheduling</dc:title>
  <dc:subject>Clase 1 — Pods, YAML, Services y Scheduling</dc:subject>
  <dc:creator>CKA Hands-On Training</dc:creator>
  <cp:keywords/>
  <dc:description>Generado con generador-diapositivas/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