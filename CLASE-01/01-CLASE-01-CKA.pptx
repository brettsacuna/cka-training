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Oval 1"/>
          <p:cNvSpPr/>
          <p:nvPr/>
        </p:nvSpPr>
        <p:spPr>
          <a:xfrm>
            <a:off x="9142000" y="-1350000"/>
            <a:ext cx="4500000" cy="4500000"/>
          </a:xfrm>
          <a:prstGeom prst="ellipse">
            <a:avLst/>
          </a:prstGeom>
          <a:solidFill>
            <a:srgbClr val="0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42000" y="5308000"/>
            <a:ext cx="2900000" cy="2900000"/>
          </a:xfrm>
          <a:prstGeom prst="ellipse">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ubernetes.png"/>
          <p:cNvPicPr>
            <a:picLocks noChangeAspect="1"/>
          </p:cNvPicPr>
          <p:nvPr/>
        </p:nvPicPr>
        <p:blipFill>
          <a:blip r:embed="rId2"/>
          <a:stretch>
            <a:fillRect/>
          </a:stretch>
        </p:blipFill>
        <p:spPr>
          <a:xfrm>
            <a:off x="9642000" y="1000000"/>
            <a:ext cx="1650000" cy="1650000"/>
          </a:xfrm>
          <a:prstGeom prst="rect">
            <a:avLst/>
          </a:prstGeom>
        </p:spPr>
      </p:pic>
      <p:sp>
        <p:nvSpPr>
          <p:cNvPr id="5" name="TextBox 4"/>
          <p:cNvSpPr txBox="1"/>
          <p:nvPr/>
        </p:nvSpPr>
        <p:spPr>
          <a:xfrm>
            <a:off x="660000" y="300000"/>
            <a:ext cx="8600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CKA HANDS-ON TRAINING</a:t>
            </a:r>
          </a:p>
        </p:txBody>
      </p:sp>
      <p:sp>
        <p:nvSpPr>
          <p:cNvPr id="6" name="TextBox 5"/>
          <p:cNvSpPr txBox="1"/>
          <p:nvPr/>
        </p:nvSpPr>
        <p:spPr>
          <a:xfrm>
            <a:off x="660000" y="1620000"/>
            <a:ext cx="8600000" cy="52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500" b="1" i="0" spc="200">
                <a:solidFill>
                  <a:srgbClr val="74A6FF"/>
                </a:solidFill>
                <a:latin typeface="Segoe UI Semibold"/>
              </a:rPr>
              <a:t>CLASE 1</a:t>
            </a:r>
          </a:p>
        </p:txBody>
      </p:sp>
      <p:sp>
        <p:nvSpPr>
          <p:cNvPr id="7" name="TextBox 6"/>
          <p:cNvSpPr txBox="1"/>
          <p:nvPr/>
        </p:nvSpPr>
        <p:spPr>
          <a:xfrm>
            <a:off x="660000" y="2040000"/>
            <a:ext cx="8900000" cy="150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4400" b="0" i="0">
                <a:solidFill>
                  <a:srgbClr val="F3F6FC"/>
                </a:solidFill>
                <a:latin typeface="Segoe UI Light"/>
              </a:rPr>
              <a:t>Pods, YAML, Services y Scheduling</a:t>
            </a:r>
          </a:p>
        </p:txBody>
      </p:sp>
      <p:sp>
        <p:nvSpPr>
          <p:cNvPr id="8" name="Rectangle 7"/>
          <p:cNvSpPr/>
          <p:nvPr/>
        </p:nvSpPr>
        <p:spPr>
          <a:xfrm>
            <a:off x="660000" y="356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TextBox 8"/>
          <p:cNvSpPr txBox="1"/>
          <p:nvPr/>
        </p:nvSpPr>
        <p:spPr>
          <a:xfrm>
            <a:off x="660000" y="3760000"/>
            <a:ext cx="8600000" cy="5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De ejecutar un comando a decidir dónde corre tu aplicación</a:t>
            </a:r>
          </a:p>
        </p:txBody>
      </p:sp>
      <p:sp>
        <p:nvSpPr>
          <p:cNvPr id="10" name="Rounded Rectangle 9"/>
          <p:cNvSpPr/>
          <p:nvPr/>
        </p:nvSpPr>
        <p:spPr>
          <a:xfrm>
            <a:off x="6600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Rectangle 10"/>
          <p:cNvSpPr/>
          <p:nvPr/>
        </p:nvSpPr>
        <p:spPr>
          <a:xfrm>
            <a:off x="6600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TextBox 11"/>
          <p:cNvSpPr txBox="1"/>
          <p:nvPr/>
        </p:nvSpPr>
        <p:spPr>
          <a:xfrm>
            <a:off x="8100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180 min</a:t>
            </a:r>
          </a:p>
          <a:p>
            <a:pPr algn="l" marL="0" indent="0">
              <a:lnSpc>
                <a:spcPct val="100000"/>
              </a:lnSpc>
              <a:spcBef>
                <a:spcPts val="0"/>
              </a:spcBef>
              <a:spcAft>
                <a:spcPts val="0"/>
              </a:spcAft>
              <a:buNone/>
            </a:pPr>
            <a:r>
              <a:rPr sz="1000" b="1" i="0" spc="160">
                <a:solidFill>
                  <a:srgbClr val="8493AD"/>
                </a:solidFill>
                <a:latin typeface="Segoe UI Semibold"/>
              </a:rPr>
              <a:t>DURACIÓN</a:t>
            </a:r>
          </a:p>
        </p:txBody>
      </p:sp>
      <p:sp>
        <p:nvSpPr>
          <p:cNvPr id="13" name="Rounded Rectangle 12"/>
          <p:cNvSpPr/>
          <p:nvPr/>
        </p:nvSpPr>
        <p:spPr>
          <a:xfrm>
            <a:off x="34555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34555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36055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4</a:t>
            </a:r>
          </a:p>
          <a:p>
            <a:pPr algn="l" marL="0" indent="0">
              <a:lnSpc>
                <a:spcPct val="100000"/>
              </a:lnSpc>
              <a:spcBef>
                <a:spcPts val="0"/>
              </a:spcBef>
              <a:spcAft>
                <a:spcPts val="0"/>
              </a:spcAft>
              <a:buNone/>
            </a:pPr>
            <a:r>
              <a:rPr sz="1000" b="1" i="0" spc="160">
                <a:solidFill>
                  <a:srgbClr val="8493AD"/>
                </a:solidFill>
                <a:latin typeface="Segoe UI Semibold"/>
              </a:rPr>
              <a:t>LABORATORIOS</a:t>
            </a:r>
          </a:p>
        </p:txBody>
      </p:sp>
      <p:sp>
        <p:nvSpPr>
          <p:cNvPr id="16" name="Rounded Rectangle 15"/>
          <p:cNvSpPr/>
          <p:nvPr/>
        </p:nvSpPr>
        <p:spPr>
          <a:xfrm>
            <a:off x="62510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7" name="Rectangle 16"/>
          <p:cNvSpPr/>
          <p:nvPr/>
        </p:nvSpPr>
        <p:spPr>
          <a:xfrm>
            <a:off x="62510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TextBox 17"/>
          <p:cNvSpPr txBox="1"/>
          <p:nvPr/>
        </p:nvSpPr>
        <p:spPr>
          <a:xfrm>
            <a:off x="64010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70 %</a:t>
            </a:r>
          </a:p>
          <a:p>
            <a:pPr algn="l" marL="0" indent="0">
              <a:lnSpc>
                <a:spcPct val="100000"/>
              </a:lnSpc>
              <a:spcBef>
                <a:spcPts val="0"/>
              </a:spcBef>
              <a:spcAft>
                <a:spcPts val="0"/>
              </a:spcAft>
              <a:buNone/>
            </a:pPr>
            <a:r>
              <a:rPr sz="1000" b="1" i="0" spc="160">
                <a:solidFill>
                  <a:srgbClr val="8493AD"/>
                </a:solidFill>
                <a:latin typeface="Segoe UI Semibold"/>
              </a:rPr>
              <a:t>PRÁCTICA</a:t>
            </a:r>
          </a:p>
        </p:txBody>
      </p:sp>
      <p:sp>
        <p:nvSpPr>
          <p:cNvPr id="19" name="Rounded Rectangle 18"/>
          <p:cNvSpPr/>
          <p:nvPr/>
        </p:nvSpPr>
        <p:spPr>
          <a:xfrm>
            <a:off x="90465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90465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91965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v1.35</a:t>
            </a:r>
          </a:p>
          <a:p>
            <a:pPr algn="l" marL="0" indent="0">
              <a:lnSpc>
                <a:spcPct val="100000"/>
              </a:lnSpc>
              <a:spcBef>
                <a:spcPts val="0"/>
              </a:spcBef>
              <a:spcAft>
                <a:spcPts val="0"/>
              </a:spcAft>
              <a:buNone/>
            </a:pPr>
            <a:r>
              <a:rPr sz="1000" b="1" i="0" spc="160">
                <a:solidFill>
                  <a:srgbClr val="8493AD"/>
                </a:solidFill>
                <a:latin typeface="Segoe UI Semibold"/>
              </a:rPr>
              <a:t>KUBERNETES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OBJETIVOS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Al terminar esta clase serás capaz de…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02</a:t>
            </a:r>
          </a:p>
        </p:txBody>
      </p:sp>
      <p:sp>
        <p:nvSpPr>
          <p:cNvPr id="8" name="Oval 7"/>
          <p:cNvSpPr/>
          <p:nvPr/>
        </p:nvSpPr>
        <p:spPr>
          <a:xfrm>
            <a:off x="10983200" y="326200"/>
            <a:ext cx="537600" cy="5376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98400" y="441400"/>
            <a:ext cx="307200" cy="3072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00800" y="543800"/>
            <a:ext cx="102400" cy="102400"/>
          </a:xfrm>
          <a:prstGeom prst="ellipse">
            <a:avLst/>
          </a:prstGeom>
          <a:solidFill>
            <a:srgbClr val="74A6FF"/>
          </a:solidFill>
          <a:ln w="635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0000" y="206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12" name="TextBox 11"/>
          <p:cNvSpPr txBox="1"/>
          <p:nvPr/>
        </p:nvSpPr>
        <p:spPr>
          <a:xfrm>
            <a:off x="1120000" y="193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Crear Pods de forma imperativa y declarativa, y saber cuándo usar cada vía.</a:t>
            </a:r>
          </a:p>
        </p:txBody>
      </p:sp>
      <p:sp>
        <p:nvSpPr>
          <p:cNvPr id="13" name="Oval 12"/>
          <p:cNvSpPr/>
          <p:nvPr/>
        </p:nvSpPr>
        <p:spPr>
          <a:xfrm>
            <a:off x="620000" y="262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14" name="TextBox 13"/>
          <p:cNvSpPr txBox="1"/>
          <p:nvPr/>
        </p:nvSpPr>
        <p:spPr>
          <a:xfrm>
            <a:off x="1120000" y="249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Generar manifiestos en segundos con --dry-run=client -o yaml.</a:t>
            </a:r>
          </a:p>
        </p:txBody>
      </p:sp>
      <p:sp>
        <p:nvSpPr>
          <p:cNvPr id="15" name="Oval 14"/>
          <p:cNvSpPr/>
          <p:nvPr/>
        </p:nvSpPr>
        <p:spPr>
          <a:xfrm>
            <a:off x="620000" y="318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6" name="TextBox 15"/>
          <p:cNvSpPr txBox="1"/>
          <p:nvPr/>
        </p:nvSpPr>
        <p:spPr>
          <a:xfrm>
            <a:off x="1120000" y="305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Agrupar y seleccionar objetos con labels y selectors.</a:t>
            </a:r>
          </a:p>
        </p:txBody>
      </p:sp>
      <p:sp>
        <p:nvSpPr>
          <p:cNvPr id="17" name="Oval 16"/>
          <p:cNvSpPr/>
          <p:nvPr/>
        </p:nvSpPr>
        <p:spPr>
          <a:xfrm>
            <a:off x="620000" y="374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8" name="TextBox 17"/>
          <p:cNvSpPr txBox="1"/>
          <p:nvPr/>
        </p:nvSpPr>
        <p:spPr>
          <a:xfrm>
            <a:off x="1120000" y="361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Exponer aplicaciones con ClusterIP y NodePort.</a:t>
            </a:r>
          </a:p>
        </p:txBody>
      </p:sp>
      <p:sp>
        <p:nvSpPr>
          <p:cNvPr id="19" name="Oval 18"/>
          <p:cNvSpPr/>
          <p:nvPr/>
        </p:nvSpPr>
        <p:spPr>
          <a:xfrm>
            <a:off x="620000" y="430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sp>
        <p:nvSpPr>
          <p:cNvPr id="20" name="TextBox 19"/>
          <p:cNvSpPr txBox="1"/>
          <p:nvPr/>
        </p:nvSpPr>
        <p:spPr>
          <a:xfrm>
            <a:off x="1120000" y="417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Explicar por qué un Service se queda sin endpoints, y repararlo.</a:t>
            </a:r>
          </a:p>
        </p:txBody>
      </p:sp>
      <p:sp>
        <p:nvSpPr>
          <p:cNvPr id="21" name="Oval 20"/>
          <p:cNvSpPr/>
          <p:nvPr/>
        </p:nvSpPr>
        <p:spPr>
          <a:xfrm>
            <a:off x="620000" y="486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6</a:t>
            </a:r>
          </a:p>
        </p:txBody>
      </p:sp>
      <p:sp>
        <p:nvSpPr>
          <p:cNvPr id="22" name="TextBox 21"/>
          <p:cNvSpPr txBox="1"/>
          <p:nvPr/>
        </p:nvSpPr>
        <p:spPr>
          <a:xfrm>
            <a:off x="1120000" y="473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Controlar dónde se ejecuta un Pod: nodeSelector, taints, affinity, priority.</a:t>
            </a:r>
          </a:p>
        </p:txBody>
      </p:sp>
      <p:sp>
        <p:nvSpPr>
          <p:cNvPr id="23" name="Oval 22"/>
          <p:cNvSpPr/>
          <p:nvPr/>
        </p:nvSpPr>
        <p:spPr>
          <a:xfrm>
            <a:off x="620000" y="542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7</a:t>
            </a:r>
          </a:p>
        </p:txBody>
      </p:sp>
      <p:sp>
        <p:nvSpPr>
          <p:cNvPr id="24" name="TextBox 23"/>
          <p:cNvSpPr txBox="1"/>
          <p:nvPr/>
        </p:nvSpPr>
        <p:spPr>
          <a:xfrm>
            <a:off x="1120000" y="529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Diagnosticar un Pod en estado Pending leyendo sus eventos.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180 MINUTOS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Agenda</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03</a:t>
            </a:r>
          </a:p>
        </p:txBody>
      </p:sp>
      <p:sp>
        <p:nvSpPr>
          <p:cNvPr id="8" name="Oval 7"/>
          <p:cNvSpPr/>
          <p:nvPr/>
        </p:nvSpPr>
        <p:spPr>
          <a:xfrm>
            <a:off x="10983200" y="326200"/>
            <a:ext cx="537600" cy="5376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1252000" y="415800"/>
            <a:ext cx="0" cy="1792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252000" y="595000"/>
            <a:ext cx="128000" cy="512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0000" y="177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00–15</a:t>
            </a:r>
          </a:p>
        </p:txBody>
      </p:sp>
      <p:sp>
        <p:nvSpPr>
          <p:cNvPr id="12" name="Rectangle 11"/>
          <p:cNvSpPr/>
          <p:nvPr/>
        </p:nvSpPr>
        <p:spPr>
          <a:xfrm>
            <a:off x="2120000" y="1950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2320000" y="177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Entorno, alias y atajos de examen</a:t>
            </a:r>
          </a:p>
        </p:txBody>
      </p:sp>
      <p:sp>
        <p:nvSpPr>
          <p:cNvPr id="14" name="TextBox 13"/>
          <p:cNvSpPr txBox="1"/>
          <p:nvPr/>
        </p:nvSpPr>
        <p:spPr>
          <a:xfrm>
            <a:off x="620000" y="224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15–45</a:t>
            </a:r>
          </a:p>
        </p:txBody>
      </p:sp>
      <p:sp>
        <p:nvSpPr>
          <p:cNvPr id="15" name="Rectangle 14"/>
          <p:cNvSpPr/>
          <p:nvPr/>
        </p:nvSpPr>
        <p:spPr>
          <a:xfrm>
            <a:off x="2120000" y="2420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2320000" y="224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Conceptos: Pod, YAML, labels/selectors, Services</a:t>
            </a:r>
          </a:p>
        </p:txBody>
      </p:sp>
      <p:sp>
        <p:nvSpPr>
          <p:cNvPr id="17" name="TextBox 16"/>
          <p:cNvSpPr txBox="1"/>
          <p:nvPr/>
        </p:nvSpPr>
        <p:spPr>
          <a:xfrm>
            <a:off x="620000" y="271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45–65</a:t>
            </a:r>
          </a:p>
        </p:txBody>
      </p:sp>
      <p:sp>
        <p:nvSpPr>
          <p:cNvPr id="18" name="Rectangle 17"/>
          <p:cNvSpPr/>
          <p:nvPr/>
        </p:nvSpPr>
        <p:spPr>
          <a:xfrm>
            <a:off x="2120000" y="2890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2320000" y="271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Demo: crear → inspeccionar → exponer → romper → reparar</a:t>
            </a:r>
          </a:p>
        </p:txBody>
      </p:sp>
      <p:sp>
        <p:nvSpPr>
          <p:cNvPr id="20" name="Rounded Rectangle 19"/>
          <p:cNvSpPr/>
          <p:nvPr/>
        </p:nvSpPr>
        <p:spPr>
          <a:xfrm>
            <a:off x="560000" y="3225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620000" y="318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65–90</a:t>
            </a:r>
          </a:p>
        </p:txBody>
      </p:sp>
      <p:sp>
        <p:nvSpPr>
          <p:cNvPr id="22" name="Rectangle 21"/>
          <p:cNvSpPr/>
          <p:nvPr/>
        </p:nvSpPr>
        <p:spPr>
          <a:xfrm>
            <a:off x="2120000" y="3360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2320000" y="318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1.1 — Básico: Pods, YAML e inspección</a:t>
            </a:r>
          </a:p>
        </p:txBody>
      </p:sp>
      <p:sp>
        <p:nvSpPr>
          <p:cNvPr id="24" name="Rounded Rectangle 23"/>
          <p:cNvSpPr/>
          <p:nvPr/>
        </p:nvSpPr>
        <p:spPr>
          <a:xfrm>
            <a:off x="560000" y="3695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620000" y="365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90–120</a:t>
            </a:r>
          </a:p>
        </p:txBody>
      </p:sp>
      <p:sp>
        <p:nvSpPr>
          <p:cNvPr id="26" name="Rectangle 25"/>
          <p:cNvSpPr/>
          <p:nvPr/>
        </p:nvSpPr>
        <p:spPr>
          <a:xfrm>
            <a:off x="2120000" y="3830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TextBox 26"/>
          <p:cNvSpPr txBox="1"/>
          <p:nvPr/>
        </p:nvSpPr>
        <p:spPr>
          <a:xfrm>
            <a:off x="2320000" y="365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1.2 — Intermedio: Services, EndpointSlice y DNS</a:t>
            </a:r>
          </a:p>
        </p:txBody>
      </p:sp>
      <p:sp>
        <p:nvSpPr>
          <p:cNvPr id="28" name="TextBox 27"/>
          <p:cNvSpPr txBox="1"/>
          <p:nvPr/>
        </p:nvSpPr>
        <p:spPr>
          <a:xfrm>
            <a:off x="620000" y="412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120–128</a:t>
            </a:r>
          </a:p>
        </p:txBody>
      </p:sp>
      <p:sp>
        <p:nvSpPr>
          <p:cNvPr id="29" name="Rectangle 28"/>
          <p:cNvSpPr/>
          <p:nvPr/>
        </p:nvSpPr>
        <p:spPr>
          <a:xfrm>
            <a:off x="2120000" y="4300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0" name="TextBox 29"/>
          <p:cNvSpPr txBox="1"/>
          <p:nvPr/>
        </p:nvSpPr>
        <p:spPr>
          <a:xfrm>
            <a:off x="2320000" y="412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Conceptos: scheduling</a:t>
            </a:r>
          </a:p>
        </p:txBody>
      </p:sp>
      <p:sp>
        <p:nvSpPr>
          <p:cNvPr id="31" name="Rounded Rectangle 30"/>
          <p:cNvSpPr/>
          <p:nvPr/>
        </p:nvSpPr>
        <p:spPr>
          <a:xfrm>
            <a:off x="560000" y="4635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2" name="TextBox 31"/>
          <p:cNvSpPr txBox="1"/>
          <p:nvPr/>
        </p:nvSpPr>
        <p:spPr>
          <a:xfrm>
            <a:off x="620000" y="459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128–155</a:t>
            </a:r>
          </a:p>
        </p:txBody>
      </p:sp>
      <p:sp>
        <p:nvSpPr>
          <p:cNvPr id="33" name="Rectangle 32"/>
          <p:cNvSpPr/>
          <p:nvPr/>
        </p:nvSpPr>
        <p:spPr>
          <a:xfrm>
            <a:off x="2120000" y="4770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TextBox 33"/>
          <p:cNvSpPr txBox="1"/>
          <p:nvPr/>
        </p:nvSpPr>
        <p:spPr>
          <a:xfrm>
            <a:off x="2320000" y="459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1.3 — Avanzado: colocación de Pods</a:t>
            </a:r>
          </a:p>
        </p:txBody>
      </p:sp>
      <p:sp>
        <p:nvSpPr>
          <p:cNvPr id="35" name="Rounded Rectangle 34"/>
          <p:cNvSpPr/>
          <p:nvPr/>
        </p:nvSpPr>
        <p:spPr>
          <a:xfrm>
            <a:off x="560000" y="5105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6" name="TextBox 35"/>
          <p:cNvSpPr txBox="1"/>
          <p:nvPr/>
        </p:nvSpPr>
        <p:spPr>
          <a:xfrm>
            <a:off x="620000" y="506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155–175</a:t>
            </a:r>
          </a:p>
        </p:txBody>
      </p:sp>
      <p:sp>
        <p:nvSpPr>
          <p:cNvPr id="37" name="Rectangle 36"/>
          <p:cNvSpPr/>
          <p:nvPr/>
        </p:nvSpPr>
        <p:spPr>
          <a:xfrm>
            <a:off x="2120000" y="5240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8" name="TextBox 37"/>
          <p:cNvSpPr txBox="1"/>
          <p:nvPr/>
        </p:nvSpPr>
        <p:spPr>
          <a:xfrm>
            <a:off x="2320000" y="506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1.4 — Challenge: Pending y Service sin endpoints</a:t>
            </a:r>
          </a:p>
        </p:txBody>
      </p:sp>
      <p:sp>
        <p:nvSpPr>
          <p:cNvPr id="39" name="TextBox 38"/>
          <p:cNvSpPr txBox="1"/>
          <p:nvPr/>
        </p:nvSpPr>
        <p:spPr>
          <a:xfrm>
            <a:off x="620000" y="5535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175–180</a:t>
            </a:r>
          </a:p>
        </p:txBody>
      </p:sp>
      <p:sp>
        <p:nvSpPr>
          <p:cNvPr id="40" name="Rectangle 39"/>
          <p:cNvSpPr/>
          <p:nvPr/>
        </p:nvSpPr>
        <p:spPr>
          <a:xfrm>
            <a:off x="2120000" y="5710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1" name="TextBox 40"/>
          <p:cNvSpPr txBox="1"/>
          <p:nvPr/>
        </p:nvSpPr>
        <p:spPr>
          <a:xfrm>
            <a:off x="2320000" y="5535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Cierre, mental models y CKA Tips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ANTES DE EMPEZAR</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Prepara tu shell. Hoy y en el examen.</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04</a:t>
            </a:r>
          </a:p>
        </p:txBody>
      </p:sp>
      <p:pic>
        <p:nvPicPr>
          <p:cNvPr id="8" name="Picture 7" descr="kubernetes.png"/>
          <p:cNvPicPr>
            <a:picLocks noChangeAspect="1"/>
          </p:cNvPicPr>
          <p:nvPr/>
        </p:nvPicPr>
        <p:blipFill>
          <a:blip r:embed="rId2"/>
          <a:stretch>
            <a:fillRect/>
          </a:stretch>
        </p:blipFill>
        <p:spPr>
          <a:xfrm>
            <a:off x="10932000" y="275000"/>
            <a:ext cx="640000" cy="640000"/>
          </a:xfrm>
          <a:prstGeom prst="rect">
            <a:avLst/>
          </a:prstGeom>
        </p:spPr>
      </p:pic>
      <p:sp>
        <p:nvSpPr>
          <p:cNvPr id="9" name="TextBox 8"/>
          <p:cNvSpPr txBox="1"/>
          <p:nvPr/>
        </p:nvSpPr>
        <p:spPr>
          <a:xfrm>
            <a:off x="620000" y="1470000"/>
            <a:ext cx="10952000" cy="520000"/>
          </a:xfrm>
          <a:prstGeom prst="rect">
            <a:avLst/>
          </a:prstGeom>
          <a:noFill/>
        </p:spPr>
        <p:txBody>
          <a:bodyPr wrap="square" anchor="t" lIns="0" rIns="0" tIns="0" bIns="0">
            <a:noAutofit/>
          </a:bodyPr>
          <a:lstStyle/>
          <a:p>
            <a:pPr algn="l" marL="0" indent="0">
              <a:lnSpc>
                <a:spcPct val="116000"/>
              </a:lnSpc>
              <a:spcBef>
                <a:spcPts val="0"/>
              </a:spcBef>
              <a:spcAft>
                <a:spcPts val="0"/>
              </a:spcAft>
              <a:buNone/>
            </a:pPr>
            <a:r>
              <a:rPr sz="1300" b="0" i="1">
                <a:solidFill>
                  <a:srgbClr val="BDC9DB"/>
                </a:solidFill>
                <a:latin typeface="Segoe UI"/>
              </a:rPr>
              <a:t>Estos cinco comandos ahorran entre 30 y 60 segundos por tarea. En un examen de dos horas, eso es media hora.</a:t>
            </a:r>
          </a:p>
        </p:txBody>
      </p:sp>
      <p:sp>
        <p:nvSpPr>
          <p:cNvPr id="10" name="Rounded Rectangle 9"/>
          <p:cNvSpPr/>
          <p:nvPr/>
        </p:nvSpPr>
        <p:spPr>
          <a:xfrm>
            <a:off x="620000" y="2410000"/>
            <a:ext cx="10952000" cy="1720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Rectangle 10"/>
          <p:cNvSpPr/>
          <p:nvPr/>
        </p:nvSpPr>
        <p:spPr>
          <a:xfrm>
            <a:off x="620000" y="2410000"/>
            <a:ext cx="46000" cy="17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TextBox 11"/>
          <p:cNvSpPr txBox="1"/>
          <p:nvPr/>
        </p:nvSpPr>
        <p:spPr>
          <a:xfrm>
            <a:off x="850000" y="2530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EN CADA LABORATORIO</a:t>
            </a:r>
          </a:p>
        </p:txBody>
      </p:sp>
      <p:sp>
        <p:nvSpPr>
          <p:cNvPr id="13" name="TextBox 12"/>
          <p:cNvSpPr txBox="1"/>
          <p:nvPr/>
        </p:nvSpPr>
        <p:spPr>
          <a:xfrm>
            <a:off x="890000" y="2810000"/>
            <a:ext cx="10412000" cy="1260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alias k=kubectl</a:t>
            </a:r>
          </a:p>
          <a:p>
            <a:pPr marL="0" indent="0">
              <a:lnSpc>
                <a:spcPct val="134000"/>
              </a:lnSpc>
              <a:spcAft>
                <a:spcPts val="0"/>
              </a:spcAft>
              <a:buNone/>
            </a:pPr>
            <a:r>
              <a:rPr sz="1100" b="0" i="0">
                <a:solidFill>
                  <a:srgbClr val="E6EDF3"/>
                </a:solidFill>
                <a:latin typeface="Consolas"/>
              </a:rPr>
              <a:t>export do='--dry-run=client -o yaml'</a:t>
            </a:r>
          </a:p>
          <a:p>
            <a:pPr marL="0" indent="0">
              <a:lnSpc>
                <a:spcPct val="134000"/>
              </a:lnSpc>
              <a:spcAft>
                <a:spcPts val="0"/>
              </a:spcAft>
              <a:buNone/>
            </a:pPr>
            <a:r>
              <a:rPr sz="1100" b="0" i="0">
                <a:solidFill>
                  <a:srgbClr val="E6EDF3"/>
                </a:solidFill>
                <a:latin typeface="Consolas"/>
              </a:rPr>
              <a:t>export now='--force --grace-period=0'</a:t>
            </a:r>
          </a:p>
          <a:p>
            <a:pPr marL="0" indent="0">
              <a:lnSpc>
                <a:spcPct val="134000"/>
              </a:lnSpc>
              <a:spcAft>
                <a:spcPts val="0"/>
              </a:spcAft>
              <a:buNone/>
            </a:pPr>
            <a:r>
              <a:rPr sz="1100" b="0" i="0">
                <a:solidFill>
                  <a:srgbClr val="E6EDF3"/>
                </a:solidFill>
                <a:latin typeface="Consolas"/>
              </a:rPr>
              <a:t>source &lt;(kubectl completion bash)</a:t>
            </a:r>
          </a:p>
          <a:p>
            <a:pPr marL="0" indent="0">
              <a:lnSpc>
                <a:spcPct val="134000"/>
              </a:lnSpc>
              <a:spcAft>
                <a:spcPts val="0"/>
              </a:spcAft>
              <a:buNone/>
            </a:pPr>
            <a:r>
              <a:rPr sz="1100" b="0" i="0">
                <a:solidFill>
                  <a:srgbClr val="E6EDF3"/>
                </a:solidFill>
                <a:latin typeface="Consolas"/>
              </a:rPr>
              <a:t>complete -o default -F __start_kubectl k</a:t>
            </a:r>
          </a:p>
        </p:txBody>
      </p:sp>
      <p:sp>
        <p:nvSpPr>
          <p:cNvPr id="14" name="Rounded Rectangle 13"/>
          <p:cNvSpPr/>
          <p:nvPr/>
        </p:nvSpPr>
        <p:spPr>
          <a:xfrm>
            <a:off x="620000" y="5840000"/>
            <a:ext cx="10952000" cy="470000"/>
          </a:xfrm>
          <a:prstGeom prst="roundRect">
            <a:avLst>
              <a:gd name="adj" fmla="val 100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650000" y="5864000"/>
            <a:ext cx="40000" cy="42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860000" y="5840000"/>
            <a:ext cx="10482000" cy="470000"/>
          </a:xfrm>
          <a:prstGeom prst="rect">
            <a:avLst/>
          </a:prstGeom>
          <a:noFill/>
        </p:spPr>
        <p:txBody>
          <a:bodyPr wrap="square" anchor="ctr" lIns="0" rIns="0" tIns="0" bIns="0">
            <a:noAutofit/>
          </a:bodyPr>
          <a:lstStyle/>
          <a:p>
            <a:pPr algn="l" marL="0" indent="0">
              <a:lnSpc>
                <a:spcPct val="100000"/>
              </a:lnSpc>
              <a:spcBef>
                <a:spcPts val="0"/>
              </a:spcBef>
              <a:spcAft>
                <a:spcPts val="400"/>
              </a:spcAft>
              <a:buNone/>
            </a:pPr>
            <a:r>
              <a:rPr sz="1000" b="1" i="0" spc="180">
                <a:solidFill>
                  <a:srgbClr val="74A6FF"/>
                </a:solidFill>
                <a:latin typeface="Segoe UI Semibold"/>
              </a:rPr>
              <a:t>RECUERDA</a:t>
            </a:r>
          </a:p>
          <a:p>
            <a:pPr algn="l" marL="0" indent="0">
              <a:lnSpc>
                <a:spcPct val="116000"/>
              </a:lnSpc>
              <a:spcBef>
                <a:spcPts val="0"/>
              </a:spcBef>
              <a:spcAft>
                <a:spcPts val="0"/>
              </a:spcAft>
              <a:buNone/>
            </a:pPr>
            <a:r>
              <a:rPr sz="1100" b="0" i="1">
                <a:solidFill>
                  <a:srgbClr val="BDC9DB"/>
                </a:solidFill>
                <a:latin typeface="Segoe UI"/>
              </a:rPr>
              <a:t>Escríbelos en cada laboratorio hasta que salgan sin pensar.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d.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01</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1</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El Pod</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La unidad mínima que Kubernetes programa y gestiona</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CONCEPTO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Qué es realmente un Pod</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06</a:t>
            </a:r>
          </a:p>
        </p:txBody>
      </p:sp>
      <p:pic>
        <p:nvPicPr>
          <p:cNvPr id="8" name="Picture 7" descr="pod.png"/>
          <p:cNvPicPr>
            <a:picLocks noChangeAspect="1"/>
          </p:cNvPicPr>
          <p:nvPr/>
        </p:nvPicPr>
        <p:blipFill>
          <a:blip r:embed="rId2"/>
          <a:stretch>
            <a:fillRect/>
          </a:stretch>
        </p:blipFill>
        <p:spPr>
          <a:xfrm>
            <a:off x="10932000" y="275000"/>
            <a:ext cx="640000" cy="640000"/>
          </a:xfrm>
          <a:prstGeom prst="rect">
            <a:avLst/>
          </a:prstGeom>
        </p:spPr>
      </p:pic>
      <p:sp>
        <p:nvSpPr>
          <p:cNvPr id="9" name="Oval 8"/>
          <p:cNvSpPr/>
          <p:nvPr/>
        </p:nvSpPr>
        <p:spPr>
          <a:xfrm>
            <a:off x="636000" y="1751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0000" y="1470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Es la unidad mínima de despliegue: uno o varios contenedores que comparten red y almacenamiento.</a:t>
            </a:r>
          </a:p>
        </p:txBody>
      </p:sp>
      <p:sp>
        <p:nvSpPr>
          <p:cNvPr id="11" name="Oval 10"/>
          <p:cNvSpPr/>
          <p:nvPr/>
        </p:nvSpPr>
        <p:spPr>
          <a:xfrm>
            <a:off x="636000" y="2419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0000" y="2137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Todos sus contenedores comparten la misma IP y el mismo espacio de puertos.</a:t>
            </a:r>
          </a:p>
        </p:txBody>
      </p:sp>
      <p:sp>
        <p:nvSpPr>
          <p:cNvPr id="13" name="Oval 12"/>
          <p:cNvSpPr/>
          <p:nvPr/>
        </p:nvSpPr>
        <p:spPr>
          <a:xfrm>
            <a:off x="636000" y="3086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000" y="2805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Es efímero: si muere, no vuelve por sí solo. Quien lo repone es un controlador.</a:t>
            </a:r>
          </a:p>
        </p:txBody>
      </p:sp>
      <p:sp>
        <p:nvSpPr>
          <p:cNvPr id="15" name="Oval 14"/>
          <p:cNvSpPr/>
          <p:nvPr/>
        </p:nvSpPr>
        <p:spPr>
          <a:xfrm>
            <a:off x="636000" y="3754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000" y="3472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Un Pod suelto no se autorrepara. Por eso en producción casi nunca se crean Pods sueltos.</a:t>
            </a:r>
          </a:p>
        </p:txBody>
      </p:sp>
      <p:sp>
        <p:nvSpPr>
          <p:cNvPr id="17" name="Rounded Rectangle 16"/>
          <p:cNvSpPr/>
          <p:nvPr/>
        </p:nvSpPr>
        <p:spPr>
          <a:xfrm>
            <a:off x="6635040" y="1470000"/>
            <a:ext cx="4936960" cy="2670000"/>
          </a:xfrm>
          <a:prstGeom prst="roundRect">
            <a:avLst>
              <a:gd name="adj" fmla="val 3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635040" y="1770000"/>
            <a:ext cx="46000" cy="237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6825040" y="1530000"/>
            <a:ext cx="4556960" cy="26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ANATOMÍA MÍNIMA</a:t>
            </a:r>
          </a:p>
        </p:txBody>
      </p:sp>
      <p:sp>
        <p:nvSpPr>
          <p:cNvPr id="20" name="Rectangle 19"/>
          <p:cNvSpPr/>
          <p:nvPr/>
        </p:nvSpPr>
        <p:spPr>
          <a:xfrm>
            <a:off x="6825040" y="1764000"/>
            <a:ext cx="4556960" cy="1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6865040" y="1960000"/>
            <a:ext cx="4516960" cy="1947672"/>
          </a:xfrm>
          <a:prstGeom prst="rect">
            <a:avLst/>
          </a:prstGeom>
          <a:noFill/>
        </p:spPr>
        <p:txBody>
          <a:bodyPr wrap="square" anchor="t" lIns="0" rIns="0" tIns="0" bIns="0">
            <a:noAutofit/>
          </a:bodyPr>
          <a:lstStyle/>
          <a:p>
            <a:pPr marL="0" indent="0">
              <a:lnSpc>
                <a:spcPct val="134000"/>
              </a:lnSpc>
              <a:spcAft>
                <a:spcPts val="0"/>
              </a:spcAft>
              <a:buNone/>
            </a:pPr>
            <a:r>
              <a:rPr sz="900" b="0" i="0">
                <a:solidFill>
                  <a:srgbClr val="E6EDF3"/>
                </a:solidFill>
                <a:latin typeface="Consolas"/>
              </a:rPr>
              <a:t>apiVersion: v1</a:t>
            </a:r>
          </a:p>
          <a:p>
            <a:pPr marL="0" indent="0">
              <a:lnSpc>
                <a:spcPct val="134000"/>
              </a:lnSpc>
              <a:spcAft>
                <a:spcPts val="0"/>
              </a:spcAft>
              <a:buNone/>
            </a:pPr>
            <a:r>
              <a:rPr sz="900" b="0" i="0">
                <a:solidFill>
                  <a:srgbClr val="E6EDF3"/>
                </a:solidFill>
                <a:latin typeface="Consolas"/>
              </a:rPr>
              <a:t>kind: Pod</a:t>
            </a:r>
          </a:p>
          <a:p>
            <a:pPr marL="0" indent="0">
              <a:lnSpc>
                <a:spcPct val="134000"/>
              </a:lnSpc>
              <a:spcAft>
                <a:spcPts val="0"/>
              </a:spcAft>
              <a:buNone/>
            </a:pPr>
            <a:r>
              <a:rPr sz="900" b="0" i="0">
                <a:solidFill>
                  <a:srgbClr val="E6EDF3"/>
                </a:solidFill>
                <a:latin typeface="Consolas"/>
              </a:rPr>
              <a:t>metadata:</a:t>
            </a:r>
          </a:p>
          <a:p>
            <a:pPr marL="0" indent="0">
              <a:lnSpc>
                <a:spcPct val="134000"/>
              </a:lnSpc>
              <a:spcAft>
                <a:spcPts val="0"/>
              </a:spcAft>
              <a:buNone/>
            </a:pPr>
            <a:r>
              <a:rPr sz="900" b="0" i="0">
                <a:solidFill>
                  <a:srgbClr val="E6EDF3"/>
                </a:solidFill>
                <a:latin typeface="Consolas"/>
              </a:rPr>
              <a:t>  name: web</a:t>
            </a:r>
          </a:p>
          <a:p>
            <a:pPr marL="0" indent="0">
              <a:lnSpc>
                <a:spcPct val="134000"/>
              </a:lnSpc>
              <a:spcAft>
                <a:spcPts val="0"/>
              </a:spcAft>
              <a:buNone/>
            </a:pPr>
            <a:r>
              <a:rPr sz="900" b="0" i="0">
                <a:solidFill>
                  <a:srgbClr val="E6EDF3"/>
                </a:solidFill>
                <a:latin typeface="Consolas"/>
              </a:rPr>
              <a:t>  labels:</a:t>
            </a:r>
          </a:p>
          <a:p>
            <a:pPr marL="0" indent="0">
              <a:lnSpc>
                <a:spcPct val="134000"/>
              </a:lnSpc>
              <a:spcAft>
                <a:spcPts val="0"/>
              </a:spcAft>
              <a:buNone/>
            </a:pPr>
            <a:r>
              <a:rPr sz="900" b="0" i="0">
                <a:solidFill>
                  <a:srgbClr val="E6EDF3"/>
                </a:solidFill>
                <a:latin typeface="Consolas"/>
              </a:rPr>
              <a:t>    app: web</a:t>
            </a:r>
          </a:p>
          <a:p>
            <a:pPr marL="0" indent="0">
              <a:lnSpc>
                <a:spcPct val="134000"/>
              </a:lnSpc>
              <a:spcAft>
                <a:spcPts val="0"/>
              </a:spcAft>
              <a:buNone/>
            </a:pPr>
            <a:r>
              <a:rPr sz="900" b="0" i="0">
                <a:solidFill>
                  <a:srgbClr val="E6EDF3"/>
                </a:solidFill>
                <a:latin typeface="Consolas"/>
              </a:rPr>
              <a:t>spec:</a:t>
            </a:r>
          </a:p>
          <a:p>
            <a:pPr marL="0" indent="0">
              <a:lnSpc>
                <a:spcPct val="134000"/>
              </a:lnSpc>
              <a:spcAft>
                <a:spcPts val="0"/>
              </a:spcAft>
              <a:buNone/>
            </a:pPr>
            <a:r>
              <a:rPr sz="900" b="0" i="0">
                <a:solidFill>
                  <a:srgbClr val="E6EDF3"/>
                </a:solidFill>
                <a:latin typeface="Consolas"/>
              </a:rPr>
              <a:t>  containers:</a:t>
            </a:r>
          </a:p>
          <a:p>
            <a:pPr marL="0" indent="0">
              <a:lnSpc>
                <a:spcPct val="134000"/>
              </a:lnSpc>
              <a:spcAft>
                <a:spcPts val="0"/>
              </a:spcAft>
              <a:buNone/>
            </a:pPr>
            <a:r>
              <a:rPr sz="900" b="0" i="0">
                <a:solidFill>
                  <a:srgbClr val="E6EDF3"/>
                </a:solidFill>
                <a:latin typeface="Consolas"/>
              </a:rPr>
              <a:t>    - name: nginx</a:t>
            </a:r>
          </a:p>
          <a:p>
            <a:pPr marL="0" indent="0">
              <a:lnSpc>
                <a:spcPct val="134000"/>
              </a:lnSpc>
              <a:spcAft>
                <a:spcPts val="0"/>
              </a:spcAft>
              <a:buNone/>
            </a:pPr>
            <a:r>
              <a:rPr sz="900" b="0" i="0">
                <a:solidFill>
                  <a:srgbClr val="E6EDF3"/>
                </a:solidFill>
                <a:latin typeface="Consolas"/>
              </a:rPr>
              <a:t>      image: nginx:1.27-alpine</a:t>
            </a:r>
          </a:p>
          <a:p>
            <a:pPr marL="0" indent="0">
              <a:lnSpc>
                <a:spcPct val="134000"/>
              </a:lnSpc>
              <a:spcAft>
                <a:spcPts val="0"/>
              </a:spcAft>
              <a:buNone/>
            </a:pPr>
            <a:r>
              <a:rPr sz="900" b="0" i="0">
                <a:solidFill>
                  <a:srgbClr val="E6EDF3"/>
                </a:solidFill>
                <a:latin typeface="Consolas"/>
              </a:rPr>
              <a:t>      ports:</a:t>
            </a:r>
          </a:p>
          <a:p>
            <a:pPr marL="0" indent="0">
              <a:lnSpc>
                <a:spcPct val="134000"/>
              </a:lnSpc>
              <a:spcAft>
                <a:spcPts val="0"/>
              </a:spcAft>
              <a:buNone/>
            </a:pPr>
            <a:r>
              <a:rPr sz="900" b="0" i="0">
                <a:solidFill>
                  <a:srgbClr val="E6EDF3"/>
                </a:solidFill>
                <a:latin typeface="Consolas"/>
              </a:rPr>
              <a:t>        - containerPort: 80</a:t>
            </a:r>
          </a:p>
        </p:txBody>
      </p:sp>
      <p:sp>
        <p:nvSpPr>
          <p:cNvPr id="22" name="Rounded Rectangle 21"/>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Rectangle 22"/>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TextBox 23"/>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Un Pod es el objeto más pequeño que Kubernetes programa. Envuelve uno o varios contenedores que siempre se ejecutan juntos en el mismo nodo y que comparten una única IP, el espacio de puertos y los volúmenes; entre ellos se comunican por localhost. Es, a la vez, la unidad de scheduling, de escalado y de ciclo de vida: Kubernetes nunca coloca medio Pod ni escala contenedores sueltos.</a:t>
            </a:r>
          </a:p>
          <a:p>
            <a:pPr algn="l" marL="0" indent="0">
              <a:lnSpc>
                <a:spcPct val="128000"/>
              </a:lnSpc>
              <a:spcBef>
                <a:spcPts val="0"/>
              </a:spcBef>
              <a:spcAft>
                <a:spcPts val="400"/>
              </a:spcAft>
              <a:buNone/>
            </a:pPr>
            <a:r>
              <a:rPr sz="1000" b="0" i="0">
                <a:solidFill>
                  <a:srgbClr val="BDC9DB"/>
                </a:solidFill>
                <a:latin typeface="Segoe UI"/>
              </a:rPr>
              <a:t>Un Pod es efímero y desechable por diseño. No se autorrepara: si el proceso muere de forma irrecuperable o el nodo se apaga, el Pod desaparece y nadie lo recrea. Por eso en producción casi nunca se crea un Pod suelto, sino mediante un controlador —Deployment, StatefulSet, DaemonSet o Job— que vigila el número deseado de réplicas y sustituye las que fallan.</a:t>
            </a:r>
          </a:p>
          <a:p>
            <a:pPr algn="l" marL="0" indent="0">
              <a:lnSpc>
                <a:spcPct val="128000"/>
              </a:lnSpc>
              <a:spcBef>
                <a:spcPts val="0"/>
              </a:spcBef>
              <a:spcAft>
                <a:spcPts val="400"/>
              </a:spcAft>
              <a:buNone/>
            </a:pPr>
            <a:r>
              <a:rPr sz="1000" b="0" i="0">
                <a:solidFill>
                  <a:srgbClr val="BDC9DB"/>
                </a:solidFill>
                <a:latin typeface="Segoe UI"/>
              </a:rPr>
              <a:t>El patrón multicontenedor (init containers, sidecars, adapter, ambassador) se apoya justo en que todos comparten red y disco: un contenedor escribe en un volumen emptyDir y otro lo lee; un sidecar de proxy escucha en localhost. El contenedor principal aporta la función; los auxiliares la complementan sin acoplarse a su imagen.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DECISIÓN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Imperativo o declarativo</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07</a:t>
            </a:r>
          </a:p>
        </p:txBody>
      </p:sp>
      <p:pic>
        <p:nvPicPr>
          <p:cNvPr id="8" name="Picture 7" descr="kubernetes.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470000"/>
            <a:ext cx="5316000" cy="2670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44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880000" y="1730000"/>
            <a:ext cx="4796000" cy="570000"/>
          </a:xfrm>
          <a:prstGeom prst="rect">
            <a:avLst/>
          </a:prstGeom>
          <a:noFill/>
        </p:spPr>
        <p:txBody>
          <a:bodyPr wrap="square" anchor="t" lIns="0" rIns="0" tIns="0" bIns="0">
            <a:noAutofit/>
          </a:bodyPr>
          <a:lstStyle/>
          <a:p>
            <a:pPr algn="l" marL="0" indent="0">
              <a:lnSpc>
                <a:spcPct val="105000"/>
              </a:lnSpc>
              <a:spcBef>
                <a:spcPts val="0"/>
              </a:spcBef>
              <a:spcAft>
                <a:spcPts val="400"/>
              </a:spcAft>
              <a:buNone/>
            </a:pPr>
            <a:r>
              <a:rPr sz="1600" b="1" i="0">
                <a:solidFill>
                  <a:srgbClr val="F3F6FC"/>
                </a:solidFill>
                <a:latin typeface="Segoe UI Semibold"/>
              </a:rPr>
              <a:t>Imperativo</a:t>
            </a:r>
          </a:p>
          <a:p>
            <a:pPr algn="l" marL="0" indent="0">
              <a:lnSpc>
                <a:spcPct val="112000"/>
              </a:lnSpc>
              <a:spcBef>
                <a:spcPts val="0"/>
              </a:spcBef>
              <a:spcAft>
                <a:spcPts val="0"/>
              </a:spcAft>
              <a:buNone/>
            </a:pPr>
            <a:r>
              <a:rPr sz="1100" b="0" i="1">
                <a:solidFill>
                  <a:srgbClr val="8493AD"/>
                </a:solidFill>
                <a:latin typeface="Segoe UI"/>
              </a:rPr>
              <a:t>Le dices a Kubernetes qué hacer</a:t>
            </a:r>
          </a:p>
        </p:txBody>
      </p:sp>
      <p:sp>
        <p:nvSpPr>
          <p:cNvPr id="12" name="TextBox 11"/>
          <p:cNvSpPr txBox="1"/>
          <p:nvPr/>
        </p:nvSpPr>
        <p:spPr>
          <a:xfrm>
            <a:off x="880000" y="2300000"/>
            <a:ext cx="4796000" cy="1660000"/>
          </a:xfrm>
          <a:prstGeom prst="rect">
            <a:avLst/>
          </a:prstGeom>
          <a:noFill/>
        </p:spPr>
        <p:txBody>
          <a:bodyPr wrap="square" anchor="t" lIns="0" rIns="0" tIns="0" bIns="0">
            <a:noAutofit/>
          </a:bodyPr>
          <a:lstStyle/>
          <a:p/>
          <a:p>
            <a:pPr algn="l" marL="0" indent="0">
              <a:lnSpc>
                <a:spcPct val="130000"/>
              </a:lnSpc>
              <a:spcBef>
                <a:spcPts val="0"/>
              </a:spcBef>
              <a:spcAft>
                <a:spcPts val="600"/>
              </a:spcAft>
              <a:buNone/>
            </a:pPr>
            <a:r>
              <a:rPr sz="1000" b="0" i="0">
                <a:solidFill>
                  <a:srgbClr val="BDC9DB"/>
                </a:solidFill>
                <a:latin typeface="Consolas"/>
              </a:rPr>
              <a:t>kubectl run · create · expose · scale · set image</a:t>
            </a:r>
          </a:p>
          <a:p>
            <a:pPr algn="l" marL="182880" indent="-182880">
              <a:lnSpc>
                <a:spcPct val="116000"/>
              </a:lnSpc>
              <a:spcBef>
                <a:spcPts val="0"/>
              </a:spcBef>
              <a:spcAft>
                <a:spcPts val="800"/>
              </a:spcAft>
              <a:buFont typeface="Arial"/>
              <a:buChar char="•"/>
            </a:pPr>
            <a:r>
              <a:rPr sz="1100" b="0" i="0">
                <a:solidFill>
                  <a:srgbClr val="BDC9DB"/>
                </a:solidFill>
                <a:latin typeface="Segoe UI"/>
              </a:rPr>
              <a:t>Rapidísimo para tareas puntuales.</a:t>
            </a:r>
          </a:p>
          <a:p>
            <a:pPr algn="l" marL="182880" indent="-182880">
              <a:lnSpc>
                <a:spcPct val="116000"/>
              </a:lnSpc>
              <a:spcBef>
                <a:spcPts val="0"/>
              </a:spcBef>
              <a:spcAft>
                <a:spcPts val="800"/>
              </a:spcAft>
              <a:buFont typeface="Arial"/>
              <a:buChar char="•"/>
            </a:pPr>
            <a:r>
              <a:rPr sz="1100" b="0" i="0">
                <a:solidFill>
                  <a:srgbClr val="BDC9DB"/>
                </a:solidFill>
                <a:latin typeface="Segoe UI"/>
              </a:rPr>
              <a:t>No deja rastro de la intención.</a:t>
            </a:r>
          </a:p>
          <a:p>
            <a:pPr algn="l" marL="182880" indent="-182880">
              <a:lnSpc>
                <a:spcPct val="116000"/>
              </a:lnSpc>
              <a:spcBef>
                <a:spcPts val="0"/>
              </a:spcBef>
              <a:spcAft>
                <a:spcPts val="800"/>
              </a:spcAft>
              <a:buFont typeface="Arial"/>
              <a:buChar char="•"/>
            </a:pPr>
            <a:r>
              <a:rPr sz="1100" b="0" i="0">
                <a:solidFill>
                  <a:srgbClr val="BDC9DB"/>
                </a:solidFill>
                <a:latin typeface="Segoe UI"/>
              </a:rPr>
              <a:t>En el examen: úsalo siempre que puedas.</a:t>
            </a:r>
          </a:p>
        </p:txBody>
      </p:sp>
      <p:sp>
        <p:nvSpPr>
          <p:cNvPr id="13" name="Rounded Rectangle 12"/>
          <p:cNvSpPr/>
          <p:nvPr/>
        </p:nvSpPr>
        <p:spPr>
          <a:xfrm>
            <a:off x="6256000" y="1470000"/>
            <a:ext cx="5316000" cy="2670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6280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6516000" y="1730000"/>
            <a:ext cx="4796000" cy="570000"/>
          </a:xfrm>
          <a:prstGeom prst="rect">
            <a:avLst/>
          </a:prstGeom>
          <a:noFill/>
        </p:spPr>
        <p:txBody>
          <a:bodyPr wrap="square" anchor="t" lIns="0" rIns="0" tIns="0" bIns="0">
            <a:noAutofit/>
          </a:bodyPr>
          <a:lstStyle/>
          <a:p>
            <a:pPr algn="l" marL="0" indent="0">
              <a:lnSpc>
                <a:spcPct val="105000"/>
              </a:lnSpc>
              <a:spcBef>
                <a:spcPts val="0"/>
              </a:spcBef>
              <a:spcAft>
                <a:spcPts val="400"/>
              </a:spcAft>
              <a:buNone/>
            </a:pPr>
            <a:r>
              <a:rPr sz="1600" b="1" i="0">
                <a:solidFill>
                  <a:srgbClr val="F3F6FC"/>
                </a:solidFill>
                <a:latin typeface="Segoe UI Semibold"/>
              </a:rPr>
              <a:t>Declarativo</a:t>
            </a:r>
          </a:p>
          <a:p>
            <a:pPr algn="l" marL="0" indent="0">
              <a:lnSpc>
                <a:spcPct val="112000"/>
              </a:lnSpc>
              <a:spcBef>
                <a:spcPts val="0"/>
              </a:spcBef>
              <a:spcAft>
                <a:spcPts val="0"/>
              </a:spcAft>
              <a:buNone/>
            </a:pPr>
            <a:r>
              <a:rPr sz="1100" b="0" i="1">
                <a:solidFill>
                  <a:srgbClr val="8493AD"/>
                </a:solidFill>
                <a:latin typeface="Segoe UI"/>
              </a:rPr>
              <a:t>Le dices cómo debe quedar</a:t>
            </a:r>
          </a:p>
        </p:txBody>
      </p:sp>
      <p:sp>
        <p:nvSpPr>
          <p:cNvPr id="16" name="TextBox 15"/>
          <p:cNvSpPr txBox="1"/>
          <p:nvPr/>
        </p:nvSpPr>
        <p:spPr>
          <a:xfrm>
            <a:off x="6516000" y="2300000"/>
            <a:ext cx="4796000" cy="1660000"/>
          </a:xfrm>
          <a:prstGeom prst="rect">
            <a:avLst/>
          </a:prstGeom>
          <a:noFill/>
        </p:spPr>
        <p:txBody>
          <a:bodyPr wrap="square" anchor="t" lIns="0" rIns="0" tIns="0" bIns="0">
            <a:noAutofit/>
          </a:bodyPr>
          <a:lstStyle/>
          <a:p/>
          <a:p>
            <a:pPr algn="l" marL="0" indent="0">
              <a:lnSpc>
                <a:spcPct val="130000"/>
              </a:lnSpc>
              <a:spcBef>
                <a:spcPts val="0"/>
              </a:spcBef>
              <a:spcAft>
                <a:spcPts val="600"/>
              </a:spcAft>
              <a:buNone/>
            </a:pPr>
            <a:r>
              <a:rPr sz="1000" b="0" i="0">
                <a:solidFill>
                  <a:srgbClr val="BDC9DB"/>
                </a:solidFill>
                <a:latin typeface="Consolas"/>
              </a:rPr>
              <a:t>kubectl apply -f manifiesto.yaml</a:t>
            </a:r>
          </a:p>
          <a:p>
            <a:pPr algn="l" marL="182880" indent="-182880">
              <a:lnSpc>
                <a:spcPct val="116000"/>
              </a:lnSpc>
              <a:spcBef>
                <a:spcPts val="0"/>
              </a:spcBef>
              <a:spcAft>
                <a:spcPts val="800"/>
              </a:spcAft>
              <a:buFont typeface="Arial"/>
              <a:buChar char="•"/>
            </a:pPr>
            <a:r>
              <a:rPr sz="1100" b="0" i="0">
                <a:solidFill>
                  <a:srgbClr val="BDC9DB"/>
                </a:solidFill>
                <a:latin typeface="Segoe UI"/>
              </a:rPr>
              <a:t>Idempotente y versionable en Git.</a:t>
            </a:r>
          </a:p>
          <a:p>
            <a:pPr algn="l" marL="182880" indent="-182880">
              <a:lnSpc>
                <a:spcPct val="116000"/>
              </a:lnSpc>
              <a:spcBef>
                <a:spcPts val="0"/>
              </a:spcBef>
              <a:spcAft>
                <a:spcPts val="800"/>
              </a:spcAft>
              <a:buFont typeface="Arial"/>
              <a:buChar char="•"/>
            </a:pPr>
            <a:r>
              <a:rPr sz="1100" b="0" i="0">
                <a:solidFill>
                  <a:srgbClr val="BDC9DB"/>
                </a:solidFill>
                <a:latin typeface="Segoe UI"/>
              </a:rPr>
              <a:t>Es lo que se usa en producción.</a:t>
            </a:r>
          </a:p>
          <a:p>
            <a:pPr algn="l" marL="182880" indent="-182880">
              <a:lnSpc>
                <a:spcPct val="116000"/>
              </a:lnSpc>
              <a:spcBef>
                <a:spcPts val="0"/>
              </a:spcBef>
              <a:spcAft>
                <a:spcPts val="800"/>
              </a:spcAft>
              <a:buFont typeface="Arial"/>
              <a:buChar char="•"/>
            </a:pPr>
            <a:r>
              <a:rPr sz="1100" b="0" i="0">
                <a:solidFill>
                  <a:srgbClr val="BDC9DB"/>
                </a:solidFill>
                <a:latin typeface="Segoe UI"/>
              </a:rPr>
              <a:t>En el examen: cuando el enunciado pide campos que no tienen flag.</a:t>
            </a:r>
          </a:p>
        </p:txBody>
      </p:sp>
      <p:sp>
        <p:nvSpPr>
          <p:cNvPr id="17" name="Rounded Rectangle 16"/>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50" b="0" i="0">
                <a:solidFill>
                  <a:srgbClr val="BDC9DB"/>
                </a:solidFill>
                <a:latin typeface="Segoe UI"/>
              </a:rPr>
              <a:t>El modo imperativo ordena acciones concretas al API server (crea este Pod, escala a 3, cambia esta imagen). Es inmediato y no requiere escribir YAML, pero no deja constancia de la intención: el estado deseado solo vive en tu cabeza y en el cluster. Es ideal para tareas puntuales y para ir rápido en el examen.</a:t>
            </a:r>
          </a:p>
          <a:p>
            <a:pPr algn="l" marL="0" indent="0">
              <a:lnSpc>
                <a:spcPct val="128000"/>
              </a:lnSpc>
              <a:spcBef>
                <a:spcPts val="0"/>
              </a:spcBef>
              <a:spcAft>
                <a:spcPts val="400"/>
              </a:spcAft>
              <a:buNone/>
            </a:pPr>
            <a:r>
              <a:rPr sz="1050" b="0" i="0">
                <a:solidFill>
                  <a:srgbClr val="BDC9DB"/>
                </a:solidFill>
                <a:latin typeface="Segoe UI"/>
              </a:rPr>
              <a:t>El modo declarativo describe en un manifiesto cómo debe quedar el recurso y deja que Kubernetes calcule las diferencias con kubectl apply. Es idempotente (aplicar dos veces no rompe nada), versionable en Git y reproducible entre entornos. Es lo que se usa en producción y lo que piden los enunciados cuando necesitan campos sin flag equivalente.</a:t>
            </a:r>
          </a:p>
          <a:p>
            <a:pPr algn="l" marL="0" indent="0">
              <a:lnSpc>
                <a:spcPct val="128000"/>
              </a:lnSpc>
              <a:spcBef>
                <a:spcPts val="0"/>
              </a:spcBef>
              <a:spcAft>
                <a:spcPts val="400"/>
              </a:spcAft>
              <a:buNone/>
            </a:pPr>
            <a:r>
              <a:rPr sz="1050" b="0" i="0">
                <a:solidFill>
                  <a:srgbClr val="BDC9DB"/>
                </a:solidFill>
                <a:latin typeface="Segoe UI"/>
              </a:rPr>
              <a:t>En la práctica se combinan: se genera el esqueleto con un comando imperativo y --dry-run=client -o yaml, se edita el archivo para añadir lo que falta y se aplica con apply. Así se obtiene la velocidad del imperativo y la trazabilidad del declarativo.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DEMOSTRACIÓN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Crear, inspeccionar, entender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08</a:t>
            </a:r>
          </a:p>
        </p:txBody>
      </p:sp>
      <p:sp>
        <p:nvSpPr>
          <p:cNvPr id="8" name="Freeform 7"/>
          <p:cNvSpPr/>
          <p:nvPr/>
        </p:nvSpPr>
        <p:spPr>
          <a:xfrm>
            <a:off x="11060000" y="300600"/>
            <a:ext cx="384000" cy="588800"/>
          </a:xfrm>
          <a:custGeom>
            <a:avLst/>
            <a:gdLst/>
            <a:ahLst/>
            <a:cxnLst/>
            <a:rect l="l" t="t" r="r" b="b"/>
            <a:pathLst>
              <a:path w="384000" h="588800">
                <a:moveTo>
                  <a:pt x="217600" y="0"/>
                </a:moveTo>
                <a:lnTo>
                  <a:pt x="0" y="332800"/>
                </a:lnTo>
                <a:lnTo>
                  <a:pt x="166400" y="332800"/>
                </a:lnTo>
                <a:lnTo>
                  <a:pt x="128000" y="588800"/>
                </a:lnTo>
                <a:lnTo>
                  <a:pt x="384000" y="230400"/>
                </a:lnTo>
                <a:lnTo>
                  <a:pt x="204800" y="230400"/>
                </a:lnTo>
                <a:close/>
              </a:path>
            </a:pathLst>
          </a:cu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0000" y="1726000"/>
            <a:ext cx="10952000" cy="1048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20000" y="1726000"/>
            <a:ext cx="46000" cy="1048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850000" y="1846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CREAR Y UBICAR</a:t>
            </a:r>
          </a:p>
        </p:txBody>
      </p:sp>
      <p:sp>
        <p:nvSpPr>
          <p:cNvPr id="12" name="TextBox 11"/>
          <p:cNvSpPr txBox="1"/>
          <p:nvPr/>
        </p:nvSpPr>
        <p:spPr>
          <a:xfrm>
            <a:off x="890000" y="2126000"/>
            <a:ext cx="10412000" cy="588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run web --image=nginx:1.27-alpine</a:t>
            </a:r>
          </a:p>
          <a:p>
            <a:pPr marL="0" indent="0">
              <a:lnSpc>
                <a:spcPct val="134000"/>
              </a:lnSpc>
              <a:spcAft>
                <a:spcPts val="0"/>
              </a:spcAft>
              <a:buNone/>
            </a:pPr>
            <a:r>
              <a:rPr sz="1100" b="0" i="0">
                <a:solidFill>
                  <a:srgbClr val="E6EDF3"/>
                </a:solidFill>
                <a:latin typeface="Consolas"/>
              </a:rPr>
              <a:t>k get pod web -o wide    </a:t>
            </a:r>
            <a:r>
              <a:rPr sz="1100" b="0" i="1">
                <a:solidFill>
                  <a:srgbClr val="7C8AA5"/>
                </a:solidFill>
                <a:latin typeface="Consolas"/>
              </a:rPr>
              <a:t>  # ¿en qué nodo? ¿qué IP?</a:t>
            </a:r>
          </a:p>
        </p:txBody>
      </p:sp>
      <p:sp>
        <p:nvSpPr>
          <p:cNvPr id="13" name="Rounded Rectangle 12"/>
          <p:cNvSpPr/>
          <p:nvPr/>
        </p:nvSpPr>
        <p:spPr>
          <a:xfrm>
            <a:off x="620000" y="2974000"/>
            <a:ext cx="10952000" cy="1048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620000" y="2974000"/>
            <a:ext cx="46000" cy="1048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850000" y="3094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GENERAR UN MANIFIESTO SIN ESCRIBIRLO</a:t>
            </a:r>
          </a:p>
        </p:txBody>
      </p:sp>
      <p:sp>
        <p:nvSpPr>
          <p:cNvPr id="16" name="TextBox 15"/>
          <p:cNvSpPr txBox="1"/>
          <p:nvPr/>
        </p:nvSpPr>
        <p:spPr>
          <a:xfrm>
            <a:off x="890000" y="3374000"/>
            <a:ext cx="10412000" cy="588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run api --image=httpd:2.4-alpine --port=80 $do &gt; api.yaml</a:t>
            </a:r>
          </a:p>
          <a:p>
            <a:pPr marL="0" indent="0">
              <a:lnSpc>
                <a:spcPct val="134000"/>
              </a:lnSpc>
              <a:spcAft>
                <a:spcPts val="0"/>
              </a:spcAft>
              <a:buNone/>
            </a:pPr>
            <a:r>
              <a:rPr sz="1100" b="0" i="0">
                <a:solidFill>
                  <a:srgbClr val="E6EDF3"/>
                </a:solidFill>
                <a:latin typeface="Consolas"/>
              </a:rPr>
              <a:t>k explain pod.spec.terminationGracePeriodSeconds</a:t>
            </a:r>
          </a:p>
        </p:txBody>
      </p:sp>
      <p:sp>
        <p:nvSpPr>
          <p:cNvPr id="17" name="Rounded Rectangle 16"/>
          <p:cNvSpPr/>
          <p:nvPr/>
        </p:nvSpPr>
        <p:spPr>
          <a:xfrm>
            <a:off x="620000" y="4222000"/>
            <a:ext cx="10952000" cy="1272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20000" y="4222000"/>
            <a:ext cx="46000" cy="127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50000" y="4342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INSPECCIONAR CUANDO ALGO VA MAL</a:t>
            </a:r>
          </a:p>
        </p:txBody>
      </p:sp>
      <p:sp>
        <p:nvSpPr>
          <p:cNvPr id="20" name="TextBox 19"/>
          <p:cNvSpPr txBox="1"/>
          <p:nvPr/>
        </p:nvSpPr>
        <p:spPr>
          <a:xfrm>
            <a:off x="890000" y="4622000"/>
            <a:ext cx="10412000" cy="812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describe pod web | sed -n '/Events/,$p'</a:t>
            </a:r>
          </a:p>
          <a:p>
            <a:pPr marL="0" indent="0">
              <a:lnSpc>
                <a:spcPct val="134000"/>
              </a:lnSpc>
              <a:spcAft>
                <a:spcPts val="0"/>
              </a:spcAft>
              <a:buNone/>
            </a:pPr>
            <a:r>
              <a:rPr sz="1100" b="0" i="0">
                <a:solidFill>
                  <a:srgbClr val="E6EDF3"/>
                </a:solidFill>
                <a:latin typeface="Consolas"/>
              </a:rPr>
              <a:t>k logs web          </a:t>
            </a:r>
            <a:r>
              <a:rPr sz="1100" b="0" i="1">
                <a:solidFill>
                  <a:srgbClr val="7C8AA5"/>
                </a:solidFill>
                <a:latin typeface="Consolas"/>
              </a:rPr>
              <a:t>  # contenedor actual</a:t>
            </a:r>
          </a:p>
          <a:p>
            <a:pPr marL="0" indent="0">
              <a:lnSpc>
                <a:spcPct val="134000"/>
              </a:lnSpc>
              <a:spcAft>
                <a:spcPts val="0"/>
              </a:spcAft>
              <a:buNone/>
            </a:pPr>
            <a:r>
              <a:rPr sz="1100" b="0" i="0">
                <a:solidFill>
                  <a:srgbClr val="E6EDF3"/>
                </a:solidFill>
                <a:latin typeface="Consolas"/>
              </a:rPr>
              <a:t>k logs web --previous</a:t>
            </a:r>
            <a:r>
              <a:rPr sz="1100" b="0" i="1">
                <a:solidFill>
                  <a:srgbClr val="7C8AA5"/>
                </a:solidFill>
                <a:latin typeface="Consolas"/>
              </a:rPr>
              <a:t> # instancia anterior (CrashLoopBackOff)</a:t>
            </a:r>
          </a:p>
        </p:txBody>
      </p:sp>
      <p:sp>
        <p:nvSpPr>
          <p:cNvPr id="21" name="Rounded Rectangle 20"/>
          <p:cNvSpPr/>
          <p:nvPr/>
        </p:nvSpPr>
        <p:spPr>
          <a:xfrm>
            <a:off x="620000" y="5840000"/>
            <a:ext cx="10952000" cy="470000"/>
          </a:xfrm>
          <a:prstGeom prst="roundRect">
            <a:avLst>
              <a:gd name="adj" fmla="val 100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Rectangle 21"/>
          <p:cNvSpPr/>
          <p:nvPr/>
        </p:nvSpPr>
        <p:spPr>
          <a:xfrm>
            <a:off x="650000" y="5864000"/>
            <a:ext cx="40000" cy="42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60000" y="5840000"/>
            <a:ext cx="10482000" cy="47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1">
                <a:solidFill>
                  <a:srgbClr val="BDC9DB"/>
                </a:solidFill>
                <a:latin typeface="Segoe UI"/>
              </a:rPr>
              <a:t>El 90 % de los diagnósticos empieza y termina en describe, events y logs.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TRADUCCIÓN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El estado de un Pod ya te dice dónde mirar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09</a:t>
            </a:r>
          </a:p>
        </p:txBody>
      </p:sp>
      <p:pic>
        <p:nvPicPr>
          <p:cNvPr id="8" name="Picture 7" descr="pod.png"/>
          <p:cNvPicPr>
            <a:picLocks noChangeAspect="1"/>
          </p:cNvPicPr>
          <p:nvPr/>
        </p:nvPicPr>
        <p:blipFill>
          <a:blip r:embed="rId2"/>
          <a:stretch>
            <a:fillRect/>
          </a:stretch>
        </p:blipFill>
        <p:spPr>
          <a:xfrm>
            <a:off x="10932000" y="275000"/>
            <a:ext cx="640000" cy="640000"/>
          </a:xfrm>
          <a:prstGeom prst="rect">
            <a:avLst/>
          </a:prstGeom>
        </p:spPr>
      </p:pic>
      <p:sp>
        <p:nvSpPr>
          <p:cNvPr id="9" name="Rectangle 8"/>
          <p:cNvSpPr/>
          <p:nvPr/>
        </p:nvSpPr>
        <p:spPr>
          <a:xfrm>
            <a:off x="620000" y="1470000"/>
            <a:ext cx="10952000" cy="420000"/>
          </a:xfrm>
          <a:prstGeom prst="rect">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20000" y="1882000"/>
            <a:ext cx="10952000" cy="1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780000" y="1470000"/>
            <a:ext cx="2518000"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ESTADO</a:t>
            </a:r>
          </a:p>
        </p:txBody>
      </p:sp>
      <p:sp>
        <p:nvSpPr>
          <p:cNvPr id="12" name="TextBox 11"/>
          <p:cNvSpPr txBox="1"/>
          <p:nvPr/>
        </p:nvSpPr>
        <p:spPr>
          <a:xfrm>
            <a:off x="3518000" y="1470000"/>
            <a:ext cx="4343333"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SIGNIFICA</a:t>
            </a:r>
          </a:p>
        </p:txBody>
      </p:sp>
      <p:sp>
        <p:nvSpPr>
          <p:cNvPr id="13" name="TextBox 12"/>
          <p:cNvSpPr txBox="1"/>
          <p:nvPr/>
        </p:nvSpPr>
        <p:spPr>
          <a:xfrm>
            <a:off x="8081333" y="1470000"/>
            <a:ext cx="3430666"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PRIMER COMANDO</a:t>
            </a:r>
          </a:p>
        </p:txBody>
      </p:sp>
      <p:sp>
        <p:nvSpPr>
          <p:cNvPr id="14" name="Rectangle 13"/>
          <p:cNvSpPr/>
          <p:nvPr/>
        </p:nvSpPr>
        <p:spPr>
          <a:xfrm>
            <a:off x="620000" y="2265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780000" y="1890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Pending</a:t>
            </a:r>
          </a:p>
        </p:txBody>
      </p:sp>
      <p:sp>
        <p:nvSpPr>
          <p:cNvPr id="16" name="TextBox 15"/>
          <p:cNvSpPr txBox="1"/>
          <p:nvPr/>
        </p:nvSpPr>
        <p:spPr>
          <a:xfrm>
            <a:off x="3518000" y="1890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scheduler no encontró nodo</a:t>
            </a:r>
          </a:p>
        </p:txBody>
      </p:sp>
      <p:sp>
        <p:nvSpPr>
          <p:cNvPr id="17" name="TextBox 16"/>
          <p:cNvSpPr txBox="1"/>
          <p:nvPr/>
        </p:nvSpPr>
        <p:spPr>
          <a:xfrm>
            <a:off x="8081333" y="1890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describe pod → Events</a:t>
            </a:r>
          </a:p>
        </p:txBody>
      </p:sp>
      <p:sp>
        <p:nvSpPr>
          <p:cNvPr id="18" name="Rectangle 17"/>
          <p:cNvSpPr/>
          <p:nvPr/>
        </p:nvSpPr>
        <p:spPr>
          <a:xfrm>
            <a:off x="620000" y="2265000"/>
            <a:ext cx="10952000" cy="375000"/>
          </a:xfrm>
          <a:prstGeom prst="rect">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Rectangle 18"/>
          <p:cNvSpPr/>
          <p:nvPr/>
        </p:nvSpPr>
        <p:spPr>
          <a:xfrm>
            <a:off x="620000" y="264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TextBox 19"/>
          <p:cNvSpPr txBox="1"/>
          <p:nvPr/>
        </p:nvSpPr>
        <p:spPr>
          <a:xfrm>
            <a:off x="780000" y="2265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ContainerCreating</a:t>
            </a:r>
          </a:p>
        </p:txBody>
      </p:sp>
      <p:sp>
        <p:nvSpPr>
          <p:cNvPr id="21" name="TextBox 20"/>
          <p:cNvSpPr txBox="1"/>
          <p:nvPr/>
        </p:nvSpPr>
        <p:spPr>
          <a:xfrm>
            <a:off x="3518000" y="2265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Hay nodo; falla el volumen o la red</a:t>
            </a:r>
          </a:p>
        </p:txBody>
      </p:sp>
      <p:sp>
        <p:nvSpPr>
          <p:cNvPr id="22" name="TextBox 21"/>
          <p:cNvSpPr txBox="1"/>
          <p:nvPr/>
        </p:nvSpPr>
        <p:spPr>
          <a:xfrm>
            <a:off x="8081333" y="2265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describe pod → Events</a:t>
            </a:r>
          </a:p>
        </p:txBody>
      </p:sp>
      <p:sp>
        <p:nvSpPr>
          <p:cNvPr id="23" name="Rectangle 22"/>
          <p:cNvSpPr/>
          <p:nvPr/>
        </p:nvSpPr>
        <p:spPr>
          <a:xfrm>
            <a:off x="620000" y="3015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TextBox 23"/>
          <p:cNvSpPr txBox="1"/>
          <p:nvPr/>
        </p:nvSpPr>
        <p:spPr>
          <a:xfrm>
            <a:off x="780000" y="2640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ImagePullBackOff</a:t>
            </a:r>
          </a:p>
        </p:txBody>
      </p:sp>
      <p:sp>
        <p:nvSpPr>
          <p:cNvPr id="25" name="TextBox 24"/>
          <p:cNvSpPr txBox="1"/>
          <p:nvPr/>
        </p:nvSpPr>
        <p:spPr>
          <a:xfrm>
            <a:off x="3518000" y="2640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nodo no puede traer la imagen</a:t>
            </a:r>
          </a:p>
        </p:txBody>
      </p:sp>
      <p:sp>
        <p:nvSpPr>
          <p:cNvPr id="26" name="TextBox 25"/>
          <p:cNvSpPr txBox="1"/>
          <p:nvPr/>
        </p:nvSpPr>
        <p:spPr>
          <a:xfrm>
            <a:off x="8081333" y="2640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describe pod → Events</a:t>
            </a:r>
          </a:p>
        </p:txBody>
      </p:sp>
      <p:sp>
        <p:nvSpPr>
          <p:cNvPr id="27" name="Rectangle 26"/>
          <p:cNvSpPr/>
          <p:nvPr/>
        </p:nvSpPr>
        <p:spPr>
          <a:xfrm>
            <a:off x="620000" y="3015000"/>
            <a:ext cx="10952000" cy="375000"/>
          </a:xfrm>
          <a:prstGeom prst="rect">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Rectangle 27"/>
          <p:cNvSpPr/>
          <p:nvPr/>
        </p:nvSpPr>
        <p:spPr>
          <a:xfrm>
            <a:off x="620000" y="339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9" name="TextBox 28"/>
          <p:cNvSpPr txBox="1"/>
          <p:nvPr/>
        </p:nvSpPr>
        <p:spPr>
          <a:xfrm>
            <a:off x="780000" y="3015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CreateContainerConfigError</a:t>
            </a:r>
          </a:p>
        </p:txBody>
      </p:sp>
      <p:sp>
        <p:nvSpPr>
          <p:cNvPr id="30" name="TextBox 29"/>
          <p:cNvSpPr txBox="1"/>
          <p:nvPr/>
        </p:nvSpPr>
        <p:spPr>
          <a:xfrm>
            <a:off x="3518000" y="3015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Falta un ConfigMap, Secret o clave</a:t>
            </a:r>
          </a:p>
        </p:txBody>
      </p:sp>
      <p:sp>
        <p:nvSpPr>
          <p:cNvPr id="31" name="TextBox 30"/>
          <p:cNvSpPr txBox="1"/>
          <p:nvPr/>
        </p:nvSpPr>
        <p:spPr>
          <a:xfrm>
            <a:off x="8081333" y="3015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describe + get cm,secret</a:t>
            </a:r>
          </a:p>
        </p:txBody>
      </p:sp>
      <p:sp>
        <p:nvSpPr>
          <p:cNvPr id="32" name="Rectangle 31"/>
          <p:cNvSpPr/>
          <p:nvPr/>
        </p:nvSpPr>
        <p:spPr>
          <a:xfrm>
            <a:off x="620000" y="3765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TextBox 32"/>
          <p:cNvSpPr txBox="1"/>
          <p:nvPr/>
        </p:nvSpPr>
        <p:spPr>
          <a:xfrm>
            <a:off x="780000" y="3390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CrashLoopBackOff</a:t>
            </a:r>
          </a:p>
        </p:txBody>
      </p:sp>
      <p:sp>
        <p:nvSpPr>
          <p:cNvPr id="34" name="TextBox 33"/>
          <p:cNvSpPr txBox="1"/>
          <p:nvPr/>
        </p:nvSpPr>
        <p:spPr>
          <a:xfrm>
            <a:off x="3518000" y="3390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proceso arrancó y murió</a:t>
            </a:r>
          </a:p>
        </p:txBody>
      </p:sp>
      <p:sp>
        <p:nvSpPr>
          <p:cNvPr id="35" name="TextBox 34"/>
          <p:cNvSpPr txBox="1"/>
          <p:nvPr/>
        </p:nvSpPr>
        <p:spPr>
          <a:xfrm>
            <a:off x="8081333" y="3390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logs --previous</a:t>
            </a:r>
          </a:p>
        </p:txBody>
      </p:sp>
      <p:sp>
        <p:nvSpPr>
          <p:cNvPr id="36" name="Rectangle 35"/>
          <p:cNvSpPr/>
          <p:nvPr/>
        </p:nvSpPr>
        <p:spPr>
          <a:xfrm>
            <a:off x="620000" y="3765000"/>
            <a:ext cx="10952000" cy="375000"/>
          </a:xfrm>
          <a:prstGeom prst="rect">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7" name="Rectangle 36"/>
          <p:cNvSpPr/>
          <p:nvPr/>
        </p:nvSpPr>
        <p:spPr>
          <a:xfrm>
            <a:off x="620000" y="414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8" name="TextBox 37"/>
          <p:cNvSpPr txBox="1"/>
          <p:nvPr/>
        </p:nvSpPr>
        <p:spPr>
          <a:xfrm>
            <a:off x="780000" y="3765000"/>
            <a:ext cx="2518000"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Running 0/1 READY</a:t>
            </a:r>
          </a:p>
        </p:txBody>
      </p:sp>
      <p:sp>
        <p:nvSpPr>
          <p:cNvPr id="39" name="TextBox 38"/>
          <p:cNvSpPr txBox="1"/>
          <p:nvPr/>
        </p:nvSpPr>
        <p:spPr>
          <a:xfrm>
            <a:off x="3518000" y="3765000"/>
            <a:ext cx="4343333"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La readinessProbe falla</a:t>
            </a:r>
          </a:p>
        </p:txBody>
      </p:sp>
      <p:sp>
        <p:nvSpPr>
          <p:cNvPr id="40" name="TextBox 39"/>
          <p:cNvSpPr txBox="1"/>
          <p:nvPr/>
        </p:nvSpPr>
        <p:spPr>
          <a:xfrm>
            <a:off x="8081333" y="3765000"/>
            <a:ext cx="3430666" cy="375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Consolas"/>
              </a:rPr>
              <a:t>describe pod → Conditions</a:t>
            </a:r>
          </a:p>
        </p:txBody>
      </p:sp>
      <p:sp>
        <p:nvSpPr>
          <p:cNvPr id="41" name="Rounded Rectangle 40"/>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2" name="Rectangle 41"/>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3" name="TextBox 42"/>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El campo STATUS de un Pod no es decorativo: identifica la fase exacta en la que se detuvo el arranque, y cada fase se investiga con un comando distinto. Pending significa que el scheduler aún no le ha asignado nodo (recursos, taints o selectores); ContainerCreating y los errores de imagen o configuración ocurren ya en el nodo, durante la preparación del contenedor.</a:t>
            </a:r>
          </a:p>
          <a:p>
            <a:pPr algn="l" marL="0" indent="0">
              <a:lnSpc>
                <a:spcPct val="128000"/>
              </a:lnSpc>
              <a:spcBef>
                <a:spcPts val="0"/>
              </a:spcBef>
              <a:spcAft>
                <a:spcPts val="400"/>
              </a:spcAft>
              <a:buNone/>
            </a:pPr>
            <a:r>
              <a:rPr sz="1000" b="0" i="0">
                <a:solidFill>
                  <a:srgbClr val="BDC9DB"/>
                </a:solidFill>
                <a:latin typeface="Segoe UI"/>
              </a:rPr>
              <a:t>CrashLoopBackOff indica que el contenedor arrancó y salió: la causa está en la instancia anterior, que solo se ve con kubectl logs --previous. Running con 0/1 READY quiere decir que el proceso vive pero su readinessProbe no pasa, así que el Pod queda fuera de los endpoints del Service. OOMKilled con exit 137 es memoria: el contenedor superó limits.memory y el kernel lo mató.</a:t>
            </a:r>
          </a:p>
          <a:p>
            <a:pPr algn="l" marL="0" indent="0">
              <a:lnSpc>
                <a:spcPct val="128000"/>
              </a:lnSpc>
              <a:spcBef>
                <a:spcPts val="0"/>
              </a:spcBef>
              <a:spcAft>
                <a:spcPts val="400"/>
              </a:spcAft>
              <a:buNone/>
            </a:pPr>
            <a:r>
              <a:rPr sz="1000" b="0" i="0">
                <a:solidFill>
                  <a:srgbClr val="BDC9DB"/>
                </a:solidFill>
                <a:latin typeface="Segoe UI"/>
              </a:rPr>
              <a:t>Regla práctica: lee primero el estado, formula una hipótesis sobre la capa (scheduling, imagen, configuración, aplicación, recursos) y solo entonces ejecuta describe, events o logs para confirmarla. Esta tabla reaparece en la Clase 6 como base del método de diagnóstico.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2500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básico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1.1 — Pods, YAML e inspección</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Crear Pods por las dos vías, generar manifiestos sin copiarlos y leer un Pod hasta entender por qué está o no está corriendo.</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Namespace c1-basico y Pod web imperativo.</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Generar api.yaml con --dry-run=client -o yaml y añadirle labels y puerto nombrado.</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Filtrar Pods por label y localizar un campo con kubectl explain.</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Romper a propósito: imagen inexistente. Identificar el evento exacto.</a:t>
            </a:r>
          </a:p>
        </p:txBody>
      </p:sp>
      <p:sp>
        <p:nvSpPr>
          <p:cNvPr id="14" name="Freeform 13"/>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CLASE-01/LABORATORIOS/LAB-01-BASICO.md</a:t>
            </a:r>
          </a:p>
        </p:txBody>
      </p:sp>
      <p:sp>
        <p:nvSpPr>
          <p:cNvPr id="20" name="Rectangle 19"/>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25 min</a:t>
            </a:r>
          </a:p>
        </p:txBody>
      </p:sp>
      <p:sp>
        <p:nvSpPr>
          <p:cNvPr id="22" name="Rectangle 21"/>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pods -o wide</a:t>
            </a:r>
          </a:p>
        </p:txBody>
      </p:sp>
      <p:sp>
        <p:nvSpPr>
          <p:cNvPr id="24" name="Rectangle 23"/>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26" name="TextBox 25"/>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vc.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02</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2</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Services</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Cómo se alcanza un Pod cuando su IP cambia cada vez</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CONCEPTO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El problema que resuelve un Service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12</a:t>
            </a:r>
          </a:p>
        </p:txBody>
      </p:sp>
      <p:pic>
        <p:nvPicPr>
          <p:cNvPr id="8" name="Picture 7" descr="svc.png"/>
          <p:cNvPicPr>
            <a:picLocks noChangeAspect="1"/>
          </p:cNvPicPr>
          <p:nvPr/>
        </p:nvPicPr>
        <p:blipFill>
          <a:blip r:embed="rId2"/>
          <a:stretch>
            <a:fillRect/>
          </a:stretch>
        </p:blipFill>
        <p:spPr>
          <a:xfrm>
            <a:off x="10932000" y="275000"/>
            <a:ext cx="640000" cy="640000"/>
          </a:xfrm>
          <a:prstGeom prst="rect">
            <a:avLst/>
          </a:prstGeom>
        </p:spPr>
      </p:pic>
      <p:sp>
        <p:nvSpPr>
          <p:cNvPr id="9" name="Oval 8"/>
          <p:cNvSpPr/>
          <p:nvPr/>
        </p:nvSpPr>
        <p:spPr>
          <a:xfrm>
            <a:off x="636000" y="1751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0000" y="1470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Las IP de Pod son efímeras: cada recreación cambia la dirección.</a:t>
            </a:r>
          </a:p>
        </p:txBody>
      </p:sp>
      <p:sp>
        <p:nvSpPr>
          <p:cNvPr id="11" name="Oval 10"/>
          <p:cNvSpPr/>
          <p:nvPr/>
        </p:nvSpPr>
        <p:spPr>
          <a:xfrm>
            <a:off x="636000" y="2419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0000" y="2137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Un Service da un nombre y una IP estables a un conjunto de Pods.</a:t>
            </a:r>
          </a:p>
        </p:txBody>
      </p:sp>
      <p:sp>
        <p:nvSpPr>
          <p:cNvPr id="13" name="Oval 12"/>
          <p:cNvSpPr/>
          <p:nvPr/>
        </p:nvSpPr>
        <p:spPr>
          <a:xfrm>
            <a:off x="636000" y="3086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000" y="2805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El vínculo no es una lista fija: es un selector sobre labels.</a:t>
            </a:r>
          </a:p>
        </p:txBody>
      </p:sp>
      <p:sp>
        <p:nvSpPr>
          <p:cNvPr id="15" name="Oval 14"/>
          <p:cNvSpPr/>
          <p:nvPr/>
        </p:nvSpPr>
        <p:spPr>
          <a:xfrm>
            <a:off x="636000" y="3754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000" y="3472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El objeto que materializa ese vínculo es el EndpointSlice.</a:t>
            </a:r>
          </a:p>
        </p:txBody>
      </p:sp>
      <p:sp>
        <p:nvSpPr>
          <p:cNvPr id="17" name="Rounded Rectangle 16"/>
          <p:cNvSpPr/>
          <p:nvPr/>
        </p:nvSpPr>
        <p:spPr>
          <a:xfrm>
            <a:off x="6635040" y="1470000"/>
            <a:ext cx="4936960" cy="2670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659040" y="1470000"/>
            <a:ext cx="488896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6875040" y="1710000"/>
            <a:ext cx="4456960" cy="2190000"/>
          </a:xfrm>
          <a:prstGeom prst="rect">
            <a:avLst/>
          </a:prstGeom>
          <a:noFill/>
        </p:spPr>
        <p:txBody>
          <a:bodyPr wrap="square" anchor="ctr" lIns="0" rIns="0" tIns="0" bIns="0">
            <a:noAutofit/>
          </a:bodyPr>
          <a:lstStyle/>
          <a:p>
            <a:pPr algn="l" marL="0" indent="0">
              <a:lnSpc>
                <a:spcPct val="100000"/>
              </a:lnSpc>
              <a:spcBef>
                <a:spcPts val="0"/>
              </a:spcBef>
              <a:spcAft>
                <a:spcPts val="1400"/>
              </a:spcAft>
              <a:buNone/>
            </a:pPr>
            <a:r>
              <a:rPr sz="1000" b="1" i="0" spc="180">
                <a:solidFill>
                  <a:srgbClr val="74A6FF"/>
                </a:solidFill>
                <a:latin typeface="Segoe UI Semibold"/>
              </a:rPr>
              <a:t>TRES PUERTOS, TRES SIGNIFICADOS</a:t>
            </a:r>
          </a:p>
          <a:p>
            <a:pPr algn="l" marL="182880" indent="-182880">
              <a:lnSpc>
                <a:spcPct val="120000"/>
              </a:lnSpc>
              <a:spcBef>
                <a:spcPts val="0"/>
              </a:spcBef>
              <a:spcAft>
                <a:spcPts val="1100"/>
              </a:spcAft>
              <a:buFont typeface="Arial"/>
              <a:buChar char="•"/>
            </a:pPr>
            <a:r>
              <a:rPr sz="1100" b="0" i="0">
                <a:solidFill>
                  <a:srgbClr val="BDC9DB"/>
                </a:solidFill>
                <a:latin typeface="Segoe UI"/>
              </a:rPr>
              <a:t>port: el puerto del Service</a:t>
            </a:r>
          </a:p>
          <a:p>
            <a:pPr algn="l" marL="182880" indent="-182880">
              <a:lnSpc>
                <a:spcPct val="120000"/>
              </a:lnSpc>
              <a:spcBef>
                <a:spcPts val="0"/>
              </a:spcBef>
              <a:spcAft>
                <a:spcPts val="1100"/>
              </a:spcAft>
              <a:buFont typeface="Arial"/>
              <a:buChar char="•"/>
            </a:pPr>
            <a:r>
              <a:rPr sz="1100" b="0" i="0">
                <a:solidFill>
                  <a:srgbClr val="BDC9DB"/>
                </a:solidFill>
                <a:latin typeface="Segoe UI"/>
              </a:rPr>
              <a:t>targetPort: el puerto del contenedor</a:t>
            </a:r>
          </a:p>
          <a:p>
            <a:pPr algn="l" marL="182880" indent="-182880">
              <a:lnSpc>
                <a:spcPct val="120000"/>
              </a:lnSpc>
              <a:spcBef>
                <a:spcPts val="0"/>
              </a:spcBef>
              <a:spcAft>
                <a:spcPts val="1100"/>
              </a:spcAft>
              <a:buFont typeface="Arial"/>
              <a:buChar char="•"/>
            </a:pPr>
            <a:r>
              <a:rPr sz="1100" b="0" i="0">
                <a:solidFill>
                  <a:srgbClr val="BDC9DB"/>
                </a:solidFill>
                <a:latin typeface="Segoe UI"/>
              </a:rPr>
              <a:t>nodePort: el puerto publicado en cada nodo (30000–32767)</a:t>
            </a:r>
          </a:p>
          <a:p>
            <a:pPr algn="l" marL="182880" indent="-182880">
              <a:lnSpc>
                <a:spcPct val="120000"/>
              </a:lnSpc>
              <a:spcBef>
                <a:spcPts val="0"/>
              </a:spcBef>
              <a:spcAft>
                <a:spcPts val="1100"/>
              </a:spcAft>
              <a:buFont typeface="Arial"/>
              <a:buChar char="•"/>
            </a:pPr>
            <a:r>
              <a:rPr sz="1100" b="0" i="0">
                <a:solidFill>
                  <a:srgbClr val="BDC9DB"/>
                </a:solidFill>
                <a:latin typeface="Segoe UI"/>
              </a:rPr>
              <a:t>Confundir port con targetPort es el error más repetido del curso</a:t>
            </a:r>
          </a:p>
        </p:txBody>
      </p:sp>
      <p:sp>
        <p:nvSpPr>
          <p:cNvPr id="20" name="Rounded Rectangle 19"/>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Las IP de los Pods son efímeras: cada recreación asigna una nueva, así que ningún cliente puede depender de ellas. Un Service resuelve esto dando un nombre DNS y una IP virtual (ClusterIP) estables a un conjunto de Pods. Esa ClusterIP no existe en ninguna interfaz de red; es una regla que kube-proxy programa en iptables o IPVS en todos los nodos y que reescribe el destino hacia un Pod concreto.</a:t>
            </a:r>
          </a:p>
          <a:p>
            <a:pPr algn="l" marL="0" indent="0">
              <a:lnSpc>
                <a:spcPct val="128000"/>
              </a:lnSpc>
              <a:spcBef>
                <a:spcPts val="0"/>
              </a:spcBef>
              <a:spcAft>
                <a:spcPts val="400"/>
              </a:spcAft>
              <a:buNone/>
            </a:pPr>
            <a:r>
              <a:rPr sz="1000" b="0" i="0">
                <a:solidFill>
                  <a:srgbClr val="BDC9DB"/>
                </a:solidFill>
                <a:latin typeface="Segoe UI"/>
              </a:rPr>
              <a:t>El vínculo entre Service y Pods no es una lista fija: es un selector sobre labels que el controlador de endpoints evalúa continuamente. El resultado se materializa en objetos EndpointSlice, que contienen las IP y puertos de los Pods que además están Ready. Si un Pod deja de estar Ready, sale del EndpointSlice y deja de recibir tráfico sin que el Service cambie.</a:t>
            </a:r>
          </a:p>
          <a:p>
            <a:pPr algn="l" marL="0" indent="0">
              <a:lnSpc>
                <a:spcPct val="128000"/>
              </a:lnSpc>
              <a:spcBef>
                <a:spcPts val="0"/>
              </a:spcBef>
              <a:spcAft>
                <a:spcPts val="400"/>
              </a:spcAft>
              <a:buNone/>
            </a:pPr>
            <a:r>
              <a:rPr sz="1000" b="0" i="0">
                <a:solidFill>
                  <a:srgbClr val="BDC9DB"/>
                </a:solidFill>
                <a:latin typeface="Segoe UI"/>
              </a:rPr>
              <a:t>Los tres puertos tienen significados distintos y confundirlos es el error más repetido: port es el puerto del Service, targetPort el del contenedor al que se reenvía, y nodePort el que se abre en cada nodo (rango 30000–32767) para los Services de tipo NodePort.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RELACIÓN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La cadena que hay que memorizar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13</a:t>
            </a:r>
          </a:p>
        </p:txBody>
      </p:sp>
      <p:pic>
        <p:nvPicPr>
          <p:cNvPr id="8" name="Picture 7" descr="svc.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900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Service</a:t>
            </a:r>
          </a:p>
        </p:txBody>
      </p:sp>
      <p:cxnSp>
        <p:nvCxnSpPr>
          <p:cNvPr id="11" name="Connector 10"/>
          <p:cNvCxnSpPr/>
          <p:nvPr/>
        </p:nvCxnSpPr>
        <p:spPr>
          <a:xfrm>
            <a:off x="26664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524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29224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selector</a:t>
            </a:r>
          </a:p>
        </p:txBody>
      </p:sp>
      <p:cxnSp>
        <p:nvCxnSpPr>
          <p:cNvPr id="14" name="Connector 13"/>
          <p:cNvCxnSpPr/>
          <p:nvPr/>
        </p:nvCxnSpPr>
        <p:spPr>
          <a:xfrm>
            <a:off x="48988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848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51548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EndpointSlice</a:t>
            </a:r>
          </a:p>
        </p:txBody>
      </p:sp>
      <p:cxnSp>
        <p:nvCxnSpPr>
          <p:cNvPr id="17" name="Connector 16"/>
          <p:cNvCxnSpPr/>
          <p:nvPr/>
        </p:nvCxnSpPr>
        <p:spPr>
          <a:xfrm>
            <a:off x="71312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172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73872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 labels</a:t>
            </a:r>
          </a:p>
        </p:txBody>
      </p:sp>
      <p:cxnSp>
        <p:nvCxnSpPr>
          <p:cNvPr id="20" name="Connector 19"/>
          <p:cNvCxnSpPr/>
          <p:nvPr/>
        </p:nvCxnSpPr>
        <p:spPr>
          <a:xfrm>
            <a:off x="93636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5496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96196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 : targetPort</a:t>
            </a:r>
          </a:p>
        </p:txBody>
      </p:sp>
      <p:sp>
        <p:nvSpPr>
          <p:cNvPr id="23" name="Rounded Rectangle 22"/>
          <p:cNvSpPr/>
          <p:nvPr/>
        </p:nvSpPr>
        <p:spPr>
          <a:xfrm>
            <a:off x="620000" y="2670000"/>
            <a:ext cx="10952000" cy="361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Rectangle 23"/>
          <p:cNvSpPr/>
          <p:nvPr/>
        </p:nvSpPr>
        <p:spPr>
          <a:xfrm>
            <a:off x="646000" y="2692000"/>
            <a:ext cx="40000" cy="356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60000" y="2800000"/>
            <a:ext cx="10522000" cy="335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CUANDO SE ROMPE</a:t>
            </a:r>
          </a:p>
          <a:p>
            <a:pPr algn="l" marL="0" indent="0">
              <a:lnSpc>
                <a:spcPct val="128000"/>
              </a:lnSpc>
              <a:spcBef>
                <a:spcPts val="0"/>
              </a:spcBef>
              <a:spcAft>
                <a:spcPts val="400"/>
              </a:spcAft>
              <a:buNone/>
            </a:pPr>
            <a:r>
              <a:rPr sz="1100" b="0" i="0">
                <a:solidFill>
                  <a:srgbClr val="BDC9DB"/>
                </a:solidFill>
                <a:latin typeface="Segoe UI"/>
              </a:rPr>
              <a:t>Esta cadena es el modelo mental para depurar cualquier problema de conectividad a un Service. El Service declara un selector; el controlador de endpoints busca los Pods cuyos labels lo cumplen y que están Ready, y escribe sus direcciones en el EndpointSlice; kube-proxy usa ese EndpointSlice para repartir el tráfico hacia la IP del Pod y su targetPort.</a:t>
            </a:r>
          </a:p>
          <a:p>
            <a:pPr algn="l" marL="0" indent="0">
              <a:lnSpc>
                <a:spcPct val="128000"/>
              </a:lnSpc>
              <a:spcBef>
                <a:spcPts val="0"/>
              </a:spcBef>
              <a:spcAft>
                <a:spcPts val="400"/>
              </a:spcAft>
              <a:buNone/>
            </a:pPr>
            <a:r>
              <a:rPr sz="1100" b="0" i="0">
                <a:solidFill>
                  <a:srgbClr val="BDC9DB"/>
                </a:solidFill>
                <a:latin typeface="Segoe UI"/>
              </a:rPr>
              <a:t>Cuando el selector del Service y los labels del Pod no coinciden, el EndpointSlice queda vacío. El Service sigue existiendo, conserva su ClusterIP y sigue resolviéndose por DNS: lo único que falla es que no hay backends. El síntoma clásico es que nslookup del nombre funciona pero curl a la ClusterIP da timeout.</a:t>
            </a:r>
          </a:p>
          <a:p>
            <a:pPr algn="l" marL="0" indent="0">
              <a:lnSpc>
                <a:spcPct val="128000"/>
              </a:lnSpc>
              <a:spcBef>
                <a:spcPts val="0"/>
              </a:spcBef>
              <a:spcAft>
                <a:spcPts val="400"/>
              </a:spcAft>
              <a:buNone/>
            </a:pPr>
            <a:r>
              <a:rPr sz="1100" b="0" i="0">
                <a:solidFill>
                  <a:srgbClr val="BDC9DB"/>
                </a:solidFill>
                <a:latin typeface="Segoe UI"/>
              </a:rPr>
              <a:t>Por eso el diagnóstico se hace de fuera hacia dentro: primero se comprueba que el nombre resuelve, luego que el EndpointSlice tiene direcciones (kubectl get endpointslices -l kubernetes.io/service-name=&lt;svc&gt;) y, si está vacío, se comparan selector y labels con kubectl get pods --show-labels.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TIPOS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Qué tipo de Service usar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14</a:t>
            </a:r>
          </a:p>
        </p:txBody>
      </p:sp>
      <p:sp>
        <p:nvSpPr>
          <p:cNvPr id="8" name="Rounded Rectangle 7"/>
          <p:cNvSpPr/>
          <p:nvPr/>
        </p:nvSpPr>
        <p:spPr>
          <a:xfrm>
            <a:off x="620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Rectangle 8"/>
          <p:cNvSpPr/>
          <p:nvPr/>
        </p:nvSpPr>
        <p:spPr>
          <a:xfrm>
            <a:off x="644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Oval 9"/>
          <p:cNvSpPr/>
          <p:nvPr/>
        </p:nvSpPr>
        <p:spPr>
          <a:xfrm>
            <a:off x="820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pic>
        <p:nvPicPr>
          <p:cNvPr id="11" name="Picture 10" descr="svc.png"/>
          <p:cNvPicPr>
            <a:picLocks noChangeAspect="1"/>
          </p:cNvPicPr>
          <p:nvPr/>
        </p:nvPicPr>
        <p:blipFill>
          <a:blip r:embed="rId2"/>
          <a:stretch>
            <a:fillRect/>
          </a:stretch>
        </p:blipFill>
        <p:spPr>
          <a:xfrm>
            <a:off x="5406000" y="1676000"/>
            <a:ext cx="330000" cy="330000"/>
          </a:xfrm>
          <a:prstGeom prst="rect">
            <a:avLst/>
          </a:prstGeom>
        </p:spPr>
      </p:pic>
      <p:sp>
        <p:nvSpPr>
          <p:cNvPr id="12" name="TextBox 11"/>
          <p:cNvSpPr txBox="1"/>
          <p:nvPr/>
        </p:nvSpPr>
        <p:spPr>
          <a:xfrm>
            <a:off x="1230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ClusterIP</a:t>
            </a:r>
          </a:p>
        </p:txBody>
      </p:sp>
      <p:sp>
        <p:nvSpPr>
          <p:cNvPr id="13" name="TextBox 12"/>
          <p:cNvSpPr txBox="1"/>
          <p:nvPr/>
        </p:nvSpPr>
        <p:spPr>
          <a:xfrm>
            <a:off x="820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Por defecto. Solo accesible dentro del cluster. Es lo que usas para que un componente hable con otro.</a:t>
            </a:r>
          </a:p>
        </p:txBody>
      </p:sp>
      <p:sp>
        <p:nvSpPr>
          <p:cNvPr id="14" name="Rounded Rectangle 13"/>
          <p:cNvSpPr/>
          <p:nvPr/>
        </p:nvSpPr>
        <p:spPr>
          <a:xfrm>
            <a:off x="6256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6280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Oval 15"/>
          <p:cNvSpPr/>
          <p:nvPr/>
        </p:nvSpPr>
        <p:spPr>
          <a:xfrm>
            <a:off x="6456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pic>
        <p:nvPicPr>
          <p:cNvPr id="17" name="Picture 16" descr="svc.png"/>
          <p:cNvPicPr>
            <a:picLocks noChangeAspect="1"/>
          </p:cNvPicPr>
          <p:nvPr/>
        </p:nvPicPr>
        <p:blipFill>
          <a:blip r:embed="rId2"/>
          <a:stretch>
            <a:fillRect/>
          </a:stretch>
        </p:blipFill>
        <p:spPr>
          <a:xfrm>
            <a:off x="11042000" y="1676000"/>
            <a:ext cx="330000" cy="330000"/>
          </a:xfrm>
          <a:prstGeom prst="rect">
            <a:avLst/>
          </a:prstGeom>
        </p:spPr>
      </p:pic>
      <p:sp>
        <p:nvSpPr>
          <p:cNvPr id="18" name="TextBox 17"/>
          <p:cNvSpPr txBox="1"/>
          <p:nvPr/>
        </p:nvSpPr>
        <p:spPr>
          <a:xfrm>
            <a:off x="6866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NodePort</a:t>
            </a:r>
          </a:p>
        </p:txBody>
      </p:sp>
      <p:sp>
        <p:nvSpPr>
          <p:cNvPr id="19" name="TextBox 18"/>
          <p:cNvSpPr txBox="1"/>
          <p:nvPr/>
        </p:nvSpPr>
        <p:spPr>
          <a:xfrm>
            <a:off x="6456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Abre el mismo puerto en todos los nodos, en el rango 30000–32767. Útil en laboratorio y detrás de un balanceador propio.</a:t>
            </a:r>
          </a:p>
        </p:txBody>
      </p:sp>
      <p:sp>
        <p:nvSpPr>
          <p:cNvPr id="20" name="Rounded Rectangle 19"/>
          <p:cNvSpPr/>
          <p:nvPr/>
        </p:nvSpPr>
        <p:spPr>
          <a:xfrm>
            <a:off x="620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644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Oval 21"/>
          <p:cNvSpPr/>
          <p:nvPr/>
        </p:nvSpPr>
        <p:spPr>
          <a:xfrm>
            <a:off x="820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pic>
        <p:nvPicPr>
          <p:cNvPr id="23" name="Picture 22" descr="svc.png"/>
          <p:cNvPicPr>
            <a:picLocks noChangeAspect="1"/>
          </p:cNvPicPr>
          <p:nvPr/>
        </p:nvPicPr>
        <p:blipFill>
          <a:blip r:embed="rId2"/>
          <a:stretch>
            <a:fillRect/>
          </a:stretch>
        </p:blipFill>
        <p:spPr>
          <a:xfrm>
            <a:off x="5406000" y="3131000"/>
            <a:ext cx="330000" cy="330000"/>
          </a:xfrm>
          <a:prstGeom prst="rect">
            <a:avLst/>
          </a:prstGeom>
        </p:spPr>
      </p:pic>
      <p:sp>
        <p:nvSpPr>
          <p:cNvPr id="24" name="TextBox 23"/>
          <p:cNvSpPr txBox="1"/>
          <p:nvPr/>
        </p:nvSpPr>
        <p:spPr>
          <a:xfrm>
            <a:off x="1230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LoadBalancer</a:t>
            </a:r>
          </a:p>
        </p:txBody>
      </p:sp>
      <p:sp>
        <p:nvSpPr>
          <p:cNvPr id="25" name="TextBox 24"/>
          <p:cNvSpPr txBox="1"/>
          <p:nvPr/>
        </p:nvSpPr>
        <p:spPr>
          <a:xfrm>
            <a:off x="820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Pide una IP pública al proveedor de nube. Una IP por Service: caro cuando hay muchos.</a:t>
            </a:r>
          </a:p>
        </p:txBody>
      </p:sp>
      <p:sp>
        <p:nvSpPr>
          <p:cNvPr id="26" name="Rounded Rectangle 25"/>
          <p:cNvSpPr/>
          <p:nvPr/>
        </p:nvSpPr>
        <p:spPr>
          <a:xfrm>
            <a:off x="6256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280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Oval 27"/>
          <p:cNvSpPr/>
          <p:nvPr/>
        </p:nvSpPr>
        <p:spPr>
          <a:xfrm>
            <a:off x="6456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pic>
        <p:nvPicPr>
          <p:cNvPr id="29" name="Picture 28" descr="svc.png"/>
          <p:cNvPicPr>
            <a:picLocks noChangeAspect="1"/>
          </p:cNvPicPr>
          <p:nvPr/>
        </p:nvPicPr>
        <p:blipFill>
          <a:blip r:embed="rId2"/>
          <a:stretch>
            <a:fillRect/>
          </a:stretch>
        </p:blipFill>
        <p:spPr>
          <a:xfrm>
            <a:off x="11042000" y="3131000"/>
            <a:ext cx="330000" cy="330000"/>
          </a:xfrm>
          <a:prstGeom prst="rect">
            <a:avLst/>
          </a:prstGeom>
        </p:spPr>
      </p:pic>
      <p:sp>
        <p:nvSpPr>
          <p:cNvPr id="30" name="TextBox 29"/>
          <p:cNvSpPr txBox="1"/>
          <p:nvPr/>
        </p:nvSpPr>
        <p:spPr>
          <a:xfrm>
            <a:off x="6866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ExternalName</a:t>
            </a:r>
          </a:p>
        </p:txBody>
      </p:sp>
      <p:sp>
        <p:nvSpPr>
          <p:cNvPr id="31" name="TextBox 30"/>
          <p:cNvSpPr txBox="1"/>
          <p:nvPr/>
        </p:nvSpPr>
        <p:spPr>
          <a:xfrm>
            <a:off x="6456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No crea IP ni endpoints. CoreDNS devuelve un CNAME a un nombre externo.</a:t>
            </a:r>
          </a:p>
        </p:txBody>
      </p:sp>
      <p:sp>
        <p:nvSpPr>
          <p:cNvPr id="32" name="Rounded Rectangle 31"/>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Rectangle 32"/>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TextBox 33"/>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50" b="0" i="0">
                <a:solidFill>
                  <a:srgbClr val="BDC9DB"/>
                </a:solidFill>
                <a:latin typeface="Segoe UI"/>
              </a:rPr>
              <a:t>Los tipos de Service se apilan: cada uno añade una capa de exposición sobre el anterior. ClusterIP es la base y solo es accesible dentro del cluster; es lo que usan los componentes para hablar entre sí. NodePort añade a un ClusterIP la apertura del mismo puerto en todos los nodos, útil en laboratorio o detrás de un balanceador propio. LoadBalancer añade a un NodePort una IP externa que aprovisiona el proveedor de nube.</a:t>
            </a:r>
          </a:p>
          <a:p>
            <a:pPr algn="l" marL="0" indent="0">
              <a:lnSpc>
                <a:spcPct val="128000"/>
              </a:lnSpc>
              <a:spcBef>
                <a:spcPts val="0"/>
              </a:spcBef>
              <a:spcAft>
                <a:spcPts val="400"/>
              </a:spcAft>
              <a:buNone/>
            </a:pPr>
            <a:r>
              <a:rPr sz="1050" b="0" i="0">
                <a:solidFill>
                  <a:srgbClr val="BDC9DB"/>
                </a:solidFill>
                <a:latin typeface="Segoe UI"/>
              </a:rPr>
              <a:t>ExternalName es la excepción: no crea IP ni endpoints ni proxy; CoreDNS simplemente devuelve un registro CNAME hacia un nombre externo. Sirve para dar un alias interno estable a un servicio de fuera del cluster.</a:t>
            </a:r>
          </a:p>
          <a:p>
            <a:pPr algn="l" marL="0" indent="0">
              <a:lnSpc>
                <a:spcPct val="128000"/>
              </a:lnSpc>
              <a:spcBef>
                <a:spcPts val="0"/>
              </a:spcBef>
              <a:spcAft>
                <a:spcPts val="400"/>
              </a:spcAft>
              <a:buNone/>
            </a:pPr>
            <a:r>
              <a:rPr sz="1050" b="0" i="0">
                <a:solidFill>
                  <a:srgbClr val="BDC9DB"/>
                </a:solidFill>
                <a:latin typeface="Segoe UI"/>
              </a:rPr>
              <a:t>El caso especial es el Service headless (clusterIP: None): en lugar de una IP virtual, el DNS devuelve directamente las IP de todos los Pods del selector. Es la base de los StatefulSet, porque permite dirigirse a una réplica concreta por su nombre; se trata en la Clase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DEMOSTRACIÓN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Exponer, verificar y romper el selector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15</a:t>
            </a:r>
          </a:p>
        </p:txBody>
      </p:sp>
      <p:sp>
        <p:nvSpPr>
          <p:cNvPr id="8" name="Freeform 7"/>
          <p:cNvSpPr/>
          <p:nvPr/>
        </p:nvSpPr>
        <p:spPr>
          <a:xfrm>
            <a:off x="11060000" y="300600"/>
            <a:ext cx="384000" cy="588800"/>
          </a:xfrm>
          <a:custGeom>
            <a:avLst/>
            <a:gdLst/>
            <a:ahLst/>
            <a:cxnLst/>
            <a:rect l="l" t="t" r="r" b="b"/>
            <a:pathLst>
              <a:path w="384000" h="588800">
                <a:moveTo>
                  <a:pt x="217600" y="0"/>
                </a:moveTo>
                <a:lnTo>
                  <a:pt x="0" y="332800"/>
                </a:lnTo>
                <a:lnTo>
                  <a:pt x="166400" y="332800"/>
                </a:lnTo>
                <a:lnTo>
                  <a:pt x="128000" y="588800"/>
                </a:lnTo>
                <a:lnTo>
                  <a:pt x="384000" y="230400"/>
                </a:lnTo>
                <a:lnTo>
                  <a:pt x="204800" y="230400"/>
                </a:lnTo>
                <a:close/>
              </a:path>
            </a:pathLst>
          </a:cu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0000" y="1838000"/>
            <a:ext cx="10952000" cy="1048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20000" y="1838000"/>
            <a:ext cx="46000" cy="1048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850000" y="1958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EXPONER</a:t>
            </a:r>
          </a:p>
        </p:txBody>
      </p:sp>
      <p:sp>
        <p:nvSpPr>
          <p:cNvPr id="12" name="TextBox 11"/>
          <p:cNvSpPr txBox="1"/>
          <p:nvPr/>
        </p:nvSpPr>
        <p:spPr>
          <a:xfrm>
            <a:off x="890000" y="2238000"/>
            <a:ext cx="10412000" cy="588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expose pod webserver --name=svc-web --port=8080 --target-port=80</a:t>
            </a:r>
          </a:p>
          <a:p>
            <a:pPr marL="0" indent="0">
              <a:lnSpc>
                <a:spcPct val="134000"/>
              </a:lnSpc>
              <a:spcAft>
                <a:spcPts val="0"/>
              </a:spcAft>
              <a:buNone/>
            </a:pPr>
            <a:r>
              <a:rPr sz="1100" b="0" i="0">
                <a:solidFill>
                  <a:srgbClr val="E6EDF3"/>
                </a:solidFill>
                <a:latin typeface="Consolas"/>
              </a:rPr>
              <a:t>k get svc,endpointslices</a:t>
            </a:r>
          </a:p>
        </p:txBody>
      </p:sp>
      <p:sp>
        <p:nvSpPr>
          <p:cNvPr id="13" name="Rounded Rectangle 12"/>
          <p:cNvSpPr/>
          <p:nvPr/>
        </p:nvSpPr>
        <p:spPr>
          <a:xfrm>
            <a:off x="620000" y="3086000"/>
            <a:ext cx="10952000" cy="1272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620000" y="3086000"/>
            <a:ext cx="46000" cy="127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850000" y="3206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ROMPER DELIBERADAMENTE</a:t>
            </a:r>
          </a:p>
        </p:txBody>
      </p:sp>
      <p:sp>
        <p:nvSpPr>
          <p:cNvPr id="16" name="TextBox 15"/>
          <p:cNvSpPr txBox="1"/>
          <p:nvPr/>
        </p:nvSpPr>
        <p:spPr>
          <a:xfrm>
            <a:off x="890000" y="3486000"/>
            <a:ext cx="10412000" cy="812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label pod webserver app=web-old --overwrite</a:t>
            </a:r>
          </a:p>
          <a:p>
            <a:pPr marL="0" indent="0">
              <a:lnSpc>
                <a:spcPct val="134000"/>
              </a:lnSpc>
              <a:spcAft>
                <a:spcPts val="0"/>
              </a:spcAft>
              <a:buNone/>
            </a:pPr>
            <a:r>
              <a:rPr sz="1100" b="0" i="0">
                <a:solidFill>
                  <a:srgbClr val="E6EDF3"/>
                </a:solidFill>
                <a:latin typeface="Consolas"/>
              </a:rPr>
              <a:t>k get endpointslices -l kubernetes.io/service-name=svc-web</a:t>
            </a:r>
          </a:p>
          <a:p>
            <a:pPr marL="0" indent="0">
              <a:lnSpc>
                <a:spcPct val="134000"/>
              </a:lnSpc>
              <a:spcAft>
                <a:spcPts val="0"/>
              </a:spcAft>
              <a:buNone/>
            </a:pPr>
            <a:r>
              <a:rPr sz="1100" b="0" i="1">
                <a:solidFill>
                  <a:srgbClr val="7C8AA5"/>
                </a:solidFill>
                <a:latin typeface="Consolas"/>
              </a:rPr>
              <a:t># ADDRESSES vacío  -&gt;  el curl deja de responder</a:t>
            </a:r>
          </a:p>
        </p:txBody>
      </p:sp>
      <p:sp>
        <p:nvSpPr>
          <p:cNvPr id="17" name="Rounded Rectangle 16"/>
          <p:cNvSpPr/>
          <p:nvPr/>
        </p:nvSpPr>
        <p:spPr>
          <a:xfrm>
            <a:off x="620000" y="4558000"/>
            <a:ext cx="10952000" cy="824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20000" y="4558000"/>
            <a:ext cx="46000" cy="824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50000" y="4678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REPARAR SIN DESTRUIR NADA</a:t>
            </a:r>
          </a:p>
        </p:txBody>
      </p:sp>
      <p:sp>
        <p:nvSpPr>
          <p:cNvPr id="20" name="TextBox 19"/>
          <p:cNvSpPr txBox="1"/>
          <p:nvPr/>
        </p:nvSpPr>
        <p:spPr>
          <a:xfrm>
            <a:off x="890000" y="4958000"/>
            <a:ext cx="10412000" cy="364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label pod webserver app=webserver --overwrite</a:t>
            </a:r>
          </a:p>
        </p:txBody>
      </p:sp>
      <p:sp>
        <p:nvSpPr>
          <p:cNvPr id="21" name="Rounded Rectangle 20"/>
          <p:cNvSpPr/>
          <p:nvPr/>
        </p:nvSpPr>
        <p:spPr>
          <a:xfrm>
            <a:off x="620000" y="5840000"/>
            <a:ext cx="10952000" cy="470000"/>
          </a:xfrm>
          <a:prstGeom prst="roundRect">
            <a:avLst>
              <a:gd name="adj" fmla="val 100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Rectangle 21"/>
          <p:cNvSpPr/>
          <p:nvPr/>
        </p:nvSpPr>
        <p:spPr>
          <a:xfrm>
            <a:off x="650000" y="5864000"/>
            <a:ext cx="40000" cy="42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60000" y="5840000"/>
            <a:ext cx="10482000" cy="47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1">
                <a:solidFill>
                  <a:srgbClr val="BDC9DB"/>
                </a:solidFill>
                <a:latin typeface="Segoe UI"/>
              </a:rPr>
              <a:t>Explicar → demostrar → practicar → romper → diagnosticar → corregir → validar. Es el método de todo el curso.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2500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intermedio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1.2 — Services, EndpointSlice y DNS</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Publicar un web y una base de datos, alcanzarlos por nombre, y provocar y reparar la pérdida de endpoints.</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svc-dbserver ClusterIP 15432 → 5432 y svc-webserver NodePort 8080 → 80 con nodePort 31100.</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Resolver por DNS y hacer curl desde un Pod temporal.</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Acceder por NodePort desde fuera del cluster.</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Cambiar el label del Pod, observar el EndpointSlice vacío y repararlo sin recrear nada.</a:t>
            </a:r>
          </a:p>
        </p:txBody>
      </p:sp>
      <p:sp>
        <p:nvSpPr>
          <p:cNvPr id="14" name="Freeform 13"/>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CLASE-01/LABORATORIOS/LAB-02-INTERMEDIO.md</a:t>
            </a:r>
          </a:p>
        </p:txBody>
      </p:sp>
      <p:sp>
        <p:nvSpPr>
          <p:cNvPr id="20" name="Rectangle 19"/>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30 min</a:t>
            </a:r>
          </a:p>
        </p:txBody>
      </p:sp>
      <p:sp>
        <p:nvSpPr>
          <p:cNvPr id="22" name="Rectangle 21"/>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endpointslices</a:t>
            </a:r>
          </a:p>
        </p:txBody>
      </p:sp>
      <p:sp>
        <p:nvSpPr>
          <p:cNvPr id="24" name="Rectangle 23"/>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26" name="TextBox 25"/>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p-sched.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03</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3</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Scheduling</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Cómo decide Kubernetes dónde se ejecuta cada Pod</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PROCESO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Cómo elige nodo el scheduler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18</a:t>
            </a:r>
          </a:p>
        </p:txBody>
      </p:sp>
      <p:pic>
        <p:nvPicPr>
          <p:cNvPr id="8" name="Picture 7" descr="cp-sched.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470000"/>
            <a:ext cx="10952000" cy="540000"/>
          </a:xfrm>
          <a:prstGeom prst="roundRect">
            <a:avLst>
              <a:gd name="adj" fmla="val 8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Oval 9"/>
          <p:cNvSpPr/>
          <p:nvPr/>
        </p:nvSpPr>
        <p:spPr>
          <a:xfrm>
            <a:off x="840000" y="1575000"/>
            <a:ext cx="330000" cy="33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11" name="TextBox 10"/>
          <p:cNvSpPr txBox="1"/>
          <p:nvPr/>
        </p:nvSpPr>
        <p:spPr>
          <a:xfrm>
            <a:off x="1370000" y="1470000"/>
            <a:ext cx="2500000" cy="5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Filtrar</a:t>
            </a:r>
          </a:p>
        </p:txBody>
      </p:sp>
      <p:sp>
        <p:nvSpPr>
          <p:cNvPr id="12" name="Rectangle 11"/>
          <p:cNvSpPr/>
          <p:nvPr/>
        </p:nvSpPr>
        <p:spPr>
          <a:xfrm>
            <a:off x="3970000" y="1588800"/>
            <a:ext cx="8000" cy="3024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4170000" y="1470000"/>
            <a:ext cx="7202000" cy="54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Descarta nodos que no cumplen: recursos, nodeSelector, taints, affinity required</a:t>
            </a:r>
          </a:p>
        </p:txBody>
      </p:sp>
      <p:sp>
        <p:nvSpPr>
          <p:cNvPr id="14" name="TextBox 13"/>
          <p:cNvSpPr txBox="1"/>
          <p:nvPr/>
        </p:nvSpPr>
        <p:spPr>
          <a:xfrm>
            <a:off x="915000" y="2018000"/>
            <a:ext cx="180000" cy="154000"/>
          </a:xfrm>
          <a:prstGeom prst="rect">
            <a:avLst/>
          </a:prstGeom>
          <a:noFill/>
        </p:spPr>
        <p:txBody>
          <a:bodyPr wrap="square" anchor="ctr" lIns="0" rIns="0" tIns="0" bIns="0">
            <a:noAutofit/>
          </a:bodyPr>
          <a:lstStyle/>
          <a:p>
            <a:pPr algn="ctr" marL="0" indent="0">
              <a:lnSpc>
                <a:spcPct val="100000"/>
              </a:lnSpc>
              <a:spcBef>
                <a:spcPts val="0"/>
              </a:spcBef>
              <a:spcAft>
                <a:spcPts val="0"/>
              </a:spcAft>
              <a:buNone/>
            </a:pPr>
            <a:r>
              <a:rPr sz="900" b="0" i="0">
                <a:solidFill>
                  <a:srgbClr val="74A6FF"/>
                </a:solidFill>
                <a:latin typeface="Segoe UI"/>
              </a:rPr>
              <a:t>▼</a:t>
            </a:r>
          </a:p>
        </p:txBody>
      </p:sp>
      <p:sp>
        <p:nvSpPr>
          <p:cNvPr id="15" name="Rounded Rectangle 14"/>
          <p:cNvSpPr/>
          <p:nvPr/>
        </p:nvSpPr>
        <p:spPr>
          <a:xfrm>
            <a:off x="620000" y="2180000"/>
            <a:ext cx="10952000" cy="540000"/>
          </a:xfrm>
          <a:prstGeom prst="roundRect">
            <a:avLst>
              <a:gd name="adj" fmla="val 8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Oval 15"/>
          <p:cNvSpPr/>
          <p:nvPr/>
        </p:nvSpPr>
        <p:spPr>
          <a:xfrm>
            <a:off x="840000" y="2285000"/>
            <a:ext cx="330000" cy="33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17" name="TextBox 16"/>
          <p:cNvSpPr txBox="1"/>
          <p:nvPr/>
        </p:nvSpPr>
        <p:spPr>
          <a:xfrm>
            <a:off x="1370000" y="2180000"/>
            <a:ext cx="2500000" cy="5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Puntuar</a:t>
            </a:r>
          </a:p>
        </p:txBody>
      </p:sp>
      <p:sp>
        <p:nvSpPr>
          <p:cNvPr id="18" name="Rectangle 17"/>
          <p:cNvSpPr/>
          <p:nvPr/>
        </p:nvSpPr>
        <p:spPr>
          <a:xfrm>
            <a:off x="3970000" y="2298800"/>
            <a:ext cx="8000" cy="3024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4170000" y="2180000"/>
            <a:ext cx="7202000" cy="54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Da una nota a los que quedan: affinity preferred, reparto de carga</a:t>
            </a:r>
          </a:p>
        </p:txBody>
      </p:sp>
      <p:sp>
        <p:nvSpPr>
          <p:cNvPr id="20" name="TextBox 19"/>
          <p:cNvSpPr txBox="1"/>
          <p:nvPr/>
        </p:nvSpPr>
        <p:spPr>
          <a:xfrm>
            <a:off x="915000" y="2728000"/>
            <a:ext cx="180000" cy="154000"/>
          </a:xfrm>
          <a:prstGeom prst="rect">
            <a:avLst/>
          </a:prstGeom>
          <a:noFill/>
        </p:spPr>
        <p:txBody>
          <a:bodyPr wrap="square" anchor="ctr" lIns="0" rIns="0" tIns="0" bIns="0">
            <a:noAutofit/>
          </a:bodyPr>
          <a:lstStyle/>
          <a:p>
            <a:pPr algn="ctr" marL="0" indent="0">
              <a:lnSpc>
                <a:spcPct val="100000"/>
              </a:lnSpc>
              <a:spcBef>
                <a:spcPts val="0"/>
              </a:spcBef>
              <a:spcAft>
                <a:spcPts val="0"/>
              </a:spcAft>
              <a:buNone/>
            </a:pPr>
            <a:r>
              <a:rPr sz="900" b="0" i="0">
                <a:solidFill>
                  <a:srgbClr val="74A6FF"/>
                </a:solidFill>
                <a:latin typeface="Segoe UI"/>
              </a:rPr>
              <a:t>▼</a:t>
            </a:r>
          </a:p>
        </p:txBody>
      </p:sp>
      <p:sp>
        <p:nvSpPr>
          <p:cNvPr id="21" name="Rounded Rectangle 20"/>
          <p:cNvSpPr/>
          <p:nvPr/>
        </p:nvSpPr>
        <p:spPr>
          <a:xfrm>
            <a:off x="620000" y="2890000"/>
            <a:ext cx="10952000" cy="540000"/>
          </a:xfrm>
          <a:prstGeom prst="roundRect">
            <a:avLst>
              <a:gd name="adj" fmla="val 8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Oval 21"/>
          <p:cNvSpPr/>
          <p:nvPr/>
        </p:nvSpPr>
        <p:spPr>
          <a:xfrm>
            <a:off x="840000" y="2995000"/>
            <a:ext cx="330000" cy="33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23" name="TextBox 22"/>
          <p:cNvSpPr txBox="1"/>
          <p:nvPr/>
        </p:nvSpPr>
        <p:spPr>
          <a:xfrm>
            <a:off x="1370000" y="2890000"/>
            <a:ext cx="2500000" cy="5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Elegir</a:t>
            </a:r>
          </a:p>
        </p:txBody>
      </p:sp>
      <p:sp>
        <p:nvSpPr>
          <p:cNvPr id="24" name="Rectangle 23"/>
          <p:cNvSpPr/>
          <p:nvPr/>
        </p:nvSpPr>
        <p:spPr>
          <a:xfrm>
            <a:off x="3970000" y="3008800"/>
            <a:ext cx="8000" cy="3024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4170000" y="2890000"/>
            <a:ext cx="7202000" cy="54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Se queda con el de mayor puntuación</a:t>
            </a:r>
          </a:p>
        </p:txBody>
      </p:sp>
      <p:sp>
        <p:nvSpPr>
          <p:cNvPr id="26" name="TextBox 25"/>
          <p:cNvSpPr txBox="1"/>
          <p:nvPr/>
        </p:nvSpPr>
        <p:spPr>
          <a:xfrm>
            <a:off x="915000" y="3438000"/>
            <a:ext cx="180000" cy="154000"/>
          </a:xfrm>
          <a:prstGeom prst="rect">
            <a:avLst/>
          </a:prstGeom>
          <a:noFill/>
        </p:spPr>
        <p:txBody>
          <a:bodyPr wrap="square" anchor="ctr" lIns="0" rIns="0" tIns="0" bIns="0">
            <a:noAutofit/>
          </a:bodyPr>
          <a:lstStyle/>
          <a:p>
            <a:pPr algn="ctr" marL="0" indent="0">
              <a:lnSpc>
                <a:spcPct val="100000"/>
              </a:lnSpc>
              <a:spcBef>
                <a:spcPts val="0"/>
              </a:spcBef>
              <a:spcAft>
                <a:spcPts val="0"/>
              </a:spcAft>
              <a:buNone/>
            </a:pPr>
            <a:r>
              <a:rPr sz="900" b="0" i="0">
                <a:solidFill>
                  <a:srgbClr val="74A6FF"/>
                </a:solidFill>
                <a:latin typeface="Segoe UI"/>
              </a:rPr>
              <a:t>▼</a:t>
            </a:r>
          </a:p>
        </p:txBody>
      </p:sp>
      <p:sp>
        <p:nvSpPr>
          <p:cNvPr id="27" name="Rounded Rectangle 26"/>
          <p:cNvSpPr/>
          <p:nvPr/>
        </p:nvSpPr>
        <p:spPr>
          <a:xfrm>
            <a:off x="620000" y="3600000"/>
            <a:ext cx="10952000" cy="540000"/>
          </a:xfrm>
          <a:prstGeom prst="roundRect">
            <a:avLst>
              <a:gd name="adj" fmla="val 8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Oval 27"/>
          <p:cNvSpPr/>
          <p:nvPr/>
        </p:nvSpPr>
        <p:spPr>
          <a:xfrm>
            <a:off x="840000" y="3705000"/>
            <a:ext cx="330000" cy="33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29" name="TextBox 28"/>
          <p:cNvSpPr txBox="1"/>
          <p:nvPr/>
        </p:nvSpPr>
        <p:spPr>
          <a:xfrm>
            <a:off x="1370000" y="3600000"/>
            <a:ext cx="2500000" cy="5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Vincular</a:t>
            </a:r>
          </a:p>
        </p:txBody>
      </p:sp>
      <p:sp>
        <p:nvSpPr>
          <p:cNvPr id="30" name="Rectangle 29"/>
          <p:cNvSpPr/>
          <p:nvPr/>
        </p:nvSpPr>
        <p:spPr>
          <a:xfrm>
            <a:off x="3970000" y="3718800"/>
            <a:ext cx="8000" cy="3024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1" name="TextBox 30"/>
          <p:cNvSpPr txBox="1"/>
          <p:nvPr/>
        </p:nvSpPr>
        <p:spPr>
          <a:xfrm>
            <a:off x="4170000" y="3600000"/>
            <a:ext cx="7202000" cy="54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Escribe nodeName en el Pod y el kubelet lo arranca</a:t>
            </a:r>
          </a:p>
        </p:txBody>
      </p:sp>
      <p:sp>
        <p:nvSpPr>
          <p:cNvPr id="32" name="Rounded Rectangle 31"/>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Rectangle 32"/>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TextBox 33"/>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El kube-scheduler observa los Pods sin nodo asignado y decide dónde colocarlos en dos etapas. En el filtrado descarta todos los nodos que no pueden alojar el Pod: no tienen recursos libres suficientes para los requests, no cumplen el nodeSelector o la node affinity obligatoria, tienen un taint que el Pod no tolera, o el puerto de host ya está ocupado.</a:t>
            </a:r>
          </a:p>
          <a:p>
            <a:pPr algn="l" marL="0" indent="0">
              <a:lnSpc>
                <a:spcPct val="128000"/>
              </a:lnSpc>
              <a:spcBef>
                <a:spcPts val="0"/>
              </a:spcBef>
              <a:spcAft>
                <a:spcPts val="400"/>
              </a:spcAft>
              <a:buNone/>
            </a:pPr>
            <a:r>
              <a:rPr sz="1000" b="0" i="0">
                <a:solidFill>
                  <a:srgbClr val="BDC9DB"/>
                </a:solidFill>
                <a:latin typeface="Segoe UI"/>
              </a:rPr>
              <a:t>Con los nodos que superan el filtro pasa a la puntuación: asigna una nota a cada uno según la affinity preferida, el reparto de carga, la localidad de la imagen y otros criterios, y elige el de mayor puntuación. Finalmente vincula el Pod escribiendo spec.nodeName, y a partir de ahí el kubelet de ese nodo lo arranca.</a:t>
            </a:r>
          </a:p>
          <a:p>
            <a:pPr algn="l" marL="0" indent="0">
              <a:lnSpc>
                <a:spcPct val="128000"/>
              </a:lnSpc>
              <a:spcBef>
                <a:spcPts val="0"/>
              </a:spcBef>
              <a:spcAft>
                <a:spcPts val="400"/>
              </a:spcAft>
              <a:buNone/>
            </a:pPr>
            <a:r>
              <a:rPr sz="1000" b="0" i="0">
                <a:solidFill>
                  <a:srgbClr val="BDC9DB"/>
                </a:solidFill>
                <a:latin typeface="Segoe UI"/>
              </a:rPr>
              <a:t>Si ningún nodo supera el filtrado, el Pod se queda en Pending y el scheduler emite un evento FailedScheduling que enumera cuántos nodos había y por qué falló cada uno. Ese mensaje es la respuesta, no una pista: hay que leerlo entero antes de tocar nada.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HERRAMIENTAS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Cinco formas de influir en la colocación</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19</a:t>
            </a:r>
          </a:p>
        </p:txBody>
      </p:sp>
      <p:sp>
        <p:nvSpPr>
          <p:cNvPr id="8" name="Rounded Rectangle 7"/>
          <p:cNvSpPr/>
          <p:nvPr/>
        </p:nvSpPr>
        <p:spPr>
          <a:xfrm>
            <a:off x="620000" y="1470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Rectangle 8"/>
          <p:cNvSpPr/>
          <p:nvPr/>
        </p:nvSpPr>
        <p:spPr>
          <a:xfrm>
            <a:off x="644000" y="1470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Oval 9"/>
          <p:cNvSpPr/>
          <p:nvPr/>
        </p:nvSpPr>
        <p:spPr>
          <a:xfrm>
            <a:off x="820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pic>
        <p:nvPicPr>
          <p:cNvPr id="11" name="Picture 10" descr="cp-sched.png"/>
          <p:cNvPicPr>
            <a:picLocks noChangeAspect="1"/>
          </p:cNvPicPr>
          <p:nvPr/>
        </p:nvPicPr>
        <p:blipFill>
          <a:blip r:embed="rId2"/>
          <a:stretch>
            <a:fillRect/>
          </a:stretch>
        </p:blipFill>
        <p:spPr>
          <a:xfrm>
            <a:off x="3527333" y="1676000"/>
            <a:ext cx="330000" cy="330000"/>
          </a:xfrm>
          <a:prstGeom prst="rect">
            <a:avLst/>
          </a:prstGeom>
        </p:spPr>
      </p:pic>
      <p:sp>
        <p:nvSpPr>
          <p:cNvPr id="12" name="TextBox 11"/>
          <p:cNvSpPr txBox="1"/>
          <p:nvPr/>
        </p:nvSpPr>
        <p:spPr>
          <a:xfrm>
            <a:off x="1230000" y="1670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nodeSelector</a:t>
            </a:r>
          </a:p>
        </p:txBody>
      </p:sp>
      <p:sp>
        <p:nvSpPr>
          <p:cNvPr id="13" name="TextBox 12"/>
          <p:cNvSpPr txBox="1"/>
          <p:nvPr/>
        </p:nvSpPr>
        <p:spPr>
          <a:xfrm>
            <a:off x="820000" y="2030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Igualdad exacta sobre labels de nodo. Simple y suficiente el 80 % de las veces.</a:t>
            </a:r>
          </a:p>
        </p:txBody>
      </p:sp>
      <p:sp>
        <p:nvSpPr>
          <p:cNvPr id="14" name="Rounded Rectangle 13"/>
          <p:cNvSpPr/>
          <p:nvPr/>
        </p:nvSpPr>
        <p:spPr>
          <a:xfrm>
            <a:off x="4377333" y="1470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4401333" y="1470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Oval 15"/>
          <p:cNvSpPr/>
          <p:nvPr/>
        </p:nvSpPr>
        <p:spPr>
          <a:xfrm>
            <a:off x="4577333"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pic>
        <p:nvPicPr>
          <p:cNvPr id="17" name="Picture 16" descr="cp-sched.png"/>
          <p:cNvPicPr>
            <a:picLocks noChangeAspect="1"/>
          </p:cNvPicPr>
          <p:nvPr/>
        </p:nvPicPr>
        <p:blipFill>
          <a:blip r:embed="rId2"/>
          <a:stretch>
            <a:fillRect/>
          </a:stretch>
        </p:blipFill>
        <p:spPr>
          <a:xfrm>
            <a:off x="7284666" y="1676000"/>
            <a:ext cx="330000" cy="330000"/>
          </a:xfrm>
          <a:prstGeom prst="rect">
            <a:avLst/>
          </a:prstGeom>
        </p:spPr>
      </p:pic>
      <p:sp>
        <p:nvSpPr>
          <p:cNvPr id="18" name="TextBox 17"/>
          <p:cNvSpPr txBox="1"/>
          <p:nvPr/>
        </p:nvSpPr>
        <p:spPr>
          <a:xfrm>
            <a:off x="4987333" y="1670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Taints y Tolerations</a:t>
            </a:r>
          </a:p>
        </p:txBody>
      </p:sp>
      <p:sp>
        <p:nvSpPr>
          <p:cNvPr id="19" name="TextBox 18"/>
          <p:cNvSpPr txBox="1"/>
          <p:nvPr/>
        </p:nvSpPr>
        <p:spPr>
          <a:xfrm>
            <a:off x="4577333" y="2030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El taint repele; la toleration solo levanta el veto. NO atrae.</a:t>
            </a:r>
          </a:p>
        </p:txBody>
      </p:sp>
      <p:sp>
        <p:nvSpPr>
          <p:cNvPr id="20" name="Rounded Rectangle 19"/>
          <p:cNvSpPr/>
          <p:nvPr/>
        </p:nvSpPr>
        <p:spPr>
          <a:xfrm>
            <a:off x="8134666" y="1470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8158666" y="1470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Oval 21"/>
          <p:cNvSpPr/>
          <p:nvPr/>
        </p:nvSpPr>
        <p:spPr>
          <a:xfrm>
            <a:off x="8334666"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pic>
        <p:nvPicPr>
          <p:cNvPr id="23" name="Picture 22" descr="cp-sched.png"/>
          <p:cNvPicPr>
            <a:picLocks noChangeAspect="1"/>
          </p:cNvPicPr>
          <p:nvPr/>
        </p:nvPicPr>
        <p:blipFill>
          <a:blip r:embed="rId2"/>
          <a:stretch>
            <a:fillRect/>
          </a:stretch>
        </p:blipFill>
        <p:spPr>
          <a:xfrm>
            <a:off x="11042000" y="1676000"/>
            <a:ext cx="330000" cy="330000"/>
          </a:xfrm>
          <a:prstGeom prst="rect">
            <a:avLst/>
          </a:prstGeom>
        </p:spPr>
      </p:pic>
      <p:sp>
        <p:nvSpPr>
          <p:cNvPr id="24" name="TextBox 23"/>
          <p:cNvSpPr txBox="1"/>
          <p:nvPr/>
        </p:nvSpPr>
        <p:spPr>
          <a:xfrm>
            <a:off x="8744666" y="1670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Node Affinity</a:t>
            </a:r>
          </a:p>
        </p:txBody>
      </p:sp>
      <p:sp>
        <p:nvSpPr>
          <p:cNvPr id="25" name="TextBox 24"/>
          <p:cNvSpPr txBox="1"/>
          <p:nvPr/>
        </p:nvSpPr>
        <p:spPr>
          <a:xfrm>
            <a:off x="8334666" y="2030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Como nodeSelector pero con operadores, y con variante preferida que puntúa sin filtrar.</a:t>
            </a:r>
          </a:p>
        </p:txBody>
      </p:sp>
      <p:sp>
        <p:nvSpPr>
          <p:cNvPr id="26" name="Rounded Rectangle 25"/>
          <p:cNvSpPr/>
          <p:nvPr/>
        </p:nvSpPr>
        <p:spPr>
          <a:xfrm>
            <a:off x="620000" y="2925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44000" y="2925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Oval 27"/>
          <p:cNvSpPr/>
          <p:nvPr/>
        </p:nvSpPr>
        <p:spPr>
          <a:xfrm>
            <a:off x="820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pic>
        <p:nvPicPr>
          <p:cNvPr id="29" name="Picture 28" descr="cp-sched.png"/>
          <p:cNvPicPr>
            <a:picLocks noChangeAspect="1"/>
          </p:cNvPicPr>
          <p:nvPr/>
        </p:nvPicPr>
        <p:blipFill>
          <a:blip r:embed="rId2"/>
          <a:stretch>
            <a:fillRect/>
          </a:stretch>
        </p:blipFill>
        <p:spPr>
          <a:xfrm>
            <a:off x="3527333" y="3131000"/>
            <a:ext cx="330000" cy="330000"/>
          </a:xfrm>
          <a:prstGeom prst="rect">
            <a:avLst/>
          </a:prstGeom>
        </p:spPr>
      </p:pic>
      <p:sp>
        <p:nvSpPr>
          <p:cNvPr id="30" name="TextBox 29"/>
          <p:cNvSpPr txBox="1"/>
          <p:nvPr/>
        </p:nvSpPr>
        <p:spPr>
          <a:xfrm>
            <a:off x="1230000" y="3125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Pod (Anti-)Affinity</a:t>
            </a:r>
          </a:p>
        </p:txBody>
      </p:sp>
      <p:sp>
        <p:nvSpPr>
          <p:cNvPr id="31" name="TextBox 30"/>
          <p:cNvSpPr txBox="1"/>
          <p:nvPr/>
        </p:nvSpPr>
        <p:spPr>
          <a:xfrm>
            <a:off x="820000" y="3485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Coloca o separa Pods según los labels de otros Pods. topologyKey define el ámbito.</a:t>
            </a:r>
          </a:p>
        </p:txBody>
      </p:sp>
      <p:sp>
        <p:nvSpPr>
          <p:cNvPr id="32" name="Rounded Rectangle 31"/>
          <p:cNvSpPr/>
          <p:nvPr/>
        </p:nvSpPr>
        <p:spPr>
          <a:xfrm>
            <a:off x="4377333" y="2925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Rectangle 32"/>
          <p:cNvSpPr/>
          <p:nvPr/>
        </p:nvSpPr>
        <p:spPr>
          <a:xfrm>
            <a:off x="4401333" y="2925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Oval 33"/>
          <p:cNvSpPr/>
          <p:nvPr/>
        </p:nvSpPr>
        <p:spPr>
          <a:xfrm>
            <a:off x="4577333"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pic>
        <p:nvPicPr>
          <p:cNvPr id="35" name="Picture 34" descr="cp-sched.png"/>
          <p:cNvPicPr>
            <a:picLocks noChangeAspect="1"/>
          </p:cNvPicPr>
          <p:nvPr/>
        </p:nvPicPr>
        <p:blipFill>
          <a:blip r:embed="rId2"/>
          <a:stretch>
            <a:fillRect/>
          </a:stretch>
        </p:blipFill>
        <p:spPr>
          <a:xfrm>
            <a:off x="7284666" y="3131000"/>
            <a:ext cx="330000" cy="330000"/>
          </a:xfrm>
          <a:prstGeom prst="rect">
            <a:avLst/>
          </a:prstGeom>
        </p:spPr>
      </p:pic>
      <p:sp>
        <p:nvSpPr>
          <p:cNvPr id="36" name="TextBox 35"/>
          <p:cNvSpPr txBox="1"/>
          <p:nvPr/>
        </p:nvSpPr>
        <p:spPr>
          <a:xfrm>
            <a:off x="4987333" y="3125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PriorityClass</a:t>
            </a:r>
          </a:p>
        </p:txBody>
      </p:sp>
      <p:sp>
        <p:nvSpPr>
          <p:cNvPr id="37" name="TextBox 36"/>
          <p:cNvSpPr txBox="1"/>
          <p:nvPr/>
        </p:nvSpPr>
        <p:spPr>
          <a:xfrm>
            <a:off x="4577333" y="3485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Da preferencia a cargas críticas y permite desalojar (preemption) las de menor prioridad.</a:t>
            </a:r>
          </a:p>
        </p:txBody>
      </p:sp>
      <p:sp>
        <p:nvSpPr>
          <p:cNvPr id="38" name="Rounded Rectangle 37"/>
          <p:cNvSpPr/>
          <p:nvPr/>
        </p:nvSpPr>
        <p:spPr>
          <a:xfrm>
            <a:off x="8134666" y="2925000"/>
            <a:ext cx="3437333"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9" name="Rectangle 38"/>
          <p:cNvSpPr/>
          <p:nvPr/>
        </p:nvSpPr>
        <p:spPr>
          <a:xfrm>
            <a:off x="8158666" y="2925000"/>
            <a:ext cx="3389333"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0" name="Oval 39"/>
          <p:cNvSpPr/>
          <p:nvPr/>
        </p:nvSpPr>
        <p:spPr>
          <a:xfrm>
            <a:off x="8334666"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6</a:t>
            </a:r>
          </a:p>
        </p:txBody>
      </p:sp>
      <p:pic>
        <p:nvPicPr>
          <p:cNvPr id="41" name="Picture 40" descr="limits.png"/>
          <p:cNvPicPr>
            <a:picLocks noChangeAspect="1"/>
          </p:cNvPicPr>
          <p:nvPr/>
        </p:nvPicPr>
        <p:blipFill>
          <a:blip r:embed="rId3"/>
          <a:stretch>
            <a:fillRect/>
          </a:stretch>
        </p:blipFill>
        <p:spPr>
          <a:xfrm>
            <a:off x="11042000" y="3131000"/>
            <a:ext cx="330000" cy="330000"/>
          </a:xfrm>
          <a:prstGeom prst="rect">
            <a:avLst/>
          </a:prstGeom>
        </p:spPr>
      </p:pic>
      <p:sp>
        <p:nvSpPr>
          <p:cNvPr id="42" name="TextBox 41"/>
          <p:cNvSpPr txBox="1"/>
          <p:nvPr/>
        </p:nvSpPr>
        <p:spPr>
          <a:xfrm>
            <a:off x="8744666" y="3125000"/>
            <a:ext cx="2407333"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Recursos</a:t>
            </a:r>
          </a:p>
        </p:txBody>
      </p:sp>
      <p:sp>
        <p:nvSpPr>
          <p:cNvPr id="43" name="TextBox 42"/>
          <p:cNvSpPr txBox="1"/>
          <p:nvPr/>
        </p:nvSpPr>
        <p:spPr>
          <a:xfrm>
            <a:off x="8334666" y="3485000"/>
            <a:ext cx="3037333"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requests reserva capacidad. Si no cabe en ningún nodo, Pending. Es la causa más frecuente.</a:t>
            </a:r>
          </a:p>
        </p:txBody>
      </p:sp>
      <p:sp>
        <p:nvSpPr>
          <p:cNvPr id="44" name="Rounded Rectangle 43"/>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5" name="Rectangle 44"/>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6" name="TextBox 45"/>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50" b="0" i="0">
                <a:solidFill>
                  <a:srgbClr val="BDC9DB"/>
                </a:solidFill>
                <a:latin typeface="Segoe UI"/>
              </a:rPr>
              <a:t>Hay dos familias de mecanismos. Los que atraen o restringen por características del nodo: nodeSelector (igualdad exacta sobre labels de nodo, simple y suficiente casi siempre) y node affinity (lo mismo con operadores In, NotIn, Exists y una variante preferida que puntúa sin filtrar). Los taints hacen lo contrario: repelen; un nodo con un taint solo acepta Pods que lo toleren explícitamente, y la toleration únicamente levanta el veto, no atrae.</a:t>
            </a:r>
          </a:p>
          <a:p>
            <a:pPr algn="l" marL="0" indent="0">
              <a:lnSpc>
                <a:spcPct val="128000"/>
              </a:lnSpc>
              <a:spcBef>
                <a:spcPts val="0"/>
              </a:spcBef>
              <a:spcAft>
                <a:spcPts val="400"/>
              </a:spcAft>
              <a:buNone/>
            </a:pPr>
            <a:r>
              <a:rPr sz="1050" b="0" i="0">
                <a:solidFill>
                  <a:srgbClr val="BDC9DB"/>
                </a:solidFill>
                <a:latin typeface="Segoe UI"/>
              </a:rPr>
              <a:t>Los que dependen de otros Pods: pod affinity y anti-affinity colocan o separan Pods según los labels de Pods ya existentes, usando topologyKey para definir el ámbito (mismo nodo, misma zona). Es como se reparten las réplicas de un Deployment por varios nodos.</a:t>
            </a:r>
          </a:p>
          <a:p>
            <a:pPr algn="l" marL="0" indent="0">
              <a:lnSpc>
                <a:spcPct val="128000"/>
              </a:lnSpc>
              <a:spcBef>
                <a:spcPts val="0"/>
              </a:spcBef>
              <a:spcAft>
                <a:spcPts val="400"/>
              </a:spcAft>
              <a:buNone/>
            </a:pPr>
            <a:r>
              <a:rPr sz="1050" b="0" i="0">
                <a:solidFill>
                  <a:srgbClr val="BDC9DB"/>
                </a:solidFill>
                <a:latin typeface="Segoe UI"/>
              </a:rPr>
              <a:t>Y dos transversales: PriorityClass da preferencia a cargas críticas y permite desalojar (preemption) Pods de menor prioridad cuando no hay sitio; y los requests de recursos, que reservan capacidad: si el Pod no cabe en ningún nodo queda Pending, y esta es, con diferencia, la causa más frecuente.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MATIZ CRÍTICO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required frente a preferred</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20</a:t>
            </a:r>
          </a:p>
        </p:txBody>
      </p:sp>
      <p:sp>
        <p:nvSpPr>
          <p:cNvPr id="8" name="Freeform 7"/>
          <p:cNvSpPr/>
          <p:nvPr/>
        </p:nvSpPr>
        <p:spPr>
          <a:xfrm>
            <a:off x="10970400" y="326200"/>
            <a:ext cx="563200" cy="512000"/>
          </a:xfrm>
          <a:custGeom>
            <a:avLst/>
            <a:gdLst/>
            <a:ahLst/>
            <a:cxnLst/>
            <a:rect l="l" t="t" r="r" b="b"/>
            <a:pathLst>
              <a:path w="563200" h="512000">
                <a:moveTo>
                  <a:pt x="281600" y="0"/>
                </a:moveTo>
                <a:lnTo>
                  <a:pt x="563200" y="512000"/>
                </a:lnTo>
                <a:lnTo>
                  <a:pt x="0" y="512000"/>
                </a:lnTo>
                <a:close/>
              </a:path>
            </a:pathLst>
          </a:cu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11252000" y="518200"/>
            <a:ext cx="0" cy="153600"/>
          </a:xfrm>
          <a:prstGeom prst="line">
            <a:avLst/>
          </a:prstGeom>
          <a:ln w="4953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1220000" y="716600"/>
            <a:ext cx="64000" cy="64000"/>
          </a:xfrm>
          <a:prstGeom prst="ellipse">
            <a:avLst/>
          </a:prstGeom>
          <a:solidFill>
            <a:srgbClr val="74A6FF"/>
          </a:solidFill>
          <a:ln w="635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0000" y="1569000"/>
            <a:ext cx="5316000" cy="2472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Rectangle 11"/>
          <p:cNvSpPr/>
          <p:nvPr/>
        </p:nvSpPr>
        <p:spPr>
          <a:xfrm>
            <a:off x="644000" y="1569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880000" y="1829000"/>
            <a:ext cx="4796000" cy="560000"/>
          </a:xfrm>
          <a:prstGeom prst="rect">
            <a:avLst/>
          </a:prstGeom>
          <a:noFill/>
        </p:spPr>
        <p:txBody>
          <a:bodyPr wrap="square" anchor="t" lIns="0" rIns="0" tIns="0" bIns="0">
            <a:noAutofit/>
          </a:bodyPr>
          <a:lstStyle/>
          <a:p>
            <a:pPr algn="l" marL="0" indent="0">
              <a:lnSpc>
                <a:spcPct val="100000"/>
              </a:lnSpc>
              <a:spcBef>
                <a:spcPts val="0"/>
              </a:spcBef>
              <a:spcAft>
                <a:spcPts val="700"/>
              </a:spcAft>
              <a:buNone/>
            </a:pPr>
            <a:r>
              <a:rPr sz="1000" b="1" i="0" spc="180">
                <a:solidFill>
                  <a:srgbClr val="74A6FF"/>
                </a:solidFill>
                <a:latin typeface="Segoe UI Semibold"/>
              </a:rPr>
              <a:t>FILTRA</a:t>
            </a:r>
          </a:p>
          <a:p>
            <a:pPr algn="l" marL="0" indent="0">
              <a:lnSpc>
                <a:spcPct val="105000"/>
              </a:lnSpc>
              <a:spcBef>
                <a:spcPts val="0"/>
              </a:spcBef>
              <a:spcAft>
                <a:spcPts val="400"/>
              </a:spcAft>
              <a:buNone/>
            </a:pPr>
            <a:r>
              <a:rPr sz="1600" b="1" i="0">
                <a:solidFill>
                  <a:srgbClr val="F3F6FC"/>
                </a:solidFill>
                <a:latin typeface="Segoe UI Semibold"/>
              </a:rPr>
              <a:t>requiredDuringScheduling…</a:t>
            </a:r>
          </a:p>
        </p:txBody>
      </p:sp>
      <p:sp>
        <p:nvSpPr>
          <p:cNvPr id="14" name="TextBox 13"/>
          <p:cNvSpPr txBox="1"/>
          <p:nvPr/>
        </p:nvSpPr>
        <p:spPr>
          <a:xfrm>
            <a:off x="880000" y="2389000"/>
            <a:ext cx="4796000" cy="1472000"/>
          </a:xfrm>
          <a:prstGeom prst="rect">
            <a:avLst/>
          </a:prstGeom>
          <a:noFill/>
        </p:spPr>
        <p:txBody>
          <a:bodyPr wrap="square" anchor="t" lIns="0" rIns="0" tIns="0" bIns="0">
            <a:noAutofit/>
          </a:bodyPr>
          <a:lstStyle/>
          <a:p/>
          <a:p>
            <a:pPr algn="l" marL="182880" indent="-182880">
              <a:lnSpc>
                <a:spcPct val="116000"/>
              </a:lnSpc>
              <a:spcBef>
                <a:spcPts val="0"/>
              </a:spcBef>
              <a:spcAft>
                <a:spcPts val="800"/>
              </a:spcAft>
              <a:buFont typeface="Arial"/>
              <a:buChar char="•"/>
            </a:pPr>
            <a:r>
              <a:rPr sz="1100" b="0" i="0">
                <a:solidFill>
                  <a:srgbClr val="BDC9DB"/>
                </a:solidFill>
                <a:latin typeface="Segoe UI"/>
              </a:rPr>
              <a:t>Si ningún nodo cumple, el Pod queda Pending.</a:t>
            </a:r>
          </a:p>
          <a:p>
            <a:pPr algn="l" marL="182880" indent="-182880">
              <a:lnSpc>
                <a:spcPct val="116000"/>
              </a:lnSpc>
              <a:spcBef>
                <a:spcPts val="0"/>
              </a:spcBef>
              <a:spcAft>
                <a:spcPts val="800"/>
              </a:spcAft>
              <a:buFont typeface="Arial"/>
              <a:buChar char="•"/>
            </a:pPr>
            <a:r>
              <a:rPr sz="1100" b="0" i="0">
                <a:solidFill>
                  <a:srgbClr val="BDC9DB"/>
                </a:solidFill>
                <a:latin typeface="Segoe UI"/>
              </a:rPr>
              <a:t>Es una condición, no una preferencia.</a:t>
            </a:r>
          </a:p>
          <a:p>
            <a:pPr algn="l" marL="182880" indent="-182880">
              <a:lnSpc>
                <a:spcPct val="116000"/>
              </a:lnSpc>
              <a:spcBef>
                <a:spcPts val="0"/>
              </a:spcBef>
              <a:spcAft>
                <a:spcPts val="800"/>
              </a:spcAft>
              <a:buFont typeface="Arial"/>
              <a:buChar char="•"/>
            </a:pPr>
            <a:r>
              <a:rPr sz="1100" b="0" i="0">
                <a:solidFill>
                  <a:srgbClr val="BDC9DB"/>
                </a:solidFill>
                <a:latin typeface="Segoe UI"/>
              </a:rPr>
              <a:t>Equivale a nodeSelector, con más operadores.</a:t>
            </a:r>
          </a:p>
          <a:p>
            <a:pPr algn="l" marL="182880" indent="-182880">
              <a:lnSpc>
                <a:spcPct val="116000"/>
              </a:lnSpc>
              <a:spcBef>
                <a:spcPts val="0"/>
              </a:spcBef>
              <a:spcAft>
                <a:spcPts val="800"/>
              </a:spcAft>
              <a:buFont typeface="Arial"/>
              <a:buChar char="•"/>
            </a:pPr>
            <a:r>
              <a:rPr sz="1100" b="0" i="0">
                <a:solidFill>
                  <a:srgbClr val="BDC9DB"/>
                </a:solidFill>
                <a:latin typeface="Segoe UI"/>
              </a:rPr>
              <a:t>Es lo único que puede dejarte un Pod sin arrancar.</a:t>
            </a:r>
          </a:p>
        </p:txBody>
      </p:sp>
      <p:sp>
        <p:nvSpPr>
          <p:cNvPr id="15" name="Rounded Rectangle 14"/>
          <p:cNvSpPr/>
          <p:nvPr/>
        </p:nvSpPr>
        <p:spPr>
          <a:xfrm>
            <a:off x="6256000" y="1569000"/>
            <a:ext cx="5316000" cy="2472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Rectangle 15"/>
          <p:cNvSpPr/>
          <p:nvPr/>
        </p:nvSpPr>
        <p:spPr>
          <a:xfrm>
            <a:off x="6280000" y="1569000"/>
            <a:ext cx="5268000" cy="4600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7" name="TextBox 16"/>
          <p:cNvSpPr txBox="1"/>
          <p:nvPr/>
        </p:nvSpPr>
        <p:spPr>
          <a:xfrm>
            <a:off x="6516000" y="1829000"/>
            <a:ext cx="4796000" cy="560000"/>
          </a:xfrm>
          <a:prstGeom prst="rect">
            <a:avLst/>
          </a:prstGeom>
          <a:noFill/>
        </p:spPr>
        <p:txBody>
          <a:bodyPr wrap="square" anchor="t" lIns="0" rIns="0" tIns="0" bIns="0">
            <a:noAutofit/>
          </a:bodyPr>
          <a:lstStyle/>
          <a:p>
            <a:pPr algn="l" marL="0" indent="0">
              <a:lnSpc>
                <a:spcPct val="100000"/>
              </a:lnSpc>
              <a:spcBef>
                <a:spcPts val="0"/>
              </a:spcBef>
              <a:spcAft>
                <a:spcPts val="700"/>
              </a:spcAft>
              <a:buNone/>
            </a:pPr>
            <a:r>
              <a:rPr sz="1000" b="1" i="0" spc="180">
                <a:solidFill>
                  <a:srgbClr val="F0C96B"/>
                </a:solidFill>
                <a:latin typeface="Segoe UI Semibold"/>
              </a:rPr>
              <a:t>PUNTÚA</a:t>
            </a:r>
          </a:p>
          <a:p>
            <a:pPr algn="l" marL="0" indent="0">
              <a:lnSpc>
                <a:spcPct val="105000"/>
              </a:lnSpc>
              <a:spcBef>
                <a:spcPts val="0"/>
              </a:spcBef>
              <a:spcAft>
                <a:spcPts val="400"/>
              </a:spcAft>
              <a:buNone/>
            </a:pPr>
            <a:r>
              <a:rPr sz="1600" b="1" i="0">
                <a:solidFill>
                  <a:srgbClr val="F3F6FC"/>
                </a:solidFill>
                <a:latin typeface="Segoe UI Semibold"/>
              </a:rPr>
              <a:t>preferredDuringScheduling…</a:t>
            </a:r>
          </a:p>
        </p:txBody>
      </p:sp>
      <p:sp>
        <p:nvSpPr>
          <p:cNvPr id="18" name="TextBox 17"/>
          <p:cNvSpPr txBox="1"/>
          <p:nvPr/>
        </p:nvSpPr>
        <p:spPr>
          <a:xfrm>
            <a:off x="6516000" y="2389000"/>
            <a:ext cx="4796000" cy="1472000"/>
          </a:xfrm>
          <a:prstGeom prst="rect">
            <a:avLst/>
          </a:prstGeom>
          <a:noFill/>
        </p:spPr>
        <p:txBody>
          <a:bodyPr wrap="square" anchor="t" lIns="0" rIns="0" tIns="0" bIns="0">
            <a:noAutofit/>
          </a:bodyPr>
          <a:lstStyle/>
          <a:p/>
          <a:p>
            <a:pPr algn="l" marL="182880" indent="-182880">
              <a:lnSpc>
                <a:spcPct val="116000"/>
              </a:lnSpc>
              <a:spcBef>
                <a:spcPts val="0"/>
              </a:spcBef>
              <a:spcAft>
                <a:spcPts val="800"/>
              </a:spcAft>
              <a:buFont typeface="Arial"/>
              <a:buChar char="•"/>
            </a:pPr>
            <a:r>
              <a:rPr sz="1100" b="0" i="0">
                <a:solidFill>
                  <a:srgbClr val="BDC9DB"/>
                </a:solidFill>
                <a:latin typeface="Segoe UI"/>
              </a:rPr>
              <a:t>Si ningún nodo cumple, el Pod se programa igual.</a:t>
            </a:r>
          </a:p>
          <a:p>
            <a:pPr algn="l" marL="182880" indent="-182880">
              <a:lnSpc>
                <a:spcPct val="116000"/>
              </a:lnSpc>
              <a:spcBef>
                <a:spcPts val="0"/>
              </a:spcBef>
              <a:spcAft>
                <a:spcPts val="800"/>
              </a:spcAft>
              <a:buFont typeface="Arial"/>
              <a:buChar char="•"/>
            </a:pPr>
            <a:r>
              <a:rPr sz="1100" b="0" i="0">
                <a:solidFill>
                  <a:srgbClr val="BDC9DB"/>
                </a:solidFill>
                <a:latin typeface="Segoe UI"/>
              </a:rPr>
              <a:t>Suma weight (1–100) a la puntuación del nodo.</a:t>
            </a:r>
          </a:p>
          <a:p>
            <a:pPr algn="l" marL="182880" indent="-182880">
              <a:lnSpc>
                <a:spcPct val="116000"/>
              </a:lnSpc>
              <a:spcBef>
                <a:spcPts val="0"/>
              </a:spcBef>
              <a:spcAft>
                <a:spcPts val="800"/>
              </a:spcAft>
              <a:buFont typeface="Arial"/>
              <a:buChar char="•"/>
            </a:pPr>
            <a:r>
              <a:rPr sz="1100" b="0" i="0">
                <a:solidFill>
                  <a:srgbClr val="BDC9DB"/>
                </a:solidFill>
                <a:latin typeface="Segoe UI"/>
              </a:rPr>
              <a:t>Su estructura es distinta: lista de {weight, preference}.</a:t>
            </a:r>
          </a:p>
          <a:p>
            <a:pPr algn="l" marL="182880" indent="-182880">
              <a:lnSpc>
                <a:spcPct val="116000"/>
              </a:lnSpc>
              <a:spcBef>
                <a:spcPts val="0"/>
              </a:spcBef>
              <a:spcAft>
                <a:spcPts val="800"/>
              </a:spcAft>
              <a:buFont typeface="Arial"/>
              <a:buChar char="•"/>
            </a:pPr>
            <a:r>
              <a:rPr sz="1100" b="0" i="0">
                <a:solidFill>
                  <a:srgbClr val="BDC9DB"/>
                </a:solidFill>
                <a:latin typeface="Segoe UI"/>
              </a:rPr>
              <a:t>Nunca deja un Pod en Pending.</a:t>
            </a:r>
          </a:p>
        </p:txBody>
      </p:sp>
      <p:sp>
        <p:nvSpPr>
          <p:cNvPr id="19" name="Rounded Rectangle 18"/>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requiredDuringSchedulingIgnoredDuringExecution es una condición dura: forma parte del filtrado, así que si ningún nodo la cumple el Pod se queda en Pending. Equivale a un nodeSelector con operadores. Su estructura es una lista de nodeSelectorTerms, y dentro de cada término las matchExpressions se combinan con AND.</a:t>
            </a:r>
          </a:p>
          <a:p>
            <a:pPr algn="l" marL="0" indent="0">
              <a:lnSpc>
                <a:spcPct val="128000"/>
              </a:lnSpc>
              <a:spcBef>
                <a:spcPts val="0"/>
              </a:spcBef>
              <a:spcAft>
                <a:spcPts val="400"/>
              </a:spcAft>
              <a:buNone/>
            </a:pPr>
            <a:r>
              <a:rPr sz="1000" b="0" i="0">
                <a:solidFill>
                  <a:srgbClr val="BDC9DB"/>
                </a:solidFill>
                <a:latin typeface="Segoe UI"/>
              </a:rPr>
              <a:t>preferredDuringSchedulingIgnoredDuringExecution es una preferencia blanda: interviene solo en la puntuación. Si ningún nodo la cumple, el Pod se programa igual en el mejor disponible. Su estructura es distinta: una lista de objetos {weight, preference}, donde weight (1–100) es cuánto suma a la nota del nodo. Nunca deja un Pod sin arrancar.</a:t>
            </a:r>
          </a:p>
          <a:p>
            <a:pPr algn="l" marL="0" indent="0">
              <a:lnSpc>
                <a:spcPct val="128000"/>
              </a:lnSpc>
              <a:spcBef>
                <a:spcPts val="0"/>
              </a:spcBef>
              <a:spcAft>
                <a:spcPts val="400"/>
              </a:spcAft>
              <a:buNone/>
            </a:pPr>
            <a:r>
              <a:rPr sz="1000" b="0" i="0">
                <a:solidFill>
                  <a:srgbClr val="BDC9DB"/>
                </a:solidFill>
                <a:latin typeface="Segoe UI"/>
              </a:rPr>
              <a:t>El sufijo IgnoredDuringExecution significa que la regla solo se evalúa al programar: si más tarde cambian los labels del nodo, el Pod que ya está corriendo no se mueve. La contrapartida RequiredDuringExecution, que sí expulsaría Pods, aún no está implementada.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SINTAXIS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Los fragmentos que hay que saber escribir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21</a:t>
            </a:r>
          </a:p>
        </p:txBody>
      </p:sp>
      <p:sp>
        <p:nvSpPr>
          <p:cNvPr id="8" name="Freeform 7"/>
          <p:cNvSpPr/>
          <p:nvPr/>
        </p:nvSpPr>
        <p:spPr>
          <a:xfrm>
            <a:off x="11034400" y="300600"/>
            <a:ext cx="448000" cy="588800"/>
          </a:xfrm>
          <a:custGeom>
            <a:avLst/>
            <a:gdLst/>
            <a:ahLst/>
            <a:cxnLst/>
            <a:rect l="l" t="t" r="r" b="b"/>
            <a:pathLst>
              <a:path w="448000" h="588800">
                <a:moveTo>
                  <a:pt x="0" y="0"/>
                </a:moveTo>
                <a:lnTo>
                  <a:pt x="345600" y="0"/>
                </a:lnTo>
                <a:lnTo>
                  <a:pt x="448000" y="102400"/>
                </a:lnTo>
                <a:lnTo>
                  <a:pt x="448000" y="588800"/>
                </a:lnTo>
                <a:lnTo>
                  <a:pt x="0" y="588800"/>
                </a:lnTo>
                <a:close/>
              </a:path>
            </a:pathLst>
          </a:cu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11380000" y="300600"/>
            <a:ext cx="0" cy="1024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380000" y="403000"/>
            <a:ext cx="1024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11200" y="5438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11200" y="6462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111200" y="7486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0000" y="1510000"/>
            <a:ext cx="10952000" cy="1496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620000" y="1510000"/>
            <a:ext cx="46000" cy="149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850000" y="1630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NODESELECTOR Y TOLERATION</a:t>
            </a:r>
          </a:p>
        </p:txBody>
      </p:sp>
      <p:sp>
        <p:nvSpPr>
          <p:cNvPr id="17" name="TextBox 16"/>
          <p:cNvSpPr txBox="1"/>
          <p:nvPr/>
        </p:nvSpPr>
        <p:spPr>
          <a:xfrm>
            <a:off x="890000" y="1910000"/>
            <a:ext cx="10412000" cy="1036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nodeSelector: {environment: production}</a:t>
            </a:r>
          </a:p>
          <a:p>
            <a:pPr marL="0" indent="0">
              <a:lnSpc>
                <a:spcPct val="134000"/>
              </a:lnSpc>
              <a:spcAft>
                <a:spcPts val="0"/>
              </a:spcAft>
              <a:buNone/>
            </a:pPr>
            <a:r>
              <a:rPr sz="1100" b="0" i="0">
                <a:solidFill>
                  <a:srgbClr val="E6EDF3"/>
                </a:solidFill>
                <a:latin typeface="Consolas"/>
              </a:rPr>
              <a:t/>
            </a:r>
          </a:p>
          <a:p>
            <a:pPr marL="0" indent="0">
              <a:lnSpc>
                <a:spcPct val="134000"/>
              </a:lnSpc>
              <a:spcAft>
                <a:spcPts val="0"/>
              </a:spcAft>
              <a:buNone/>
            </a:pPr>
            <a:r>
              <a:rPr sz="1100" b="0" i="0">
                <a:solidFill>
                  <a:srgbClr val="E6EDF3"/>
                </a:solidFill>
                <a:latin typeface="Consolas"/>
              </a:rPr>
              <a:t>tolerations:</a:t>
            </a:r>
          </a:p>
          <a:p>
            <a:pPr marL="0" indent="0">
              <a:lnSpc>
                <a:spcPct val="134000"/>
              </a:lnSpc>
              <a:spcAft>
                <a:spcPts val="0"/>
              </a:spcAft>
              <a:buNone/>
            </a:pPr>
            <a:r>
              <a:rPr sz="1100" b="0" i="0">
                <a:solidFill>
                  <a:srgbClr val="E6EDF3"/>
                </a:solidFill>
                <a:latin typeface="Consolas"/>
              </a:rPr>
              <a:t>  - {key: team, operator: Equal, value: data, effect: NoSchedule}</a:t>
            </a:r>
          </a:p>
        </p:txBody>
      </p:sp>
      <p:sp>
        <p:nvSpPr>
          <p:cNvPr id="18" name="Rounded Rectangle 17"/>
          <p:cNvSpPr/>
          <p:nvPr/>
        </p:nvSpPr>
        <p:spPr>
          <a:xfrm>
            <a:off x="620000" y="3206000"/>
            <a:ext cx="10952000" cy="3064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Rectangle 18"/>
          <p:cNvSpPr/>
          <p:nvPr/>
        </p:nvSpPr>
        <p:spPr>
          <a:xfrm>
            <a:off x="620000" y="3206000"/>
            <a:ext cx="46000" cy="3064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TextBox 19"/>
          <p:cNvSpPr txBox="1"/>
          <p:nvPr/>
        </p:nvSpPr>
        <p:spPr>
          <a:xfrm>
            <a:off x="850000" y="332600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NODE AFFINITY CON REGLA OBLIGATORIA Y PREFERIDA</a:t>
            </a:r>
          </a:p>
        </p:txBody>
      </p:sp>
      <p:sp>
        <p:nvSpPr>
          <p:cNvPr id="21" name="TextBox 20"/>
          <p:cNvSpPr txBox="1"/>
          <p:nvPr/>
        </p:nvSpPr>
        <p:spPr>
          <a:xfrm>
            <a:off x="890000" y="3606000"/>
            <a:ext cx="10412000" cy="2604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affinity:</a:t>
            </a:r>
          </a:p>
          <a:p>
            <a:pPr marL="0" indent="0">
              <a:lnSpc>
                <a:spcPct val="134000"/>
              </a:lnSpc>
              <a:spcAft>
                <a:spcPts val="0"/>
              </a:spcAft>
              <a:buNone/>
            </a:pPr>
            <a:r>
              <a:rPr sz="1100" b="0" i="0">
                <a:solidFill>
                  <a:srgbClr val="E6EDF3"/>
                </a:solidFill>
                <a:latin typeface="Consolas"/>
              </a:rPr>
              <a:t>  nodeAffinity:</a:t>
            </a:r>
          </a:p>
          <a:p>
            <a:pPr marL="0" indent="0">
              <a:lnSpc>
                <a:spcPct val="134000"/>
              </a:lnSpc>
              <a:spcAft>
                <a:spcPts val="0"/>
              </a:spcAft>
              <a:buNone/>
            </a:pPr>
            <a:r>
              <a:rPr sz="1100" b="0" i="0">
                <a:solidFill>
                  <a:srgbClr val="E6EDF3"/>
                </a:solidFill>
                <a:latin typeface="Consolas"/>
              </a:rPr>
              <a:t>    requiredDuringSchedulingIgnoredDuringExecution:</a:t>
            </a:r>
          </a:p>
          <a:p>
            <a:pPr marL="0" indent="0">
              <a:lnSpc>
                <a:spcPct val="134000"/>
              </a:lnSpc>
              <a:spcAft>
                <a:spcPts val="0"/>
              </a:spcAft>
              <a:buNone/>
            </a:pPr>
            <a:r>
              <a:rPr sz="1100" b="0" i="0">
                <a:solidFill>
                  <a:srgbClr val="E6EDF3"/>
                </a:solidFill>
                <a:latin typeface="Consolas"/>
              </a:rPr>
              <a:t>      nodeSelectorTerms:</a:t>
            </a:r>
          </a:p>
          <a:p>
            <a:pPr marL="0" indent="0">
              <a:lnSpc>
                <a:spcPct val="134000"/>
              </a:lnSpc>
              <a:spcAft>
                <a:spcPts val="0"/>
              </a:spcAft>
              <a:buNone/>
            </a:pPr>
            <a:r>
              <a:rPr sz="1100" b="0" i="0">
                <a:solidFill>
                  <a:srgbClr val="E6EDF3"/>
                </a:solidFill>
                <a:latin typeface="Consolas"/>
              </a:rPr>
              <a:t>        - matchExpressions:</a:t>
            </a:r>
          </a:p>
          <a:p>
            <a:pPr marL="0" indent="0">
              <a:lnSpc>
                <a:spcPct val="134000"/>
              </a:lnSpc>
              <a:spcAft>
                <a:spcPts val="0"/>
              </a:spcAft>
              <a:buNone/>
            </a:pPr>
            <a:r>
              <a:rPr sz="1100" b="0" i="0">
                <a:solidFill>
                  <a:srgbClr val="E6EDF3"/>
                </a:solidFill>
                <a:latin typeface="Consolas"/>
              </a:rPr>
              <a:t>            - {key: environment, operator: In, values: [production, staging]}</a:t>
            </a:r>
          </a:p>
          <a:p>
            <a:pPr marL="0" indent="0">
              <a:lnSpc>
                <a:spcPct val="134000"/>
              </a:lnSpc>
              <a:spcAft>
                <a:spcPts val="0"/>
              </a:spcAft>
              <a:buNone/>
            </a:pPr>
            <a:r>
              <a:rPr sz="1100" b="0" i="0">
                <a:solidFill>
                  <a:srgbClr val="E6EDF3"/>
                </a:solidFill>
                <a:latin typeface="Consolas"/>
              </a:rPr>
              <a:t>    preferredDuringSchedulingIgnoredDuringExecution:</a:t>
            </a:r>
          </a:p>
          <a:p>
            <a:pPr marL="0" indent="0">
              <a:lnSpc>
                <a:spcPct val="134000"/>
              </a:lnSpc>
              <a:spcAft>
                <a:spcPts val="0"/>
              </a:spcAft>
              <a:buNone/>
            </a:pPr>
            <a:r>
              <a:rPr sz="1100" b="0" i="0">
                <a:solidFill>
                  <a:srgbClr val="E6EDF3"/>
                </a:solidFill>
                <a:latin typeface="Consolas"/>
              </a:rPr>
              <a:t>      - weight: 60</a:t>
            </a:r>
          </a:p>
          <a:p>
            <a:pPr marL="0" indent="0">
              <a:lnSpc>
                <a:spcPct val="134000"/>
              </a:lnSpc>
              <a:spcAft>
                <a:spcPts val="0"/>
              </a:spcAft>
              <a:buNone/>
            </a:pPr>
            <a:r>
              <a:rPr sz="1100" b="0" i="0">
                <a:solidFill>
                  <a:srgbClr val="E6EDF3"/>
                </a:solidFill>
                <a:latin typeface="Consolas"/>
              </a:rPr>
              <a:t>        preference:</a:t>
            </a:r>
          </a:p>
          <a:p>
            <a:pPr marL="0" indent="0">
              <a:lnSpc>
                <a:spcPct val="134000"/>
              </a:lnSpc>
              <a:spcAft>
                <a:spcPts val="0"/>
              </a:spcAft>
              <a:buNone/>
            </a:pPr>
            <a:r>
              <a:rPr sz="1100" b="0" i="0">
                <a:solidFill>
                  <a:srgbClr val="E6EDF3"/>
                </a:solidFill>
                <a:latin typeface="Consolas"/>
              </a:rPr>
              <a:t>          matchExpressions:</a:t>
            </a:r>
          </a:p>
          <a:p>
            <a:pPr marL="0" indent="0">
              <a:lnSpc>
                <a:spcPct val="134000"/>
              </a:lnSpc>
              <a:spcAft>
                <a:spcPts val="0"/>
              </a:spcAft>
              <a:buNone/>
            </a:pPr>
            <a:r>
              <a:rPr sz="1100" b="0" i="0">
                <a:solidFill>
                  <a:srgbClr val="E6EDF3"/>
                </a:solidFill>
                <a:latin typeface="Consolas"/>
              </a:rPr>
              <a:t>            - {key: disktype, operator: In, values: [ssd]}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MENTAL MODEL</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Un Pod en Pending: ruta de diagnóstico</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22</a:t>
            </a:r>
          </a:p>
        </p:txBody>
      </p:sp>
      <p:pic>
        <p:nvPicPr>
          <p:cNvPr id="8" name="Picture 7" descr="svc.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67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90000" y="167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 Pending</a:t>
            </a:r>
          </a:p>
        </p:txBody>
      </p:sp>
      <p:cxnSp>
        <p:nvCxnSpPr>
          <p:cNvPr id="11" name="Connector 10"/>
          <p:cNvCxnSpPr/>
          <p:nvPr/>
        </p:nvCxnSpPr>
        <p:spPr>
          <a:xfrm>
            <a:off x="4154666" y="200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0666" y="167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4410666" y="167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Events</a:t>
            </a:r>
          </a:p>
        </p:txBody>
      </p:sp>
      <p:cxnSp>
        <p:nvCxnSpPr>
          <p:cNvPr id="14" name="Connector 13"/>
          <p:cNvCxnSpPr/>
          <p:nvPr/>
        </p:nvCxnSpPr>
        <p:spPr>
          <a:xfrm>
            <a:off x="7875333" y="200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61333" y="167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8131333" y="167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Recursos (requests)</a:t>
            </a:r>
          </a:p>
        </p:txBody>
      </p:sp>
      <p:cxnSp>
        <p:nvCxnSpPr>
          <p:cNvPr id="17" name="Connector 16"/>
          <p:cNvCxnSpPr/>
          <p:nvPr/>
        </p:nvCxnSpPr>
        <p:spPr>
          <a:xfrm>
            <a:off x="9816666" y="2356000"/>
            <a:ext cx="0" cy="16800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20000" y="255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690000" y="255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nodeSelector</a:t>
            </a:r>
          </a:p>
        </p:txBody>
      </p:sp>
      <p:cxnSp>
        <p:nvCxnSpPr>
          <p:cNvPr id="20" name="Connector 19"/>
          <p:cNvCxnSpPr/>
          <p:nvPr/>
        </p:nvCxnSpPr>
        <p:spPr>
          <a:xfrm>
            <a:off x="4154666" y="288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0666" y="255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4410666" y="255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Affinity</a:t>
            </a:r>
          </a:p>
        </p:txBody>
      </p:sp>
      <p:cxnSp>
        <p:nvCxnSpPr>
          <p:cNvPr id="23" name="Connector 22"/>
          <p:cNvCxnSpPr/>
          <p:nvPr/>
        </p:nvCxnSpPr>
        <p:spPr>
          <a:xfrm>
            <a:off x="7875333" y="288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61333" y="255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131333" y="255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Taints / Tolerations</a:t>
            </a:r>
          </a:p>
        </p:txBody>
      </p:sp>
      <p:sp>
        <p:nvSpPr>
          <p:cNvPr id="26" name="Rounded Rectangle 25"/>
          <p:cNvSpPr/>
          <p:nvPr/>
        </p:nvSpPr>
        <p:spPr>
          <a:xfrm>
            <a:off x="620000" y="3510000"/>
            <a:ext cx="10952000" cy="277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46000" y="3532000"/>
            <a:ext cx="40000" cy="272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TextBox 27"/>
          <p:cNvSpPr txBox="1"/>
          <p:nvPr/>
        </p:nvSpPr>
        <p:spPr>
          <a:xfrm>
            <a:off x="860000" y="3640000"/>
            <a:ext cx="10522000" cy="251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CÓMO SE APLICA</a:t>
            </a:r>
          </a:p>
          <a:p>
            <a:pPr algn="l" marL="0" indent="0">
              <a:lnSpc>
                <a:spcPct val="128000"/>
              </a:lnSpc>
              <a:spcBef>
                <a:spcPts val="0"/>
              </a:spcBef>
              <a:spcAft>
                <a:spcPts val="400"/>
              </a:spcAft>
              <a:buNone/>
            </a:pPr>
            <a:r>
              <a:rPr sz="1100" b="0" i="0">
                <a:solidFill>
                  <a:srgbClr val="BDC9DB"/>
                </a:solidFill>
                <a:latin typeface="Segoe UI"/>
              </a:rPr>
              <a:t>Un Pod en Pending casi siempre es un problema de scheduling: el scheduler no ha encontrado ningún nodo que lo pueda alojar. El primer paso, sin excepción, es leer los eventos con kubectl describe pod &lt;p&gt; | sed -n '/Events/,$p'. El mensaje FailedScheduling indica cuántos nodos hay y agrupa el motivo de rechazo de cada uno.</a:t>
            </a:r>
          </a:p>
          <a:p>
            <a:pPr algn="l" marL="0" indent="0">
              <a:lnSpc>
                <a:spcPct val="128000"/>
              </a:lnSpc>
              <a:spcBef>
                <a:spcPts val="0"/>
              </a:spcBef>
              <a:spcAft>
                <a:spcPts val="400"/>
              </a:spcAft>
              <a:buNone/>
            </a:pPr>
            <a:r>
              <a:rPr sz="1100" b="0" i="0">
                <a:solidFill>
                  <a:srgbClr val="BDC9DB"/>
                </a:solidFill>
                <a:latin typeface="Segoe UI"/>
              </a:rPr>
              <a:t>Ese mensaje suele señalar varias causas a la vez, por ejemplo: «0/3 nodes are available: 1 node(s) had untolerated taint, 2 node(s) didn't match node selector». Se revisan en este orden: recursos (¿los requests caben en algún nodo?), nodeSelector (¿existe un nodo con esos labels?), node affinity obligatoria, y taints frente a tolerations.</a:t>
            </a:r>
          </a:p>
          <a:p>
            <a:pPr algn="l" marL="0" indent="0">
              <a:lnSpc>
                <a:spcPct val="128000"/>
              </a:lnSpc>
              <a:spcBef>
                <a:spcPts val="0"/>
              </a:spcBef>
              <a:spcAft>
                <a:spcPts val="400"/>
              </a:spcAft>
              <a:buNone/>
            </a:pPr>
            <a:r>
              <a:rPr sz="1100" b="0" i="0">
                <a:solidFill>
                  <a:srgbClr val="BDC9DB"/>
                </a:solidFill>
                <a:latin typeface="Segoe UI"/>
              </a:rPr>
              <a:t>Menos frecuente, pero posible: no hay ningún nodo Ready, o el Pod pide un hostPort ya ocupado. Lo que nunca se hace es adivinar y aplicar tres cambios seguidos: se corrige una causa, se vuelve a mirar el evento y se repite.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4492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avanzado — solo requerimientos</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1.3 — Colocación de Pods</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Resolver un escenario de colocación decidiendo tú los recursos, comandos, orden y validaciones. No hay solución paso a paso.</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Reservar un nodo para el equipo de datos con un taint, y que solo un Pod pueda ir allí.</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Forzar una carga de producción con nodeSelector.</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Escribir nodeAffinity required + preferred con weight 60.</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Repartir réplicas con podAntiAffinity y provocar un FailedScheduling.</a:t>
            </a:r>
          </a:p>
        </p:txBody>
      </p:sp>
      <p:sp>
        <p:nvSpPr>
          <p:cNvPr id="14" name="Oval 13"/>
          <p:cNvSpPr/>
          <p:nvPr/>
        </p:nvSpPr>
        <p:spPr>
          <a:xfrm>
            <a:off x="640000" y="493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sp>
        <p:nvSpPr>
          <p:cNvPr id="15" name="TextBox 14"/>
          <p:cNvSpPr txBox="1"/>
          <p:nvPr/>
        </p:nvSpPr>
        <p:spPr>
          <a:xfrm>
            <a:off x="1110000" y="480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Crear PriorityClasses y documentar un evento de preemption.</a:t>
            </a:r>
          </a:p>
        </p:txBody>
      </p:sp>
      <p:sp>
        <p:nvSpPr>
          <p:cNvPr id="16" name="Freeform 15"/>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CLASE-01/LABORATORIOS/LAB-03-AVANZADO.md</a:t>
            </a:r>
          </a:p>
        </p:txBody>
      </p:sp>
      <p:sp>
        <p:nvSpPr>
          <p:cNvPr id="22" name="Rectangle 21"/>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27 min</a:t>
            </a:r>
          </a:p>
        </p:txBody>
      </p:sp>
      <p:sp>
        <p:nvSpPr>
          <p:cNvPr id="24" name="Rectangle 23"/>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nodes -L environment</a:t>
            </a:r>
          </a:p>
        </p:txBody>
      </p:sp>
      <p:sp>
        <p:nvSpPr>
          <p:cNvPr id="26" name="Rectangle 25"/>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TextBox 26"/>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28" name="TextBox 27"/>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4604000" cy="360000"/>
          </a:xfrm>
          <a:prstGeom prst="roundRect">
            <a:avLst>
              <a:gd name="adj" fmla="val 50000"/>
            </a:avLst>
          </a:prstGeom>
          <a:noFill/>
          <a:ln w="12700">
            <a:solidFill>
              <a:srgbClr val="F8514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FF7B72"/>
                </a:solidFill>
                <a:latin typeface="Segoe UI"/>
              </a:rPr>
              <a:t>Challenge — el escenario arranca roto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1.4 — Challenge: la aplicación shop no responde</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Cuatro fallos encadenados, ninguno anunciado. Identificar, diagnosticar, corregir y validar sin borrar el Deployment ni el Service.</a:t>
            </a:r>
          </a:p>
        </p:txBody>
      </p:sp>
      <p:sp>
        <p:nvSpPr>
          <p:cNvPr id="6" name="Oval 5"/>
          <p:cNvSpPr/>
          <p:nvPr/>
        </p:nvSpPr>
        <p:spPr>
          <a:xfrm>
            <a:off x="640000" y="269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Prepara el escenario: RECURSOS/SCRIPTS/setup-lab.sh</a:t>
            </a:r>
          </a:p>
        </p:txBody>
      </p:sp>
      <p:sp>
        <p:nvSpPr>
          <p:cNvPr id="8" name="Oval 7"/>
          <p:cNvSpPr/>
          <p:nvPr/>
        </p:nvSpPr>
        <p:spPr>
          <a:xfrm>
            <a:off x="640000" y="325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Documenta por cada fallo: síntoma, comando que lo reveló, causa raíz.</a:t>
            </a:r>
          </a:p>
        </p:txBody>
      </p:sp>
      <p:sp>
        <p:nvSpPr>
          <p:cNvPr id="10" name="Oval 9"/>
          <p:cNvSpPr/>
          <p:nvPr/>
        </p:nvSpPr>
        <p:spPr>
          <a:xfrm>
            <a:off x="640000" y="381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Objetivo: 3/3 réplicas Running y curl http://&lt;IP-worker&gt;:31200 devuelve 200.</a:t>
            </a:r>
          </a:p>
        </p:txBody>
      </p:sp>
      <p:sp>
        <p:nvSpPr>
          <p:cNvPr id="12" name="Oval 11"/>
          <p:cNvSpPr/>
          <p:nvPr/>
        </p:nvSpPr>
        <p:spPr>
          <a:xfrm>
            <a:off x="640000" y="437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Prohibido: eliminar y recrear. Repara in situ con edit, patch, set, label o scale.</a:t>
            </a:r>
          </a:p>
        </p:txBody>
      </p:sp>
      <p:sp>
        <p:nvSpPr>
          <p:cNvPr id="14" name="Oval 13"/>
          <p:cNvSpPr/>
          <p:nvPr/>
        </p:nvSpPr>
        <p:spPr>
          <a:xfrm>
            <a:off x="9825200" y="1497200"/>
            <a:ext cx="313600" cy="313600"/>
          </a:xfrm>
          <a:prstGeom prst="ellipse">
            <a:avLst/>
          </a:prstGeom>
          <a:noFill/>
          <a:ln w="33020">
            <a:solidFill>
              <a:srgbClr val="FF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66400" y="1752000"/>
            <a:ext cx="431200" cy="490000"/>
          </a:xfrm>
          <a:prstGeom prst="ellipse">
            <a:avLst/>
          </a:prstGeom>
          <a:noFill/>
          <a:ln w="33020">
            <a:solidFill>
              <a:srgbClr val="FF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flipV="1">
            <a:off x="9550800" y="17912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0178000" y="17912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9550800" y="19480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178000" y="19480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550800" y="21048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78000" y="21048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Rectangle 22"/>
          <p:cNvSpPr/>
          <p:nvPr/>
        </p:nvSpPr>
        <p:spPr>
          <a:xfrm>
            <a:off x="8392000" y="2560000"/>
            <a:ext cx="3180000" cy="46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TextBox 23"/>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CLASE-01/LABORATORIOS/LAB-04-CHALLENGE.md</a:t>
            </a:r>
          </a:p>
        </p:txBody>
      </p:sp>
      <p:sp>
        <p:nvSpPr>
          <p:cNvPr id="25" name="Rectangle 24"/>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6" name="TextBox 25"/>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20 min</a:t>
            </a:r>
          </a:p>
        </p:txBody>
      </p:sp>
      <p:sp>
        <p:nvSpPr>
          <p:cNvPr id="27" name="Rectangle 26"/>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TextBox 27"/>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./validate-lab.sh</a:t>
            </a:r>
          </a:p>
        </p:txBody>
      </p:sp>
      <p:sp>
        <p:nvSpPr>
          <p:cNvPr id="29" name="Rectangle 2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0" name="TextBox 2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31" name="TextBox 3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F0C96B"/>
                </a:solidFill>
                <a:latin typeface="Segoe UI Semibold"/>
              </a:rPr>
              <a:t>CKA TIP</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Atajos que te devuelven minutos</a:t>
            </a:r>
          </a:p>
        </p:txBody>
      </p:sp>
      <p:sp>
        <p:nvSpPr>
          <p:cNvPr id="4" name="Rectangle 3"/>
          <p:cNvSpPr/>
          <p:nvPr/>
        </p:nvSpPr>
        <p:spPr>
          <a:xfrm>
            <a:off x="620000" y="1230000"/>
            <a:ext cx="560000" cy="4600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25</a:t>
            </a:r>
          </a:p>
        </p:txBody>
      </p:sp>
      <p:sp>
        <p:nvSpPr>
          <p:cNvPr id="8" name="Oval 7"/>
          <p:cNvSpPr/>
          <p:nvPr/>
        </p:nvSpPr>
        <p:spPr>
          <a:xfrm>
            <a:off x="10983200" y="326200"/>
            <a:ext cx="537600" cy="537600"/>
          </a:xfrm>
          <a:prstGeom prst="ellipse">
            <a:avLst/>
          </a:prstGeom>
          <a:noFill/>
          <a:ln w="38100">
            <a:solidFill>
              <a:srgbClr val="F0C9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1252000" y="415800"/>
            <a:ext cx="0" cy="179200"/>
          </a:xfrm>
          <a:prstGeom prst="line">
            <a:avLst/>
          </a:prstGeom>
          <a:ln w="38100">
            <a:solidFill>
              <a:srgbClr val="F0C96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252000" y="595000"/>
            <a:ext cx="128000" cy="51200"/>
          </a:xfrm>
          <a:prstGeom prst="line">
            <a:avLst/>
          </a:prstGeom>
          <a:ln w="38100">
            <a:solidFill>
              <a:srgbClr val="F0C96B"/>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0000" y="1470000"/>
            <a:ext cx="10952000" cy="520000"/>
          </a:xfrm>
          <a:prstGeom prst="rect">
            <a:avLst/>
          </a:prstGeom>
          <a:noFill/>
        </p:spPr>
        <p:txBody>
          <a:bodyPr wrap="square" anchor="t" lIns="0" rIns="0" tIns="0" bIns="0">
            <a:noAutofit/>
          </a:bodyPr>
          <a:lstStyle/>
          <a:p>
            <a:pPr algn="l" marL="0" indent="0">
              <a:lnSpc>
                <a:spcPct val="116000"/>
              </a:lnSpc>
              <a:spcBef>
                <a:spcPts val="0"/>
              </a:spcBef>
              <a:spcAft>
                <a:spcPts val="0"/>
              </a:spcAft>
              <a:buNone/>
            </a:pPr>
            <a:r>
              <a:rPr sz="1300" b="0" i="1">
                <a:solidFill>
                  <a:srgbClr val="BDC9DB"/>
                </a:solidFill>
                <a:latin typeface="Segoe UI"/>
              </a:rPr>
              <a:t>Ninguno de estos comandos es opcional en el examen. El nodePort no se puede fijar con expose: hay que generar el YAML y editarlo.</a:t>
            </a:r>
          </a:p>
        </p:txBody>
      </p:sp>
      <p:sp>
        <p:nvSpPr>
          <p:cNvPr id="12" name="Rounded Rectangle 11"/>
          <p:cNvSpPr/>
          <p:nvPr/>
        </p:nvSpPr>
        <p:spPr>
          <a:xfrm>
            <a:off x="620000" y="2410000"/>
            <a:ext cx="10952000" cy="1644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Rectangle 12"/>
          <p:cNvSpPr/>
          <p:nvPr/>
        </p:nvSpPr>
        <p:spPr>
          <a:xfrm>
            <a:off x="620000" y="2410000"/>
            <a:ext cx="46000" cy="164400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TextBox 13"/>
          <p:cNvSpPr txBox="1"/>
          <p:nvPr/>
        </p:nvSpPr>
        <p:spPr>
          <a:xfrm>
            <a:off x="890000" y="2560000"/>
            <a:ext cx="10412000" cy="1384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run nginx --image=nginx --port=80 $do &gt; pod.yaml</a:t>
            </a:r>
          </a:p>
          <a:p>
            <a:pPr marL="0" indent="0">
              <a:lnSpc>
                <a:spcPct val="134000"/>
              </a:lnSpc>
              <a:spcAft>
                <a:spcPts val="0"/>
              </a:spcAft>
              <a:buNone/>
            </a:pPr>
            <a:r>
              <a:rPr sz="1100" b="0" i="0">
                <a:solidFill>
                  <a:srgbClr val="E6EDF3"/>
                </a:solidFill>
                <a:latin typeface="Consolas"/>
              </a:rPr>
              <a:t>k create deployment web --image=nginx --replicas=3</a:t>
            </a:r>
          </a:p>
          <a:p>
            <a:pPr marL="0" indent="0">
              <a:lnSpc>
                <a:spcPct val="134000"/>
              </a:lnSpc>
              <a:spcAft>
                <a:spcPts val="0"/>
              </a:spcAft>
              <a:buNone/>
            </a:pPr>
            <a:r>
              <a:rPr sz="1100" b="0" i="0">
                <a:solidFill>
                  <a:srgbClr val="E6EDF3"/>
                </a:solidFill>
                <a:latin typeface="Consolas"/>
              </a:rPr>
              <a:t>k expose deployment web --port=80 --target-port=8080 --name=web-svc</a:t>
            </a:r>
          </a:p>
          <a:p>
            <a:pPr marL="0" indent="0">
              <a:lnSpc>
                <a:spcPct val="134000"/>
              </a:lnSpc>
              <a:spcAft>
                <a:spcPts val="0"/>
              </a:spcAft>
              <a:buNone/>
            </a:pPr>
            <a:r>
              <a:rPr sz="1100" b="0" i="0">
                <a:solidFill>
                  <a:srgbClr val="E6EDF3"/>
                </a:solidFill>
                <a:latin typeface="Consolas"/>
              </a:rPr>
              <a:t>k config set-context --current --namespace=&lt;ns&gt; </a:t>
            </a:r>
            <a:r>
              <a:rPr sz="1100" b="0" i="1">
                <a:solidFill>
                  <a:srgbClr val="7C8AA5"/>
                </a:solidFill>
                <a:latin typeface="Consolas"/>
              </a:rPr>
              <a:t>  # deja de escribir -n</a:t>
            </a:r>
          </a:p>
          <a:p>
            <a:pPr marL="0" indent="0">
              <a:lnSpc>
                <a:spcPct val="134000"/>
              </a:lnSpc>
              <a:spcAft>
                <a:spcPts val="0"/>
              </a:spcAft>
              <a:buNone/>
            </a:pPr>
            <a:r>
              <a:rPr sz="1100" b="0" i="0">
                <a:solidFill>
                  <a:srgbClr val="E6EDF3"/>
                </a:solidFill>
                <a:latin typeface="Consolas"/>
              </a:rPr>
              <a:t>k get pods -A -o wide | grep -vE 'Running|Completed'</a:t>
            </a:r>
          </a:p>
          <a:p>
            <a:pPr marL="0" indent="0">
              <a:lnSpc>
                <a:spcPct val="134000"/>
              </a:lnSpc>
              <a:spcAft>
                <a:spcPts val="0"/>
              </a:spcAft>
              <a:buNone/>
            </a:pPr>
            <a:r>
              <a:rPr sz="1100" b="0" i="0">
                <a:solidFill>
                  <a:srgbClr val="E6EDF3"/>
                </a:solidFill>
                <a:latin typeface="Consolas"/>
              </a:rPr>
              <a:t>k taint node &lt;n&gt; key=value:NoSchedule   /   k taint node &lt;n&gt; key-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CHECKLIST</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Comprueba que puedes hacer esto sin apuntes</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26</a:t>
            </a:r>
          </a:p>
        </p:txBody>
      </p:sp>
      <p:sp>
        <p:nvSpPr>
          <p:cNvPr id="8" name="Rounded Rectangle 7"/>
          <p:cNvSpPr/>
          <p:nvPr/>
        </p:nvSpPr>
        <p:spPr>
          <a:xfrm>
            <a:off x="10996000" y="339000"/>
            <a:ext cx="512000" cy="512000"/>
          </a:xfrm>
          <a:prstGeom prst="roundRect">
            <a:avLst>
              <a:gd name="adj" fmla="val 20000"/>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11124000" y="607800"/>
            <a:ext cx="89600" cy="102400"/>
          </a:xfrm>
          <a:prstGeom prst="line">
            <a:avLst/>
          </a:prstGeom>
          <a:ln w="4953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213600" y="479800"/>
            <a:ext cx="179200" cy="230400"/>
          </a:xfrm>
          <a:prstGeom prst="line">
            <a:avLst/>
          </a:prstGeom>
          <a:ln w="4953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000" y="262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2" name="TextBox 11"/>
          <p:cNvSpPr txBox="1"/>
          <p:nvPr/>
        </p:nvSpPr>
        <p:spPr>
          <a:xfrm>
            <a:off x="1120000" y="249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Creo un Pod imperativa y declarativamente.</a:t>
            </a:r>
          </a:p>
        </p:txBody>
      </p:sp>
      <p:sp>
        <p:nvSpPr>
          <p:cNvPr id="13" name="Rounded Rectangle 12"/>
          <p:cNvSpPr/>
          <p:nvPr/>
        </p:nvSpPr>
        <p:spPr>
          <a:xfrm>
            <a:off x="620000" y="318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4" name="TextBox 13"/>
          <p:cNvSpPr txBox="1"/>
          <p:nvPr/>
        </p:nvSpPr>
        <p:spPr>
          <a:xfrm>
            <a:off x="1120000" y="305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Genero YAML con --dry-run=client -o yaml.</a:t>
            </a:r>
          </a:p>
        </p:txBody>
      </p:sp>
      <p:sp>
        <p:nvSpPr>
          <p:cNvPr id="15" name="Rounded Rectangle 14"/>
          <p:cNvSpPr/>
          <p:nvPr/>
        </p:nvSpPr>
        <p:spPr>
          <a:xfrm>
            <a:off x="620000" y="374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6" name="TextBox 15"/>
          <p:cNvSpPr txBox="1"/>
          <p:nvPr/>
        </p:nvSpPr>
        <p:spPr>
          <a:xfrm>
            <a:off x="1120000" y="361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Uso kubectl explain para recordar un campo.</a:t>
            </a:r>
          </a:p>
        </p:txBody>
      </p:sp>
      <p:sp>
        <p:nvSpPr>
          <p:cNvPr id="17" name="Rounded Rectangle 16"/>
          <p:cNvSpPr/>
          <p:nvPr/>
        </p:nvSpPr>
        <p:spPr>
          <a:xfrm>
            <a:off x="620000" y="430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8" name="TextBox 17"/>
          <p:cNvSpPr txBox="1"/>
          <p:nvPr/>
        </p:nvSpPr>
        <p:spPr>
          <a:xfrm>
            <a:off x="1120000" y="417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Expongo un Pod con ClusterIP y con NodePort.</a:t>
            </a:r>
          </a:p>
        </p:txBody>
      </p:sp>
      <p:sp>
        <p:nvSpPr>
          <p:cNvPr id="19" name="Rounded Rectangle 18"/>
          <p:cNvSpPr/>
          <p:nvPr/>
        </p:nvSpPr>
        <p:spPr>
          <a:xfrm>
            <a:off x="620000" y="486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0" name="TextBox 19"/>
          <p:cNvSpPr txBox="1"/>
          <p:nvPr/>
        </p:nvSpPr>
        <p:spPr>
          <a:xfrm>
            <a:off x="1120000" y="473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Explico por qué un Service tiene 0 endpoints y lo reparo.</a:t>
            </a:r>
          </a:p>
        </p:txBody>
      </p:sp>
      <p:sp>
        <p:nvSpPr>
          <p:cNvPr id="21" name="Rounded Rectangle 20"/>
          <p:cNvSpPr/>
          <p:nvPr/>
        </p:nvSpPr>
        <p:spPr>
          <a:xfrm>
            <a:off x="6256000" y="262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2" name="TextBox 21"/>
          <p:cNvSpPr txBox="1"/>
          <p:nvPr/>
        </p:nvSpPr>
        <p:spPr>
          <a:xfrm>
            <a:off x="6756000" y="249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Resuelvo un Service por DNS desde otro Pod.</a:t>
            </a:r>
          </a:p>
        </p:txBody>
      </p:sp>
      <p:sp>
        <p:nvSpPr>
          <p:cNvPr id="23" name="Rounded Rectangle 22"/>
          <p:cNvSpPr/>
          <p:nvPr/>
        </p:nvSpPr>
        <p:spPr>
          <a:xfrm>
            <a:off x="6256000" y="318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4" name="TextBox 23"/>
          <p:cNvSpPr txBox="1"/>
          <p:nvPr/>
        </p:nvSpPr>
        <p:spPr>
          <a:xfrm>
            <a:off x="6756000" y="305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Fuerzo un Pod a un nodo con nodeSelector.</a:t>
            </a:r>
          </a:p>
        </p:txBody>
      </p:sp>
      <p:sp>
        <p:nvSpPr>
          <p:cNvPr id="25" name="Rounded Rectangle 24"/>
          <p:cNvSpPr/>
          <p:nvPr/>
        </p:nvSpPr>
        <p:spPr>
          <a:xfrm>
            <a:off x="6256000" y="374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6" name="TextBox 25"/>
          <p:cNvSpPr txBox="1"/>
          <p:nvPr/>
        </p:nvSpPr>
        <p:spPr>
          <a:xfrm>
            <a:off x="6756000" y="361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Aplico y tolero un taint.</a:t>
            </a:r>
          </a:p>
        </p:txBody>
      </p:sp>
      <p:sp>
        <p:nvSpPr>
          <p:cNvPr id="27" name="Rounded Rectangle 26"/>
          <p:cNvSpPr/>
          <p:nvPr/>
        </p:nvSpPr>
        <p:spPr>
          <a:xfrm>
            <a:off x="6256000" y="430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8" name="TextBox 27"/>
          <p:cNvSpPr txBox="1"/>
          <p:nvPr/>
        </p:nvSpPr>
        <p:spPr>
          <a:xfrm>
            <a:off x="6756000" y="417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Escribo nodeAffinity required y preferred.</a:t>
            </a:r>
          </a:p>
        </p:txBody>
      </p:sp>
      <p:sp>
        <p:nvSpPr>
          <p:cNvPr id="29" name="Rounded Rectangle 28"/>
          <p:cNvSpPr/>
          <p:nvPr/>
        </p:nvSpPr>
        <p:spPr>
          <a:xfrm>
            <a:off x="6256000" y="486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30" name="TextBox 29"/>
          <p:cNvSpPr txBox="1"/>
          <p:nvPr/>
        </p:nvSpPr>
        <p:spPr>
          <a:xfrm>
            <a:off x="6756000" y="473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Diagnostico un FailedScheduling leyendo los eventos.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592000" y="-1400000"/>
            <a:ext cx="4000000" cy="40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400000" y="4358000"/>
            <a:ext cx="3800000" cy="38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ubernetes.png"/>
          <p:cNvPicPr>
            <a:picLocks noChangeAspect="1"/>
          </p:cNvPicPr>
          <p:nvPr/>
        </p:nvPicPr>
        <p:blipFill>
          <a:blip r:embed="rId2"/>
          <a:stretch>
            <a:fillRect/>
          </a:stretch>
        </p:blipFill>
        <p:spPr>
          <a:xfrm>
            <a:off x="9542000" y="900000"/>
            <a:ext cx="1650000" cy="1650000"/>
          </a:xfrm>
          <a:prstGeom prst="rect">
            <a:avLst/>
          </a:prstGeom>
        </p:spPr>
      </p:pic>
      <p:sp>
        <p:nvSpPr>
          <p:cNvPr id="5" name="TextBox 4"/>
          <p:cNvSpPr txBox="1"/>
          <p:nvPr/>
        </p:nvSpPr>
        <p:spPr>
          <a:xfrm>
            <a:off x="640000" y="300000"/>
            <a:ext cx="9000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CIERRE DE LA CLASE</a:t>
            </a:r>
          </a:p>
        </p:txBody>
      </p:sp>
      <p:sp>
        <p:nvSpPr>
          <p:cNvPr id="6" name="TextBox 5"/>
          <p:cNvSpPr txBox="1"/>
          <p:nvPr/>
        </p:nvSpPr>
        <p:spPr>
          <a:xfrm>
            <a:off x="640000" y="1560000"/>
            <a:ext cx="9200000" cy="900000"/>
          </a:xfrm>
          <a:prstGeom prst="rect">
            <a:avLst/>
          </a:prstGeom>
          <a:noFill/>
        </p:spPr>
        <p:txBody>
          <a:bodyPr wrap="square" anchor="t" lIns="0" rIns="0" tIns="0" bIns="0">
            <a:noAutofit/>
          </a:bodyPr>
          <a:lstStyle/>
          <a:p>
            <a:pPr algn="l" marL="0" indent="0">
              <a:lnSpc>
                <a:spcPct val="104000"/>
              </a:lnSpc>
              <a:spcBef>
                <a:spcPts val="0"/>
              </a:spcBef>
              <a:spcAft>
                <a:spcPts val="0"/>
              </a:spcAft>
              <a:buNone/>
            </a:pPr>
            <a:r>
              <a:rPr sz="4400" b="0" i="0">
                <a:solidFill>
                  <a:srgbClr val="F3F6FC"/>
                </a:solidFill>
                <a:latin typeface="Segoe UI Light"/>
              </a:rPr>
              <a:t>Clase 1 completada</a:t>
            </a:r>
          </a:p>
        </p:txBody>
      </p:sp>
      <p:sp>
        <p:nvSpPr>
          <p:cNvPr id="7" name="Rectangle 6"/>
          <p:cNvSpPr/>
          <p:nvPr/>
        </p:nvSpPr>
        <p:spPr>
          <a:xfrm>
            <a:off x="644000" y="256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2820000"/>
            <a:ext cx="9752000" cy="2600000"/>
          </a:xfrm>
          <a:prstGeom prst="rect">
            <a:avLst/>
          </a:prstGeom>
          <a:noFill/>
        </p:spPr>
        <p:txBody>
          <a:bodyPr wrap="square" anchor="t" lIns="0" rIns="0" tIns="0" bIns="0">
            <a:noAutofit/>
          </a:bodyPr>
          <a:lstStyle/>
          <a:p>
            <a:pPr algn="l" marL="0" indent="0">
              <a:lnSpc>
                <a:spcPct val="132000"/>
              </a:lnSpc>
              <a:spcBef>
                <a:spcPts val="0"/>
              </a:spcBef>
              <a:spcAft>
                <a:spcPts val="1400"/>
              </a:spcAft>
              <a:buNone/>
            </a:pPr>
            <a:r>
              <a:rPr sz="1500" b="0" i="0">
                <a:solidFill>
                  <a:srgbClr val="BDC9DB"/>
                </a:solidFill>
                <a:latin typeface="Segoe UI"/>
              </a:rPr>
              <a:t>Ya sabes crear workloads, exponerlos y controlar dónde se ejecutan.</a:t>
            </a:r>
          </a:p>
          <a:p>
            <a:pPr algn="l" marL="0" indent="0">
              <a:lnSpc>
                <a:spcPct val="132000"/>
              </a:lnSpc>
              <a:spcBef>
                <a:spcPts val="0"/>
              </a:spcBef>
              <a:spcAft>
                <a:spcPts val="1400"/>
              </a:spcAft>
              <a:buNone/>
            </a:pPr>
            <a:r>
              <a:rPr sz="1500" b="0" i="0">
                <a:solidFill>
                  <a:srgbClr val="BDC9DB"/>
                </a:solidFill>
                <a:latin typeface="Segoe UI"/>
              </a:rPr>
              <a:t>En la Clase 2 bajamos un nivel: administrar el cluster que los sostiene. Upgrade de kubeadm, backup y restore de etcd, y control de acceso con RBAC.</a:t>
            </a:r>
          </a:p>
          <a:p>
            <a:pPr algn="l" marL="0" indent="0">
              <a:lnSpc>
                <a:spcPct val="132000"/>
              </a:lnSpc>
              <a:spcBef>
                <a:spcPts val="0"/>
              </a:spcBef>
              <a:spcAft>
                <a:spcPts val="1400"/>
              </a:spcAft>
              <a:buNone/>
            </a:pPr>
            <a:r>
              <a:rPr sz="1500" b="0" i="0">
                <a:solidFill>
                  <a:srgbClr val="BDC9DB"/>
                </a:solidFill>
                <a:latin typeface="Segoe UI"/>
              </a:rPr>
              <a:t>Repasa antes: kubectl explain, describe y la lectura de eventos.</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1</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Pods, YAML, Services y Scheduling</dc:title>
  <dc:subject>Clase 1 — Pods, YAML, Services y Scheduling</dc:subject>
  <dc:creator>CKA Hands-On Training</dc:creator>
  <cp:keywords/>
  <dc:description>Generado con generador-diapositivas/</dc:description>
  <cp:lastModifiedBy>Steve Canny</cp:lastModifiedBy>
  <cp:revision>1</cp:revision>
  <dcterms:created xsi:type="dcterms:W3CDTF">2013-01-27T09:14:16Z</dcterms:created>
  <dcterms:modified xsi:type="dcterms:W3CDTF">2013-01-27T09:15:58Z</dcterms:modified>
  <cp:category/>
</cp:coreProperties>
</file>