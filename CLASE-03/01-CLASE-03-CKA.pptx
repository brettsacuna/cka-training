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2000" y="-1350000"/>
            <a:ext cx="4500000" cy="4500000"/>
          </a:xfrm>
          <a:prstGeom prst="ellipse">
            <a:avLst/>
          </a:prstGeom>
          <a:solidFill>
            <a:srgbClr val="0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42000" y="5308000"/>
            <a:ext cx="2900000" cy="2900000"/>
          </a:xfrm>
          <a:prstGeom prst="ellipse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2000" y="1000000"/>
            <a:ext cx="1650000" cy="16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0000" y="300000"/>
            <a:ext cx="86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CKA HANDS-ON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000" y="162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spc="200">
                <a:solidFill>
                  <a:srgbClr val="74A6FF"/>
                </a:solidFill>
                <a:latin typeface="Segoe UI Semibold"/>
              </a:rPr>
              <a:t>CLASE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00" y="2040000"/>
            <a:ext cx="89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>
                <a:solidFill>
                  <a:srgbClr val="F3F6FC"/>
                </a:solidFill>
                <a:latin typeface="Segoe UI Light"/>
              </a:rPr>
              <a:t>Workloads, Storage y StatefulSets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60000" y="3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000" y="376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Aplicaciones que no pueden permitirse perder sus 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180 min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DURACIÓN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5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55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5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4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LABORATORIOS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1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1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1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10 %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STORAGE EN EL CKA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6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46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6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RWO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MODO CLAVE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Al terminar esta clase serás capaz de…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02</a:t>
            </a:r>
          </a:p>
        </p:txBody>
      </p:sp>
      <p:sp>
        <p:nvSpPr>
          <p:cNvPr id="8" name="Oval 7"/>
          <p:cNvSpPr/>
          <p:nvPr/>
        </p:nvSpPr>
        <p:spPr>
          <a:xfrm>
            <a:off x="10983200" y="326200"/>
            <a:ext cx="537600" cy="5376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98400" y="441400"/>
            <a:ext cx="307200" cy="3072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00800" y="543800"/>
            <a:ext cx="102400" cy="1024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0000" y="20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000" y="193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Explicar la cadena Deployment → ReplicaSet → Pod y demostrar el self-healing.</a:t>
            </a:r>
          </a:p>
        </p:txBody>
      </p:sp>
      <p:sp>
        <p:nvSpPr>
          <p:cNvPr id="13" name="Oval 12"/>
          <p:cNvSpPr/>
          <p:nvPr/>
        </p:nvSpPr>
        <p:spPr>
          <a:xfrm>
            <a:off x="620000" y="26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000" y="249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Elegir el controlador correcto para cada tipo de carga.</a:t>
            </a:r>
          </a:p>
        </p:txBody>
      </p:sp>
      <p:sp>
        <p:nvSpPr>
          <p:cNvPr id="15" name="Oval 14"/>
          <p:cNvSpPr/>
          <p:nvPr/>
        </p:nvSpPr>
        <p:spPr>
          <a:xfrm>
            <a:off x="620000" y="318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000" y="305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Compartir datos entre contenedores de un Pod con emptyDir.</a:t>
            </a:r>
          </a:p>
        </p:txBody>
      </p:sp>
      <p:sp>
        <p:nvSpPr>
          <p:cNvPr id="17" name="Oval 16"/>
          <p:cNvSpPr/>
          <p:nvPr/>
        </p:nvSpPr>
        <p:spPr>
          <a:xfrm>
            <a:off x="620000" y="374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000" y="361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Aprovisionar almacenamiento estático y dinámico.</a:t>
            </a:r>
          </a:p>
        </p:txBody>
      </p:sp>
      <p:sp>
        <p:nvSpPr>
          <p:cNvPr id="19" name="Oval 18"/>
          <p:cNvSpPr/>
          <p:nvPr/>
        </p:nvSpPr>
        <p:spPr>
          <a:xfrm>
            <a:off x="620000" y="430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000" y="417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Enlazar PV, PVC y Pod, y explicar por qué un PVC queda Pending.</a:t>
            </a:r>
          </a:p>
        </p:txBody>
      </p:sp>
      <p:sp>
        <p:nvSpPr>
          <p:cNvPr id="21" name="Oval 20"/>
          <p:cNvSpPr/>
          <p:nvPr/>
        </p:nvSpPr>
        <p:spPr>
          <a:xfrm>
            <a:off x="620000" y="48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000" y="473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Desplegar un StatefulSet con Headless Service y volumeClaimTemplates.</a:t>
            </a:r>
          </a:p>
        </p:txBody>
      </p:sp>
      <p:sp>
        <p:nvSpPr>
          <p:cNvPr id="23" name="Oval 22"/>
          <p:cNvSpPr/>
          <p:nvPr/>
        </p:nvSpPr>
        <p:spPr>
          <a:xfrm>
            <a:off x="620000" y="54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000" y="529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Diagnosticar fallos de almacenamiento con un método reproducible.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180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03</a:t>
            </a:r>
          </a:p>
        </p:txBody>
      </p:sp>
      <p:sp>
        <p:nvSpPr>
          <p:cNvPr id="8" name="Oval 7"/>
          <p:cNvSpPr/>
          <p:nvPr/>
        </p:nvSpPr>
        <p:spPr>
          <a:xfrm>
            <a:off x="10983200" y="326200"/>
            <a:ext cx="537600" cy="5376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11252000" y="415800"/>
            <a:ext cx="0" cy="17920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252000" y="595000"/>
            <a:ext cx="128000" cy="5120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0000" y="154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00–12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0000" y="171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0000" y="154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Repaso de la Clase 2 y objetivos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000" y="201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12–35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0000" y="218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20000" y="201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controladores de workload y self-healing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000" y="248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35–50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0000" y="265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0000" y="248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Demo: borrar un Pod de un Deployment y de un StatefulSet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00" y="299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000" y="295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50–72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20000" y="312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0000" y="295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3.1 — Básico: Deployment, ReplicaSet y self-healing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000" y="342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72–90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0000" y="359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0000" y="342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volúmenes, PV, PVC y StorageClass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0000" y="393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000" y="389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90–120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20000" y="406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20000" y="389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3.2 — Intermedio: emptyDir, PV y PVC estáticos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000" y="436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120–130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20000" y="453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20000" y="436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StatefulSet y Headless Service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0000" y="487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000" y="483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130–158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0000" y="500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0000" y="483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3.3 — Avanzado: almacenamiento por réplica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0000" y="534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0000" y="530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158–176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0000" y="547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20000" y="530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3.4 — Challenge: el PVC que nunca enlaza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0000" y="577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176–180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20000" y="594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20000" y="577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Cierre, mental model de storage y CKA Tips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Controladores de workload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Quién repara qué cuando algo se cae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RELACIÓN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Cada capa tiene una responsabilidad distinta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05</a:t>
            </a:r>
          </a:p>
        </p:txBody>
      </p:sp>
      <p:pic>
        <p:nvPicPr>
          <p:cNvPr id="8" name="Picture 7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830000"/>
            <a:ext cx="3510666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000" y="1830000"/>
            <a:ext cx="3370666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Deployment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54666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40666" y="1830000"/>
            <a:ext cx="3510666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0666" y="1830000"/>
            <a:ext cx="3370666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ReplicaSet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75333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061333" y="1830000"/>
            <a:ext cx="3510666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1333" y="1830000"/>
            <a:ext cx="3370666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Pod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2950000"/>
            <a:ext cx="10952000" cy="2070000"/>
          </a:xfrm>
          <a:prstGeom prst="roundRect">
            <a:avLst>
              <a:gd name="adj" fmla="val 6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000" y="2974000"/>
            <a:ext cx="40000" cy="20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0000" y="3190000"/>
            <a:ext cx="10432000" cy="16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QUIÉN HACE QUÉ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Deployment gestiona VERSIONES: cada cambio en spec.template crea un ReplicaSet nuevo.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ReplicaSet gestiona CANTIDAD: cuenta los Pods que casan con su selector y ajusta.</a:t>
            </a: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kubectl scale cambia spec.replicas, no spec.template: no genera un ReplicaSet nuevo.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Un ReplicaSet NO hace rolling update: cambiar su imagen solo afecta a los Pods futuros.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Compruébalo tú mismo: k get pod &lt;p&gt; -o jsonpath='{.metadata.ownerReferences}'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ELECCIÓN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Qué controlador para qué carga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2138000"/>
            <a:ext cx="5316000" cy="1332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000" y="2138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0000" y="2388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pic>
        <p:nvPicPr>
          <p:cNvPr id="11" name="Picture 10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000" y="2374000"/>
            <a:ext cx="330000" cy="33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0000" y="2368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Deployment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000" y="2788000"/>
            <a:ext cx="4856000" cy="60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Cargas stateless. Réplicas intercambiables, nombres con hash, rolling update y rollback. Es tu opción por defecto.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6000" y="2138000"/>
            <a:ext cx="5316000" cy="1332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0000" y="2138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6000" y="2388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pic>
        <p:nvPicPr>
          <p:cNvPr id="17" name="Picture 16" descr="s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2000" y="2374000"/>
            <a:ext cx="330000" cy="33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96000" y="2368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StatefulSet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000" y="2788000"/>
            <a:ext cx="4856000" cy="60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Cargas con estado. Nombre estable, orden garantizado y un volumen propio por réplica.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000" y="3710000"/>
            <a:ext cx="5316000" cy="1332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000" y="3710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0000" y="39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pic>
        <p:nvPicPr>
          <p:cNvPr id="23" name="Picture 22" descr="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6000" y="3946000"/>
            <a:ext cx="330000" cy="33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60000" y="3940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DaemonSet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000" y="4360000"/>
            <a:ext cx="4856000" cy="60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Un Pod por nodo: agentes, CNI, recolectores de logs. Por eso drain necesita --ignore-daemonsets.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6000" y="3710000"/>
            <a:ext cx="5316000" cy="1332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80000" y="3710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86000" y="39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pic>
        <p:nvPicPr>
          <p:cNvPr id="29" name="Picture 28" descr="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2000" y="3946000"/>
            <a:ext cx="330000" cy="33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96000" y="3940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ReplicationController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6000" y="4360000"/>
            <a:ext cx="4856000" cy="60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Antecesor del ReplicaSet. Solo referencia histórica: no lo uses en nada nuevo.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Un Pod suelto no se autorrepara. Si te importa que siga existiendo, ponle un controlador detrás.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básico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3.1 — Deployment, ReplicaSet y self-healing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Ver con tus propios ojos la cadena de controladores y comprobar empíricamente qué garantiza cada uno.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Leer los ownerReferences de un Pod y de un ReplicaSet.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Borrar un Pod y anotar qué controlador lo repone y en cuántos segundos.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Escalar y comprobar que NO se crea un ReplicaSet nuevo. Explicar por qué.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Crear un Pod huérfano con el label del selector y explicar qué le ocurre.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Demostrar que un ReplicaSet no hace rolling update.</a:t>
            </a:r>
          </a:p>
        </p:txBody>
      </p:sp>
      <p:sp>
        <p:nvSpPr>
          <p:cNvPr id="16" name="Freeform 15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CLASE-03/LABORATORIOS/LAB-01-BASICO.md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22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get deploy,rs,pods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Almacenamiento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Del directorio efímero al volumen que sobrevive al Pod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PRIMERA DISTINCIÓN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emptyDir frente a almacenamiento persistente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09</a:t>
            </a:r>
          </a:p>
        </p:txBody>
      </p:sp>
      <p:pic>
        <p:nvPicPr>
          <p:cNvPr id="8" name="Picture 7" descr="p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2349000"/>
            <a:ext cx="5316000" cy="2482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4000" y="2349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000" y="2609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emptyDir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Vive y muere con el Pod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000" y="3179000"/>
            <a:ext cx="4796000" cy="14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Se crea vacío cuando el Pod arranca en un nodo.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Lo comparten todos los contenedores del Pod.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 el Pod se recrea, el contenido se pierde.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Perfecto para caché, scratch y traspaso entre contenedores.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6000" y="2349000"/>
            <a:ext cx="5316000" cy="2482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0000" y="2349000"/>
            <a:ext cx="5268000" cy="4600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6000" y="2609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PersistentVolume + Claim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Sobrevive al Pod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6000" y="3179000"/>
            <a:ext cx="4796000" cy="14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PV es el recurso; el PVC es la solicitud.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PV no tiene namespace; el PVC sí.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Pod nunca referencia el PV: referencia el PVC.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Es lo único que puedes usar para datos que importan.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El volumen comparte el ciclo de vida del Pod, no el del contenedor: si un contenedor se reinicia, los datos siguen ahí.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RELACIÓN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De la clase de almacenamiento al contenedor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10</a:t>
            </a:r>
          </a:p>
        </p:txBody>
      </p:sp>
      <p:pic>
        <p:nvPicPr>
          <p:cNvPr id="8" name="Picture 7" descr="p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0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StorageClass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64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524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24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PersistentVolume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988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848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548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PersistentVolumeClaim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12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172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72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Pod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636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5496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196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volumeMount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000" y="2950000"/>
            <a:ext cx="10952000" cy="1820000"/>
          </a:xfrm>
          <a:prstGeom prst="roundRect">
            <a:avLst>
              <a:gd name="adj" fmla="val 6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0000" y="2974000"/>
            <a:ext cx="40000" cy="177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0000" y="3190000"/>
            <a:ext cx="10432000" cy="1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DOS CAMINOS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ESTÁTICO: el administrador crea el PV a mano; el PVC lo encuentra si todo coincide.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DINÁMICO: el PVC pide una StorageClass y el provisioner crea el PV al vuelo.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 hay StorageClass por defecto y no la desactivas, tus PV estáticos se ignoran.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storageClassName: "" NO es lo mismo que omitir el campo: la cadena vacía desactiva la clase por defecto.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EMPAREJAMIENTO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Un PV y un PVC enlazan solo si TODO esto coincide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11</a:t>
            </a:r>
          </a:p>
        </p:txBody>
      </p:sp>
      <p:pic>
        <p:nvPicPr>
          <p:cNvPr id="8" name="Picture 7" descr="p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0000" y="1470000"/>
            <a:ext cx="10952000" cy="420000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1882000"/>
            <a:ext cx="10952000" cy="1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000" y="1470000"/>
            <a:ext cx="2766909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CRITERIO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6909" y="1470000"/>
            <a:ext cx="4758181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REGLA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5090" y="1470000"/>
            <a:ext cx="2766909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SI FALLA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000" y="245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" y="189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storageClassName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6909" y="1890000"/>
            <a:ext cx="4758181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Debe ser idéntico, incluida la cadena vacía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45090" y="189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PVC Pending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000" y="2450000"/>
            <a:ext cx="10952000" cy="560000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000" y="301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0000" y="245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accessModes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6909" y="2450000"/>
            <a:ext cx="4758181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PV debe OFRECER lo que el PVC PIDE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5090" y="245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PVC Pending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0000" y="357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0000" y="301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capacity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6909" y="3010000"/>
            <a:ext cx="4758181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PV debe ser mayor o igual a lo solicitado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090" y="301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PVC Pending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000" y="3570000"/>
            <a:ext cx="10952000" cy="560000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000" y="413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000" y="357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selector (opcional)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66909" y="3570000"/>
            <a:ext cx="4758181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 el PVC lo declara, los labels del PV deben cumplirlo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45090" y="357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PVC Pending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000" y="469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0000" y="413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claimRef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66909" y="4130000"/>
            <a:ext cx="4758181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PV no puede estar ya reservado por otro claim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45090" y="413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PV en Released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0000" y="591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0000" y="593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0000" y="591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El PVC muestra la capacidad del PV enlazado, no la que pidió. Si pides 1Gi y recibes un PV de 2Gi, verás 2Gi.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MODOS Y POLÍTICAS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Dos campos que deciden si tu Pod arranca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12</a:t>
            </a:r>
          </a:p>
        </p:txBody>
      </p:sp>
      <p:pic>
        <p:nvPicPr>
          <p:cNvPr id="8" name="Picture 7" descr="p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36000" y="242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0000" y="201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ReadWriteOnce (RWO): lectura y escritura desde un solo nodo. Es el modo por defecto de casi todo el almacenamiento de bloque.</a:t>
            </a:r>
          </a:p>
        </p:txBody>
      </p:sp>
      <p:sp>
        <p:nvSpPr>
          <p:cNvPr id="11" name="Oval 10"/>
          <p:cNvSpPr/>
          <p:nvPr/>
        </p:nvSpPr>
        <p:spPr>
          <a:xfrm>
            <a:off x="636000" y="336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0000" y="295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ReadOnlyMany (ROX): solo lectura desde varios nodos.</a:t>
            </a:r>
          </a:p>
        </p:txBody>
      </p:sp>
      <p:sp>
        <p:nvSpPr>
          <p:cNvPr id="13" name="Oval 12"/>
          <p:cNvSpPr/>
          <p:nvPr/>
        </p:nvSpPr>
        <p:spPr>
          <a:xfrm>
            <a:off x="636000" y="430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000" y="389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ReadWriteMany (RWX): lectura y escritura desde varios nodos. Requiere almacenamiento de fichero, tipo NFS.</a:t>
            </a:r>
          </a:p>
        </p:txBody>
      </p:sp>
      <p:sp>
        <p:nvSpPr>
          <p:cNvPr id="15" name="Oval 14"/>
          <p:cNvSpPr/>
          <p:nvPr/>
        </p:nvSpPr>
        <p:spPr>
          <a:xfrm>
            <a:off x="636000" y="524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000" y="483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ReadWriteOncePod (RWOP): un único Pod, ni siquiera dos en el mismo nodo.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35040" y="2010000"/>
            <a:ext cx="4936960" cy="3760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59040" y="2010000"/>
            <a:ext cx="488896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5040" y="2250000"/>
            <a:ext cx="4456960" cy="32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RECLAIMPOLICY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Retain — al liberar el claim, el PV queda en Released con sus datos y su claimRef. No vuelve a estar disponible solo.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Delete — se borran el PV y su almacenamiento.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Recycle — ELIMINADO de Kubernetes. Si lo ves en un apunte, ese apunte es viejo.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F7B72"/>
                </a:solidFill>
                <a:latin typeface="Segoe UI Semibold"/>
              </a:rPr>
              <a:t>AVISO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hostPath ata el Pod a un nodo concreto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13</a:t>
            </a:r>
          </a:p>
        </p:txBody>
      </p:sp>
      <p:pic>
        <p:nvPicPr>
          <p:cNvPr id="8" name="Picture 7" descr="p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En un cluster multinodo, un PV con hostPath puede acabar montado en un nodo donde ese directorio no existe: el Pod arranca y ve un directorio vacío. Sirve para aprender, no para producción. La alternativa correcta es el tipo local con nodeAffinity, o un provisioner CSI.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" y="2410000"/>
            <a:ext cx="10952000" cy="748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000" y="2410000"/>
            <a:ext cx="46000" cy="748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0000" y="2560000"/>
            <a:ext cx="10412000" cy="48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Liberar un PV que quedó en Released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patch pv &lt;pv&gt; --type=json -p='[{"op":"remove","path":"/spec/claimRef"}]'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intermedio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3.2 — emptyDir, PersistentVolume y PersistentVolumeClaim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Compartir datos entre contenedores y aprovisionar almacenamiento estático, entendiendo por qué un PVC enlaza con un PV y no con otro.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Pod con dos contenedores compartiendo emptyDir. Demostrar que NO persiste.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Dos PV de 2Gi distinguibles por label; forzar el enlace a uno concreto con selector.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Comprobar por qué el PVC muestra 2Gi aunque pidió 1Gi.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Borrar el PVC y explicar el estado Released.</a:t>
            </a:r>
          </a:p>
        </p:txBody>
      </p:sp>
      <p:sp>
        <p:nvSpPr>
          <p:cNvPr id="14" name="Freeform 13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CLASE-03/LABORATORIOS/LAB-02-INTERMEDIO.md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30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get pv,pvc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StatefulSets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Cuando la identidad de cada réplica importa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GARANTÍAS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Qué te da un StatefulSet que un Deployment no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2138000"/>
            <a:ext cx="5316000" cy="1332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000" y="2138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0000" y="2388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pic>
        <p:nvPicPr>
          <p:cNvPr id="11" name="Picture 10" descr="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000" y="2374000"/>
            <a:ext cx="330000" cy="33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0000" y="2368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Nombre estable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000" y="2788000"/>
            <a:ext cx="4856000" cy="60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web-0, web-1, web-2. No hay hash. Si un Pod muere, el nuevo recupera exactamente el mismo nombre.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6000" y="2138000"/>
            <a:ext cx="5316000" cy="1332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0000" y="2138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6000" y="2388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pic>
        <p:nvPicPr>
          <p:cNvPr id="17" name="Picture 16" descr="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2000" y="2374000"/>
            <a:ext cx="330000" cy="33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96000" y="2368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Orden garantizado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000" y="2788000"/>
            <a:ext cx="4856000" cy="60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web-1 no arranca hasta que web-0 está Ready. Al escalar hacia abajo, se retiran en orden inverso.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000" y="3710000"/>
            <a:ext cx="5316000" cy="1332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000" y="3710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0000" y="39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pic>
        <p:nvPicPr>
          <p:cNvPr id="23" name="Picture 22" descr="p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000" y="3946000"/>
            <a:ext cx="330000" cy="33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60000" y="3940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Volumen propio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000" y="4360000"/>
            <a:ext cx="4856000" cy="60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volumeClaimTemplates crea un PVC por réplica: www-web-0, www-web-1… No comparten disco.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6000" y="3710000"/>
            <a:ext cx="5316000" cy="1332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80000" y="3710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86000" y="39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pic>
        <p:nvPicPr>
          <p:cNvPr id="29" name="Picture 28" descr="po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2000" y="3946000"/>
            <a:ext cx="330000" cy="33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96000" y="3940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DNS por Pod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6000" y="4360000"/>
            <a:ext cx="4856000" cy="60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Headless Service publica web-0.&lt;svc&gt;.&lt;ns&gt;.svc.cluster.local. Puedes dirigirte a una réplica concreta.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Los PVC creados por volumeClaimTemplates NO se borran al reducir réplicas ni al eliminar el StatefulSet. Es deliberado: son datos.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SINTAXIS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Las tres líneas que se equivocan siempre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17</a:t>
            </a:r>
          </a:p>
        </p:txBody>
      </p:sp>
      <p:sp>
        <p:nvSpPr>
          <p:cNvPr id="8" name="Freeform 7"/>
          <p:cNvSpPr/>
          <p:nvPr/>
        </p:nvSpPr>
        <p:spPr>
          <a:xfrm>
            <a:off x="11034400" y="300600"/>
            <a:ext cx="448000" cy="588800"/>
          </a:xfrm>
          <a:custGeom>
            <a:avLst/>
            <a:gdLst/>
            <a:ahLst/>
            <a:cxnLst/>
            <a:rect l="l" t="t" r="r" b="b"/>
            <a:pathLst>
              <a:path w="448000" h="588800">
                <a:moveTo>
                  <a:pt x="0" y="0"/>
                </a:moveTo>
                <a:lnTo>
                  <a:pt x="345600" y="0"/>
                </a:lnTo>
                <a:lnTo>
                  <a:pt x="448000" y="102400"/>
                </a:lnTo>
                <a:lnTo>
                  <a:pt x="448000" y="588800"/>
                </a:lnTo>
                <a:lnTo>
                  <a:pt x="0" y="588800"/>
                </a:lnTo>
                <a:close/>
              </a:path>
            </a:pathLst>
          </a:cu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380000" y="300600"/>
            <a:ext cx="0" cy="10240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380000" y="403000"/>
            <a:ext cx="1024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11200" y="543800"/>
            <a:ext cx="2816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111200" y="646200"/>
            <a:ext cx="2816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111200" y="748600"/>
            <a:ext cx="2816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El enlace crítico: serviceName debe ser el nombre del Headless Service.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000" y="2062730"/>
            <a:ext cx="10952000" cy="365454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000" y="2062730"/>
            <a:ext cx="46000" cy="365454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000" y="218273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EL MANIFIESTO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000" y="2462730"/>
            <a:ext cx="10412000" cy="31945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E6EDF3"/>
                </a:solidFill>
                <a:latin typeface="Consolas"/>
              </a:rPr>
              <a:t>apiVersion: v1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E6EDF3"/>
                </a:solidFill>
                <a:latin typeface="Consolas"/>
              </a:rPr>
              <a:t>kind: Service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E6EDF3"/>
                </a:solidFill>
                <a:latin typeface="Consolas"/>
              </a:rPr>
              <a:t>metadata: {name: nginx}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E6EDF3"/>
                </a:solidFill>
                <a:latin typeface="Consolas"/>
              </a:rPr>
              <a:t>spec: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E6EDF3"/>
                </a:solidFill>
                <a:latin typeface="Consolas"/>
              </a:rPr>
              <a:t>  clusterIP: None        </a:t>
            </a:r>
            <a:r>
              <a:rPr sz="1000" b="0" i="1">
                <a:solidFill>
                  <a:srgbClr val="7C8AA5"/>
                </a:solidFill>
                <a:latin typeface="Consolas"/>
              </a:rPr>
              <a:t>  # HEADLESS: sin VIP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E6EDF3"/>
                </a:solidFill>
                <a:latin typeface="Consolas"/>
              </a:rPr>
              <a:t>  selector: {app: nginx}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E6EDF3"/>
                </a:solidFill>
                <a:latin typeface="Consolas"/>
              </a:rPr>
              <a:t>  ports: [{name: web, port: 80}]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E6EDF3"/>
                </a:solidFill>
                <a:latin typeface="Consolas"/>
              </a:rPr>
              <a:t>---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E6EDF3"/>
                </a:solidFill>
                <a:latin typeface="Consolas"/>
              </a:rPr>
              <a:t>spec: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E6EDF3"/>
                </a:solidFill>
                <a:latin typeface="Consolas"/>
              </a:rPr>
              <a:t>  serviceName: nginx     </a:t>
            </a:r>
            <a:r>
              <a:rPr sz="1000" b="0" i="1">
                <a:solidFill>
                  <a:srgbClr val="7C8AA5"/>
                </a:solidFill>
                <a:latin typeface="Consolas"/>
              </a:rPr>
              <a:t>  # &lt;- debe coincidir con el Service de arriba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E6EDF3"/>
                </a:solidFill>
                <a:latin typeface="Consolas"/>
              </a:rPr>
              <a:t>  volumeClaimTemplates:  </a:t>
            </a:r>
            <a:r>
              <a:rPr sz="1000" b="0" i="1">
                <a:solidFill>
                  <a:srgbClr val="7C8AA5"/>
                </a:solidFill>
                <a:latin typeface="Consolas"/>
              </a:rPr>
              <a:t>  # &lt;- cuelga de spec, NO de spec.template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E6EDF3"/>
                </a:solidFill>
                <a:latin typeface="Consolas"/>
              </a:rPr>
              <a:t>    - metadata: {name: www}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E6EDF3"/>
                </a:solidFill>
                <a:latin typeface="Consolas"/>
              </a:rPr>
              <a:t>      spec: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E6EDF3"/>
                </a:solidFill>
                <a:latin typeface="Consolas"/>
              </a:rPr>
              <a:t>        accessModes: ["ReadWriteOnce"]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000" b="0" i="0">
                <a:solidFill>
                  <a:srgbClr val="E6EDF3"/>
                </a:solidFill>
                <a:latin typeface="Consolas"/>
              </a:rPr>
              <a:t>        resources: {requests: {storage: 1Gi}}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Si serviceName no coincide, el StatefulSet arranca igual pero el DNS por Pod no se crea. Fallo silencioso y muy frecuente.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4492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avanzado — solo requerimientos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3.3 — StatefulSet con identidad estable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Desplegar una carga con estado que cumpla cuatro garantías, y demostrar cada una empíricamente.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Comprobar primero si hay StorageClass por defecto y decidir estático o dinámico.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Headless Service + StatefulSet de 3 réplicas con un PVC de 1Gi cada una.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Borrar web-1 y verificar que recupera nombre, PVC y datos.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Escalar a 5 y volver a 3: explicar por qué sobreviven los PVC.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Eliminar el StatefulSet, recrearlo y comprobar que los datos siguen ahí.</a:t>
            </a:r>
          </a:p>
        </p:txBody>
      </p:sp>
      <p:sp>
        <p:nvSpPr>
          <p:cNvPr id="16" name="Freeform 15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CLASE-03/LABORATORIOS/LAB-03-AVANZADO.md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28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get sts,pvc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MENTAL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Un PVC que no enlaza: ruta de diagnóstico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19</a:t>
            </a:r>
          </a:p>
        </p:txBody>
      </p:sp>
      <p:pic>
        <p:nvPicPr>
          <p:cNvPr id="8" name="Picture 7" descr="p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71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000" y="171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PVC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54666" y="205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40666" y="171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0666" y="171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StorageClass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75333" y="205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061333" y="171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1333" y="171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PV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816666" y="2416000"/>
            <a:ext cx="0" cy="20800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0000" y="265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000" y="265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AccessMode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54666" y="299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40666" y="265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0666" y="265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Capacity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75333" y="299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061333" y="265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1333" y="265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Pod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000" y="3690000"/>
            <a:ext cx="10952000" cy="2320000"/>
          </a:xfrm>
          <a:prstGeom prst="roundRect">
            <a:avLst>
              <a:gd name="adj" fmla="val 6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000" y="3714000"/>
            <a:ext cx="40000" cy="227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0000" y="3930000"/>
            <a:ext cx="10432000" cy="19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PREGUNTA EN CADA ESCALÓN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¿Coinciden los storageClassName? ¿Existe esa clase? ¿Hay una clase por defecto interfiriendo?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¿Hay algún PV disponible? ¿En qué Phase está: Available, Bound o Released?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¿El PVC pide un modo que ningún PV ofrece?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¿El PV es al menos tan grande como lo solicitado?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¿El claimName del Pod coincide con el PVC real?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Y siempre: k describe pvc &lt;pvc&gt; | sed -n '/Events/,$p'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4604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FF7B72"/>
                </a:solidFill>
                <a:latin typeface="Segoe UI"/>
              </a:rPr>
              <a:t>Challenge — el escenario arranca roto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3.4 — Challenge: el PVC que nunca enlaza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Cuatro fallos: tres impiden el binding y el cuarto impide que el Pod arranque aunque el PVC ya esté Bound.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Prepara el escenario: RECURSOS/SCRIPTS/setup-lab.sh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Hay PV distractores: aprende a descartar candidatos.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Prohibido eliminar PersistentVolumes y prohibido crear una StorageClass por defecto.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Objetivo: PVC Bound, Deployment 1/1 y /data escribible.</a:t>
            </a:r>
          </a:p>
        </p:txBody>
      </p:sp>
      <p:sp>
        <p:nvSpPr>
          <p:cNvPr id="14" name="Oval 13"/>
          <p:cNvSpPr/>
          <p:nvPr/>
        </p:nvSpPr>
        <p:spPr>
          <a:xfrm>
            <a:off x="9825200" y="1497200"/>
            <a:ext cx="313600" cy="313600"/>
          </a:xfrm>
          <a:prstGeom prst="ellipse">
            <a:avLst/>
          </a:prstGeom>
          <a:noFill/>
          <a:ln w="3302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66400" y="1752000"/>
            <a:ext cx="431200" cy="490000"/>
          </a:xfrm>
          <a:prstGeom prst="ellipse">
            <a:avLst/>
          </a:prstGeom>
          <a:noFill/>
          <a:ln w="3302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 flipV="1">
            <a:off x="9550800" y="17912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0178000" y="17912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9550800" y="19480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0178000" y="19480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9550800" y="21048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178000" y="21048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CLASE-03/LABORATORIOS/LAB-04-CHALLENGE.md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20 min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./validate-lab.sh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0C96B"/>
                </a:solidFill>
                <a:latin typeface="Segoe UI Semibold"/>
              </a:rPr>
              <a:t>CKA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Los comandos que resuelven el 90 % del storage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21</a:t>
            </a:r>
          </a:p>
        </p:txBody>
      </p:sp>
      <p:pic>
        <p:nvPicPr>
          <p:cNvPr id="8" name="Picture 7" descr="p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Una tabla de PV comparada con una de PVC responde casi cualquier pregunta de almacenamiento en menos de un minuto.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" y="2410000"/>
            <a:ext cx="10952000" cy="1420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000" y="2410000"/>
            <a:ext cx="46000" cy="1420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0000" y="2560000"/>
            <a:ext cx="10412000" cy="11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get pv -o custom-columns=NAME:.metadata.name,CAP:.spec.capacity.storage,\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MODES:.spec.accessModes,SC:.spec.storageClassName,PHASE:.status.phase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describe pvc &lt;pvc&gt; | sed -n '/Events/,$p'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patch pv &lt;pv&gt; --type=json -p='[{"op":"remove","path":"/spec/claimRef"}]'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Comprueba que puedes hacer esto sin apuntes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96000" y="339000"/>
            <a:ext cx="512000" cy="512000"/>
          </a:xfrm>
          <a:prstGeom prst="roundRect">
            <a:avLst>
              <a:gd name="adj" fmla="val 20000"/>
            </a:avLst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124000" y="607800"/>
            <a:ext cx="89600" cy="102400"/>
          </a:xfrm>
          <a:prstGeom prst="line">
            <a:avLst/>
          </a:prstGeom>
          <a:ln w="4953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213600" y="479800"/>
            <a:ext cx="179200" cy="230400"/>
          </a:xfrm>
          <a:prstGeom prst="line">
            <a:avLst/>
          </a:prstGeom>
          <a:ln w="4953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0000" y="262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000" y="24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Explico Deployment → ReplicaSet → Pod con ownerReferences.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" y="318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000" y="30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Demuestro el self-healing borrando un Pod.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000" y="374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000" y="361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Comparto un directorio entre dos contenedores del mismo Pod.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430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000" y="41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Creo un PV y un PVC que enlazan, y sé decir por qué enlazan.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00" y="486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000" y="47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Enumero las cinco causas de un PVC en Pending.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6000" y="262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56000" y="24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Distingo aprovisionamiento estático de dinámico.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6000" y="318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6000" y="30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Explico Retain frente a Delete y libero un PV Released.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6000" y="374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6000" y="361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Despliego un StatefulSet con Headless Service y volumeClaimTemplates.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6000" y="430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6000" y="41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Demuestro que un Pod de StatefulSet recupera nombre y volumen.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56000" y="486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6000" y="47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Sé por qué borrar un StatefulSet no borra sus PVC.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92000" y="-1400000"/>
            <a:ext cx="4000000" cy="40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00000" y="4358000"/>
            <a:ext cx="3800000" cy="38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2000" y="900000"/>
            <a:ext cx="1650000" cy="16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00" y="300000"/>
            <a:ext cx="90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CIERRE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1560000"/>
            <a:ext cx="9200000" cy="9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>
                <a:solidFill>
                  <a:srgbClr val="F3F6FC"/>
                </a:solidFill>
                <a:latin typeface="Segoe UI Light"/>
              </a:rPr>
              <a:t>Clase 3 completada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2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2820000"/>
            <a:ext cx="9752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Ya sabes administrar cargas stateless y stateful, y darles almacenamiento que sobrevive.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En la Clase 4 nos ocupamos del día a día de esas aplicaciones: actualizarlas sin cortar el servicio, revertirlas cuando salen mal, configurarlas desde fuera de la imagen y dimensionarlas.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Repasa antes: la cadena Deployment → ReplicaSet → Pod.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3 — Workloads, Storage y StatefulSets</dc:title>
  <dc:subject>Clase 3 — Workloads, Storage y StatefulSets</dc:subject>
  <dc:creator>CKA Hands-On Training</dc:creator>
  <cp:keywords/>
  <dc:description>Generado con generador-diapositivas/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