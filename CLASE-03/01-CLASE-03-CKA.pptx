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Oval 1"/>
          <p:cNvSpPr/>
          <p:nvPr/>
        </p:nvSpPr>
        <p:spPr>
          <a:xfrm>
            <a:off x="9142000" y="-1350000"/>
            <a:ext cx="4500000" cy="4500000"/>
          </a:xfrm>
          <a:prstGeom prst="ellipse">
            <a:avLst/>
          </a:prstGeom>
          <a:solidFill>
            <a:srgbClr val="0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42000" y="5308000"/>
            <a:ext cx="2900000" cy="2900000"/>
          </a:xfrm>
          <a:prstGeom prst="ellipse">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ubernetes.png"/>
          <p:cNvPicPr>
            <a:picLocks noChangeAspect="1"/>
          </p:cNvPicPr>
          <p:nvPr/>
        </p:nvPicPr>
        <p:blipFill>
          <a:blip r:embed="rId2"/>
          <a:stretch>
            <a:fillRect/>
          </a:stretch>
        </p:blipFill>
        <p:spPr>
          <a:xfrm>
            <a:off x="9642000" y="1000000"/>
            <a:ext cx="1650000" cy="1650000"/>
          </a:xfrm>
          <a:prstGeom prst="rect">
            <a:avLst/>
          </a:prstGeom>
        </p:spPr>
      </p:pic>
      <p:sp>
        <p:nvSpPr>
          <p:cNvPr id="5" name="TextBox 4"/>
          <p:cNvSpPr txBox="1"/>
          <p:nvPr/>
        </p:nvSpPr>
        <p:spPr>
          <a:xfrm>
            <a:off x="660000" y="300000"/>
            <a:ext cx="8600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CKA HANDS-ON TRAINING</a:t>
            </a:r>
          </a:p>
        </p:txBody>
      </p:sp>
      <p:sp>
        <p:nvSpPr>
          <p:cNvPr id="6" name="TextBox 5"/>
          <p:cNvSpPr txBox="1"/>
          <p:nvPr/>
        </p:nvSpPr>
        <p:spPr>
          <a:xfrm>
            <a:off x="660000" y="1620000"/>
            <a:ext cx="8600000" cy="520000"/>
          </a:xfrm>
          <a:prstGeom prst="rect">
            <a:avLst/>
          </a:prstGeom>
          <a:noFill/>
        </p:spPr>
        <p:txBody>
          <a:bodyPr wrap="square" anchor="t" lIns="0" rIns="0" tIns="0" bIns="0">
            <a:noAutofit/>
          </a:bodyPr>
          <a:lstStyle/>
          <a:p>
            <a:pPr algn="l" marL="0" indent="0">
              <a:lnSpc>
                <a:spcPct val="100000"/>
              </a:lnSpc>
              <a:spcBef>
                <a:spcPts val="0"/>
              </a:spcBef>
              <a:spcAft>
                <a:spcPts val="0"/>
              </a:spcAft>
              <a:buNone/>
            </a:pPr>
            <a:r>
              <a:rPr sz="1500" b="1" i="0" spc="200">
                <a:solidFill>
                  <a:srgbClr val="74A6FF"/>
                </a:solidFill>
                <a:latin typeface="Segoe UI Semibold"/>
              </a:rPr>
              <a:t>CLASE 3</a:t>
            </a:r>
          </a:p>
        </p:txBody>
      </p:sp>
      <p:sp>
        <p:nvSpPr>
          <p:cNvPr id="7" name="TextBox 6"/>
          <p:cNvSpPr txBox="1"/>
          <p:nvPr/>
        </p:nvSpPr>
        <p:spPr>
          <a:xfrm>
            <a:off x="660000" y="2040000"/>
            <a:ext cx="8900000" cy="1500000"/>
          </a:xfrm>
          <a:prstGeom prst="rect">
            <a:avLst/>
          </a:prstGeom>
          <a:noFill/>
        </p:spPr>
        <p:txBody>
          <a:bodyPr wrap="square" anchor="t" lIns="0" rIns="0" tIns="0" bIns="0">
            <a:noAutofit/>
          </a:bodyPr>
          <a:lstStyle/>
          <a:p>
            <a:pPr algn="l" marL="0" indent="0">
              <a:lnSpc>
                <a:spcPct val="106000"/>
              </a:lnSpc>
              <a:spcBef>
                <a:spcPts val="0"/>
              </a:spcBef>
              <a:spcAft>
                <a:spcPts val="0"/>
              </a:spcAft>
              <a:buNone/>
            </a:pPr>
            <a:r>
              <a:rPr sz="4400" b="0" i="0">
                <a:solidFill>
                  <a:srgbClr val="F3F6FC"/>
                </a:solidFill>
                <a:latin typeface="Segoe UI Light"/>
              </a:rPr>
              <a:t>Workloads, Storage y StatefulSets</a:t>
            </a:r>
          </a:p>
        </p:txBody>
      </p:sp>
      <p:sp>
        <p:nvSpPr>
          <p:cNvPr id="8" name="Rectangle 7"/>
          <p:cNvSpPr/>
          <p:nvPr/>
        </p:nvSpPr>
        <p:spPr>
          <a:xfrm>
            <a:off x="660000" y="3560000"/>
            <a:ext cx="62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9" name="TextBox 8"/>
          <p:cNvSpPr txBox="1"/>
          <p:nvPr/>
        </p:nvSpPr>
        <p:spPr>
          <a:xfrm>
            <a:off x="660000" y="3760000"/>
            <a:ext cx="8600000" cy="52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500" b="0" i="1">
                <a:solidFill>
                  <a:srgbClr val="BDC9DB"/>
                </a:solidFill>
                <a:latin typeface="Segoe UI"/>
              </a:rPr>
              <a:t>Aplicaciones que no pueden permitirse perder sus datos</a:t>
            </a:r>
          </a:p>
        </p:txBody>
      </p:sp>
      <p:sp>
        <p:nvSpPr>
          <p:cNvPr id="10" name="Rounded Rectangle 9"/>
          <p:cNvSpPr/>
          <p:nvPr/>
        </p:nvSpPr>
        <p:spPr>
          <a:xfrm>
            <a:off x="660000" y="4650000"/>
            <a:ext cx="2645500" cy="900000"/>
          </a:xfrm>
          <a:prstGeom prst="roundRect">
            <a:avLst>
              <a:gd name="adj" fmla="val 10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1" name="Rectangle 10"/>
          <p:cNvSpPr/>
          <p:nvPr/>
        </p:nvSpPr>
        <p:spPr>
          <a:xfrm>
            <a:off x="660000" y="4650000"/>
            <a:ext cx="26455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2" name="TextBox 11"/>
          <p:cNvSpPr txBox="1"/>
          <p:nvPr/>
        </p:nvSpPr>
        <p:spPr>
          <a:xfrm>
            <a:off x="810000" y="4770000"/>
            <a:ext cx="2345500" cy="660000"/>
          </a:xfrm>
          <a:prstGeom prst="rect">
            <a:avLst/>
          </a:prstGeom>
          <a:noFill/>
        </p:spPr>
        <p:txBody>
          <a:bodyPr wrap="square" anchor="ctr" lIns="0" rIns="0" tIns="0" bIns="0">
            <a:noAutofit/>
          </a:bodyPr>
          <a:lstStyle/>
          <a:p>
            <a:pPr algn="l" marL="0" indent="0">
              <a:lnSpc>
                <a:spcPct val="100000"/>
              </a:lnSpc>
              <a:spcBef>
                <a:spcPts val="0"/>
              </a:spcBef>
              <a:spcAft>
                <a:spcPts val="200"/>
              </a:spcAft>
              <a:buNone/>
            </a:pPr>
            <a:r>
              <a:rPr sz="2200" b="0" i="0">
                <a:solidFill>
                  <a:srgbClr val="F3F6FC"/>
                </a:solidFill>
                <a:latin typeface="Segoe UI Light"/>
              </a:rPr>
              <a:t>180 min</a:t>
            </a:r>
          </a:p>
          <a:p>
            <a:pPr algn="l" marL="0" indent="0">
              <a:lnSpc>
                <a:spcPct val="100000"/>
              </a:lnSpc>
              <a:spcBef>
                <a:spcPts val="0"/>
              </a:spcBef>
              <a:spcAft>
                <a:spcPts val="0"/>
              </a:spcAft>
              <a:buNone/>
            </a:pPr>
            <a:r>
              <a:rPr sz="1000" b="1" i="0" spc="160">
                <a:solidFill>
                  <a:srgbClr val="8493AD"/>
                </a:solidFill>
                <a:latin typeface="Segoe UI Semibold"/>
              </a:rPr>
              <a:t>DURACIÓN</a:t>
            </a:r>
          </a:p>
        </p:txBody>
      </p:sp>
      <p:sp>
        <p:nvSpPr>
          <p:cNvPr id="13" name="Rounded Rectangle 12"/>
          <p:cNvSpPr/>
          <p:nvPr/>
        </p:nvSpPr>
        <p:spPr>
          <a:xfrm>
            <a:off x="3455500" y="4650000"/>
            <a:ext cx="2645500" cy="900000"/>
          </a:xfrm>
          <a:prstGeom prst="roundRect">
            <a:avLst>
              <a:gd name="adj" fmla="val 10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4" name="Rectangle 13"/>
          <p:cNvSpPr/>
          <p:nvPr/>
        </p:nvSpPr>
        <p:spPr>
          <a:xfrm>
            <a:off x="3455500" y="4650000"/>
            <a:ext cx="26455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TextBox 14"/>
          <p:cNvSpPr txBox="1"/>
          <p:nvPr/>
        </p:nvSpPr>
        <p:spPr>
          <a:xfrm>
            <a:off x="3605500" y="4770000"/>
            <a:ext cx="2345500" cy="660000"/>
          </a:xfrm>
          <a:prstGeom prst="rect">
            <a:avLst/>
          </a:prstGeom>
          <a:noFill/>
        </p:spPr>
        <p:txBody>
          <a:bodyPr wrap="square" anchor="ctr" lIns="0" rIns="0" tIns="0" bIns="0">
            <a:noAutofit/>
          </a:bodyPr>
          <a:lstStyle/>
          <a:p>
            <a:pPr algn="l" marL="0" indent="0">
              <a:lnSpc>
                <a:spcPct val="100000"/>
              </a:lnSpc>
              <a:spcBef>
                <a:spcPts val="0"/>
              </a:spcBef>
              <a:spcAft>
                <a:spcPts val="200"/>
              </a:spcAft>
              <a:buNone/>
            </a:pPr>
            <a:r>
              <a:rPr sz="2200" b="0" i="0">
                <a:solidFill>
                  <a:srgbClr val="F3F6FC"/>
                </a:solidFill>
                <a:latin typeface="Segoe UI Light"/>
              </a:rPr>
              <a:t>4</a:t>
            </a:r>
          </a:p>
          <a:p>
            <a:pPr algn="l" marL="0" indent="0">
              <a:lnSpc>
                <a:spcPct val="100000"/>
              </a:lnSpc>
              <a:spcBef>
                <a:spcPts val="0"/>
              </a:spcBef>
              <a:spcAft>
                <a:spcPts val="0"/>
              </a:spcAft>
              <a:buNone/>
            </a:pPr>
            <a:r>
              <a:rPr sz="1000" b="1" i="0" spc="160">
                <a:solidFill>
                  <a:srgbClr val="8493AD"/>
                </a:solidFill>
                <a:latin typeface="Segoe UI Semibold"/>
              </a:rPr>
              <a:t>LABORATORIOS</a:t>
            </a:r>
          </a:p>
        </p:txBody>
      </p:sp>
      <p:sp>
        <p:nvSpPr>
          <p:cNvPr id="16" name="Rounded Rectangle 15"/>
          <p:cNvSpPr/>
          <p:nvPr/>
        </p:nvSpPr>
        <p:spPr>
          <a:xfrm>
            <a:off x="6251000" y="4650000"/>
            <a:ext cx="2645500" cy="900000"/>
          </a:xfrm>
          <a:prstGeom prst="roundRect">
            <a:avLst>
              <a:gd name="adj" fmla="val 10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7" name="Rectangle 16"/>
          <p:cNvSpPr/>
          <p:nvPr/>
        </p:nvSpPr>
        <p:spPr>
          <a:xfrm>
            <a:off x="6251000" y="4650000"/>
            <a:ext cx="26455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8" name="TextBox 17"/>
          <p:cNvSpPr txBox="1"/>
          <p:nvPr/>
        </p:nvSpPr>
        <p:spPr>
          <a:xfrm>
            <a:off x="6401000" y="4770000"/>
            <a:ext cx="2345500" cy="660000"/>
          </a:xfrm>
          <a:prstGeom prst="rect">
            <a:avLst/>
          </a:prstGeom>
          <a:noFill/>
        </p:spPr>
        <p:txBody>
          <a:bodyPr wrap="square" anchor="ctr" lIns="0" rIns="0" tIns="0" bIns="0">
            <a:noAutofit/>
          </a:bodyPr>
          <a:lstStyle/>
          <a:p>
            <a:pPr algn="l" marL="0" indent="0">
              <a:lnSpc>
                <a:spcPct val="100000"/>
              </a:lnSpc>
              <a:spcBef>
                <a:spcPts val="0"/>
              </a:spcBef>
              <a:spcAft>
                <a:spcPts val="200"/>
              </a:spcAft>
              <a:buNone/>
            </a:pPr>
            <a:r>
              <a:rPr sz="2200" b="0" i="0">
                <a:solidFill>
                  <a:srgbClr val="F3F6FC"/>
                </a:solidFill>
                <a:latin typeface="Segoe UI Light"/>
              </a:rPr>
              <a:t>10 %</a:t>
            </a:r>
          </a:p>
          <a:p>
            <a:pPr algn="l" marL="0" indent="0">
              <a:lnSpc>
                <a:spcPct val="100000"/>
              </a:lnSpc>
              <a:spcBef>
                <a:spcPts val="0"/>
              </a:spcBef>
              <a:spcAft>
                <a:spcPts val="0"/>
              </a:spcAft>
              <a:buNone/>
            </a:pPr>
            <a:r>
              <a:rPr sz="1000" b="1" i="0" spc="160">
                <a:solidFill>
                  <a:srgbClr val="8493AD"/>
                </a:solidFill>
                <a:latin typeface="Segoe UI Semibold"/>
              </a:rPr>
              <a:t>STORAGE EN EL CKA</a:t>
            </a:r>
          </a:p>
        </p:txBody>
      </p:sp>
      <p:sp>
        <p:nvSpPr>
          <p:cNvPr id="19" name="Rounded Rectangle 18"/>
          <p:cNvSpPr/>
          <p:nvPr/>
        </p:nvSpPr>
        <p:spPr>
          <a:xfrm>
            <a:off x="9046500" y="4650000"/>
            <a:ext cx="2645500" cy="900000"/>
          </a:xfrm>
          <a:prstGeom prst="roundRect">
            <a:avLst>
              <a:gd name="adj" fmla="val 10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0" name="Rectangle 19"/>
          <p:cNvSpPr/>
          <p:nvPr/>
        </p:nvSpPr>
        <p:spPr>
          <a:xfrm>
            <a:off x="9046500" y="4650000"/>
            <a:ext cx="26455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TextBox 20"/>
          <p:cNvSpPr txBox="1"/>
          <p:nvPr/>
        </p:nvSpPr>
        <p:spPr>
          <a:xfrm>
            <a:off x="9196500" y="4770000"/>
            <a:ext cx="2345500" cy="660000"/>
          </a:xfrm>
          <a:prstGeom prst="rect">
            <a:avLst/>
          </a:prstGeom>
          <a:noFill/>
        </p:spPr>
        <p:txBody>
          <a:bodyPr wrap="square" anchor="ctr" lIns="0" rIns="0" tIns="0" bIns="0">
            <a:noAutofit/>
          </a:bodyPr>
          <a:lstStyle/>
          <a:p>
            <a:pPr algn="l" marL="0" indent="0">
              <a:lnSpc>
                <a:spcPct val="100000"/>
              </a:lnSpc>
              <a:spcBef>
                <a:spcPts val="0"/>
              </a:spcBef>
              <a:spcAft>
                <a:spcPts val="200"/>
              </a:spcAft>
              <a:buNone/>
            </a:pPr>
            <a:r>
              <a:rPr sz="2200" b="0" i="0">
                <a:solidFill>
                  <a:srgbClr val="F3F6FC"/>
                </a:solidFill>
                <a:latin typeface="Segoe UI Light"/>
              </a:rPr>
              <a:t>RWO</a:t>
            </a:r>
          </a:p>
          <a:p>
            <a:pPr algn="l" marL="0" indent="0">
              <a:lnSpc>
                <a:spcPct val="100000"/>
              </a:lnSpc>
              <a:spcBef>
                <a:spcPts val="0"/>
              </a:spcBef>
              <a:spcAft>
                <a:spcPts val="0"/>
              </a:spcAft>
              <a:buNone/>
            </a:pPr>
            <a:r>
              <a:rPr sz="1000" b="1" i="0" spc="160">
                <a:solidFill>
                  <a:srgbClr val="8493AD"/>
                </a:solidFill>
                <a:latin typeface="Segoe UI Semibold"/>
              </a:rPr>
              <a:t>MODO CLAVE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OBJETIVOS</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Al terminar esta clase serás capaz de…</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02</a:t>
            </a:r>
          </a:p>
        </p:txBody>
      </p:sp>
      <p:sp>
        <p:nvSpPr>
          <p:cNvPr id="8" name="Oval 7"/>
          <p:cNvSpPr/>
          <p:nvPr/>
        </p:nvSpPr>
        <p:spPr>
          <a:xfrm>
            <a:off x="10983200" y="326200"/>
            <a:ext cx="537600" cy="537600"/>
          </a:xfrm>
          <a:prstGeom prst="ellipse">
            <a:avLst/>
          </a:prstGeom>
          <a:noFill/>
          <a:ln w="3810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098400" y="441400"/>
            <a:ext cx="307200" cy="307200"/>
          </a:xfrm>
          <a:prstGeom prst="ellipse">
            <a:avLst/>
          </a:prstGeom>
          <a:noFill/>
          <a:ln w="3810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200800" y="543800"/>
            <a:ext cx="102400" cy="102400"/>
          </a:xfrm>
          <a:prstGeom prst="ellipse">
            <a:avLst/>
          </a:prstGeom>
          <a:solidFill>
            <a:srgbClr val="74A6FF"/>
          </a:solidFill>
          <a:ln w="635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0000" y="206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sp>
        <p:nvSpPr>
          <p:cNvPr id="12" name="TextBox 11"/>
          <p:cNvSpPr txBox="1"/>
          <p:nvPr/>
        </p:nvSpPr>
        <p:spPr>
          <a:xfrm>
            <a:off x="1120000" y="193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Explicar la cadena Deployment → ReplicaSet → Pod y demostrar el self-healing.</a:t>
            </a:r>
          </a:p>
        </p:txBody>
      </p:sp>
      <p:sp>
        <p:nvSpPr>
          <p:cNvPr id="13" name="Oval 12"/>
          <p:cNvSpPr/>
          <p:nvPr/>
        </p:nvSpPr>
        <p:spPr>
          <a:xfrm>
            <a:off x="620000" y="262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sp>
        <p:nvSpPr>
          <p:cNvPr id="14" name="TextBox 13"/>
          <p:cNvSpPr txBox="1"/>
          <p:nvPr/>
        </p:nvSpPr>
        <p:spPr>
          <a:xfrm>
            <a:off x="1120000" y="249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Elegir el controlador correcto para cada tipo de carga.</a:t>
            </a:r>
          </a:p>
        </p:txBody>
      </p:sp>
      <p:sp>
        <p:nvSpPr>
          <p:cNvPr id="15" name="Oval 14"/>
          <p:cNvSpPr/>
          <p:nvPr/>
        </p:nvSpPr>
        <p:spPr>
          <a:xfrm>
            <a:off x="620000" y="318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sp>
        <p:nvSpPr>
          <p:cNvPr id="16" name="TextBox 15"/>
          <p:cNvSpPr txBox="1"/>
          <p:nvPr/>
        </p:nvSpPr>
        <p:spPr>
          <a:xfrm>
            <a:off x="1120000" y="305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Compartir datos entre contenedores de un Pod con emptyDir.</a:t>
            </a:r>
          </a:p>
        </p:txBody>
      </p:sp>
      <p:sp>
        <p:nvSpPr>
          <p:cNvPr id="17" name="Oval 16"/>
          <p:cNvSpPr/>
          <p:nvPr/>
        </p:nvSpPr>
        <p:spPr>
          <a:xfrm>
            <a:off x="620000" y="374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sp>
        <p:nvSpPr>
          <p:cNvPr id="18" name="TextBox 17"/>
          <p:cNvSpPr txBox="1"/>
          <p:nvPr/>
        </p:nvSpPr>
        <p:spPr>
          <a:xfrm>
            <a:off x="1120000" y="361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Aprovisionar almacenamiento estático y dinámico.</a:t>
            </a:r>
          </a:p>
        </p:txBody>
      </p:sp>
      <p:sp>
        <p:nvSpPr>
          <p:cNvPr id="19" name="Oval 18"/>
          <p:cNvSpPr/>
          <p:nvPr/>
        </p:nvSpPr>
        <p:spPr>
          <a:xfrm>
            <a:off x="620000" y="430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5</a:t>
            </a:r>
          </a:p>
        </p:txBody>
      </p:sp>
      <p:sp>
        <p:nvSpPr>
          <p:cNvPr id="20" name="TextBox 19"/>
          <p:cNvSpPr txBox="1"/>
          <p:nvPr/>
        </p:nvSpPr>
        <p:spPr>
          <a:xfrm>
            <a:off x="1120000" y="417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Enlazar PV, PVC y Pod, y explicar por qué un PVC queda Pending.</a:t>
            </a:r>
          </a:p>
        </p:txBody>
      </p:sp>
      <p:sp>
        <p:nvSpPr>
          <p:cNvPr id="21" name="Oval 20"/>
          <p:cNvSpPr/>
          <p:nvPr/>
        </p:nvSpPr>
        <p:spPr>
          <a:xfrm>
            <a:off x="620000" y="486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6</a:t>
            </a:r>
          </a:p>
        </p:txBody>
      </p:sp>
      <p:sp>
        <p:nvSpPr>
          <p:cNvPr id="22" name="TextBox 21"/>
          <p:cNvSpPr txBox="1"/>
          <p:nvPr/>
        </p:nvSpPr>
        <p:spPr>
          <a:xfrm>
            <a:off x="1120000" y="473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Desplegar un StatefulSet con Headless Service y volumeClaimTemplates.</a:t>
            </a:r>
          </a:p>
        </p:txBody>
      </p:sp>
      <p:sp>
        <p:nvSpPr>
          <p:cNvPr id="23" name="Oval 22"/>
          <p:cNvSpPr/>
          <p:nvPr/>
        </p:nvSpPr>
        <p:spPr>
          <a:xfrm>
            <a:off x="620000" y="542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7</a:t>
            </a:r>
          </a:p>
        </p:txBody>
      </p:sp>
      <p:sp>
        <p:nvSpPr>
          <p:cNvPr id="24" name="TextBox 23"/>
          <p:cNvSpPr txBox="1"/>
          <p:nvPr/>
        </p:nvSpPr>
        <p:spPr>
          <a:xfrm>
            <a:off x="1120000" y="5290000"/>
            <a:ext cx="1045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Diagnosticar fallos de almacenamiento con un método reproducible.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180 MINUTOS</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Agenda</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03</a:t>
            </a:r>
          </a:p>
        </p:txBody>
      </p:sp>
      <p:sp>
        <p:nvSpPr>
          <p:cNvPr id="8" name="Oval 7"/>
          <p:cNvSpPr/>
          <p:nvPr/>
        </p:nvSpPr>
        <p:spPr>
          <a:xfrm>
            <a:off x="10983200" y="326200"/>
            <a:ext cx="537600" cy="537600"/>
          </a:xfrm>
          <a:prstGeom prst="ellipse">
            <a:avLst/>
          </a:prstGeom>
          <a:noFill/>
          <a:ln w="3810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flipV="1">
            <a:off x="11252000" y="415800"/>
            <a:ext cx="0" cy="17920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252000" y="595000"/>
            <a:ext cx="128000" cy="5120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20000" y="1540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8493AD"/>
                </a:solidFill>
                <a:latin typeface="Consolas"/>
              </a:rPr>
              <a:t>00–12</a:t>
            </a:r>
          </a:p>
        </p:txBody>
      </p:sp>
      <p:sp>
        <p:nvSpPr>
          <p:cNvPr id="12" name="Rectangle 11"/>
          <p:cNvSpPr/>
          <p:nvPr/>
        </p:nvSpPr>
        <p:spPr>
          <a:xfrm>
            <a:off x="2120000" y="1715000"/>
            <a:ext cx="8000" cy="120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3" name="TextBox 12"/>
          <p:cNvSpPr txBox="1"/>
          <p:nvPr/>
        </p:nvSpPr>
        <p:spPr>
          <a:xfrm>
            <a:off x="2320000" y="1540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0" i="0">
                <a:solidFill>
                  <a:srgbClr val="BDC9DB"/>
                </a:solidFill>
                <a:latin typeface="Segoe UI"/>
              </a:rPr>
              <a:t>Repaso de la Clase 2 y objetivos</a:t>
            </a:r>
          </a:p>
        </p:txBody>
      </p:sp>
      <p:sp>
        <p:nvSpPr>
          <p:cNvPr id="14" name="TextBox 13"/>
          <p:cNvSpPr txBox="1"/>
          <p:nvPr/>
        </p:nvSpPr>
        <p:spPr>
          <a:xfrm>
            <a:off x="620000" y="2010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8493AD"/>
                </a:solidFill>
                <a:latin typeface="Consolas"/>
              </a:rPr>
              <a:t>12–35</a:t>
            </a:r>
          </a:p>
        </p:txBody>
      </p:sp>
      <p:sp>
        <p:nvSpPr>
          <p:cNvPr id="15" name="Rectangle 14"/>
          <p:cNvSpPr/>
          <p:nvPr/>
        </p:nvSpPr>
        <p:spPr>
          <a:xfrm>
            <a:off x="2120000" y="2185000"/>
            <a:ext cx="8000" cy="120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TextBox 15"/>
          <p:cNvSpPr txBox="1"/>
          <p:nvPr/>
        </p:nvSpPr>
        <p:spPr>
          <a:xfrm>
            <a:off x="2320000" y="2010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0" i="0">
                <a:solidFill>
                  <a:srgbClr val="BDC9DB"/>
                </a:solidFill>
                <a:latin typeface="Segoe UI"/>
              </a:rPr>
              <a:t>Conceptos: controladores de workload y self-healing</a:t>
            </a:r>
          </a:p>
        </p:txBody>
      </p:sp>
      <p:sp>
        <p:nvSpPr>
          <p:cNvPr id="17" name="TextBox 16"/>
          <p:cNvSpPr txBox="1"/>
          <p:nvPr/>
        </p:nvSpPr>
        <p:spPr>
          <a:xfrm>
            <a:off x="620000" y="2480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8493AD"/>
                </a:solidFill>
                <a:latin typeface="Consolas"/>
              </a:rPr>
              <a:t>35–50</a:t>
            </a:r>
          </a:p>
        </p:txBody>
      </p:sp>
      <p:sp>
        <p:nvSpPr>
          <p:cNvPr id="18" name="Rectangle 17"/>
          <p:cNvSpPr/>
          <p:nvPr/>
        </p:nvSpPr>
        <p:spPr>
          <a:xfrm>
            <a:off x="2120000" y="2655000"/>
            <a:ext cx="8000" cy="120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2320000" y="2480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0" i="0">
                <a:solidFill>
                  <a:srgbClr val="BDC9DB"/>
                </a:solidFill>
                <a:latin typeface="Segoe UI"/>
              </a:rPr>
              <a:t>Demo: borrar un Pod de un Deployment y de un StatefulSet</a:t>
            </a:r>
          </a:p>
        </p:txBody>
      </p:sp>
      <p:sp>
        <p:nvSpPr>
          <p:cNvPr id="20" name="Rounded Rectangle 19"/>
          <p:cNvSpPr/>
          <p:nvPr/>
        </p:nvSpPr>
        <p:spPr>
          <a:xfrm>
            <a:off x="560000" y="2990000"/>
            <a:ext cx="11072000" cy="390000"/>
          </a:xfrm>
          <a:prstGeom prst="roundRect">
            <a:avLst>
              <a:gd name="adj" fmla="val 16000"/>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TextBox 20"/>
          <p:cNvSpPr txBox="1"/>
          <p:nvPr/>
        </p:nvSpPr>
        <p:spPr>
          <a:xfrm>
            <a:off x="620000" y="2950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74A6FF"/>
                </a:solidFill>
                <a:latin typeface="Consolas"/>
              </a:rPr>
              <a:t>50–72</a:t>
            </a:r>
          </a:p>
        </p:txBody>
      </p:sp>
      <p:sp>
        <p:nvSpPr>
          <p:cNvPr id="22" name="Rectangle 21"/>
          <p:cNvSpPr/>
          <p:nvPr/>
        </p:nvSpPr>
        <p:spPr>
          <a:xfrm>
            <a:off x="2120000" y="3125000"/>
            <a:ext cx="8000" cy="120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3" name="TextBox 22"/>
          <p:cNvSpPr txBox="1"/>
          <p:nvPr/>
        </p:nvSpPr>
        <p:spPr>
          <a:xfrm>
            <a:off x="2320000" y="2950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1" i="0">
                <a:solidFill>
                  <a:srgbClr val="F3F6FC"/>
                </a:solidFill>
                <a:latin typeface="Segoe UI"/>
              </a:rPr>
              <a:t>LAB 3.1 — Básico: Deployment, ReplicaSet y self-healing</a:t>
            </a:r>
          </a:p>
        </p:txBody>
      </p:sp>
      <p:sp>
        <p:nvSpPr>
          <p:cNvPr id="24" name="TextBox 23"/>
          <p:cNvSpPr txBox="1"/>
          <p:nvPr/>
        </p:nvSpPr>
        <p:spPr>
          <a:xfrm>
            <a:off x="620000" y="3420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8493AD"/>
                </a:solidFill>
                <a:latin typeface="Consolas"/>
              </a:rPr>
              <a:t>72–90</a:t>
            </a:r>
          </a:p>
        </p:txBody>
      </p:sp>
      <p:sp>
        <p:nvSpPr>
          <p:cNvPr id="25" name="Rectangle 24"/>
          <p:cNvSpPr/>
          <p:nvPr/>
        </p:nvSpPr>
        <p:spPr>
          <a:xfrm>
            <a:off x="2120000" y="3595000"/>
            <a:ext cx="8000" cy="120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6" name="TextBox 25"/>
          <p:cNvSpPr txBox="1"/>
          <p:nvPr/>
        </p:nvSpPr>
        <p:spPr>
          <a:xfrm>
            <a:off x="2320000" y="3420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0" i="0">
                <a:solidFill>
                  <a:srgbClr val="BDC9DB"/>
                </a:solidFill>
                <a:latin typeface="Segoe UI"/>
              </a:rPr>
              <a:t>Conceptos: volúmenes, PV, PVC y StorageClass</a:t>
            </a:r>
          </a:p>
        </p:txBody>
      </p:sp>
      <p:sp>
        <p:nvSpPr>
          <p:cNvPr id="27" name="Rounded Rectangle 26"/>
          <p:cNvSpPr/>
          <p:nvPr/>
        </p:nvSpPr>
        <p:spPr>
          <a:xfrm>
            <a:off x="560000" y="3930000"/>
            <a:ext cx="11072000" cy="390000"/>
          </a:xfrm>
          <a:prstGeom prst="roundRect">
            <a:avLst>
              <a:gd name="adj" fmla="val 16000"/>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8" name="TextBox 27"/>
          <p:cNvSpPr txBox="1"/>
          <p:nvPr/>
        </p:nvSpPr>
        <p:spPr>
          <a:xfrm>
            <a:off x="620000" y="3890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74A6FF"/>
                </a:solidFill>
                <a:latin typeface="Consolas"/>
              </a:rPr>
              <a:t>90–120</a:t>
            </a:r>
          </a:p>
        </p:txBody>
      </p:sp>
      <p:sp>
        <p:nvSpPr>
          <p:cNvPr id="29" name="Rectangle 28"/>
          <p:cNvSpPr/>
          <p:nvPr/>
        </p:nvSpPr>
        <p:spPr>
          <a:xfrm>
            <a:off x="2120000" y="4065000"/>
            <a:ext cx="8000" cy="120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0" name="TextBox 29"/>
          <p:cNvSpPr txBox="1"/>
          <p:nvPr/>
        </p:nvSpPr>
        <p:spPr>
          <a:xfrm>
            <a:off x="2320000" y="3890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1" i="0">
                <a:solidFill>
                  <a:srgbClr val="F3F6FC"/>
                </a:solidFill>
                <a:latin typeface="Segoe UI"/>
              </a:rPr>
              <a:t>LAB 3.2 — Intermedio: emptyDir, PV y PVC estáticos</a:t>
            </a:r>
          </a:p>
        </p:txBody>
      </p:sp>
      <p:sp>
        <p:nvSpPr>
          <p:cNvPr id="31" name="TextBox 30"/>
          <p:cNvSpPr txBox="1"/>
          <p:nvPr/>
        </p:nvSpPr>
        <p:spPr>
          <a:xfrm>
            <a:off x="620000" y="4360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8493AD"/>
                </a:solidFill>
                <a:latin typeface="Consolas"/>
              </a:rPr>
              <a:t>120–130</a:t>
            </a:r>
          </a:p>
        </p:txBody>
      </p:sp>
      <p:sp>
        <p:nvSpPr>
          <p:cNvPr id="32" name="Rectangle 31"/>
          <p:cNvSpPr/>
          <p:nvPr/>
        </p:nvSpPr>
        <p:spPr>
          <a:xfrm>
            <a:off x="2120000" y="4535000"/>
            <a:ext cx="8000" cy="120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3" name="TextBox 32"/>
          <p:cNvSpPr txBox="1"/>
          <p:nvPr/>
        </p:nvSpPr>
        <p:spPr>
          <a:xfrm>
            <a:off x="2320000" y="4360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0" i="0">
                <a:solidFill>
                  <a:srgbClr val="BDC9DB"/>
                </a:solidFill>
                <a:latin typeface="Segoe UI"/>
              </a:rPr>
              <a:t>Conceptos: StatefulSet y Headless Service</a:t>
            </a:r>
          </a:p>
        </p:txBody>
      </p:sp>
      <p:sp>
        <p:nvSpPr>
          <p:cNvPr id="34" name="Rounded Rectangle 33"/>
          <p:cNvSpPr/>
          <p:nvPr/>
        </p:nvSpPr>
        <p:spPr>
          <a:xfrm>
            <a:off x="560000" y="4870000"/>
            <a:ext cx="11072000" cy="390000"/>
          </a:xfrm>
          <a:prstGeom prst="roundRect">
            <a:avLst>
              <a:gd name="adj" fmla="val 16000"/>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5" name="TextBox 34"/>
          <p:cNvSpPr txBox="1"/>
          <p:nvPr/>
        </p:nvSpPr>
        <p:spPr>
          <a:xfrm>
            <a:off x="620000" y="4830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74A6FF"/>
                </a:solidFill>
                <a:latin typeface="Consolas"/>
              </a:rPr>
              <a:t>130–158</a:t>
            </a:r>
          </a:p>
        </p:txBody>
      </p:sp>
      <p:sp>
        <p:nvSpPr>
          <p:cNvPr id="36" name="Rectangle 35"/>
          <p:cNvSpPr/>
          <p:nvPr/>
        </p:nvSpPr>
        <p:spPr>
          <a:xfrm>
            <a:off x="2120000" y="5005000"/>
            <a:ext cx="8000" cy="120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7" name="TextBox 36"/>
          <p:cNvSpPr txBox="1"/>
          <p:nvPr/>
        </p:nvSpPr>
        <p:spPr>
          <a:xfrm>
            <a:off x="2320000" y="4830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1" i="0">
                <a:solidFill>
                  <a:srgbClr val="F3F6FC"/>
                </a:solidFill>
                <a:latin typeface="Segoe UI"/>
              </a:rPr>
              <a:t>LAB 3.3 — Avanzado: almacenamiento por réplica</a:t>
            </a:r>
          </a:p>
        </p:txBody>
      </p:sp>
      <p:sp>
        <p:nvSpPr>
          <p:cNvPr id="38" name="Rounded Rectangle 37"/>
          <p:cNvSpPr/>
          <p:nvPr/>
        </p:nvSpPr>
        <p:spPr>
          <a:xfrm>
            <a:off x="560000" y="5340000"/>
            <a:ext cx="11072000" cy="390000"/>
          </a:xfrm>
          <a:prstGeom prst="roundRect">
            <a:avLst>
              <a:gd name="adj" fmla="val 16000"/>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9" name="TextBox 38"/>
          <p:cNvSpPr txBox="1"/>
          <p:nvPr/>
        </p:nvSpPr>
        <p:spPr>
          <a:xfrm>
            <a:off x="620000" y="5300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74A6FF"/>
                </a:solidFill>
                <a:latin typeface="Consolas"/>
              </a:rPr>
              <a:t>158–176</a:t>
            </a:r>
          </a:p>
        </p:txBody>
      </p:sp>
      <p:sp>
        <p:nvSpPr>
          <p:cNvPr id="40" name="Rectangle 39"/>
          <p:cNvSpPr/>
          <p:nvPr/>
        </p:nvSpPr>
        <p:spPr>
          <a:xfrm>
            <a:off x="2120000" y="5475000"/>
            <a:ext cx="8000" cy="120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41" name="TextBox 40"/>
          <p:cNvSpPr txBox="1"/>
          <p:nvPr/>
        </p:nvSpPr>
        <p:spPr>
          <a:xfrm>
            <a:off x="2320000" y="5300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1" i="0">
                <a:solidFill>
                  <a:srgbClr val="F3F6FC"/>
                </a:solidFill>
                <a:latin typeface="Segoe UI"/>
              </a:rPr>
              <a:t>LAB 3.4 — Challenge: el PVC que nunca enlaza</a:t>
            </a:r>
          </a:p>
        </p:txBody>
      </p:sp>
      <p:sp>
        <p:nvSpPr>
          <p:cNvPr id="42" name="TextBox 41"/>
          <p:cNvSpPr txBox="1"/>
          <p:nvPr/>
        </p:nvSpPr>
        <p:spPr>
          <a:xfrm>
            <a:off x="620000" y="5770000"/>
            <a:ext cx="1500000" cy="47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40">
                <a:solidFill>
                  <a:srgbClr val="8493AD"/>
                </a:solidFill>
                <a:latin typeface="Consolas"/>
              </a:rPr>
              <a:t>176–180</a:t>
            </a:r>
          </a:p>
        </p:txBody>
      </p:sp>
      <p:sp>
        <p:nvSpPr>
          <p:cNvPr id="43" name="Rectangle 42"/>
          <p:cNvSpPr/>
          <p:nvPr/>
        </p:nvSpPr>
        <p:spPr>
          <a:xfrm>
            <a:off x="2120000" y="5945000"/>
            <a:ext cx="8000" cy="120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44" name="TextBox 43"/>
          <p:cNvSpPr txBox="1"/>
          <p:nvPr/>
        </p:nvSpPr>
        <p:spPr>
          <a:xfrm>
            <a:off x="2320000" y="5770000"/>
            <a:ext cx="9252000" cy="47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300" b="0" i="0">
                <a:solidFill>
                  <a:srgbClr val="BDC9DB"/>
                </a:solidFill>
                <a:latin typeface="Segoe UI"/>
              </a:rPr>
              <a:t>Cierre, mental model de storage y CKA Tips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1500000" y="4258000"/>
            <a:ext cx="4200000" cy="42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eploy.png"/>
          <p:cNvPicPr>
            <a:picLocks noChangeAspect="1"/>
          </p:cNvPicPr>
          <p:nvPr/>
        </p:nvPicPr>
        <p:blipFill>
          <a:blip r:embed="rId2"/>
          <a:stretch>
            <a:fillRect/>
          </a:stretch>
        </p:blipFill>
        <p:spPr>
          <a:xfrm>
            <a:off x="8842000" y="2150000"/>
            <a:ext cx="1800000" cy="1800000"/>
          </a:xfrm>
          <a:prstGeom prst="rect">
            <a:avLst/>
          </a:prstGeom>
        </p:spPr>
      </p:pic>
      <p:sp>
        <p:nvSpPr>
          <p:cNvPr id="4" name="TextBox 3"/>
          <p:cNvSpPr txBox="1"/>
          <p:nvPr/>
        </p:nvSpPr>
        <p:spPr>
          <a:xfrm>
            <a:off x="590000" y="1150000"/>
            <a:ext cx="4000000" cy="2600000"/>
          </a:xfrm>
          <a:prstGeom prst="rect">
            <a:avLst/>
          </a:prstGeom>
          <a:noFill/>
        </p:spPr>
        <p:txBody>
          <a:bodyPr wrap="square" anchor="t" lIns="0" rIns="0" tIns="0" bIns="0">
            <a:noAutofit/>
          </a:bodyPr>
          <a:lstStyle/>
          <a:p>
            <a:pPr algn="l" marL="0" indent="0">
              <a:lnSpc>
                <a:spcPct val="90000"/>
              </a:lnSpc>
              <a:spcBef>
                <a:spcPts val="0"/>
              </a:spcBef>
              <a:spcAft>
                <a:spcPts val="0"/>
              </a:spcAft>
              <a:buNone/>
            </a:pPr>
            <a:r>
              <a:rPr sz="15000" b="0" i="0">
                <a:solidFill>
                  <a:srgbClr val="4C5B75"/>
                </a:solidFill>
                <a:latin typeface="Segoe UI Light"/>
              </a:rPr>
              <a:t>01</a:t>
            </a:r>
          </a:p>
        </p:txBody>
      </p:sp>
      <p:sp>
        <p:nvSpPr>
          <p:cNvPr id="5" name="TextBox 4"/>
          <p:cNvSpPr txBox="1"/>
          <p:nvPr/>
        </p:nvSpPr>
        <p:spPr>
          <a:xfrm>
            <a:off x="640000" y="3050000"/>
            <a:ext cx="9200000" cy="3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60">
                <a:solidFill>
                  <a:srgbClr val="74A6FF"/>
                </a:solidFill>
                <a:latin typeface="Segoe UI Semibold"/>
              </a:rPr>
              <a:t>BLOQUE 1</a:t>
            </a:r>
          </a:p>
        </p:txBody>
      </p:sp>
      <p:sp>
        <p:nvSpPr>
          <p:cNvPr id="6" name="TextBox 5"/>
          <p:cNvSpPr txBox="1"/>
          <p:nvPr/>
        </p:nvSpPr>
        <p:spPr>
          <a:xfrm>
            <a:off x="640000" y="3350000"/>
            <a:ext cx="10200000" cy="1000000"/>
          </a:xfrm>
          <a:prstGeom prst="rect">
            <a:avLst/>
          </a:prstGeom>
          <a:noFill/>
        </p:spPr>
        <p:txBody>
          <a:bodyPr wrap="square" anchor="t" lIns="0" rIns="0" tIns="0" bIns="0">
            <a:noAutofit/>
          </a:bodyPr>
          <a:lstStyle/>
          <a:p>
            <a:pPr algn="l" marL="0" indent="0">
              <a:lnSpc>
                <a:spcPct val="102000"/>
              </a:lnSpc>
              <a:spcBef>
                <a:spcPts val="0"/>
              </a:spcBef>
              <a:spcAft>
                <a:spcPts val="0"/>
              </a:spcAft>
              <a:buNone/>
            </a:pPr>
            <a:r>
              <a:rPr sz="5400" b="0" i="0">
                <a:solidFill>
                  <a:srgbClr val="F3F6FC"/>
                </a:solidFill>
                <a:latin typeface="Segoe UI Light"/>
              </a:rPr>
              <a:t>Controladores de workload</a:t>
            </a:r>
          </a:p>
        </p:txBody>
      </p:sp>
      <p:sp>
        <p:nvSpPr>
          <p:cNvPr id="7" name="Rectangle 6"/>
          <p:cNvSpPr/>
          <p:nvPr/>
        </p:nvSpPr>
        <p:spPr>
          <a:xfrm>
            <a:off x="644000" y="4380000"/>
            <a:ext cx="62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8" name="TextBox 7"/>
          <p:cNvSpPr txBox="1"/>
          <p:nvPr/>
        </p:nvSpPr>
        <p:spPr>
          <a:xfrm>
            <a:off x="640000" y="4560000"/>
            <a:ext cx="9600000" cy="62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500" b="0" i="1">
                <a:solidFill>
                  <a:srgbClr val="BDC9DB"/>
                </a:solidFill>
                <a:latin typeface="Segoe UI"/>
              </a:rPr>
              <a:t>Quién repara qué cuando algo se cae</a:t>
            </a:r>
          </a:p>
        </p:txBody>
      </p:sp>
      <p:sp>
        <p:nvSpPr>
          <p:cNvPr id="9" name="Rectangle 8"/>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TextBox 9"/>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11" name="TextBox 10"/>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RELACIÓN</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Cada capa tiene una responsabilidad distinta</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05</a:t>
            </a:r>
          </a:p>
        </p:txBody>
      </p:sp>
      <p:pic>
        <p:nvPicPr>
          <p:cNvPr id="8" name="Picture 7" descr="svc.png"/>
          <p:cNvPicPr>
            <a:picLocks noChangeAspect="1"/>
          </p:cNvPicPr>
          <p:nvPr/>
        </p:nvPicPr>
        <p:blipFill>
          <a:blip r:embed="rId2"/>
          <a:stretch>
            <a:fillRect/>
          </a:stretch>
        </p:blipFill>
        <p:spPr>
          <a:xfrm>
            <a:off x="10932000" y="275000"/>
            <a:ext cx="640000" cy="640000"/>
          </a:xfrm>
          <a:prstGeom prst="rect">
            <a:avLst/>
          </a:prstGeom>
        </p:spPr>
      </p:pic>
      <p:sp>
        <p:nvSpPr>
          <p:cNvPr id="9" name="Rounded Rectangle 8"/>
          <p:cNvSpPr/>
          <p:nvPr/>
        </p:nvSpPr>
        <p:spPr>
          <a:xfrm>
            <a:off x="620000" y="1670000"/>
            <a:ext cx="3510666" cy="70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TextBox 9"/>
          <p:cNvSpPr txBox="1"/>
          <p:nvPr/>
        </p:nvSpPr>
        <p:spPr>
          <a:xfrm>
            <a:off x="690000" y="1670000"/>
            <a:ext cx="3370666" cy="70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Deployment</a:t>
            </a:r>
          </a:p>
        </p:txBody>
      </p:sp>
      <p:cxnSp>
        <p:nvCxnSpPr>
          <p:cNvPr id="11" name="Connector 10"/>
          <p:cNvCxnSpPr/>
          <p:nvPr/>
        </p:nvCxnSpPr>
        <p:spPr>
          <a:xfrm>
            <a:off x="4154666" y="202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40666" y="1670000"/>
            <a:ext cx="3510666" cy="70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3" name="TextBox 12"/>
          <p:cNvSpPr txBox="1"/>
          <p:nvPr/>
        </p:nvSpPr>
        <p:spPr>
          <a:xfrm>
            <a:off x="4410666" y="1670000"/>
            <a:ext cx="3370666" cy="70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ReplicaSet</a:t>
            </a:r>
          </a:p>
        </p:txBody>
      </p:sp>
      <p:cxnSp>
        <p:nvCxnSpPr>
          <p:cNvPr id="14" name="Connector 13"/>
          <p:cNvCxnSpPr/>
          <p:nvPr/>
        </p:nvCxnSpPr>
        <p:spPr>
          <a:xfrm>
            <a:off x="7875333" y="202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061333" y="1670000"/>
            <a:ext cx="3510666" cy="70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TextBox 15"/>
          <p:cNvSpPr txBox="1"/>
          <p:nvPr/>
        </p:nvSpPr>
        <p:spPr>
          <a:xfrm>
            <a:off x="8131333" y="1670000"/>
            <a:ext cx="3370666" cy="70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Pod</a:t>
            </a:r>
          </a:p>
        </p:txBody>
      </p:sp>
      <p:sp>
        <p:nvSpPr>
          <p:cNvPr id="17" name="Rounded Rectangle 16"/>
          <p:cNvSpPr/>
          <p:nvPr/>
        </p:nvSpPr>
        <p:spPr>
          <a:xfrm>
            <a:off x="620000" y="2670000"/>
            <a:ext cx="10952000" cy="361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8" name="Rectangle 17"/>
          <p:cNvSpPr/>
          <p:nvPr/>
        </p:nvSpPr>
        <p:spPr>
          <a:xfrm>
            <a:off x="646000" y="2692000"/>
            <a:ext cx="40000" cy="356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860000" y="2800000"/>
            <a:ext cx="10522000" cy="335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QUIÉN HACE QUÉ</a:t>
            </a:r>
          </a:p>
          <a:p>
            <a:pPr algn="l" marL="0" indent="0">
              <a:lnSpc>
                <a:spcPct val="128000"/>
              </a:lnSpc>
              <a:spcBef>
                <a:spcPts val="0"/>
              </a:spcBef>
              <a:spcAft>
                <a:spcPts val="400"/>
              </a:spcAft>
              <a:buNone/>
            </a:pPr>
            <a:r>
              <a:rPr sz="1100" b="0" i="0">
                <a:solidFill>
                  <a:srgbClr val="BDC9DB"/>
                </a:solidFill>
                <a:latin typeface="Segoe UI"/>
              </a:rPr>
              <a:t>La cadena Deployment → ReplicaSet → Pod separa dos responsabilidades. El ReplicaSet gestiona CANTIDAD: cuenta cuántos Pods casan con su selector y crea o borra hasta llegar a spec.replicas. Es lo que da el self-healing: si borras un Pod, el ReplicaSet lo repone en segundos. Pero un ReplicaSet no sabe hacer rolling update; cambiarle la imagen solo afecta a los Pods que cree a partir de ese momento.</a:t>
            </a:r>
          </a:p>
          <a:p>
            <a:pPr algn="l" marL="0" indent="0">
              <a:lnSpc>
                <a:spcPct val="128000"/>
              </a:lnSpc>
              <a:spcBef>
                <a:spcPts val="0"/>
              </a:spcBef>
              <a:spcAft>
                <a:spcPts val="400"/>
              </a:spcAft>
              <a:buNone/>
            </a:pPr>
            <a:r>
              <a:rPr sz="1100" b="0" i="0">
                <a:solidFill>
                  <a:srgbClr val="BDC9DB"/>
                </a:solidFill>
                <a:latin typeface="Segoe UI"/>
              </a:rPr>
              <a:t>El Deployment gestiona VERSIONES: cada vez que cambias spec.template (imagen, variables, recursos) crea un ReplicaSet nuevo y orquesta la transición gradual del viejo al nuevo. El ReplicaSet anterior no se borra, queda a 0 réplicas, y es lo que permite el rollback inmediato.</a:t>
            </a:r>
          </a:p>
          <a:p>
            <a:pPr algn="l" marL="0" indent="0">
              <a:lnSpc>
                <a:spcPct val="128000"/>
              </a:lnSpc>
              <a:spcBef>
                <a:spcPts val="0"/>
              </a:spcBef>
              <a:spcAft>
                <a:spcPts val="400"/>
              </a:spcAft>
              <a:buNone/>
            </a:pPr>
            <a:r>
              <a:rPr sz="1100" b="0" i="0">
                <a:solidFill>
                  <a:srgbClr val="BDC9DB"/>
                </a:solidFill>
                <a:latin typeface="Segoe UI"/>
              </a:rPr>
              <a:t>kubectl scale toca spec.replicas, que vive en el ReplicaSet activo, así que NO genera un ReplicaSet nuevo. Y la pertenencia se puede comprobar en cualquier Pod leyendo metadata.ownerReferences, que apunta a su ReplicaSet, cuyo ownerReferences a su vez apunta al Deployment.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ELECCIÓN</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Qué controlador para qué carga</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06</a:t>
            </a:r>
          </a:p>
        </p:txBody>
      </p:sp>
      <p:sp>
        <p:nvSpPr>
          <p:cNvPr id="8" name="Rounded Rectangle 7"/>
          <p:cNvSpPr/>
          <p:nvPr/>
        </p:nvSpPr>
        <p:spPr>
          <a:xfrm>
            <a:off x="620000" y="1470000"/>
            <a:ext cx="5316000"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9" name="Rectangle 8"/>
          <p:cNvSpPr/>
          <p:nvPr/>
        </p:nvSpPr>
        <p:spPr>
          <a:xfrm>
            <a:off x="644000" y="1470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Oval 9"/>
          <p:cNvSpPr/>
          <p:nvPr/>
        </p:nvSpPr>
        <p:spPr>
          <a:xfrm>
            <a:off x="820000" y="1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pic>
        <p:nvPicPr>
          <p:cNvPr id="11" name="Picture 10" descr="deploy.png"/>
          <p:cNvPicPr>
            <a:picLocks noChangeAspect="1"/>
          </p:cNvPicPr>
          <p:nvPr/>
        </p:nvPicPr>
        <p:blipFill>
          <a:blip r:embed="rId2"/>
          <a:stretch>
            <a:fillRect/>
          </a:stretch>
        </p:blipFill>
        <p:spPr>
          <a:xfrm>
            <a:off x="5406000" y="1676000"/>
            <a:ext cx="330000" cy="330000"/>
          </a:xfrm>
          <a:prstGeom prst="rect">
            <a:avLst/>
          </a:prstGeom>
        </p:spPr>
      </p:pic>
      <p:sp>
        <p:nvSpPr>
          <p:cNvPr id="12" name="TextBox 11"/>
          <p:cNvSpPr txBox="1"/>
          <p:nvPr/>
        </p:nvSpPr>
        <p:spPr>
          <a:xfrm>
            <a:off x="1230000" y="1670000"/>
            <a:ext cx="4286000"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Deployment</a:t>
            </a:r>
          </a:p>
        </p:txBody>
      </p:sp>
      <p:sp>
        <p:nvSpPr>
          <p:cNvPr id="13" name="TextBox 12"/>
          <p:cNvSpPr txBox="1"/>
          <p:nvPr/>
        </p:nvSpPr>
        <p:spPr>
          <a:xfrm>
            <a:off x="820000" y="2030000"/>
            <a:ext cx="4916000"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Cargas stateless. Réplicas intercambiables, nombres con hash, rolling update y rollback. Es tu opción por defecto.</a:t>
            </a:r>
          </a:p>
        </p:txBody>
      </p:sp>
      <p:sp>
        <p:nvSpPr>
          <p:cNvPr id="14" name="Rounded Rectangle 13"/>
          <p:cNvSpPr/>
          <p:nvPr/>
        </p:nvSpPr>
        <p:spPr>
          <a:xfrm>
            <a:off x="6256000" y="1470000"/>
            <a:ext cx="5316000"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Rectangle 14"/>
          <p:cNvSpPr/>
          <p:nvPr/>
        </p:nvSpPr>
        <p:spPr>
          <a:xfrm>
            <a:off x="6280000" y="1470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Oval 15"/>
          <p:cNvSpPr/>
          <p:nvPr/>
        </p:nvSpPr>
        <p:spPr>
          <a:xfrm>
            <a:off x="6456000" y="1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pic>
        <p:nvPicPr>
          <p:cNvPr id="17" name="Picture 16" descr="sts.png"/>
          <p:cNvPicPr>
            <a:picLocks noChangeAspect="1"/>
          </p:cNvPicPr>
          <p:nvPr/>
        </p:nvPicPr>
        <p:blipFill>
          <a:blip r:embed="rId3"/>
          <a:stretch>
            <a:fillRect/>
          </a:stretch>
        </p:blipFill>
        <p:spPr>
          <a:xfrm>
            <a:off x="11042000" y="1676000"/>
            <a:ext cx="330000" cy="330000"/>
          </a:xfrm>
          <a:prstGeom prst="rect">
            <a:avLst/>
          </a:prstGeom>
        </p:spPr>
      </p:pic>
      <p:sp>
        <p:nvSpPr>
          <p:cNvPr id="18" name="TextBox 17"/>
          <p:cNvSpPr txBox="1"/>
          <p:nvPr/>
        </p:nvSpPr>
        <p:spPr>
          <a:xfrm>
            <a:off x="6866000" y="1670000"/>
            <a:ext cx="4286000"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StatefulSet</a:t>
            </a:r>
          </a:p>
        </p:txBody>
      </p:sp>
      <p:sp>
        <p:nvSpPr>
          <p:cNvPr id="19" name="TextBox 18"/>
          <p:cNvSpPr txBox="1"/>
          <p:nvPr/>
        </p:nvSpPr>
        <p:spPr>
          <a:xfrm>
            <a:off x="6456000" y="2030000"/>
            <a:ext cx="4916000"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Cargas con estado. Nombre estable, orden garantizado y un volumen propio por réplica.</a:t>
            </a:r>
          </a:p>
        </p:txBody>
      </p:sp>
      <p:sp>
        <p:nvSpPr>
          <p:cNvPr id="20" name="Rounded Rectangle 19"/>
          <p:cNvSpPr/>
          <p:nvPr/>
        </p:nvSpPr>
        <p:spPr>
          <a:xfrm>
            <a:off x="620000" y="2925000"/>
            <a:ext cx="5316000"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Rectangle 20"/>
          <p:cNvSpPr/>
          <p:nvPr/>
        </p:nvSpPr>
        <p:spPr>
          <a:xfrm>
            <a:off x="644000" y="2925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2" name="Oval 21"/>
          <p:cNvSpPr/>
          <p:nvPr/>
        </p:nvSpPr>
        <p:spPr>
          <a:xfrm>
            <a:off x="820000" y="3145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pic>
        <p:nvPicPr>
          <p:cNvPr id="23" name="Picture 22" descr="ds.png"/>
          <p:cNvPicPr>
            <a:picLocks noChangeAspect="1"/>
          </p:cNvPicPr>
          <p:nvPr/>
        </p:nvPicPr>
        <p:blipFill>
          <a:blip r:embed="rId4"/>
          <a:stretch>
            <a:fillRect/>
          </a:stretch>
        </p:blipFill>
        <p:spPr>
          <a:xfrm>
            <a:off x="5406000" y="3131000"/>
            <a:ext cx="330000" cy="330000"/>
          </a:xfrm>
          <a:prstGeom prst="rect">
            <a:avLst/>
          </a:prstGeom>
        </p:spPr>
      </p:pic>
      <p:sp>
        <p:nvSpPr>
          <p:cNvPr id="24" name="TextBox 23"/>
          <p:cNvSpPr txBox="1"/>
          <p:nvPr/>
        </p:nvSpPr>
        <p:spPr>
          <a:xfrm>
            <a:off x="1230000" y="3125000"/>
            <a:ext cx="4286000"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DaemonSet</a:t>
            </a:r>
          </a:p>
        </p:txBody>
      </p:sp>
      <p:sp>
        <p:nvSpPr>
          <p:cNvPr id="25" name="TextBox 24"/>
          <p:cNvSpPr txBox="1"/>
          <p:nvPr/>
        </p:nvSpPr>
        <p:spPr>
          <a:xfrm>
            <a:off x="820000" y="3485000"/>
            <a:ext cx="4916000"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Un Pod por nodo: agentes, CNI, recolectores de logs. Por eso drain necesita --ignore-daemonsets.</a:t>
            </a:r>
          </a:p>
        </p:txBody>
      </p:sp>
      <p:sp>
        <p:nvSpPr>
          <p:cNvPr id="26" name="Rounded Rectangle 25"/>
          <p:cNvSpPr/>
          <p:nvPr/>
        </p:nvSpPr>
        <p:spPr>
          <a:xfrm>
            <a:off x="6256000" y="2925000"/>
            <a:ext cx="5316000"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7" name="Rectangle 26"/>
          <p:cNvSpPr/>
          <p:nvPr/>
        </p:nvSpPr>
        <p:spPr>
          <a:xfrm>
            <a:off x="6280000" y="2925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8" name="Oval 27"/>
          <p:cNvSpPr/>
          <p:nvPr/>
        </p:nvSpPr>
        <p:spPr>
          <a:xfrm>
            <a:off x="6456000" y="3145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pic>
        <p:nvPicPr>
          <p:cNvPr id="29" name="Picture 28" descr="rs.png"/>
          <p:cNvPicPr>
            <a:picLocks noChangeAspect="1"/>
          </p:cNvPicPr>
          <p:nvPr/>
        </p:nvPicPr>
        <p:blipFill>
          <a:blip r:embed="rId5"/>
          <a:stretch>
            <a:fillRect/>
          </a:stretch>
        </p:blipFill>
        <p:spPr>
          <a:xfrm>
            <a:off x="11042000" y="3131000"/>
            <a:ext cx="330000" cy="330000"/>
          </a:xfrm>
          <a:prstGeom prst="rect">
            <a:avLst/>
          </a:prstGeom>
        </p:spPr>
      </p:pic>
      <p:sp>
        <p:nvSpPr>
          <p:cNvPr id="30" name="TextBox 29"/>
          <p:cNvSpPr txBox="1"/>
          <p:nvPr/>
        </p:nvSpPr>
        <p:spPr>
          <a:xfrm>
            <a:off x="6866000" y="3125000"/>
            <a:ext cx="4286000"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ReplicationController</a:t>
            </a:r>
          </a:p>
        </p:txBody>
      </p:sp>
      <p:sp>
        <p:nvSpPr>
          <p:cNvPr id="31" name="TextBox 30"/>
          <p:cNvSpPr txBox="1"/>
          <p:nvPr/>
        </p:nvSpPr>
        <p:spPr>
          <a:xfrm>
            <a:off x="6456000" y="3485000"/>
            <a:ext cx="4916000"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Antecesor del ReplicaSet. Solo referencia histórica: no lo uses en nada nuevo.</a:t>
            </a:r>
          </a:p>
        </p:txBody>
      </p:sp>
      <p:sp>
        <p:nvSpPr>
          <p:cNvPr id="32" name="Rounded Rectangle 31"/>
          <p:cNvSpPr/>
          <p:nvPr/>
        </p:nvSpPr>
        <p:spPr>
          <a:xfrm>
            <a:off x="620000" y="4310000"/>
            <a:ext cx="10952000" cy="200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3" name="Rectangle 32"/>
          <p:cNvSpPr/>
          <p:nvPr/>
        </p:nvSpPr>
        <p:spPr>
          <a:xfrm>
            <a:off x="646000" y="4332000"/>
            <a:ext cx="40000" cy="195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4" name="TextBox 33"/>
          <p:cNvSpPr txBox="1"/>
          <p:nvPr/>
        </p:nvSpPr>
        <p:spPr>
          <a:xfrm>
            <a:off x="860000" y="4440000"/>
            <a:ext cx="10522000" cy="174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TEORÍA</a:t>
            </a:r>
          </a:p>
          <a:p>
            <a:pPr algn="l" marL="0" indent="0">
              <a:lnSpc>
                <a:spcPct val="128000"/>
              </a:lnSpc>
              <a:spcBef>
                <a:spcPts val="0"/>
              </a:spcBef>
              <a:spcAft>
                <a:spcPts val="400"/>
              </a:spcAft>
              <a:buNone/>
            </a:pPr>
            <a:r>
              <a:rPr sz="1050" b="0" i="0">
                <a:solidFill>
                  <a:srgbClr val="BDC9DB"/>
                </a:solidFill>
                <a:latin typeface="Segoe UI"/>
              </a:rPr>
              <a:t>El controlador elegido codifica las garantías que necesita la carga. El Deployment es para cargas stateless: réplicas intercambiables con nombre aleatorio (hash), sin orden de arranque, con rolling update y rollback. Es la opción por defecto para cualquier aplicación web o API.</a:t>
            </a:r>
          </a:p>
          <a:p>
            <a:pPr algn="l" marL="0" indent="0">
              <a:lnSpc>
                <a:spcPct val="128000"/>
              </a:lnSpc>
              <a:spcBef>
                <a:spcPts val="0"/>
              </a:spcBef>
              <a:spcAft>
                <a:spcPts val="400"/>
              </a:spcAft>
              <a:buNone/>
            </a:pPr>
            <a:r>
              <a:rPr sz="1050" b="0" i="0">
                <a:solidFill>
                  <a:srgbClr val="BDC9DB"/>
                </a:solidFill>
                <a:latin typeface="Segoe UI"/>
              </a:rPr>
              <a:t>El StatefulSet es para cargas con estado que necesitan identidad: nombre estable y predecible (web-0, web-1…), arranque y parada en orden, y un volumen persistente propio por réplica creado mediante volumeClaimTemplates. Bases de datos, colas y clusters de consenso.</a:t>
            </a:r>
          </a:p>
          <a:p>
            <a:pPr algn="l" marL="0" indent="0">
              <a:lnSpc>
                <a:spcPct val="128000"/>
              </a:lnSpc>
              <a:spcBef>
                <a:spcPts val="0"/>
              </a:spcBef>
              <a:spcAft>
                <a:spcPts val="400"/>
              </a:spcAft>
              <a:buNone/>
            </a:pPr>
            <a:r>
              <a:rPr sz="1050" b="0" i="0">
                <a:solidFill>
                  <a:srgbClr val="BDC9DB"/>
                </a:solidFill>
                <a:latin typeface="Segoe UI"/>
              </a:rPr>
              <a:t>El DaemonSet garantiza exactamente un Pod por nodo (agentes de logs, CNI, exporters de métricas); por eso drain necesita --ignore-daemonsets. El ReplicationController es el antecesor del ReplicaSet, solo referencia histórica. Y un Pod suelto no tiene ningún controlador detrás: si te importa que siga existiendo, no lo crees así.</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9992000" y="-1500000"/>
            <a:ext cx="3400000" cy="34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00" y="470000"/>
            <a:ext cx="2500000" cy="360000"/>
          </a:xfrm>
          <a:prstGeom prst="roundRect">
            <a:avLst>
              <a:gd name="adj" fmla="val 50000"/>
            </a:avLst>
          </a:prstGeom>
          <a:noFill/>
          <a:ln w="1270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000" b="1" i="0" spc="140">
                <a:solidFill>
                  <a:srgbClr val="74A6FF"/>
                </a:solidFill>
                <a:latin typeface="Segoe UI"/>
              </a:rPr>
              <a:t>Nivel básico</a:t>
            </a:r>
          </a:p>
        </p:txBody>
      </p:sp>
      <p:sp>
        <p:nvSpPr>
          <p:cNvPr id="4" name="TextBox 3"/>
          <p:cNvSpPr txBox="1"/>
          <p:nvPr/>
        </p:nvSpPr>
        <p:spPr>
          <a:xfrm>
            <a:off x="640000" y="990000"/>
            <a:ext cx="10912000" cy="760000"/>
          </a:xfrm>
          <a:prstGeom prst="rect">
            <a:avLst/>
          </a:prstGeom>
          <a:noFill/>
        </p:spPr>
        <p:txBody>
          <a:bodyPr wrap="square" anchor="t" lIns="0" rIns="0" tIns="0" bIns="0">
            <a:noAutofit/>
          </a:bodyPr>
          <a:lstStyle/>
          <a:p>
            <a:pPr algn="l" marL="0" indent="0">
              <a:lnSpc>
                <a:spcPct val="106000"/>
              </a:lnSpc>
              <a:spcBef>
                <a:spcPts val="0"/>
              </a:spcBef>
              <a:spcAft>
                <a:spcPts val="0"/>
              </a:spcAft>
              <a:buNone/>
            </a:pPr>
            <a:r>
              <a:rPr sz="3100" b="0" i="0">
                <a:solidFill>
                  <a:srgbClr val="F3F6FC"/>
                </a:solidFill>
                <a:latin typeface="Segoe UI Light"/>
              </a:rPr>
              <a:t>LAB 3.1 — Deployment, ReplicaSet y self-healing</a:t>
            </a:r>
          </a:p>
        </p:txBody>
      </p:sp>
      <p:sp>
        <p:nvSpPr>
          <p:cNvPr id="5" name="TextBox 4"/>
          <p:cNvSpPr txBox="1"/>
          <p:nvPr/>
        </p:nvSpPr>
        <p:spPr>
          <a:xfrm>
            <a:off x="640000" y="1800000"/>
            <a:ext cx="7452000" cy="64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300" b="0" i="1">
                <a:solidFill>
                  <a:srgbClr val="BDC9DB"/>
                </a:solidFill>
                <a:latin typeface="Segoe UI"/>
              </a:rPr>
              <a:t>Ver con tus propios ojos la cadena de controladores y comprobar empíricamente qué garantiza cada uno.</a:t>
            </a:r>
          </a:p>
        </p:txBody>
      </p:sp>
      <p:sp>
        <p:nvSpPr>
          <p:cNvPr id="6" name="Oval 5"/>
          <p:cNvSpPr/>
          <p:nvPr/>
        </p:nvSpPr>
        <p:spPr>
          <a:xfrm>
            <a:off x="640000" y="2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sp>
        <p:nvSpPr>
          <p:cNvPr id="7" name="TextBox 6"/>
          <p:cNvSpPr txBox="1"/>
          <p:nvPr/>
        </p:nvSpPr>
        <p:spPr>
          <a:xfrm>
            <a:off x="1110000" y="256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Leer los ownerReferences de un Pod y de un ReplicaSet.</a:t>
            </a:r>
          </a:p>
        </p:txBody>
      </p:sp>
      <p:sp>
        <p:nvSpPr>
          <p:cNvPr id="8" name="Oval 7"/>
          <p:cNvSpPr/>
          <p:nvPr/>
        </p:nvSpPr>
        <p:spPr>
          <a:xfrm>
            <a:off x="640000" y="325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sp>
        <p:nvSpPr>
          <p:cNvPr id="9" name="TextBox 8"/>
          <p:cNvSpPr txBox="1"/>
          <p:nvPr/>
        </p:nvSpPr>
        <p:spPr>
          <a:xfrm>
            <a:off x="1110000" y="312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Borrar un Pod y anotar qué controlador lo repone y en cuántos segundos.</a:t>
            </a:r>
          </a:p>
        </p:txBody>
      </p:sp>
      <p:sp>
        <p:nvSpPr>
          <p:cNvPr id="10" name="Oval 9"/>
          <p:cNvSpPr/>
          <p:nvPr/>
        </p:nvSpPr>
        <p:spPr>
          <a:xfrm>
            <a:off x="640000" y="381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sp>
        <p:nvSpPr>
          <p:cNvPr id="11" name="TextBox 10"/>
          <p:cNvSpPr txBox="1"/>
          <p:nvPr/>
        </p:nvSpPr>
        <p:spPr>
          <a:xfrm>
            <a:off x="1110000" y="368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Escalar y comprobar que NO se crea un ReplicaSet nuevo. Explicar por qué.</a:t>
            </a:r>
          </a:p>
        </p:txBody>
      </p:sp>
      <p:sp>
        <p:nvSpPr>
          <p:cNvPr id="12" name="Oval 11"/>
          <p:cNvSpPr/>
          <p:nvPr/>
        </p:nvSpPr>
        <p:spPr>
          <a:xfrm>
            <a:off x="640000" y="437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sp>
        <p:nvSpPr>
          <p:cNvPr id="13" name="TextBox 12"/>
          <p:cNvSpPr txBox="1"/>
          <p:nvPr/>
        </p:nvSpPr>
        <p:spPr>
          <a:xfrm>
            <a:off x="1110000" y="424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Crear un Pod huérfano con el label del selector y explicar qué le ocurre.</a:t>
            </a:r>
          </a:p>
        </p:txBody>
      </p:sp>
      <p:sp>
        <p:nvSpPr>
          <p:cNvPr id="14" name="Oval 13"/>
          <p:cNvSpPr/>
          <p:nvPr/>
        </p:nvSpPr>
        <p:spPr>
          <a:xfrm>
            <a:off x="640000" y="493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5</a:t>
            </a:r>
          </a:p>
        </p:txBody>
      </p:sp>
      <p:sp>
        <p:nvSpPr>
          <p:cNvPr id="15" name="TextBox 14"/>
          <p:cNvSpPr txBox="1"/>
          <p:nvPr/>
        </p:nvSpPr>
        <p:spPr>
          <a:xfrm>
            <a:off x="1110000" y="480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Demostrar que un ReplicaSet no hace rolling update.</a:t>
            </a:r>
          </a:p>
        </p:txBody>
      </p:sp>
      <p:sp>
        <p:nvSpPr>
          <p:cNvPr id="16" name="Freeform 15"/>
          <p:cNvSpPr/>
          <p:nvPr/>
        </p:nvSpPr>
        <p:spPr>
          <a:xfrm>
            <a:off x="9590000" y="1418800"/>
            <a:ext cx="784000" cy="842800"/>
          </a:xfrm>
          <a:custGeom>
            <a:avLst/>
            <a:gdLst/>
            <a:ahLst/>
            <a:cxnLst/>
            <a:rect l="l" t="t" r="r" b="b"/>
            <a:pathLst>
              <a:path w="784000" h="842800">
                <a:moveTo>
                  <a:pt x="235200" y="0"/>
                </a:moveTo>
                <a:lnTo>
                  <a:pt x="235200" y="333200"/>
                </a:lnTo>
                <a:lnTo>
                  <a:pt x="0" y="842800"/>
                </a:lnTo>
                <a:lnTo>
                  <a:pt x="784000" y="842800"/>
                </a:lnTo>
                <a:lnTo>
                  <a:pt x="548800" y="333200"/>
                </a:lnTo>
                <a:lnTo>
                  <a:pt x="548800" y="0"/>
                </a:lnTo>
              </a:path>
            </a:pathLst>
          </a:custGeom>
          <a:noFill/>
          <a:ln w="3302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766400" y="1418800"/>
            <a:ext cx="431200" cy="0"/>
          </a:xfrm>
          <a:prstGeom prst="line">
            <a:avLst/>
          </a:prstGeom>
          <a:ln w="3302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727200" y="2006800"/>
            <a:ext cx="509600" cy="0"/>
          </a:xfrm>
          <a:prstGeom prst="line">
            <a:avLst/>
          </a:prstGeom>
          <a:ln w="33020">
            <a:solidFill>
              <a:srgbClr val="74A6FF"/>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392000" y="2560000"/>
            <a:ext cx="3180000" cy="3510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0" name="Rectangle 19"/>
          <p:cNvSpPr/>
          <p:nvPr/>
        </p:nvSpPr>
        <p:spPr>
          <a:xfrm>
            <a:off x="8392000" y="2560000"/>
            <a:ext cx="318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TextBox 20"/>
          <p:cNvSpPr txBox="1"/>
          <p:nvPr/>
        </p:nvSpPr>
        <p:spPr>
          <a:xfrm>
            <a:off x="8592000" y="274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ARCHIVO</a:t>
            </a:r>
          </a:p>
          <a:p>
            <a:pPr algn="l" marL="0" indent="0">
              <a:lnSpc>
                <a:spcPct val="112000"/>
              </a:lnSpc>
              <a:spcBef>
                <a:spcPts val="0"/>
              </a:spcBef>
              <a:spcAft>
                <a:spcPts val="0"/>
              </a:spcAft>
              <a:buNone/>
            </a:pPr>
            <a:r>
              <a:rPr sz="1100" b="0" i="0">
                <a:solidFill>
                  <a:srgbClr val="F3F6FC"/>
                </a:solidFill>
                <a:latin typeface="Consolas"/>
              </a:rPr>
              <a:t>CLASE-03/LABORATORIOS/LAB-01-BASICO.md</a:t>
            </a:r>
          </a:p>
        </p:txBody>
      </p:sp>
      <p:sp>
        <p:nvSpPr>
          <p:cNvPr id="22" name="Rectangle 21"/>
          <p:cNvSpPr/>
          <p:nvPr/>
        </p:nvSpPr>
        <p:spPr>
          <a:xfrm>
            <a:off x="8592000" y="379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3" name="TextBox 22"/>
          <p:cNvSpPr txBox="1"/>
          <p:nvPr/>
        </p:nvSpPr>
        <p:spPr>
          <a:xfrm>
            <a:off x="8592000" y="383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DURACIÓN</a:t>
            </a:r>
          </a:p>
          <a:p>
            <a:pPr algn="l" marL="0" indent="0">
              <a:lnSpc>
                <a:spcPct val="112000"/>
              </a:lnSpc>
              <a:spcBef>
                <a:spcPts val="0"/>
              </a:spcBef>
              <a:spcAft>
                <a:spcPts val="0"/>
              </a:spcAft>
              <a:buNone/>
            </a:pPr>
            <a:r>
              <a:rPr sz="1100" b="1" i="0">
                <a:solidFill>
                  <a:srgbClr val="F3F6FC"/>
                </a:solidFill>
                <a:latin typeface="Segoe UI Semibold"/>
              </a:rPr>
              <a:t>22 min</a:t>
            </a:r>
          </a:p>
        </p:txBody>
      </p:sp>
      <p:sp>
        <p:nvSpPr>
          <p:cNvPr id="24" name="Rectangle 23"/>
          <p:cNvSpPr/>
          <p:nvPr/>
        </p:nvSpPr>
        <p:spPr>
          <a:xfrm>
            <a:off x="8592000" y="488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5" name="TextBox 24"/>
          <p:cNvSpPr txBox="1"/>
          <p:nvPr/>
        </p:nvSpPr>
        <p:spPr>
          <a:xfrm>
            <a:off x="8592000" y="492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VALIDACIÓN</a:t>
            </a:r>
          </a:p>
          <a:p>
            <a:pPr algn="l" marL="0" indent="0">
              <a:lnSpc>
                <a:spcPct val="112000"/>
              </a:lnSpc>
              <a:spcBef>
                <a:spcPts val="0"/>
              </a:spcBef>
              <a:spcAft>
                <a:spcPts val="0"/>
              </a:spcAft>
              <a:buNone/>
            </a:pPr>
            <a:r>
              <a:rPr sz="1100" b="0" i="0">
                <a:solidFill>
                  <a:srgbClr val="F3F6FC"/>
                </a:solidFill>
                <a:latin typeface="Consolas"/>
              </a:rPr>
              <a:t>k get deploy,rs,pods</a:t>
            </a:r>
          </a:p>
        </p:txBody>
      </p:sp>
      <p:sp>
        <p:nvSpPr>
          <p:cNvPr id="26" name="Rectangle 25"/>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7" name="TextBox 26"/>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28" name="TextBox 27"/>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1500000" y="4258000"/>
            <a:ext cx="4200000" cy="42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v.png"/>
          <p:cNvPicPr>
            <a:picLocks noChangeAspect="1"/>
          </p:cNvPicPr>
          <p:nvPr/>
        </p:nvPicPr>
        <p:blipFill>
          <a:blip r:embed="rId2"/>
          <a:stretch>
            <a:fillRect/>
          </a:stretch>
        </p:blipFill>
        <p:spPr>
          <a:xfrm>
            <a:off x="8842000" y="2150000"/>
            <a:ext cx="1800000" cy="1800000"/>
          </a:xfrm>
          <a:prstGeom prst="rect">
            <a:avLst/>
          </a:prstGeom>
        </p:spPr>
      </p:pic>
      <p:sp>
        <p:nvSpPr>
          <p:cNvPr id="4" name="TextBox 3"/>
          <p:cNvSpPr txBox="1"/>
          <p:nvPr/>
        </p:nvSpPr>
        <p:spPr>
          <a:xfrm>
            <a:off x="590000" y="1150000"/>
            <a:ext cx="4000000" cy="2600000"/>
          </a:xfrm>
          <a:prstGeom prst="rect">
            <a:avLst/>
          </a:prstGeom>
          <a:noFill/>
        </p:spPr>
        <p:txBody>
          <a:bodyPr wrap="square" anchor="t" lIns="0" rIns="0" tIns="0" bIns="0">
            <a:noAutofit/>
          </a:bodyPr>
          <a:lstStyle/>
          <a:p>
            <a:pPr algn="l" marL="0" indent="0">
              <a:lnSpc>
                <a:spcPct val="90000"/>
              </a:lnSpc>
              <a:spcBef>
                <a:spcPts val="0"/>
              </a:spcBef>
              <a:spcAft>
                <a:spcPts val="0"/>
              </a:spcAft>
              <a:buNone/>
            </a:pPr>
            <a:r>
              <a:rPr sz="15000" b="0" i="0">
                <a:solidFill>
                  <a:srgbClr val="4C5B75"/>
                </a:solidFill>
                <a:latin typeface="Segoe UI Light"/>
              </a:rPr>
              <a:t>02</a:t>
            </a:r>
          </a:p>
        </p:txBody>
      </p:sp>
      <p:sp>
        <p:nvSpPr>
          <p:cNvPr id="5" name="TextBox 4"/>
          <p:cNvSpPr txBox="1"/>
          <p:nvPr/>
        </p:nvSpPr>
        <p:spPr>
          <a:xfrm>
            <a:off x="640000" y="3050000"/>
            <a:ext cx="9200000" cy="3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60">
                <a:solidFill>
                  <a:srgbClr val="74A6FF"/>
                </a:solidFill>
                <a:latin typeface="Segoe UI Semibold"/>
              </a:rPr>
              <a:t>BLOQUE 2</a:t>
            </a:r>
          </a:p>
        </p:txBody>
      </p:sp>
      <p:sp>
        <p:nvSpPr>
          <p:cNvPr id="6" name="TextBox 5"/>
          <p:cNvSpPr txBox="1"/>
          <p:nvPr/>
        </p:nvSpPr>
        <p:spPr>
          <a:xfrm>
            <a:off x="640000" y="3350000"/>
            <a:ext cx="10200000" cy="1000000"/>
          </a:xfrm>
          <a:prstGeom prst="rect">
            <a:avLst/>
          </a:prstGeom>
          <a:noFill/>
        </p:spPr>
        <p:txBody>
          <a:bodyPr wrap="square" anchor="t" lIns="0" rIns="0" tIns="0" bIns="0">
            <a:noAutofit/>
          </a:bodyPr>
          <a:lstStyle/>
          <a:p>
            <a:pPr algn="l" marL="0" indent="0">
              <a:lnSpc>
                <a:spcPct val="102000"/>
              </a:lnSpc>
              <a:spcBef>
                <a:spcPts val="0"/>
              </a:spcBef>
              <a:spcAft>
                <a:spcPts val="0"/>
              </a:spcAft>
              <a:buNone/>
            </a:pPr>
            <a:r>
              <a:rPr sz="5400" b="0" i="0">
                <a:solidFill>
                  <a:srgbClr val="F3F6FC"/>
                </a:solidFill>
                <a:latin typeface="Segoe UI Light"/>
              </a:rPr>
              <a:t>Almacenamiento</a:t>
            </a:r>
          </a:p>
        </p:txBody>
      </p:sp>
      <p:sp>
        <p:nvSpPr>
          <p:cNvPr id="7" name="Rectangle 6"/>
          <p:cNvSpPr/>
          <p:nvPr/>
        </p:nvSpPr>
        <p:spPr>
          <a:xfrm>
            <a:off x="644000" y="4380000"/>
            <a:ext cx="62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8" name="TextBox 7"/>
          <p:cNvSpPr txBox="1"/>
          <p:nvPr/>
        </p:nvSpPr>
        <p:spPr>
          <a:xfrm>
            <a:off x="640000" y="4560000"/>
            <a:ext cx="9600000" cy="62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500" b="0" i="1">
                <a:solidFill>
                  <a:srgbClr val="BDC9DB"/>
                </a:solidFill>
                <a:latin typeface="Segoe UI"/>
              </a:rPr>
              <a:t>Del directorio efímero al volumen que sobrevive al Pod</a:t>
            </a:r>
          </a:p>
        </p:txBody>
      </p:sp>
      <p:sp>
        <p:nvSpPr>
          <p:cNvPr id="9" name="Rectangle 8"/>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TextBox 9"/>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11" name="TextBox 10"/>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PRIMERA DISTINCIÓN</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emptyDir frente a almacenamiento persistente</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09</a:t>
            </a:r>
          </a:p>
        </p:txBody>
      </p:sp>
      <p:pic>
        <p:nvPicPr>
          <p:cNvPr id="8" name="Picture 7" descr="pv.png"/>
          <p:cNvPicPr>
            <a:picLocks noChangeAspect="1"/>
          </p:cNvPicPr>
          <p:nvPr/>
        </p:nvPicPr>
        <p:blipFill>
          <a:blip r:embed="rId2"/>
          <a:stretch>
            <a:fillRect/>
          </a:stretch>
        </p:blipFill>
        <p:spPr>
          <a:xfrm>
            <a:off x="10932000" y="275000"/>
            <a:ext cx="640000" cy="640000"/>
          </a:xfrm>
          <a:prstGeom prst="rect">
            <a:avLst/>
          </a:prstGeom>
        </p:spPr>
      </p:pic>
      <p:sp>
        <p:nvSpPr>
          <p:cNvPr id="9" name="Rounded Rectangle 8"/>
          <p:cNvSpPr/>
          <p:nvPr/>
        </p:nvSpPr>
        <p:spPr>
          <a:xfrm>
            <a:off x="620000" y="1564000"/>
            <a:ext cx="5316000" cy="2482000"/>
          </a:xfrm>
          <a:prstGeom prst="roundRect">
            <a:avLst>
              <a:gd name="adj" fmla="val 5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Rectangle 9"/>
          <p:cNvSpPr/>
          <p:nvPr/>
        </p:nvSpPr>
        <p:spPr>
          <a:xfrm>
            <a:off x="644000" y="1564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1" name="TextBox 10"/>
          <p:cNvSpPr txBox="1"/>
          <p:nvPr/>
        </p:nvSpPr>
        <p:spPr>
          <a:xfrm>
            <a:off x="880000" y="1824000"/>
            <a:ext cx="4796000" cy="570000"/>
          </a:xfrm>
          <a:prstGeom prst="rect">
            <a:avLst/>
          </a:prstGeom>
          <a:noFill/>
        </p:spPr>
        <p:txBody>
          <a:bodyPr wrap="square" anchor="t" lIns="0" rIns="0" tIns="0" bIns="0">
            <a:noAutofit/>
          </a:bodyPr>
          <a:lstStyle/>
          <a:p>
            <a:pPr algn="l" marL="0" indent="0">
              <a:lnSpc>
                <a:spcPct val="105000"/>
              </a:lnSpc>
              <a:spcBef>
                <a:spcPts val="0"/>
              </a:spcBef>
              <a:spcAft>
                <a:spcPts val="400"/>
              </a:spcAft>
              <a:buNone/>
            </a:pPr>
            <a:r>
              <a:rPr sz="1600" b="1" i="0">
                <a:solidFill>
                  <a:srgbClr val="F3F6FC"/>
                </a:solidFill>
                <a:latin typeface="Segoe UI Semibold"/>
              </a:rPr>
              <a:t>emptyDir</a:t>
            </a:r>
          </a:p>
          <a:p>
            <a:pPr algn="l" marL="0" indent="0">
              <a:lnSpc>
                <a:spcPct val="112000"/>
              </a:lnSpc>
              <a:spcBef>
                <a:spcPts val="0"/>
              </a:spcBef>
              <a:spcAft>
                <a:spcPts val="0"/>
              </a:spcAft>
              <a:buNone/>
            </a:pPr>
            <a:r>
              <a:rPr sz="1100" b="0" i="1">
                <a:solidFill>
                  <a:srgbClr val="8493AD"/>
                </a:solidFill>
                <a:latin typeface="Segoe UI"/>
              </a:rPr>
              <a:t>Vive y muere con el Pod</a:t>
            </a:r>
          </a:p>
        </p:txBody>
      </p:sp>
      <p:sp>
        <p:nvSpPr>
          <p:cNvPr id="12" name="TextBox 11"/>
          <p:cNvSpPr txBox="1"/>
          <p:nvPr/>
        </p:nvSpPr>
        <p:spPr>
          <a:xfrm>
            <a:off x="880000" y="2394000"/>
            <a:ext cx="4796000" cy="1472000"/>
          </a:xfrm>
          <a:prstGeom prst="rect">
            <a:avLst/>
          </a:prstGeom>
          <a:noFill/>
        </p:spPr>
        <p:txBody>
          <a:bodyPr wrap="square" anchor="t" lIns="0" rIns="0" tIns="0" bIns="0">
            <a:noAutofit/>
          </a:bodyPr>
          <a:lstStyle/>
          <a:p/>
          <a:p>
            <a:pPr algn="l" marL="182880" indent="-182880">
              <a:lnSpc>
                <a:spcPct val="116000"/>
              </a:lnSpc>
              <a:spcBef>
                <a:spcPts val="0"/>
              </a:spcBef>
              <a:spcAft>
                <a:spcPts val="800"/>
              </a:spcAft>
              <a:buFont typeface="Arial"/>
              <a:buChar char="•"/>
            </a:pPr>
            <a:r>
              <a:rPr sz="1100" b="0" i="0">
                <a:solidFill>
                  <a:srgbClr val="BDC9DB"/>
                </a:solidFill>
                <a:latin typeface="Segoe UI"/>
              </a:rPr>
              <a:t>Se crea vacío cuando el Pod arranca en un nodo.</a:t>
            </a:r>
          </a:p>
          <a:p>
            <a:pPr algn="l" marL="182880" indent="-182880">
              <a:lnSpc>
                <a:spcPct val="116000"/>
              </a:lnSpc>
              <a:spcBef>
                <a:spcPts val="0"/>
              </a:spcBef>
              <a:spcAft>
                <a:spcPts val="800"/>
              </a:spcAft>
              <a:buFont typeface="Arial"/>
              <a:buChar char="•"/>
            </a:pPr>
            <a:r>
              <a:rPr sz="1100" b="0" i="0">
                <a:solidFill>
                  <a:srgbClr val="BDC9DB"/>
                </a:solidFill>
                <a:latin typeface="Segoe UI"/>
              </a:rPr>
              <a:t>Lo comparten todos los contenedores del Pod.</a:t>
            </a:r>
          </a:p>
          <a:p>
            <a:pPr algn="l" marL="182880" indent="-182880">
              <a:lnSpc>
                <a:spcPct val="116000"/>
              </a:lnSpc>
              <a:spcBef>
                <a:spcPts val="0"/>
              </a:spcBef>
              <a:spcAft>
                <a:spcPts val="800"/>
              </a:spcAft>
              <a:buFont typeface="Arial"/>
              <a:buChar char="•"/>
            </a:pPr>
            <a:r>
              <a:rPr sz="1100" b="0" i="0">
                <a:solidFill>
                  <a:srgbClr val="BDC9DB"/>
                </a:solidFill>
                <a:latin typeface="Segoe UI"/>
              </a:rPr>
              <a:t>Si el Pod se recrea, el contenido se pierde.</a:t>
            </a:r>
          </a:p>
          <a:p>
            <a:pPr algn="l" marL="182880" indent="-182880">
              <a:lnSpc>
                <a:spcPct val="116000"/>
              </a:lnSpc>
              <a:spcBef>
                <a:spcPts val="0"/>
              </a:spcBef>
              <a:spcAft>
                <a:spcPts val="800"/>
              </a:spcAft>
              <a:buFont typeface="Arial"/>
              <a:buChar char="•"/>
            </a:pPr>
            <a:r>
              <a:rPr sz="1100" b="0" i="0">
                <a:solidFill>
                  <a:srgbClr val="BDC9DB"/>
                </a:solidFill>
                <a:latin typeface="Segoe UI"/>
              </a:rPr>
              <a:t>Perfecto para caché, scratch y traspaso entre contenedores.</a:t>
            </a:r>
          </a:p>
        </p:txBody>
      </p:sp>
      <p:sp>
        <p:nvSpPr>
          <p:cNvPr id="13" name="Rounded Rectangle 12"/>
          <p:cNvSpPr/>
          <p:nvPr/>
        </p:nvSpPr>
        <p:spPr>
          <a:xfrm>
            <a:off x="6256000" y="1564000"/>
            <a:ext cx="5316000" cy="2482000"/>
          </a:xfrm>
          <a:prstGeom prst="roundRect">
            <a:avLst>
              <a:gd name="adj" fmla="val 5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4" name="Rectangle 13"/>
          <p:cNvSpPr/>
          <p:nvPr/>
        </p:nvSpPr>
        <p:spPr>
          <a:xfrm>
            <a:off x="6280000" y="1564000"/>
            <a:ext cx="5268000" cy="46000"/>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TextBox 14"/>
          <p:cNvSpPr txBox="1"/>
          <p:nvPr/>
        </p:nvSpPr>
        <p:spPr>
          <a:xfrm>
            <a:off x="6516000" y="1824000"/>
            <a:ext cx="4796000" cy="570000"/>
          </a:xfrm>
          <a:prstGeom prst="rect">
            <a:avLst/>
          </a:prstGeom>
          <a:noFill/>
        </p:spPr>
        <p:txBody>
          <a:bodyPr wrap="square" anchor="t" lIns="0" rIns="0" tIns="0" bIns="0">
            <a:noAutofit/>
          </a:bodyPr>
          <a:lstStyle/>
          <a:p>
            <a:pPr algn="l" marL="0" indent="0">
              <a:lnSpc>
                <a:spcPct val="105000"/>
              </a:lnSpc>
              <a:spcBef>
                <a:spcPts val="0"/>
              </a:spcBef>
              <a:spcAft>
                <a:spcPts val="400"/>
              </a:spcAft>
              <a:buNone/>
            </a:pPr>
            <a:r>
              <a:rPr sz="1600" b="1" i="0">
                <a:solidFill>
                  <a:srgbClr val="F3F6FC"/>
                </a:solidFill>
                <a:latin typeface="Segoe UI Semibold"/>
              </a:rPr>
              <a:t>PersistentVolume + Claim</a:t>
            </a:r>
          </a:p>
          <a:p>
            <a:pPr algn="l" marL="0" indent="0">
              <a:lnSpc>
                <a:spcPct val="112000"/>
              </a:lnSpc>
              <a:spcBef>
                <a:spcPts val="0"/>
              </a:spcBef>
              <a:spcAft>
                <a:spcPts val="0"/>
              </a:spcAft>
              <a:buNone/>
            </a:pPr>
            <a:r>
              <a:rPr sz="1100" b="0" i="1">
                <a:solidFill>
                  <a:srgbClr val="8493AD"/>
                </a:solidFill>
                <a:latin typeface="Segoe UI"/>
              </a:rPr>
              <a:t>Sobrevive al Pod</a:t>
            </a:r>
          </a:p>
        </p:txBody>
      </p:sp>
      <p:sp>
        <p:nvSpPr>
          <p:cNvPr id="16" name="TextBox 15"/>
          <p:cNvSpPr txBox="1"/>
          <p:nvPr/>
        </p:nvSpPr>
        <p:spPr>
          <a:xfrm>
            <a:off x="6516000" y="2394000"/>
            <a:ext cx="4796000" cy="1472000"/>
          </a:xfrm>
          <a:prstGeom prst="rect">
            <a:avLst/>
          </a:prstGeom>
          <a:noFill/>
        </p:spPr>
        <p:txBody>
          <a:bodyPr wrap="square" anchor="t" lIns="0" rIns="0" tIns="0" bIns="0">
            <a:noAutofit/>
          </a:bodyPr>
          <a:lstStyle/>
          <a:p/>
          <a:p>
            <a:pPr algn="l" marL="182880" indent="-182880">
              <a:lnSpc>
                <a:spcPct val="116000"/>
              </a:lnSpc>
              <a:spcBef>
                <a:spcPts val="0"/>
              </a:spcBef>
              <a:spcAft>
                <a:spcPts val="800"/>
              </a:spcAft>
              <a:buFont typeface="Arial"/>
              <a:buChar char="•"/>
            </a:pPr>
            <a:r>
              <a:rPr sz="1100" b="0" i="0">
                <a:solidFill>
                  <a:srgbClr val="BDC9DB"/>
                </a:solidFill>
                <a:latin typeface="Segoe UI"/>
              </a:rPr>
              <a:t>El PV es el recurso; el PVC es la solicitud.</a:t>
            </a:r>
          </a:p>
          <a:p>
            <a:pPr algn="l" marL="182880" indent="-182880">
              <a:lnSpc>
                <a:spcPct val="116000"/>
              </a:lnSpc>
              <a:spcBef>
                <a:spcPts val="0"/>
              </a:spcBef>
              <a:spcAft>
                <a:spcPts val="800"/>
              </a:spcAft>
              <a:buFont typeface="Arial"/>
              <a:buChar char="•"/>
            </a:pPr>
            <a:r>
              <a:rPr sz="1100" b="0" i="0">
                <a:solidFill>
                  <a:srgbClr val="BDC9DB"/>
                </a:solidFill>
                <a:latin typeface="Segoe UI"/>
              </a:rPr>
              <a:t>El PV no tiene namespace; el PVC sí.</a:t>
            </a:r>
          </a:p>
          <a:p>
            <a:pPr algn="l" marL="182880" indent="-182880">
              <a:lnSpc>
                <a:spcPct val="116000"/>
              </a:lnSpc>
              <a:spcBef>
                <a:spcPts val="0"/>
              </a:spcBef>
              <a:spcAft>
                <a:spcPts val="800"/>
              </a:spcAft>
              <a:buFont typeface="Arial"/>
              <a:buChar char="•"/>
            </a:pPr>
            <a:r>
              <a:rPr sz="1100" b="0" i="0">
                <a:solidFill>
                  <a:srgbClr val="BDC9DB"/>
                </a:solidFill>
                <a:latin typeface="Segoe UI"/>
              </a:rPr>
              <a:t>El Pod nunca referencia el PV: referencia el PVC.</a:t>
            </a:r>
          </a:p>
          <a:p>
            <a:pPr algn="l" marL="182880" indent="-182880">
              <a:lnSpc>
                <a:spcPct val="116000"/>
              </a:lnSpc>
              <a:spcBef>
                <a:spcPts val="0"/>
              </a:spcBef>
              <a:spcAft>
                <a:spcPts val="800"/>
              </a:spcAft>
              <a:buFont typeface="Arial"/>
              <a:buChar char="•"/>
            </a:pPr>
            <a:r>
              <a:rPr sz="1100" b="0" i="0">
                <a:solidFill>
                  <a:srgbClr val="BDC9DB"/>
                </a:solidFill>
                <a:latin typeface="Segoe UI"/>
              </a:rPr>
              <a:t>Es lo único que puedes usar para datos que importan.</a:t>
            </a:r>
          </a:p>
        </p:txBody>
      </p:sp>
      <p:sp>
        <p:nvSpPr>
          <p:cNvPr id="17" name="Rounded Rectangle 16"/>
          <p:cNvSpPr/>
          <p:nvPr/>
        </p:nvSpPr>
        <p:spPr>
          <a:xfrm>
            <a:off x="620000" y="4310000"/>
            <a:ext cx="10952000" cy="200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8" name="Rectangle 17"/>
          <p:cNvSpPr/>
          <p:nvPr/>
        </p:nvSpPr>
        <p:spPr>
          <a:xfrm>
            <a:off x="646000" y="4332000"/>
            <a:ext cx="40000" cy="195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860000" y="4440000"/>
            <a:ext cx="10522000" cy="174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TEORÍA</a:t>
            </a:r>
          </a:p>
          <a:p>
            <a:pPr algn="l" marL="0" indent="0">
              <a:lnSpc>
                <a:spcPct val="128000"/>
              </a:lnSpc>
              <a:spcBef>
                <a:spcPts val="0"/>
              </a:spcBef>
              <a:spcAft>
                <a:spcPts val="400"/>
              </a:spcAft>
              <a:buNone/>
            </a:pPr>
            <a:r>
              <a:rPr sz="1000" b="0" i="0">
                <a:solidFill>
                  <a:srgbClr val="BDC9DB"/>
                </a:solidFill>
                <a:latin typeface="Segoe UI"/>
              </a:rPr>
              <a:t>Un volumen en Kubernetes comparte el ciclo de vida del POD, no el del contenedor: si un contenedor se reinicia dentro del mismo Pod, los datos del volumen siguen ahí. La diferencia clave está en qué pasa cuando el Pod se recrea.</a:t>
            </a:r>
          </a:p>
          <a:p>
            <a:pPr algn="l" marL="0" indent="0">
              <a:lnSpc>
                <a:spcPct val="128000"/>
              </a:lnSpc>
              <a:spcBef>
                <a:spcPts val="0"/>
              </a:spcBef>
              <a:spcAft>
                <a:spcPts val="400"/>
              </a:spcAft>
              <a:buNone/>
            </a:pPr>
            <a:r>
              <a:rPr sz="1000" b="0" i="0">
                <a:solidFill>
                  <a:srgbClr val="BDC9DB"/>
                </a:solidFill>
                <a:latin typeface="Segoe UI"/>
              </a:rPr>
              <a:t>emptyDir se crea vacío cuando el Pod arranca en un nodo y se destruye cuando el Pod desaparece de ese nodo. Vive y muere con el Pod. Todos los contenedores del Pod lo comparten, así que es perfecto para caché, ficheros temporales o para pasar datos de un contenedor a otro (un init container prepara algo y el principal lo consume).</a:t>
            </a:r>
          </a:p>
          <a:p>
            <a:pPr algn="l" marL="0" indent="0">
              <a:lnSpc>
                <a:spcPct val="128000"/>
              </a:lnSpc>
              <a:spcBef>
                <a:spcPts val="0"/>
              </a:spcBef>
              <a:spcAft>
                <a:spcPts val="400"/>
              </a:spcAft>
              <a:buNone/>
            </a:pPr>
            <a:r>
              <a:rPr sz="1000" b="0" i="0">
                <a:solidFill>
                  <a:srgbClr val="BDC9DB"/>
                </a:solidFill>
                <a:latin typeface="Segoe UI"/>
              </a:rPr>
              <a:t>PersistentVolume y PersistentVolumeClaim desacoplan el almacenamiento del Pod. El PV es el recurso real (un disco, un export NFS, un volumen de nube) y no tiene namespace. El PVC es la solicitud que hace la aplicación —tanto espacio, este modo de acceso— y sí vive en un namespace. El Pod nunca referencia el PV: monta el PVC. Es lo único que se debe usar para datos que importan.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RELACIÓN</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De la clase de almacenamiento al contenedor</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10</a:t>
            </a:r>
          </a:p>
        </p:txBody>
      </p:sp>
      <p:pic>
        <p:nvPicPr>
          <p:cNvPr id="8" name="Picture 7" descr="pv.png"/>
          <p:cNvPicPr>
            <a:picLocks noChangeAspect="1"/>
          </p:cNvPicPr>
          <p:nvPr/>
        </p:nvPicPr>
        <p:blipFill>
          <a:blip r:embed="rId2"/>
          <a:stretch>
            <a:fillRect/>
          </a:stretch>
        </p:blipFill>
        <p:spPr>
          <a:xfrm>
            <a:off x="10932000" y="275000"/>
            <a:ext cx="640000" cy="640000"/>
          </a:xfrm>
          <a:prstGeom prst="rect">
            <a:avLst/>
          </a:prstGeom>
        </p:spPr>
      </p:pic>
      <p:sp>
        <p:nvSpPr>
          <p:cNvPr id="9" name="Rounded Rectangle 8"/>
          <p:cNvSpPr/>
          <p:nvPr/>
        </p:nvSpPr>
        <p:spPr>
          <a:xfrm>
            <a:off x="620000" y="1670000"/>
            <a:ext cx="2022400" cy="70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TextBox 9"/>
          <p:cNvSpPr txBox="1"/>
          <p:nvPr/>
        </p:nvSpPr>
        <p:spPr>
          <a:xfrm>
            <a:off x="690000" y="1670000"/>
            <a:ext cx="1882400" cy="70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StorageClass</a:t>
            </a:r>
          </a:p>
        </p:txBody>
      </p:sp>
      <p:cxnSp>
        <p:nvCxnSpPr>
          <p:cNvPr id="11" name="Connector 10"/>
          <p:cNvCxnSpPr/>
          <p:nvPr/>
        </p:nvCxnSpPr>
        <p:spPr>
          <a:xfrm>
            <a:off x="2666400" y="202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52400" y="1670000"/>
            <a:ext cx="2022400" cy="70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3" name="TextBox 12"/>
          <p:cNvSpPr txBox="1"/>
          <p:nvPr/>
        </p:nvSpPr>
        <p:spPr>
          <a:xfrm>
            <a:off x="2922400" y="1670000"/>
            <a:ext cx="1882400" cy="70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PersistentVolume</a:t>
            </a:r>
          </a:p>
        </p:txBody>
      </p:sp>
      <p:cxnSp>
        <p:nvCxnSpPr>
          <p:cNvPr id="14" name="Connector 13"/>
          <p:cNvCxnSpPr/>
          <p:nvPr/>
        </p:nvCxnSpPr>
        <p:spPr>
          <a:xfrm>
            <a:off x="4898800" y="202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84800" y="1670000"/>
            <a:ext cx="2022400" cy="70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TextBox 15"/>
          <p:cNvSpPr txBox="1"/>
          <p:nvPr/>
        </p:nvSpPr>
        <p:spPr>
          <a:xfrm>
            <a:off x="5154800" y="1670000"/>
            <a:ext cx="1882400" cy="70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PersistentVolumeClaim</a:t>
            </a:r>
          </a:p>
        </p:txBody>
      </p:sp>
      <p:cxnSp>
        <p:nvCxnSpPr>
          <p:cNvPr id="17" name="Connector 16"/>
          <p:cNvCxnSpPr/>
          <p:nvPr/>
        </p:nvCxnSpPr>
        <p:spPr>
          <a:xfrm>
            <a:off x="7131200" y="202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317200" y="1670000"/>
            <a:ext cx="2022400" cy="70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7387200" y="1670000"/>
            <a:ext cx="1882400" cy="70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Pod</a:t>
            </a:r>
          </a:p>
        </p:txBody>
      </p:sp>
      <p:cxnSp>
        <p:nvCxnSpPr>
          <p:cNvPr id="20" name="Connector 19"/>
          <p:cNvCxnSpPr/>
          <p:nvPr/>
        </p:nvCxnSpPr>
        <p:spPr>
          <a:xfrm>
            <a:off x="9363600" y="202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549600" y="1670000"/>
            <a:ext cx="2022400" cy="70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2" name="TextBox 21"/>
          <p:cNvSpPr txBox="1"/>
          <p:nvPr/>
        </p:nvSpPr>
        <p:spPr>
          <a:xfrm>
            <a:off x="9619600" y="1670000"/>
            <a:ext cx="1882400" cy="70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volumeMount</a:t>
            </a:r>
          </a:p>
        </p:txBody>
      </p:sp>
      <p:sp>
        <p:nvSpPr>
          <p:cNvPr id="23" name="Rounded Rectangle 22"/>
          <p:cNvSpPr/>
          <p:nvPr/>
        </p:nvSpPr>
        <p:spPr>
          <a:xfrm>
            <a:off x="620000" y="2670000"/>
            <a:ext cx="10952000" cy="361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4" name="Rectangle 23"/>
          <p:cNvSpPr/>
          <p:nvPr/>
        </p:nvSpPr>
        <p:spPr>
          <a:xfrm>
            <a:off x="646000" y="2692000"/>
            <a:ext cx="40000" cy="356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5" name="TextBox 24"/>
          <p:cNvSpPr txBox="1"/>
          <p:nvPr/>
        </p:nvSpPr>
        <p:spPr>
          <a:xfrm>
            <a:off x="860000" y="2800000"/>
            <a:ext cx="10522000" cy="335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DOS CAMINOS</a:t>
            </a:r>
          </a:p>
          <a:p>
            <a:pPr algn="l" marL="0" indent="0">
              <a:lnSpc>
                <a:spcPct val="128000"/>
              </a:lnSpc>
              <a:spcBef>
                <a:spcPts val="0"/>
              </a:spcBef>
              <a:spcAft>
                <a:spcPts val="400"/>
              </a:spcAft>
              <a:buNone/>
            </a:pPr>
            <a:r>
              <a:rPr sz="1100" b="0" i="0">
                <a:solidFill>
                  <a:srgbClr val="BDC9DB"/>
                </a:solidFill>
                <a:latin typeface="Segoe UI"/>
              </a:rPr>
              <a:t>Hay dos caminos para que un PVC obtenga almacenamiento. En el aprovisionamiento ESTÁTICO, el administrador crea los PV a mano por adelantado; cuando aparece un PVC, el control plane busca un PV libre que encaje (mismo storageClassName, un accessMode compatible y capacidad suficiente) y los enlaza. Si no hay ninguno que encaje, el PVC se queda en Pending.</a:t>
            </a:r>
          </a:p>
          <a:p>
            <a:pPr algn="l" marL="0" indent="0">
              <a:lnSpc>
                <a:spcPct val="128000"/>
              </a:lnSpc>
              <a:spcBef>
                <a:spcPts val="0"/>
              </a:spcBef>
              <a:spcAft>
                <a:spcPts val="400"/>
              </a:spcAft>
              <a:buNone/>
            </a:pPr>
            <a:r>
              <a:rPr sz="1100" b="0" i="0">
                <a:solidFill>
                  <a:srgbClr val="BDC9DB"/>
                </a:solidFill>
                <a:latin typeface="Segoe UI"/>
              </a:rPr>
              <a:t>En el aprovisionamiento DINÁMICO, el PVC nombra una StorageClass y el provisioner asociado crea el PV al vuelo con las características pedidas. Es lo habitual en la nube. Muchos clusters tienen una StorageClass marcada como default que se aplica a los PVC que no especifican ninguna.</a:t>
            </a:r>
          </a:p>
          <a:p>
            <a:pPr algn="l" marL="0" indent="0">
              <a:lnSpc>
                <a:spcPct val="128000"/>
              </a:lnSpc>
              <a:spcBef>
                <a:spcPts val="0"/>
              </a:spcBef>
              <a:spcAft>
                <a:spcPts val="400"/>
              </a:spcAft>
              <a:buNone/>
            </a:pPr>
            <a:r>
              <a:rPr sz="1100" b="0" i="0">
                <a:solidFill>
                  <a:srgbClr val="BDC9DB"/>
                </a:solidFill>
                <a:latin typeface="Segoe UI"/>
              </a:rPr>
              <a:t>Dos trampas frecuentes: si existe una StorageClass por defecto y no la desactivas, tus PV estáticos se ignoran porque el PVC pide dinámico; y storageClassName: "" (cadena vacía) NO es lo mismo que omitir el campo —la cadena vacía desactiva explícitamente la clase por defecto y fuerza el emparejamiento estático.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EMPAREJAMIENTO</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Un PV y un PVC enlazan solo si TODO esto coincide</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11</a:t>
            </a:r>
          </a:p>
        </p:txBody>
      </p:sp>
      <p:pic>
        <p:nvPicPr>
          <p:cNvPr id="8" name="Picture 7" descr="pv.png"/>
          <p:cNvPicPr>
            <a:picLocks noChangeAspect="1"/>
          </p:cNvPicPr>
          <p:nvPr/>
        </p:nvPicPr>
        <p:blipFill>
          <a:blip r:embed="rId2"/>
          <a:stretch>
            <a:fillRect/>
          </a:stretch>
        </p:blipFill>
        <p:spPr>
          <a:xfrm>
            <a:off x="10932000" y="275000"/>
            <a:ext cx="640000" cy="640000"/>
          </a:xfrm>
          <a:prstGeom prst="rect">
            <a:avLst/>
          </a:prstGeom>
        </p:spPr>
      </p:pic>
      <p:sp>
        <p:nvSpPr>
          <p:cNvPr id="9" name="Rectangle 8"/>
          <p:cNvSpPr/>
          <p:nvPr/>
        </p:nvSpPr>
        <p:spPr>
          <a:xfrm>
            <a:off x="620000" y="1470000"/>
            <a:ext cx="10952000" cy="420000"/>
          </a:xfrm>
          <a:prstGeom prst="rect">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Rectangle 9"/>
          <p:cNvSpPr/>
          <p:nvPr/>
        </p:nvSpPr>
        <p:spPr>
          <a:xfrm>
            <a:off x="620000" y="1882000"/>
            <a:ext cx="10952000" cy="10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1" name="TextBox 10"/>
          <p:cNvSpPr txBox="1"/>
          <p:nvPr/>
        </p:nvSpPr>
        <p:spPr>
          <a:xfrm>
            <a:off x="780000" y="1470000"/>
            <a:ext cx="2766909" cy="4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000" b="1" i="0" spc="160">
                <a:solidFill>
                  <a:srgbClr val="74A6FF"/>
                </a:solidFill>
                <a:latin typeface="Segoe UI Semibold"/>
              </a:rPr>
              <a:t>CRITERIO</a:t>
            </a:r>
          </a:p>
        </p:txBody>
      </p:sp>
      <p:sp>
        <p:nvSpPr>
          <p:cNvPr id="12" name="TextBox 11"/>
          <p:cNvSpPr txBox="1"/>
          <p:nvPr/>
        </p:nvSpPr>
        <p:spPr>
          <a:xfrm>
            <a:off x="3766909" y="1470000"/>
            <a:ext cx="4758181" cy="4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000" b="1" i="0" spc="160">
                <a:solidFill>
                  <a:srgbClr val="74A6FF"/>
                </a:solidFill>
                <a:latin typeface="Segoe UI Semibold"/>
              </a:rPr>
              <a:t>REGLA</a:t>
            </a:r>
          </a:p>
        </p:txBody>
      </p:sp>
      <p:sp>
        <p:nvSpPr>
          <p:cNvPr id="13" name="TextBox 12"/>
          <p:cNvSpPr txBox="1"/>
          <p:nvPr/>
        </p:nvSpPr>
        <p:spPr>
          <a:xfrm>
            <a:off x="8745090" y="1470000"/>
            <a:ext cx="2766909" cy="4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000" b="1" i="0" spc="160">
                <a:solidFill>
                  <a:srgbClr val="74A6FF"/>
                </a:solidFill>
                <a:latin typeface="Segoe UI Semibold"/>
              </a:rPr>
              <a:t>SI FALLA</a:t>
            </a:r>
          </a:p>
        </p:txBody>
      </p:sp>
      <p:sp>
        <p:nvSpPr>
          <p:cNvPr id="14" name="Rectangle 13"/>
          <p:cNvSpPr/>
          <p:nvPr/>
        </p:nvSpPr>
        <p:spPr>
          <a:xfrm>
            <a:off x="620000" y="2340000"/>
            <a:ext cx="10952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TextBox 14"/>
          <p:cNvSpPr txBox="1"/>
          <p:nvPr/>
        </p:nvSpPr>
        <p:spPr>
          <a:xfrm>
            <a:off x="780000" y="1890000"/>
            <a:ext cx="2766909"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1" i="0">
                <a:solidFill>
                  <a:srgbClr val="F3F6FC"/>
                </a:solidFill>
                <a:latin typeface="Segoe UI"/>
              </a:rPr>
              <a:t>storageClassName</a:t>
            </a:r>
          </a:p>
        </p:txBody>
      </p:sp>
      <p:sp>
        <p:nvSpPr>
          <p:cNvPr id="16" name="TextBox 15"/>
          <p:cNvSpPr txBox="1"/>
          <p:nvPr/>
        </p:nvSpPr>
        <p:spPr>
          <a:xfrm>
            <a:off x="3766909" y="1890000"/>
            <a:ext cx="4758181"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Debe ser idéntico, incluida la cadena vacía</a:t>
            </a:r>
          </a:p>
        </p:txBody>
      </p:sp>
      <p:sp>
        <p:nvSpPr>
          <p:cNvPr id="17" name="TextBox 16"/>
          <p:cNvSpPr txBox="1"/>
          <p:nvPr/>
        </p:nvSpPr>
        <p:spPr>
          <a:xfrm>
            <a:off x="8745090" y="1890000"/>
            <a:ext cx="2766909"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PVC Pending</a:t>
            </a:r>
          </a:p>
        </p:txBody>
      </p:sp>
      <p:sp>
        <p:nvSpPr>
          <p:cNvPr id="18" name="Rectangle 17"/>
          <p:cNvSpPr/>
          <p:nvPr/>
        </p:nvSpPr>
        <p:spPr>
          <a:xfrm>
            <a:off x="620000" y="2340000"/>
            <a:ext cx="10952000" cy="450000"/>
          </a:xfrm>
          <a:prstGeom prst="rect">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Rectangle 18"/>
          <p:cNvSpPr/>
          <p:nvPr/>
        </p:nvSpPr>
        <p:spPr>
          <a:xfrm>
            <a:off x="620000" y="2790000"/>
            <a:ext cx="10952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0" name="TextBox 19"/>
          <p:cNvSpPr txBox="1"/>
          <p:nvPr/>
        </p:nvSpPr>
        <p:spPr>
          <a:xfrm>
            <a:off x="780000" y="2340000"/>
            <a:ext cx="2766909"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1" i="0">
                <a:solidFill>
                  <a:srgbClr val="F3F6FC"/>
                </a:solidFill>
                <a:latin typeface="Segoe UI"/>
              </a:rPr>
              <a:t>accessModes</a:t>
            </a:r>
          </a:p>
        </p:txBody>
      </p:sp>
      <p:sp>
        <p:nvSpPr>
          <p:cNvPr id="21" name="TextBox 20"/>
          <p:cNvSpPr txBox="1"/>
          <p:nvPr/>
        </p:nvSpPr>
        <p:spPr>
          <a:xfrm>
            <a:off x="3766909" y="2340000"/>
            <a:ext cx="4758181"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El PV debe OFRECER lo que el PVC PIDE</a:t>
            </a:r>
          </a:p>
        </p:txBody>
      </p:sp>
      <p:sp>
        <p:nvSpPr>
          <p:cNvPr id="22" name="TextBox 21"/>
          <p:cNvSpPr txBox="1"/>
          <p:nvPr/>
        </p:nvSpPr>
        <p:spPr>
          <a:xfrm>
            <a:off x="8745090" y="2340000"/>
            <a:ext cx="2766909"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PVC Pending</a:t>
            </a:r>
          </a:p>
        </p:txBody>
      </p:sp>
      <p:sp>
        <p:nvSpPr>
          <p:cNvPr id="23" name="Rectangle 22"/>
          <p:cNvSpPr/>
          <p:nvPr/>
        </p:nvSpPr>
        <p:spPr>
          <a:xfrm>
            <a:off x="620000" y="3240000"/>
            <a:ext cx="10952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4" name="TextBox 23"/>
          <p:cNvSpPr txBox="1"/>
          <p:nvPr/>
        </p:nvSpPr>
        <p:spPr>
          <a:xfrm>
            <a:off x="780000" y="2790000"/>
            <a:ext cx="2766909"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1" i="0">
                <a:solidFill>
                  <a:srgbClr val="F3F6FC"/>
                </a:solidFill>
                <a:latin typeface="Segoe UI"/>
              </a:rPr>
              <a:t>capacity</a:t>
            </a:r>
          </a:p>
        </p:txBody>
      </p:sp>
      <p:sp>
        <p:nvSpPr>
          <p:cNvPr id="25" name="TextBox 24"/>
          <p:cNvSpPr txBox="1"/>
          <p:nvPr/>
        </p:nvSpPr>
        <p:spPr>
          <a:xfrm>
            <a:off x="3766909" y="2790000"/>
            <a:ext cx="4758181"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El PV debe ser mayor o igual a lo solicitado</a:t>
            </a:r>
          </a:p>
        </p:txBody>
      </p:sp>
      <p:sp>
        <p:nvSpPr>
          <p:cNvPr id="26" name="TextBox 25"/>
          <p:cNvSpPr txBox="1"/>
          <p:nvPr/>
        </p:nvSpPr>
        <p:spPr>
          <a:xfrm>
            <a:off x="8745090" y="2790000"/>
            <a:ext cx="2766909"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PVC Pending</a:t>
            </a:r>
          </a:p>
        </p:txBody>
      </p:sp>
      <p:sp>
        <p:nvSpPr>
          <p:cNvPr id="27" name="Rectangle 26"/>
          <p:cNvSpPr/>
          <p:nvPr/>
        </p:nvSpPr>
        <p:spPr>
          <a:xfrm>
            <a:off x="620000" y="3240000"/>
            <a:ext cx="10952000" cy="450000"/>
          </a:xfrm>
          <a:prstGeom prst="rect">
            <a:avLst/>
          </a:prstGeom>
          <a:solidFill>
            <a:srgbClr val="111A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8" name="Rectangle 27"/>
          <p:cNvSpPr/>
          <p:nvPr/>
        </p:nvSpPr>
        <p:spPr>
          <a:xfrm>
            <a:off x="620000" y="3690000"/>
            <a:ext cx="10952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9" name="TextBox 28"/>
          <p:cNvSpPr txBox="1"/>
          <p:nvPr/>
        </p:nvSpPr>
        <p:spPr>
          <a:xfrm>
            <a:off x="780000" y="3240000"/>
            <a:ext cx="2766909"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1" i="0">
                <a:solidFill>
                  <a:srgbClr val="F3F6FC"/>
                </a:solidFill>
                <a:latin typeface="Segoe UI"/>
              </a:rPr>
              <a:t>selector (opcional)</a:t>
            </a:r>
          </a:p>
        </p:txBody>
      </p:sp>
      <p:sp>
        <p:nvSpPr>
          <p:cNvPr id="30" name="TextBox 29"/>
          <p:cNvSpPr txBox="1"/>
          <p:nvPr/>
        </p:nvSpPr>
        <p:spPr>
          <a:xfrm>
            <a:off x="3766909" y="3240000"/>
            <a:ext cx="4758181"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Si el PVC lo declara, los labels del PV deben cumplirlo</a:t>
            </a:r>
          </a:p>
        </p:txBody>
      </p:sp>
      <p:sp>
        <p:nvSpPr>
          <p:cNvPr id="31" name="TextBox 30"/>
          <p:cNvSpPr txBox="1"/>
          <p:nvPr/>
        </p:nvSpPr>
        <p:spPr>
          <a:xfrm>
            <a:off x="8745090" y="3240000"/>
            <a:ext cx="2766909"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PVC Pending</a:t>
            </a:r>
          </a:p>
        </p:txBody>
      </p:sp>
      <p:sp>
        <p:nvSpPr>
          <p:cNvPr id="32" name="Rectangle 31"/>
          <p:cNvSpPr/>
          <p:nvPr/>
        </p:nvSpPr>
        <p:spPr>
          <a:xfrm>
            <a:off x="620000" y="4140000"/>
            <a:ext cx="10952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3" name="TextBox 32"/>
          <p:cNvSpPr txBox="1"/>
          <p:nvPr/>
        </p:nvSpPr>
        <p:spPr>
          <a:xfrm>
            <a:off x="780000" y="3690000"/>
            <a:ext cx="2766909"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1" i="0">
                <a:solidFill>
                  <a:srgbClr val="F3F6FC"/>
                </a:solidFill>
                <a:latin typeface="Segoe UI"/>
              </a:rPr>
              <a:t>claimRef</a:t>
            </a:r>
          </a:p>
        </p:txBody>
      </p:sp>
      <p:sp>
        <p:nvSpPr>
          <p:cNvPr id="34" name="TextBox 33"/>
          <p:cNvSpPr txBox="1"/>
          <p:nvPr/>
        </p:nvSpPr>
        <p:spPr>
          <a:xfrm>
            <a:off x="3766909" y="3690000"/>
            <a:ext cx="4758181"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El PV no puede estar ya reservado por otro claim</a:t>
            </a:r>
          </a:p>
        </p:txBody>
      </p:sp>
      <p:sp>
        <p:nvSpPr>
          <p:cNvPr id="35" name="TextBox 34"/>
          <p:cNvSpPr txBox="1"/>
          <p:nvPr/>
        </p:nvSpPr>
        <p:spPr>
          <a:xfrm>
            <a:off x="8745090" y="3690000"/>
            <a:ext cx="2766909" cy="450000"/>
          </a:xfrm>
          <a:prstGeom prst="rect">
            <a:avLst/>
          </a:prstGeom>
          <a:noFill/>
        </p:spPr>
        <p:txBody>
          <a:bodyPr wrap="square" anchor="ctr" lIns="0" rIns="0" tIns="0" bIns="0">
            <a:noAutofit/>
          </a:bodyPr>
          <a:lstStyle/>
          <a:p>
            <a:pPr algn="l" marL="0" indent="0">
              <a:lnSpc>
                <a:spcPct val="110000"/>
              </a:lnSpc>
              <a:spcBef>
                <a:spcPts val="0"/>
              </a:spcBef>
              <a:spcAft>
                <a:spcPts val="0"/>
              </a:spcAft>
              <a:buNone/>
            </a:pPr>
            <a:r>
              <a:rPr sz="1100" b="0" i="0">
                <a:solidFill>
                  <a:srgbClr val="BDC9DB"/>
                </a:solidFill>
                <a:latin typeface="Segoe UI"/>
              </a:rPr>
              <a:t>PV en Released</a:t>
            </a:r>
          </a:p>
        </p:txBody>
      </p:sp>
      <p:sp>
        <p:nvSpPr>
          <p:cNvPr id="36" name="Rounded Rectangle 35"/>
          <p:cNvSpPr/>
          <p:nvPr/>
        </p:nvSpPr>
        <p:spPr>
          <a:xfrm>
            <a:off x="620000" y="4310000"/>
            <a:ext cx="10952000" cy="200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7" name="Rectangle 36"/>
          <p:cNvSpPr/>
          <p:nvPr/>
        </p:nvSpPr>
        <p:spPr>
          <a:xfrm>
            <a:off x="646000" y="4332000"/>
            <a:ext cx="40000" cy="195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8" name="TextBox 37"/>
          <p:cNvSpPr txBox="1"/>
          <p:nvPr/>
        </p:nvSpPr>
        <p:spPr>
          <a:xfrm>
            <a:off x="860000" y="4440000"/>
            <a:ext cx="10522000" cy="174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TEORÍA</a:t>
            </a:r>
          </a:p>
          <a:p>
            <a:pPr algn="l" marL="0" indent="0">
              <a:lnSpc>
                <a:spcPct val="128000"/>
              </a:lnSpc>
              <a:spcBef>
                <a:spcPts val="0"/>
              </a:spcBef>
              <a:spcAft>
                <a:spcPts val="400"/>
              </a:spcAft>
              <a:buNone/>
            </a:pPr>
            <a:r>
              <a:rPr sz="1000" b="0" i="0">
                <a:solidFill>
                  <a:srgbClr val="BDC9DB"/>
                </a:solidFill>
                <a:latin typeface="Segoe UI"/>
              </a:rPr>
              <a:t>El enlace (binding) entre un PVC y un PV es todo-o-nada: se comprueban varios criterios y basta que uno falle para que el PVC se quede en Pending. El storageClassName debe coincidir exactamente, incluida la cadena vacía. Los accessModes del PV deben OFRECER lo que el PVC PIDE (un PV solo-RWO no sirve para un PVC que pide RWX). La capacidad del PV debe ser mayor o igual que la solicitada.</a:t>
            </a:r>
          </a:p>
          <a:p>
            <a:pPr algn="l" marL="0" indent="0">
              <a:lnSpc>
                <a:spcPct val="128000"/>
              </a:lnSpc>
              <a:spcBef>
                <a:spcPts val="0"/>
              </a:spcBef>
              <a:spcAft>
                <a:spcPts val="400"/>
              </a:spcAft>
              <a:buNone/>
            </a:pPr>
            <a:r>
              <a:rPr sz="1000" b="0" i="0">
                <a:solidFill>
                  <a:srgbClr val="BDC9DB"/>
                </a:solidFill>
                <a:latin typeface="Segoe UI"/>
              </a:rPr>
              <a:t>Si el PVC declara un selector de labels, el PV tiene que cumplirlo. Y el PV no puede estar ya reservado: si tiene un claimRef apuntando a otro PVC, no está disponible aunque su estado parezca libre.</a:t>
            </a:r>
          </a:p>
          <a:p>
            <a:pPr algn="l" marL="0" indent="0">
              <a:lnSpc>
                <a:spcPct val="128000"/>
              </a:lnSpc>
              <a:spcBef>
                <a:spcPts val="0"/>
              </a:spcBef>
              <a:spcAft>
                <a:spcPts val="400"/>
              </a:spcAft>
              <a:buNone/>
            </a:pPr>
            <a:r>
              <a:rPr sz="1000" b="0" i="0">
                <a:solidFill>
                  <a:srgbClr val="BDC9DB"/>
                </a:solidFill>
                <a:latin typeface="Segoe UI"/>
              </a:rPr>
              <a:t>Un detalle que confunde en el examen: una vez enlazado, el PVC muestra la capacidad del PV real, no la que pidió. Si solicitas 1Gi y el único PV disponible es de 2Gi, verás 2Gi. Y cuando se borra el PVC, un PV con reclaimPolicy Retain no vuelve a Available: queda en Released con sus datos y su claimRef, y hay que liberarlo a mano.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MODOS Y POLÍTICAS</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Dos campos que deciden si tu Pod arranca</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12</a:t>
            </a:r>
          </a:p>
        </p:txBody>
      </p:sp>
      <p:pic>
        <p:nvPicPr>
          <p:cNvPr id="8" name="Picture 7" descr="pod.png"/>
          <p:cNvPicPr>
            <a:picLocks noChangeAspect="1"/>
          </p:cNvPicPr>
          <p:nvPr/>
        </p:nvPicPr>
        <p:blipFill>
          <a:blip r:embed="rId2"/>
          <a:stretch>
            <a:fillRect/>
          </a:stretch>
        </p:blipFill>
        <p:spPr>
          <a:xfrm>
            <a:off x="10932000" y="275000"/>
            <a:ext cx="640000" cy="640000"/>
          </a:xfrm>
          <a:prstGeom prst="rect">
            <a:avLst/>
          </a:prstGeom>
        </p:spPr>
      </p:pic>
      <p:sp>
        <p:nvSpPr>
          <p:cNvPr id="9" name="Oval 8"/>
          <p:cNvSpPr/>
          <p:nvPr/>
        </p:nvSpPr>
        <p:spPr>
          <a:xfrm>
            <a:off x="636000" y="1751750"/>
            <a:ext cx="104000" cy="104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0000" y="1470000"/>
            <a:ext cx="5435040" cy="667500"/>
          </a:xfrm>
          <a:prstGeom prst="rect">
            <a:avLst/>
          </a:prstGeom>
          <a:noFill/>
        </p:spPr>
        <p:txBody>
          <a:bodyPr wrap="square" anchor="ctr" lIns="0" rIns="0" tIns="0" bIns="0">
            <a:noAutofit/>
          </a:bodyPr>
          <a:lstStyle/>
          <a:p>
            <a:pPr algn="l" marL="0" indent="0">
              <a:lnSpc>
                <a:spcPct val="118000"/>
              </a:lnSpc>
              <a:spcBef>
                <a:spcPts val="0"/>
              </a:spcBef>
              <a:spcAft>
                <a:spcPts val="0"/>
              </a:spcAft>
              <a:buNone/>
            </a:pPr>
            <a:r>
              <a:rPr sz="1300" b="0" i="0">
                <a:solidFill>
                  <a:srgbClr val="BDC9DB"/>
                </a:solidFill>
                <a:latin typeface="Segoe UI"/>
              </a:rPr>
              <a:t>ReadWriteOnce (RWO): lectura y escritura desde un solo nodo. Es el modo por defecto de casi todo el almacenamiento de bloque.</a:t>
            </a:r>
          </a:p>
        </p:txBody>
      </p:sp>
      <p:sp>
        <p:nvSpPr>
          <p:cNvPr id="11" name="Oval 10"/>
          <p:cNvSpPr/>
          <p:nvPr/>
        </p:nvSpPr>
        <p:spPr>
          <a:xfrm>
            <a:off x="636000" y="2419250"/>
            <a:ext cx="104000" cy="104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0000" y="2137500"/>
            <a:ext cx="5435040" cy="667500"/>
          </a:xfrm>
          <a:prstGeom prst="rect">
            <a:avLst/>
          </a:prstGeom>
          <a:noFill/>
        </p:spPr>
        <p:txBody>
          <a:bodyPr wrap="square" anchor="ctr" lIns="0" rIns="0" tIns="0" bIns="0">
            <a:noAutofit/>
          </a:bodyPr>
          <a:lstStyle/>
          <a:p>
            <a:pPr algn="l" marL="0" indent="0">
              <a:lnSpc>
                <a:spcPct val="118000"/>
              </a:lnSpc>
              <a:spcBef>
                <a:spcPts val="0"/>
              </a:spcBef>
              <a:spcAft>
                <a:spcPts val="0"/>
              </a:spcAft>
              <a:buNone/>
            </a:pPr>
            <a:r>
              <a:rPr sz="1300" b="0" i="0">
                <a:solidFill>
                  <a:srgbClr val="BDC9DB"/>
                </a:solidFill>
                <a:latin typeface="Segoe UI"/>
              </a:rPr>
              <a:t>ReadOnlyMany (ROX): solo lectura desde varios nodos.</a:t>
            </a:r>
          </a:p>
        </p:txBody>
      </p:sp>
      <p:sp>
        <p:nvSpPr>
          <p:cNvPr id="13" name="Oval 12"/>
          <p:cNvSpPr/>
          <p:nvPr/>
        </p:nvSpPr>
        <p:spPr>
          <a:xfrm>
            <a:off x="636000" y="3086750"/>
            <a:ext cx="104000" cy="104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0000" y="2805000"/>
            <a:ext cx="5435040" cy="667500"/>
          </a:xfrm>
          <a:prstGeom prst="rect">
            <a:avLst/>
          </a:prstGeom>
          <a:noFill/>
        </p:spPr>
        <p:txBody>
          <a:bodyPr wrap="square" anchor="ctr" lIns="0" rIns="0" tIns="0" bIns="0">
            <a:noAutofit/>
          </a:bodyPr>
          <a:lstStyle/>
          <a:p>
            <a:pPr algn="l" marL="0" indent="0">
              <a:lnSpc>
                <a:spcPct val="118000"/>
              </a:lnSpc>
              <a:spcBef>
                <a:spcPts val="0"/>
              </a:spcBef>
              <a:spcAft>
                <a:spcPts val="0"/>
              </a:spcAft>
              <a:buNone/>
            </a:pPr>
            <a:r>
              <a:rPr sz="1300" b="0" i="0">
                <a:solidFill>
                  <a:srgbClr val="BDC9DB"/>
                </a:solidFill>
                <a:latin typeface="Segoe UI"/>
              </a:rPr>
              <a:t>ReadWriteMany (RWX): lectura y escritura desde varios nodos. Requiere almacenamiento de fichero, tipo NFS.</a:t>
            </a:r>
          </a:p>
        </p:txBody>
      </p:sp>
      <p:sp>
        <p:nvSpPr>
          <p:cNvPr id="15" name="Oval 14"/>
          <p:cNvSpPr/>
          <p:nvPr/>
        </p:nvSpPr>
        <p:spPr>
          <a:xfrm>
            <a:off x="636000" y="3754250"/>
            <a:ext cx="104000" cy="104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000" y="3472500"/>
            <a:ext cx="5435040" cy="667500"/>
          </a:xfrm>
          <a:prstGeom prst="rect">
            <a:avLst/>
          </a:prstGeom>
          <a:noFill/>
        </p:spPr>
        <p:txBody>
          <a:bodyPr wrap="square" anchor="ctr" lIns="0" rIns="0" tIns="0" bIns="0">
            <a:noAutofit/>
          </a:bodyPr>
          <a:lstStyle/>
          <a:p>
            <a:pPr algn="l" marL="0" indent="0">
              <a:lnSpc>
                <a:spcPct val="118000"/>
              </a:lnSpc>
              <a:spcBef>
                <a:spcPts val="0"/>
              </a:spcBef>
              <a:spcAft>
                <a:spcPts val="0"/>
              </a:spcAft>
              <a:buNone/>
            </a:pPr>
            <a:r>
              <a:rPr sz="1300" b="0" i="0">
                <a:solidFill>
                  <a:srgbClr val="BDC9DB"/>
                </a:solidFill>
                <a:latin typeface="Segoe UI"/>
              </a:rPr>
              <a:t>ReadWriteOncePod (RWOP): un único Pod, ni siquiera dos en el mismo nodo.</a:t>
            </a:r>
          </a:p>
        </p:txBody>
      </p:sp>
      <p:sp>
        <p:nvSpPr>
          <p:cNvPr id="17" name="Rounded Rectangle 16"/>
          <p:cNvSpPr/>
          <p:nvPr/>
        </p:nvSpPr>
        <p:spPr>
          <a:xfrm>
            <a:off x="6635040" y="1470000"/>
            <a:ext cx="4936960" cy="2670000"/>
          </a:xfrm>
          <a:prstGeom prst="roundRect">
            <a:avLst>
              <a:gd name="adj" fmla="val 5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8" name="Rectangle 17"/>
          <p:cNvSpPr/>
          <p:nvPr/>
        </p:nvSpPr>
        <p:spPr>
          <a:xfrm>
            <a:off x="6659040" y="1470000"/>
            <a:ext cx="488896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6875040" y="1710000"/>
            <a:ext cx="4456960" cy="2190000"/>
          </a:xfrm>
          <a:prstGeom prst="rect">
            <a:avLst/>
          </a:prstGeom>
          <a:noFill/>
        </p:spPr>
        <p:txBody>
          <a:bodyPr wrap="square" anchor="ctr" lIns="0" rIns="0" tIns="0" bIns="0">
            <a:noAutofit/>
          </a:bodyPr>
          <a:lstStyle/>
          <a:p>
            <a:pPr algn="l" marL="0" indent="0">
              <a:lnSpc>
                <a:spcPct val="100000"/>
              </a:lnSpc>
              <a:spcBef>
                <a:spcPts val="0"/>
              </a:spcBef>
              <a:spcAft>
                <a:spcPts val="1400"/>
              </a:spcAft>
              <a:buNone/>
            </a:pPr>
            <a:r>
              <a:rPr sz="1000" b="1" i="0" spc="180">
                <a:solidFill>
                  <a:srgbClr val="74A6FF"/>
                </a:solidFill>
                <a:latin typeface="Segoe UI Semibold"/>
              </a:rPr>
              <a:t>RECLAIMPOLICY</a:t>
            </a:r>
          </a:p>
          <a:p>
            <a:pPr algn="l" marL="182880" indent="-182880">
              <a:lnSpc>
                <a:spcPct val="120000"/>
              </a:lnSpc>
              <a:spcBef>
                <a:spcPts val="0"/>
              </a:spcBef>
              <a:spcAft>
                <a:spcPts val="1100"/>
              </a:spcAft>
              <a:buFont typeface="Arial"/>
              <a:buChar char="•"/>
            </a:pPr>
            <a:r>
              <a:rPr sz="1100" b="0" i="0">
                <a:solidFill>
                  <a:srgbClr val="BDC9DB"/>
                </a:solidFill>
                <a:latin typeface="Segoe UI"/>
              </a:rPr>
              <a:t>Retain — al liberar el claim, el PV queda en Released con sus datos y su claimRef. No vuelve a estar disponible solo.</a:t>
            </a:r>
          </a:p>
          <a:p>
            <a:pPr algn="l" marL="182880" indent="-182880">
              <a:lnSpc>
                <a:spcPct val="120000"/>
              </a:lnSpc>
              <a:spcBef>
                <a:spcPts val="0"/>
              </a:spcBef>
              <a:spcAft>
                <a:spcPts val="1100"/>
              </a:spcAft>
              <a:buFont typeface="Arial"/>
              <a:buChar char="•"/>
            </a:pPr>
            <a:r>
              <a:rPr sz="1100" b="0" i="0">
                <a:solidFill>
                  <a:srgbClr val="BDC9DB"/>
                </a:solidFill>
                <a:latin typeface="Segoe UI"/>
              </a:rPr>
              <a:t>Delete — se borran el PV y su almacenamiento.</a:t>
            </a:r>
          </a:p>
          <a:p>
            <a:pPr algn="l" marL="182880" indent="-182880">
              <a:lnSpc>
                <a:spcPct val="120000"/>
              </a:lnSpc>
              <a:spcBef>
                <a:spcPts val="0"/>
              </a:spcBef>
              <a:spcAft>
                <a:spcPts val="1100"/>
              </a:spcAft>
              <a:buFont typeface="Arial"/>
              <a:buChar char="•"/>
            </a:pPr>
            <a:r>
              <a:rPr sz="1100" b="0" i="0">
                <a:solidFill>
                  <a:srgbClr val="BDC9DB"/>
                </a:solidFill>
                <a:latin typeface="Segoe UI"/>
              </a:rPr>
              <a:t>Recycle — ELIMINADO de Kubernetes. Si lo ves en un apunte, ese apunte es viejo.</a:t>
            </a:r>
          </a:p>
        </p:txBody>
      </p:sp>
      <p:sp>
        <p:nvSpPr>
          <p:cNvPr id="20" name="Rounded Rectangle 19"/>
          <p:cNvSpPr/>
          <p:nvPr/>
        </p:nvSpPr>
        <p:spPr>
          <a:xfrm>
            <a:off x="620000" y="4310000"/>
            <a:ext cx="10952000" cy="200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Rectangle 20"/>
          <p:cNvSpPr/>
          <p:nvPr/>
        </p:nvSpPr>
        <p:spPr>
          <a:xfrm>
            <a:off x="646000" y="4332000"/>
            <a:ext cx="40000" cy="195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2" name="TextBox 21"/>
          <p:cNvSpPr txBox="1"/>
          <p:nvPr/>
        </p:nvSpPr>
        <p:spPr>
          <a:xfrm>
            <a:off x="860000" y="4440000"/>
            <a:ext cx="10522000" cy="174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TEORÍA</a:t>
            </a:r>
          </a:p>
          <a:p>
            <a:pPr algn="l" marL="0" indent="0">
              <a:lnSpc>
                <a:spcPct val="128000"/>
              </a:lnSpc>
              <a:spcBef>
                <a:spcPts val="0"/>
              </a:spcBef>
              <a:spcAft>
                <a:spcPts val="400"/>
              </a:spcAft>
              <a:buNone/>
            </a:pPr>
            <a:r>
              <a:rPr sz="1000" b="0" i="0">
                <a:solidFill>
                  <a:srgbClr val="BDC9DB"/>
                </a:solidFill>
                <a:latin typeface="Segoe UI"/>
              </a:rPr>
              <a:t>El accessMode describe cómo se puede montar el volumen. ReadWriteOnce (RWO) permite lectura y escritura desde un solo NODO —varios Pods de ese nodo pueden compartirlo— y es el modo por defecto de casi todo el almacenamiento de bloque. ReadOnlyMany (ROX) es solo lectura desde varios nodos. ReadWriteMany (RWX) es lectura y escritura desde varios nodos, y exige almacenamiento de fichero tipo NFS o CephFS. ReadWriteOncePod (RWOP) lo restringe a un único Pod, ni siquiera dos en el mismo nodo.</a:t>
            </a:r>
          </a:p>
          <a:p>
            <a:pPr algn="l" marL="0" indent="0">
              <a:lnSpc>
                <a:spcPct val="128000"/>
              </a:lnSpc>
              <a:spcBef>
                <a:spcPts val="0"/>
              </a:spcBef>
              <a:spcAft>
                <a:spcPts val="400"/>
              </a:spcAft>
              <a:buNone/>
            </a:pPr>
            <a:r>
              <a:rPr sz="1000" b="0" i="0">
                <a:solidFill>
                  <a:srgbClr val="BDC9DB"/>
                </a:solidFill>
                <a:latin typeface="Segoe UI"/>
              </a:rPr>
              <a:t>El accessMode no es una propiedad mágica del disco: es lo que el PV declara ofrecer y el PVC declara necesitar. Pedir RWX sobre un backend que solo da RWO deja el PVC en Pending o el Pod sin arrancar.</a:t>
            </a:r>
          </a:p>
          <a:p>
            <a:pPr algn="l" marL="0" indent="0">
              <a:lnSpc>
                <a:spcPct val="128000"/>
              </a:lnSpc>
              <a:spcBef>
                <a:spcPts val="0"/>
              </a:spcBef>
              <a:spcAft>
                <a:spcPts val="400"/>
              </a:spcAft>
              <a:buNone/>
            </a:pPr>
            <a:r>
              <a:rPr sz="1000" b="0" i="0">
                <a:solidFill>
                  <a:srgbClr val="BDC9DB"/>
                </a:solidFill>
                <a:latin typeface="Segoe UI"/>
              </a:rPr>
              <a:t>La reclaimPolicy decide qué pasa con el PV al borrar su PVC. Retain conserva el PV y sus datos en estado Released (recuperación manual). Delete borra el PV y el almacenamiento subyacente. Recycle fue eliminado hace tiempo: si lo ves en unos apuntes, están desactualizados.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FF7B72"/>
                </a:solidFill>
                <a:latin typeface="Segoe UI Semibold"/>
              </a:rPr>
              <a:t>AVISO</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hostPath ata el Pod a un nodo concreto</a:t>
            </a:r>
          </a:p>
        </p:txBody>
      </p:sp>
      <p:sp>
        <p:nvSpPr>
          <p:cNvPr id="4" name="Rectangle 3"/>
          <p:cNvSpPr/>
          <p:nvPr/>
        </p:nvSpPr>
        <p:spPr>
          <a:xfrm>
            <a:off x="620000" y="1230000"/>
            <a:ext cx="560000" cy="46000"/>
          </a:xfrm>
          <a:prstGeom prst="rect">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13</a:t>
            </a:r>
          </a:p>
        </p:txBody>
      </p:sp>
      <p:pic>
        <p:nvPicPr>
          <p:cNvPr id="8" name="Picture 7" descr="pod.png"/>
          <p:cNvPicPr>
            <a:picLocks noChangeAspect="1"/>
          </p:cNvPicPr>
          <p:nvPr/>
        </p:nvPicPr>
        <p:blipFill>
          <a:blip r:embed="rId2"/>
          <a:stretch>
            <a:fillRect/>
          </a:stretch>
        </p:blipFill>
        <p:spPr>
          <a:xfrm>
            <a:off x="10932000" y="275000"/>
            <a:ext cx="640000" cy="640000"/>
          </a:xfrm>
          <a:prstGeom prst="rect">
            <a:avLst/>
          </a:prstGeom>
        </p:spPr>
      </p:pic>
      <p:sp>
        <p:nvSpPr>
          <p:cNvPr id="9" name="TextBox 8"/>
          <p:cNvSpPr txBox="1"/>
          <p:nvPr/>
        </p:nvSpPr>
        <p:spPr>
          <a:xfrm>
            <a:off x="620000" y="1470000"/>
            <a:ext cx="10952000" cy="520000"/>
          </a:xfrm>
          <a:prstGeom prst="rect">
            <a:avLst/>
          </a:prstGeom>
          <a:noFill/>
        </p:spPr>
        <p:txBody>
          <a:bodyPr wrap="square" anchor="t" lIns="0" rIns="0" tIns="0" bIns="0">
            <a:noAutofit/>
          </a:bodyPr>
          <a:lstStyle/>
          <a:p>
            <a:pPr algn="l" marL="0" indent="0">
              <a:lnSpc>
                <a:spcPct val="116000"/>
              </a:lnSpc>
              <a:spcBef>
                <a:spcPts val="0"/>
              </a:spcBef>
              <a:spcAft>
                <a:spcPts val="0"/>
              </a:spcAft>
              <a:buNone/>
            </a:pPr>
            <a:r>
              <a:rPr sz="1300" b="0" i="1">
                <a:solidFill>
                  <a:srgbClr val="BDC9DB"/>
                </a:solidFill>
                <a:latin typeface="Segoe UI"/>
              </a:rPr>
              <a:t>En un cluster multinodo, un PV con hostPath puede acabar montado en un nodo donde ese directorio no existe: el Pod arranca y ve un directorio vacío. Sirve para aprender, no para producción. La alternativa correcta es el tipo local con nodeAffinity, o un provisioner CSI.</a:t>
            </a:r>
          </a:p>
        </p:txBody>
      </p:sp>
      <p:sp>
        <p:nvSpPr>
          <p:cNvPr id="10" name="Rounded Rectangle 9"/>
          <p:cNvSpPr/>
          <p:nvPr/>
        </p:nvSpPr>
        <p:spPr>
          <a:xfrm>
            <a:off x="620000" y="2410000"/>
            <a:ext cx="10952000" cy="748000"/>
          </a:xfrm>
          <a:prstGeom prst="roundRect">
            <a:avLst>
              <a:gd name="adj" fmla="val 5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1" name="Rectangle 10"/>
          <p:cNvSpPr/>
          <p:nvPr/>
        </p:nvSpPr>
        <p:spPr>
          <a:xfrm>
            <a:off x="620000" y="2410000"/>
            <a:ext cx="46000" cy="748000"/>
          </a:xfrm>
          <a:prstGeom prst="rect">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2" name="TextBox 11"/>
          <p:cNvSpPr txBox="1"/>
          <p:nvPr/>
        </p:nvSpPr>
        <p:spPr>
          <a:xfrm>
            <a:off x="890000" y="2560000"/>
            <a:ext cx="10412000" cy="488000"/>
          </a:xfrm>
          <a:prstGeom prst="rect">
            <a:avLst/>
          </a:prstGeom>
          <a:noFill/>
        </p:spPr>
        <p:txBody>
          <a:bodyPr wrap="square" anchor="t" lIns="0" rIns="0" tIns="0" bIns="0">
            <a:noAutofit/>
          </a:bodyPr>
          <a:lstStyle/>
          <a:p>
            <a:pPr marL="0" indent="0">
              <a:lnSpc>
                <a:spcPct val="134000"/>
              </a:lnSpc>
              <a:spcAft>
                <a:spcPts val="0"/>
              </a:spcAft>
              <a:buNone/>
            </a:pPr>
            <a:r>
              <a:rPr sz="1100" b="0" i="1">
                <a:solidFill>
                  <a:srgbClr val="7C8AA5"/>
                </a:solidFill>
                <a:latin typeface="Consolas"/>
              </a:rPr>
              <a:t># Liberar un PV que quedó en Released</a:t>
            </a:r>
          </a:p>
          <a:p>
            <a:pPr marL="0" indent="0">
              <a:lnSpc>
                <a:spcPct val="134000"/>
              </a:lnSpc>
              <a:spcAft>
                <a:spcPts val="0"/>
              </a:spcAft>
              <a:buNone/>
            </a:pPr>
            <a:r>
              <a:rPr sz="1100" b="0" i="0">
                <a:solidFill>
                  <a:srgbClr val="E6EDF3"/>
                </a:solidFill>
                <a:latin typeface="Consolas"/>
              </a:rPr>
              <a:t>k patch pv &lt;pv&gt; --type=json -p='[{"op":"remove","path":"/spec/claimRef"}]'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9992000" y="-1500000"/>
            <a:ext cx="3400000" cy="34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00" y="470000"/>
            <a:ext cx="2500000" cy="360000"/>
          </a:xfrm>
          <a:prstGeom prst="roundRect">
            <a:avLst>
              <a:gd name="adj" fmla="val 50000"/>
            </a:avLst>
          </a:prstGeom>
          <a:noFill/>
          <a:ln w="1270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000" b="1" i="0" spc="140">
                <a:solidFill>
                  <a:srgbClr val="74A6FF"/>
                </a:solidFill>
                <a:latin typeface="Segoe UI"/>
              </a:rPr>
              <a:t>Nivel intermedio</a:t>
            </a:r>
          </a:p>
        </p:txBody>
      </p:sp>
      <p:sp>
        <p:nvSpPr>
          <p:cNvPr id="4" name="TextBox 3"/>
          <p:cNvSpPr txBox="1"/>
          <p:nvPr/>
        </p:nvSpPr>
        <p:spPr>
          <a:xfrm>
            <a:off x="640000" y="990000"/>
            <a:ext cx="10912000" cy="760000"/>
          </a:xfrm>
          <a:prstGeom prst="rect">
            <a:avLst/>
          </a:prstGeom>
          <a:noFill/>
        </p:spPr>
        <p:txBody>
          <a:bodyPr wrap="square" anchor="t" lIns="0" rIns="0" tIns="0" bIns="0">
            <a:noAutofit/>
          </a:bodyPr>
          <a:lstStyle/>
          <a:p>
            <a:pPr algn="l" marL="0" indent="0">
              <a:lnSpc>
                <a:spcPct val="106000"/>
              </a:lnSpc>
              <a:spcBef>
                <a:spcPts val="0"/>
              </a:spcBef>
              <a:spcAft>
                <a:spcPts val="0"/>
              </a:spcAft>
              <a:buNone/>
            </a:pPr>
            <a:r>
              <a:rPr sz="3100" b="0" i="0">
                <a:solidFill>
                  <a:srgbClr val="F3F6FC"/>
                </a:solidFill>
                <a:latin typeface="Segoe UI Light"/>
              </a:rPr>
              <a:t>LAB 3.2 — emptyDir, PersistentVolume y PersistentVolumeClaim</a:t>
            </a:r>
          </a:p>
        </p:txBody>
      </p:sp>
      <p:sp>
        <p:nvSpPr>
          <p:cNvPr id="5" name="TextBox 4"/>
          <p:cNvSpPr txBox="1"/>
          <p:nvPr/>
        </p:nvSpPr>
        <p:spPr>
          <a:xfrm>
            <a:off x="640000" y="1800000"/>
            <a:ext cx="7452000" cy="64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300" b="0" i="1">
                <a:solidFill>
                  <a:srgbClr val="BDC9DB"/>
                </a:solidFill>
                <a:latin typeface="Segoe UI"/>
              </a:rPr>
              <a:t>Compartir datos entre contenedores y aprovisionar almacenamiento estático, entendiendo por qué un PVC enlaza con un PV y no con otro.</a:t>
            </a:r>
          </a:p>
        </p:txBody>
      </p:sp>
      <p:sp>
        <p:nvSpPr>
          <p:cNvPr id="6" name="Oval 5"/>
          <p:cNvSpPr/>
          <p:nvPr/>
        </p:nvSpPr>
        <p:spPr>
          <a:xfrm>
            <a:off x="640000" y="2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sp>
        <p:nvSpPr>
          <p:cNvPr id="7" name="TextBox 6"/>
          <p:cNvSpPr txBox="1"/>
          <p:nvPr/>
        </p:nvSpPr>
        <p:spPr>
          <a:xfrm>
            <a:off x="1110000" y="256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Pod con dos contenedores compartiendo emptyDir. Demostrar que NO persiste.</a:t>
            </a:r>
          </a:p>
        </p:txBody>
      </p:sp>
      <p:sp>
        <p:nvSpPr>
          <p:cNvPr id="8" name="Oval 7"/>
          <p:cNvSpPr/>
          <p:nvPr/>
        </p:nvSpPr>
        <p:spPr>
          <a:xfrm>
            <a:off x="640000" y="325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sp>
        <p:nvSpPr>
          <p:cNvPr id="9" name="TextBox 8"/>
          <p:cNvSpPr txBox="1"/>
          <p:nvPr/>
        </p:nvSpPr>
        <p:spPr>
          <a:xfrm>
            <a:off x="1110000" y="312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Dos PV de 2Gi distinguibles por label; forzar el enlace a uno concreto con selector.</a:t>
            </a:r>
          </a:p>
        </p:txBody>
      </p:sp>
      <p:sp>
        <p:nvSpPr>
          <p:cNvPr id="10" name="Oval 9"/>
          <p:cNvSpPr/>
          <p:nvPr/>
        </p:nvSpPr>
        <p:spPr>
          <a:xfrm>
            <a:off x="640000" y="381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sp>
        <p:nvSpPr>
          <p:cNvPr id="11" name="TextBox 10"/>
          <p:cNvSpPr txBox="1"/>
          <p:nvPr/>
        </p:nvSpPr>
        <p:spPr>
          <a:xfrm>
            <a:off x="1110000" y="368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Comprobar por qué el PVC muestra 2Gi aunque pidió 1Gi.</a:t>
            </a:r>
          </a:p>
        </p:txBody>
      </p:sp>
      <p:sp>
        <p:nvSpPr>
          <p:cNvPr id="12" name="Oval 11"/>
          <p:cNvSpPr/>
          <p:nvPr/>
        </p:nvSpPr>
        <p:spPr>
          <a:xfrm>
            <a:off x="640000" y="437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sp>
        <p:nvSpPr>
          <p:cNvPr id="13" name="TextBox 12"/>
          <p:cNvSpPr txBox="1"/>
          <p:nvPr/>
        </p:nvSpPr>
        <p:spPr>
          <a:xfrm>
            <a:off x="1110000" y="424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Borrar el PVC y explicar el estado Released.</a:t>
            </a:r>
          </a:p>
        </p:txBody>
      </p:sp>
      <p:sp>
        <p:nvSpPr>
          <p:cNvPr id="14" name="Freeform 13"/>
          <p:cNvSpPr/>
          <p:nvPr/>
        </p:nvSpPr>
        <p:spPr>
          <a:xfrm>
            <a:off x="9590000" y="1418800"/>
            <a:ext cx="784000" cy="842800"/>
          </a:xfrm>
          <a:custGeom>
            <a:avLst/>
            <a:gdLst/>
            <a:ahLst/>
            <a:cxnLst/>
            <a:rect l="l" t="t" r="r" b="b"/>
            <a:pathLst>
              <a:path w="784000" h="842800">
                <a:moveTo>
                  <a:pt x="235200" y="0"/>
                </a:moveTo>
                <a:lnTo>
                  <a:pt x="235200" y="333200"/>
                </a:lnTo>
                <a:lnTo>
                  <a:pt x="0" y="842800"/>
                </a:lnTo>
                <a:lnTo>
                  <a:pt x="784000" y="842800"/>
                </a:lnTo>
                <a:lnTo>
                  <a:pt x="548800" y="333200"/>
                </a:lnTo>
                <a:lnTo>
                  <a:pt x="548800" y="0"/>
                </a:lnTo>
              </a:path>
            </a:pathLst>
          </a:custGeom>
          <a:noFill/>
          <a:ln w="3302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766400" y="1418800"/>
            <a:ext cx="431200" cy="0"/>
          </a:xfrm>
          <a:prstGeom prst="line">
            <a:avLst/>
          </a:prstGeom>
          <a:ln w="3302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727200" y="2006800"/>
            <a:ext cx="509600" cy="0"/>
          </a:xfrm>
          <a:prstGeom prst="line">
            <a:avLst/>
          </a:prstGeom>
          <a:ln w="33020">
            <a:solidFill>
              <a:srgbClr val="74A6F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92000" y="2560000"/>
            <a:ext cx="3180000" cy="3510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8" name="Rectangle 17"/>
          <p:cNvSpPr/>
          <p:nvPr/>
        </p:nvSpPr>
        <p:spPr>
          <a:xfrm>
            <a:off x="8392000" y="2560000"/>
            <a:ext cx="318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8592000" y="274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ARCHIVO</a:t>
            </a:r>
          </a:p>
          <a:p>
            <a:pPr algn="l" marL="0" indent="0">
              <a:lnSpc>
                <a:spcPct val="112000"/>
              </a:lnSpc>
              <a:spcBef>
                <a:spcPts val="0"/>
              </a:spcBef>
              <a:spcAft>
                <a:spcPts val="0"/>
              </a:spcAft>
              <a:buNone/>
            </a:pPr>
            <a:r>
              <a:rPr sz="1100" b="0" i="0">
                <a:solidFill>
                  <a:srgbClr val="F3F6FC"/>
                </a:solidFill>
                <a:latin typeface="Consolas"/>
              </a:rPr>
              <a:t>CLASE-03/LABORATORIOS/LAB-02-INTERMEDIO.md</a:t>
            </a:r>
          </a:p>
        </p:txBody>
      </p:sp>
      <p:sp>
        <p:nvSpPr>
          <p:cNvPr id="20" name="Rectangle 19"/>
          <p:cNvSpPr/>
          <p:nvPr/>
        </p:nvSpPr>
        <p:spPr>
          <a:xfrm>
            <a:off x="8592000" y="379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TextBox 20"/>
          <p:cNvSpPr txBox="1"/>
          <p:nvPr/>
        </p:nvSpPr>
        <p:spPr>
          <a:xfrm>
            <a:off x="8592000" y="383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DURACIÓN</a:t>
            </a:r>
          </a:p>
          <a:p>
            <a:pPr algn="l" marL="0" indent="0">
              <a:lnSpc>
                <a:spcPct val="112000"/>
              </a:lnSpc>
              <a:spcBef>
                <a:spcPts val="0"/>
              </a:spcBef>
              <a:spcAft>
                <a:spcPts val="0"/>
              </a:spcAft>
              <a:buNone/>
            </a:pPr>
            <a:r>
              <a:rPr sz="1100" b="1" i="0">
                <a:solidFill>
                  <a:srgbClr val="F3F6FC"/>
                </a:solidFill>
                <a:latin typeface="Segoe UI Semibold"/>
              </a:rPr>
              <a:t>30 min</a:t>
            </a:r>
          </a:p>
        </p:txBody>
      </p:sp>
      <p:sp>
        <p:nvSpPr>
          <p:cNvPr id="22" name="Rectangle 21"/>
          <p:cNvSpPr/>
          <p:nvPr/>
        </p:nvSpPr>
        <p:spPr>
          <a:xfrm>
            <a:off x="8592000" y="488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3" name="TextBox 22"/>
          <p:cNvSpPr txBox="1"/>
          <p:nvPr/>
        </p:nvSpPr>
        <p:spPr>
          <a:xfrm>
            <a:off x="8592000" y="492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VALIDACIÓN</a:t>
            </a:r>
          </a:p>
          <a:p>
            <a:pPr algn="l" marL="0" indent="0">
              <a:lnSpc>
                <a:spcPct val="112000"/>
              </a:lnSpc>
              <a:spcBef>
                <a:spcPts val="0"/>
              </a:spcBef>
              <a:spcAft>
                <a:spcPts val="0"/>
              </a:spcAft>
              <a:buNone/>
            </a:pPr>
            <a:r>
              <a:rPr sz="1100" b="0" i="0">
                <a:solidFill>
                  <a:srgbClr val="F3F6FC"/>
                </a:solidFill>
                <a:latin typeface="Consolas"/>
              </a:rPr>
              <a:t>k get pv,pvc</a:t>
            </a:r>
          </a:p>
        </p:txBody>
      </p:sp>
      <p:sp>
        <p:nvSpPr>
          <p:cNvPr id="24" name="Rectangle 23"/>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5" name="TextBox 24"/>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26" name="TextBox 25"/>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1500000" y="4258000"/>
            <a:ext cx="4200000" cy="42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ts.png"/>
          <p:cNvPicPr>
            <a:picLocks noChangeAspect="1"/>
          </p:cNvPicPr>
          <p:nvPr/>
        </p:nvPicPr>
        <p:blipFill>
          <a:blip r:embed="rId2"/>
          <a:stretch>
            <a:fillRect/>
          </a:stretch>
        </p:blipFill>
        <p:spPr>
          <a:xfrm>
            <a:off x="8842000" y="2150000"/>
            <a:ext cx="1800000" cy="1800000"/>
          </a:xfrm>
          <a:prstGeom prst="rect">
            <a:avLst/>
          </a:prstGeom>
        </p:spPr>
      </p:pic>
      <p:sp>
        <p:nvSpPr>
          <p:cNvPr id="4" name="TextBox 3"/>
          <p:cNvSpPr txBox="1"/>
          <p:nvPr/>
        </p:nvSpPr>
        <p:spPr>
          <a:xfrm>
            <a:off x="590000" y="1150000"/>
            <a:ext cx="4000000" cy="2600000"/>
          </a:xfrm>
          <a:prstGeom prst="rect">
            <a:avLst/>
          </a:prstGeom>
          <a:noFill/>
        </p:spPr>
        <p:txBody>
          <a:bodyPr wrap="square" anchor="t" lIns="0" rIns="0" tIns="0" bIns="0">
            <a:noAutofit/>
          </a:bodyPr>
          <a:lstStyle/>
          <a:p>
            <a:pPr algn="l" marL="0" indent="0">
              <a:lnSpc>
                <a:spcPct val="90000"/>
              </a:lnSpc>
              <a:spcBef>
                <a:spcPts val="0"/>
              </a:spcBef>
              <a:spcAft>
                <a:spcPts val="0"/>
              </a:spcAft>
              <a:buNone/>
            </a:pPr>
            <a:r>
              <a:rPr sz="15000" b="0" i="0">
                <a:solidFill>
                  <a:srgbClr val="4C5B75"/>
                </a:solidFill>
                <a:latin typeface="Segoe UI Light"/>
              </a:rPr>
              <a:t>03</a:t>
            </a:r>
          </a:p>
        </p:txBody>
      </p:sp>
      <p:sp>
        <p:nvSpPr>
          <p:cNvPr id="5" name="TextBox 4"/>
          <p:cNvSpPr txBox="1"/>
          <p:nvPr/>
        </p:nvSpPr>
        <p:spPr>
          <a:xfrm>
            <a:off x="640000" y="3050000"/>
            <a:ext cx="9200000" cy="3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60">
                <a:solidFill>
                  <a:srgbClr val="74A6FF"/>
                </a:solidFill>
                <a:latin typeface="Segoe UI Semibold"/>
              </a:rPr>
              <a:t>BLOQUE 3</a:t>
            </a:r>
          </a:p>
        </p:txBody>
      </p:sp>
      <p:sp>
        <p:nvSpPr>
          <p:cNvPr id="6" name="TextBox 5"/>
          <p:cNvSpPr txBox="1"/>
          <p:nvPr/>
        </p:nvSpPr>
        <p:spPr>
          <a:xfrm>
            <a:off x="640000" y="3350000"/>
            <a:ext cx="10200000" cy="1000000"/>
          </a:xfrm>
          <a:prstGeom prst="rect">
            <a:avLst/>
          </a:prstGeom>
          <a:noFill/>
        </p:spPr>
        <p:txBody>
          <a:bodyPr wrap="square" anchor="t" lIns="0" rIns="0" tIns="0" bIns="0">
            <a:noAutofit/>
          </a:bodyPr>
          <a:lstStyle/>
          <a:p>
            <a:pPr algn="l" marL="0" indent="0">
              <a:lnSpc>
                <a:spcPct val="102000"/>
              </a:lnSpc>
              <a:spcBef>
                <a:spcPts val="0"/>
              </a:spcBef>
              <a:spcAft>
                <a:spcPts val="0"/>
              </a:spcAft>
              <a:buNone/>
            </a:pPr>
            <a:r>
              <a:rPr sz="5400" b="0" i="0">
                <a:solidFill>
                  <a:srgbClr val="F3F6FC"/>
                </a:solidFill>
                <a:latin typeface="Segoe UI Light"/>
              </a:rPr>
              <a:t>StatefulSets</a:t>
            </a:r>
          </a:p>
        </p:txBody>
      </p:sp>
      <p:sp>
        <p:nvSpPr>
          <p:cNvPr id="7" name="Rectangle 6"/>
          <p:cNvSpPr/>
          <p:nvPr/>
        </p:nvSpPr>
        <p:spPr>
          <a:xfrm>
            <a:off x="644000" y="4380000"/>
            <a:ext cx="62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8" name="TextBox 7"/>
          <p:cNvSpPr txBox="1"/>
          <p:nvPr/>
        </p:nvSpPr>
        <p:spPr>
          <a:xfrm>
            <a:off x="640000" y="4560000"/>
            <a:ext cx="9600000" cy="62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500" b="0" i="1">
                <a:solidFill>
                  <a:srgbClr val="BDC9DB"/>
                </a:solidFill>
                <a:latin typeface="Segoe UI"/>
              </a:rPr>
              <a:t>Cuando la identidad de cada réplica importa</a:t>
            </a:r>
          </a:p>
        </p:txBody>
      </p:sp>
      <p:sp>
        <p:nvSpPr>
          <p:cNvPr id="9" name="Rectangle 8"/>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TextBox 9"/>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11" name="TextBox 10"/>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GARANTÍAS</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Qué te da un StatefulSet que un Deployment no</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16</a:t>
            </a:r>
          </a:p>
        </p:txBody>
      </p:sp>
      <p:sp>
        <p:nvSpPr>
          <p:cNvPr id="8" name="Rounded Rectangle 7"/>
          <p:cNvSpPr/>
          <p:nvPr/>
        </p:nvSpPr>
        <p:spPr>
          <a:xfrm>
            <a:off x="620000" y="1470000"/>
            <a:ext cx="5316000"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9" name="Rectangle 8"/>
          <p:cNvSpPr/>
          <p:nvPr/>
        </p:nvSpPr>
        <p:spPr>
          <a:xfrm>
            <a:off x="644000" y="1470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Oval 9"/>
          <p:cNvSpPr/>
          <p:nvPr/>
        </p:nvSpPr>
        <p:spPr>
          <a:xfrm>
            <a:off x="820000" y="1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pic>
        <p:nvPicPr>
          <p:cNvPr id="11" name="Picture 10" descr="sts.png"/>
          <p:cNvPicPr>
            <a:picLocks noChangeAspect="1"/>
          </p:cNvPicPr>
          <p:nvPr/>
        </p:nvPicPr>
        <p:blipFill>
          <a:blip r:embed="rId2"/>
          <a:stretch>
            <a:fillRect/>
          </a:stretch>
        </p:blipFill>
        <p:spPr>
          <a:xfrm>
            <a:off x="5406000" y="1676000"/>
            <a:ext cx="330000" cy="330000"/>
          </a:xfrm>
          <a:prstGeom prst="rect">
            <a:avLst/>
          </a:prstGeom>
        </p:spPr>
      </p:pic>
      <p:sp>
        <p:nvSpPr>
          <p:cNvPr id="12" name="TextBox 11"/>
          <p:cNvSpPr txBox="1"/>
          <p:nvPr/>
        </p:nvSpPr>
        <p:spPr>
          <a:xfrm>
            <a:off x="1230000" y="1670000"/>
            <a:ext cx="4286000"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Nombre estable</a:t>
            </a:r>
          </a:p>
        </p:txBody>
      </p:sp>
      <p:sp>
        <p:nvSpPr>
          <p:cNvPr id="13" name="TextBox 12"/>
          <p:cNvSpPr txBox="1"/>
          <p:nvPr/>
        </p:nvSpPr>
        <p:spPr>
          <a:xfrm>
            <a:off x="820000" y="2030000"/>
            <a:ext cx="4916000"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web-0, web-1, web-2. No hay hash. Si un Pod muere, el nuevo recupera exactamente el mismo nombre.</a:t>
            </a:r>
          </a:p>
        </p:txBody>
      </p:sp>
      <p:sp>
        <p:nvSpPr>
          <p:cNvPr id="14" name="Rounded Rectangle 13"/>
          <p:cNvSpPr/>
          <p:nvPr/>
        </p:nvSpPr>
        <p:spPr>
          <a:xfrm>
            <a:off x="6256000" y="1470000"/>
            <a:ext cx="5316000"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5" name="Rectangle 14"/>
          <p:cNvSpPr/>
          <p:nvPr/>
        </p:nvSpPr>
        <p:spPr>
          <a:xfrm>
            <a:off x="6280000" y="1470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Oval 15"/>
          <p:cNvSpPr/>
          <p:nvPr/>
        </p:nvSpPr>
        <p:spPr>
          <a:xfrm>
            <a:off x="6456000" y="1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pic>
        <p:nvPicPr>
          <p:cNvPr id="17" name="Picture 16" descr="sts.png"/>
          <p:cNvPicPr>
            <a:picLocks noChangeAspect="1"/>
          </p:cNvPicPr>
          <p:nvPr/>
        </p:nvPicPr>
        <p:blipFill>
          <a:blip r:embed="rId2"/>
          <a:stretch>
            <a:fillRect/>
          </a:stretch>
        </p:blipFill>
        <p:spPr>
          <a:xfrm>
            <a:off x="11042000" y="1676000"/>
            <a:ext cx="330000" cy="330000"/>
          </a:xfrm>
          <a:prstGeom prst="rect">
            <a:avLst/>
          </a:prstGeom>
        </p:spPr>
      </p:pic>
      <p:sp>
        <p:nvSpPr>
          <p:cNvPr id="18" name="TextBox 17"/>
          <p:cNvSpPr txBox="1"/>
          <p:nvPr/>
        </p:nvSpPr>
        <p:spPr>
          <a:xfrm>
            <a:off x="6866000" y="1670000"/>
            <a:ext cx="4286000"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Orden garantizado</a:t>
            </a:r>
          </a:p>
        </p:txBody>
      </p:sp>
      <p:sp>
        <p:nvSpPr>
          <p:cNvPr id="19" name="TextBox 18"/>
          <p:cNvSpPr txBox="1"/>
          <p:nvPr/>
        </p:nvSpPr>
        <p:spPr>
          <a:xfrm>
            <a:off x="6456000" y="2030000"/>
            <a:ext cx="4916000"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web-1 no arranca hasta que web-0 está Ready. Al escalar hacia abajo, se retiran en orden inverso.</a:t>
            </a:r>
          </a:p>
        </p:txBody>
      </p:sp>
      <p:sp>
        <p:nvSpPr>
          <p:cNvPr id="20" name="Rounded Rectangle 19"/>
          <p:cNvSpPr/>
          <p:nvPr/>
        </p:nvSpPr>
        <p:spPr>
          <a:xfrm>
            <a:off x="620000" y="2925000"/>
            <a:ext cx="5316000"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Rectangle 20"/>
          <p:cNvSpPr/>
          <p:nvPr/>
        </p:nvSpPr>
        <p:spPr>
          <a:xfrm>
            <a:off x="644000" y="2925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2" name="Oval 21"/>
          <p:cNvSpPr/>
          <p:nvPr/>
        </p:nvSpPr>
        <p:spPr>
          <a:xfrm>
            <a:off x="820000" y="3145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pic>
        <p:nvPicPr>
          <p:cNvPr id="23" name="Picture 22" descr="pv.png"/>
          <p:cNvPicPr>
            <a:picLocks noChangeAspect="1"/>
          </p:cNvPicPr>
          <p:nvPr/>
        </p:nvPicPr>
        <p:blipFill>
          <a:blip r:embed="rId3"/>
          <a:stretch>
            <a:fillRect/>
          </a:stretch>
        </p:blipFill>
        <p:spPr>
          <a:xfrm>
            <a:off x="5406000" y="3131000"/>
            <a:ext cx="330000" cy="330000"/>
          </a:xfrm>
          <a:prstGeom prst="rect">
            <a:avLst/>
          </a:prstGeom>
        </p:spPr>
      </p:pic>
      <p:sp>
        <p:nvSpPr>
          <p:cNvPr id="24" name="TextBox 23"/>
          <p:cNvSpPr txBox="1"/>
          <p:nvPr/>
        </p:nvSpPr>
        <p:spPr>
          <a:xfrm>
            <a:off x="1230000" y="3125000"/>
            <a:ext cx="4286000"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Volumen propio</a:t>
            </a:r>
          </a:p>
        </p:txBody>
      </p:sp>
      <p:sp>
        <p:nvSpPr>
          <p:cNvPr id="25" name="TextBox 24"/>
          <p:cNvSpPr txBox="1"/>
          <p:nvPr/>
        </p:nvSpPr>
        <p:spPr>
          <a:xfrm>
            <a:off x="820000" y="3485000"/>
            <a:ext cx="4916000"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volumeClaimTemplates crea un PVC por réplica: www-web-0, www-web-1… No comparten disco.</a:t>
            </a:r>
          </a:p>
        </p:txBody>
      </p:sp>
      <p:sp>
        <p:nvSpPr>
          <p:cNvPr id="26" name="Rounded Rectangle 25"/>
          <p:cNvSpPr/>
          <p:nvPr/>
        </p:nvSpPr>
        <p:spPr>
          <a:xfrm>
            <a:off x="6256000" y="2925000"/>
            <a:ext cx="5316000" cy="1215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7" name="Rectangle 26"/>
          <p:cNvSpPr/>
          <p:nvPr/>
        </p:nvSpPr>
        <p:spPr>
          <a:xfrm>
            <a:off x="6280000" y="2925000"/>
            <a:ext cx="5268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8" name="Oval 27"/>
          <p:cNvSpPr/>
          <p:nvPr/>
        </p:nvSpPr>
        <p:spPr>
          <a:xfrm>
            <a:off x="6456000" y="3145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pic>
        <p:nvPicPr>
          <p:cNvPr id="29" name="Picture 28" descr="pod.png"/>
          <p:cNvPicPr>
            <a:picLocks noChangeAspect="1"/>
          </p:cNvPicPr>
          <p:nvPr/>
        </p:nvPicPr>
        <p:blipFill>
          <a:blip r:embed="rId4"/>
          <a:stretch>
            <a:fillRect/>
          </a:stretch>
        </p:blipFill>
        <p:spPr>
          <a:xfrm>
            <a:off x="11042000" y="3131000"/>
            <a:ext cx="330000" cy="330000"/>
          </a:xfrm>
          <a:prstGeom prst="rect">
            <a:avLst/>
          </a:prstGeom>
        </p:spPr>
      </p:pic>
      <p:sp>
        <p:nvSpPr>
          <p:cNvPr id="30" name="TextBox 29"/>
          <p:cNvSpPr txBox="1"/>
          <p:nvPr/>
        </p:nvSpPr>
        <p:spPr>
          <a:xfrm>
            <a:off x="6866000" y="3125000"/>
            <a:ext cx="4286000" cy="340000"/>
          </a:xfrm>
          <a:prstGeom prst="rect">
            <a:avLst/>
          </a:prstGeom>
          <a:noFill/>
        </p:spPr>
        <p:txBody>
          <a:bodyPr wrap="square" anchor="ctr" lIns="0" rIns="0" tIns="0" bIns="0">
            <a:noAutofit/>
          </a:bodyPr>
          <a:lstStyle/>
          <a:p>
            <a:pPr algn="l" marL="0" indent="0">
              <a:lnSpc>
                <a:spcPct val="105000"/>
              </a:lnSpc>
              <a:spcBef>
                <a:spcPts val="0"/>
              </a:spcBef>
              <a:spcAft>
                <a:spcPts val="0"/>
              </a:spcAft>
              <a:buNone/>
            </a:pPr>
            <a:r>
              <a:rPr sz="1500" b="1" i="0">
                <a:solidFill>
                  <a:srgbClr val="F3F6FC"/>
                </a:solidFill>
                <a:latin typeface="Segoe UI Semibold"/>
              </a:rPr>
              <a:t>DNS por Pod</a:t>
            </a:r>
          </a:p>
        </p:txBody>
      </p:sp>
      <p:sp>
        <p:nvSpPr>
          <p:cNvPr id="31" name="TextBox 30"/>
          <p:cNvSpPr txBox="1"/>
          <p:nvPr/>
        </p:nvSpPr>
        <p:spPr>
          <a:xfrm>
            <a:off x="6456000" y="3485000"/>
            <a:ext cx="4916000" cy="595000"/>
          </a:xfrm>
          <a:prstGeom prst="rect">
            <a:avLst/>
          </a:prstGeom>
          <a:noFill/>
        </p:spPr>
        <p:txBody>
          <a:bodyPr wrap="square" anchor="t" lIns="0" rIns="0" tIns="0" bIns="0">
            <a:noAutofit/>
          </a:bodyPr>
          <a:lstStyle/>
          <a:p>
            <a:pPr algn="l" marL="0" indent="0">
              <a:lnSpc>
                <a:spcPct val="112000"/>
              </a:lnSpc>
              <a:spcBef>
                <a:spcPts val="0"/>
              </a:spcBef>
              <a:spcAft>
                <a:spcPts val="0"/>
              </a:spcAft>
              <a:buNone/>
            </a:pPr>
            <a:r>
              <a:rPr sz="1000" b="0" i="0">
                <a:solidFill>
                  <a:srgbClr val="BDC9DB"/>
                </a:solidFill>
                <a:latin typeface="Segoe UI"/>
              </a:rPr>
              <a:t>El Headless Service publica web-0.&lt;svc&gt;.&lt;ns&gt;.svc.cluster.local. Puedes dirigirte a una réplica concreta.</a:t>
            </a:r>
          </a:p>
        </p:txBody>
      </p:sp>
      <p:sp>
        <p:nvSpPr>
          <p:cNvPr id="32" name="Rounded Rectangle 31"/>
          <p:cNvSpPr/>
          <p:nvPr/>
        </p:nvSpPr>
        <p:spPr>
          <a:xfrm>
            <a:off x="620000" y="4310000"/>
            <a:ext cx="10952000" cy="2000000"/>
          </a:xfrm>
          <a:prstGeom prst="roundRect">
            <a:avLst>
              <a:gd name="adj" fmla="val 45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3" name="Rectangle 32"/>
          <p:cNvSpPr/>
          <p:nvPr/>
        </p:nvSpPr>
        <p:spPr>
          <a:xfrm>
            <a:off x="646000" y="4332000"/>
            <a:ext cx="40000" cy="195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4" name="TextBox 33"/>
          <p:cNvSpPr txBox="1"/>
          <p:nvPr/>
        </p:nvSpPr>
        <p:spPr>
          <a:xfrm>
            <a:off x="860000" y="4440000"/>
            <a:ext cx="10522000" cy="1740000"/>
          </a:xfrm>
          <a:prstGeom prst="rect">
            <a:avLst/>
          </a:prstGeom>
          <a:noFill/>
        </p:spPr>
        <p:txBody>
          <a:bodyPr wrap="square" anchor="t" lIns="0" rIns="0" tIns="0" bIns="0">
            <a:noAutofit/>
          </a:bodyPr>
          <a:lstStyle/>
          <a:p>
            <a:pPr algn="l" marL="0" indent="0">
              <a:lnSpc>
                <a:spcPct val="100000"/>
              </a:lnSpc>
              <a:spcBef>
                <a:spcPts val="0"/>
              </a:spcBef>
              <a:spcAft>
                <a:spcPts val="600"/>
              </a:spcAft>
              <a:buNone/>
            </a:pPr>
            <a:r>
              <a:rPr sz="900" b="1" i="0" spc="200">
                <a:solidFill>
                  <a:srgbClr val="326CE5"/>
                </a:solidFill>
                <a:latin typeface="Segoe UI Semibold"/>
              </a:rPr>
              <a:t>TEORÍA</a:t>
            </a:r>
          </a:p>
          <a:p>
            <a:pPr algn="l" marL="0" indent="0">
              <a:lnSpc>
                <a:spcPct val="128000"/>
              </a:lnSpc>
              <a:spcBef>
                <a:spcPts val="0"/>
              </a:spcBef>
              <a:spcAft>
                <a:spcPts val="400"/>
              </a:spcAft>
              <a:buNone/>
            </a:pPr>
            <a:r>
              <a:rPr sz="950" b="0" i="0">
                <a:solidFill>
                  <a:srgbClr val="BDC9DB"/>
                </a:solidFill>
                <a:latin typeface="Segoe UI"/>
              </a:rPr>
              <a:t>Un StatefulSet da cuatro garantías que un Deployment no puede ofrecer. Nombre estable: las réplicas se llaman &lt;sts&gt;-0, &lt;sts&gt;-1… sin hash, y si un Pod muere, el que lo sustituye recupera exactamente el mismo nombre. Orden garantizado: &lt;sts&gt;-1 no arranca hasta que &lt;sts&gt;-0 está Ready, y al reducir réplicas se retiran en orden inverso.</a:t>
            </a:r>
          </a:p>
          <a:p>
            <a:pPr algn="l" marL="0" indent="0">
              <a:lnSpc>
                <a:spcPct val="128000"/>
              </a:lnSpc>
              <a:spcBef>
                <a:spcPts val="0"/>
              </a:spcBef>
              <a:spcAft>
                <a:spcPts val="400"/>
              </a:spcAft>
              <a:buNone/>
            </a:pPr>
            <a:r>
              <a:rPr sz="950" b="0" i="0">
                <a:solidFill>
                  <a:srgbClr val="BDC9DB"/>
                </a:solidFill>
                <a:latin typeface="Segoe UI"/>
              </a:rPr>
              <a:t>Volumen propio: volumeClaimTemplates crea un PVC independiente por réplica (www-&lt;sts&gt;-0, www-&lt;sts&gt;-1…), de modo que cada Pod tiene su propio disco y nunca lo comparten. DNS por Pod: junto a un Headless Service (clusterIP: None), cada réplica es resoluble por &lt;sts&gt;-0.&lt;svc&gt;.&lt;ns&gt;.svc.cluster.local, lo que permite dirigirse a una instancia concreta.</a:t>
            </a:r>
          </a:p>
          <a:p>
            <a:pPr algn="l" marL="0" indent="0">
              <a:lnSpc>
                <a:spcPct val="128000"/>
              </a:lnSpc>
              <a:spcBef>
                <a:spcPts val="0"/>
              </a:spcBef>
              <a:spcAft>
                <a:spcPts val="400"/>
              </a:spcAft>
              <a:buNone/>
            </a:pPr>
            <a:r>
              <a:rPr sz="950" b="0" i="0">
                <a:solidFill>
                  <a:srgbClr val="BDC9DB"/>
                </a:solidFill>
                <a:latin typeface="Segoe UI"/>
              </a:rPr>
              <a:t>Un punto crítico de operación: los PVC creados por volumeClaimTemplates NO se borran al reducir réplicas ni al eliminar el StatefulSet. Es deliberado —son datos— y significa que recrear el StatefulSet reengancha los volúmenes existentes. El enlace que más se equivoca es serviceName, que debe coincidir con el nombre del Headless Service o el DNS por Pod no se crea, sin ningún error visible.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SINTAXIS</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Las tres líneas que se equivocan siempre</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17</a:t>
            </a:r>
          </a:p>
        </p:txBody>
      </p:sp>
      <p:sp>
        <p:nvSpPr>
          <p:cNvPr id="8" name="Freeform 7"/>
          <p:cNvSpPr/>
          <p:nvPr/>
        </p:nvSpPr>
        <p:spPr>
          <a:xfrm>
            <a:off x="11034400" y="300600"/>
            <a:ext cx="448000" cy="588800"/>
          </a:xfrm>
          <a:custGeom>
            <a:avLst/>
            <a:gdLst/>
            <a:ahLst/>
            <a:cxnLst/>
            <a:rect l="l" t="t" r="r" b="b"/>
            <a:pathLst>
              <a:path w="448000" h="588800">
                <a:moveTo>
                  <a:pt x="0" y="0"/>
                </a:moveTo>
                <a:lnTo>
                  <a:pt x="345600" y="0"/>
                </a:lnTo>
                <a:lnTo>
                  <a:pt x="448000" y="102400"/>
                </a:lnTo>
                <a:lnTo>
                  <a:pt x="448000" y="588800"/>
                </a:lnTo>
                <a:lnTo>
                  <a:pt x="0" y="588800"/>
                </a:lnTo>
                <a:close/>
              </a:path>
            </a:pathLst>
          </a:custGeom>
          <a:noFill/>
          <a:ln w="3810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11380000" y="300600"/>
            <a:ext cx="0" cy="10240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380000" y="403000"/>
            <a:ext cx="102400" cy="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11200" y="543800"/>
            <a:ext cx="281600" cy="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11200" y="646200"/>
            <a:ext cx="281600" cy="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111200" y="748600"/>
            <a:ext cx="281600" cy="0"/>
          </a:xfrm>
          <a:prstGeom prst="line">
            <a:avLst/>
          </a:prstGeom>
          <a:ln w="38100">
            <a:solidFill>
              <a:srgbClr val="74A6F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20000" y="1470000"/>
            <a:ext cx="10952000" cy="520000"/>
          </a:xfrm>
          <a:prstGeom prst="rect">
            <a:avLst/>
          </a:prstGeom>
          <a:noFill/>
        </p:spPr>
        <p:txBody>
          <a:bodyPr wrap="square" anchor="t" lIns="0" rIns="0" tIns="0" bIns="0">
            <a:noAutofit/>
          </a:bodyPr>
          <a:lstStyle/>
          <a:p>
            <a:pPr algn="l" marL="0" indent="0">
              <a:lnSpc>
                <a:spcPct val="116000"/>
              </a:lnSpc>
              <a:spcBef>
                <a:spcPts val="0"/>
              </a:spcBef>
              <a:spcAft>
                <a:spcPts val="0"/>
              </a:spcAft>
              <a:buNone/>
            </a:pPr>
            <a:r>
              <a:rPr sz="1300" b="0" i="1">
                <a:solidFill>
                  <a:srgbClr val="BDC9DB"/>
                </a:solidFill>
                <a:latin typeface="Segoe UI"/>
              </a:rPr>
              <a:t>El enlace crítico: serviceName debe ser el nombre del Headless Service.</a:t>
            </a:r>
          </a:p>
        </p:txBody>
      </p:sp>
      <p:sp>
        <p:nvSpPr>
          <p:cNvPr id="15" name="Rounded Rectangle 14"/>
          <p:cNvSpPr/>
          <p:nvPr/>
        </p:nvSpPr>
        <p:spPr>
          <a:xfrm>
            <a:off x="620000" y="2062730"/>
            <a:ext cx="10952000" cy="3654540"/>
          </a:xfrm>
          <a:prstGeom prst="roundRect">
            <a:avLst>
              <a:gd name="adj" fmla="val 5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Rectangle 15"/>
          <p:cNvSpPr/>
          <p:nvPr/>
        </p:nvSpPr>
        <p:spPr>
          <a:xfrm>
            <a:off x="620000" y="2062730"/>
            <a:ext cx="46000" cy="365454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7" name="TextBox 16"/>
          <p:cNvSpPr txBox="1"/>
          <p:nvPr/>
        </p:nvSpPr>
        <p:spPr>
          <a:xfrm>
            <a:off x="850000" y="2182730"/>
            <a:ext cx="10492000" cy="260000"/>
          </a:xfrm>
          <a:prstGeom prst="rect">
            <a:avLst/>
          </a:prstGeom>
          <a:noFill/>
        </p:spPr>
        <p:txBody>
          <a:bodyPr wrap="square" anchor="t" lIns="0" rIns="0" tIns="0" bIns="0">
            <a:noAutofit/>
          </a:bodyPr>
          <a:lstStyle/>
          <a:p>
            <a:pPr algn="l" marL="0" indent="0">
              <a:lnSpc>
                <a:spcPct val="100000"/>
              </a:lnSpc>
              <a:spcBef>
                <a:spcPts val="0"/>
              </a:spcBef>
              <a:spcAft>
                <a:spcPts val="0"/>
              </a:spcAft>
              <a:buNone/>
            </a:pPr>
            <a:r>
              <a:rPr sz="1000" b="1" i="0" spc="180">
                <a:solidFill>
                  <a:srgbClr val="8493AD"/>
                </a:solidFill>
                <a:latin typeface="Segoe UI Semibold"/>
              </a:rPr>
              <a:t>EL MANIFIESTO</a:t>
            </a:r>
          </a:p>
        </p:txBody>
      </p:sp>
      <p:sp>
        <p:nvSpPr>
          <p:cNvPr id="18" name="TextBox 17"/>
          <p:cNvSpPr txBox="1"/>
          <p:nvPr/>
        </p:nvSpPr>
        <p:spPr>
          <a:xfrm>
            <a:off x="890000" y="2462730"/>
            <a:ext cx="10412000" cy="3194540"/>
          </a:xfrm>
          <a:prstGeom prst="rect">
            <a:avLst/>
          </a:prstGeom>
          <a:noFill/>
        </p:spPr>
        <p:txBody>
          <a:bodyPr wrap="square" anchor="t" lIns="0" rIns="0" tIns="0" bIns="0">
            <a:noAutofit/>
          </a:bodyPr>
          <a:lstStyle/>
          <a:p>
            <a:pPr marL="0" indent="0">
              <a:lnSpc>
                <a:spcPct val="134000"/>
              </a:lnSpc>
              <a:spcAft>
                <a:spcPts val="0"/>
              </a:spcAft>
              <a:buNone/>
            </a:pPr>
            <a:r>
              <a:rPr sz="1000" b="0" i="0">
                <a:solidFill>
                  <a:srgbClr val="E6EDF3"/>
                </a:solidFill>
                <a:latin typeface="Consolas"/>
              </a:rPr>
              <a:t>apiVersion: v1</a:t>
            </a:r>
          </a:p>
          <a:p>
            <a:pPr marL="0" indent="0">
              <a:lnSpc>
                <a:spcPct val="134000"/>
              </a:lnSpc>
              <a:spcAft>
                <a:spcPts val="0"/>
              </a:spcAft>
              <a:buNone/>
            </a:pPr>
            <a:r>
              <a:rPr sz="1000" b="0" i="0">
                <a:solidFill>
                  <a:srgbClr val="E6EDF3"/>
                </a:solidFill>
                <a:latin typeface="Consolas"/>
              </a:rPr>
              <a:t>kind: Service</a:t>
            </a:r>
          </a:p>
          <a:p>
            <a:pPr marL="0" indent="0">
              <a:lnSpc>
                <a:spcPct val="134000"/>
              </a:lnSpc>
              <a:spcAft>
                <a:spcPts val="0"/>
              </a:spcAft>
              <a:buNone/>
            </a:pPr>
            <a:r>
              <a:rPr sz="1000" b="0" i="0">
                <a:solidFill>
                  <a:srgbClr val="E6EDF3"/>
                </a:solidFill>
                <a:latin typeface="Consolas"/>
              </a:rPr>
              <a:t>metadata: {name: nginx}</a:t>
            </a:r>
          </a:p>
          <a:p>
            <a:pPr marL="0" indent="0">
              <a:lnSpc>
                <a:spcPct val="134000"/>
              </a:lnSpc>
              <a:spcAft>
                <a:spcPts val="0"/>
              </a:spcAft>
              <a:buNone/>
            </a:pPr>
            <a:r>
              <a:rPr sz="1000" b="0" i="0">
                <a:solidFill>
                  <a:srgbClr val="E6EDF3"/>
                </a:solidFill>
                <a:latin typeface="Consolas"/>
              </a:rPr>
              <a:t>spec:</a:t>
            </a:r>
          </a:p>
          <a:p>
            <a:pPr marL="0" indent="0">
              <a:lnSpc>
                <a:spcPct val="134000"/>
              </a:lnSpc>
              <a:spcAft>
                <a:spcPts val="0"/>
              </a:spcAft>
              <a:buNone/>
            </a:pPr>
            <a:r>
              <a:rPr sz="1000" b="0" i="0">
                <a:solidFill>
                  <a:srgbClr val="E6EDF3"/>
                </a:solidFill>
                <a:latin typeface="Consolas"/>
              </a:rPr>
              <a:t>  clusterIP: None        </a:t>
            </a:r>
            <a:r>
              <a:rPr sz="1000" b="0" i="1">
                <a:solidFill>
                  <a:srgbClr val="7C8AA5"/>
                </a:solidFill>
                <a:latin typeface="Consolas"/>
              </a:rPr>
              <a:t>  # HEADLESS: sin VIP</a:t>
            </a:r>
          </a:p>
          <a:p>
            <a:pPr marL="0" indent="0">
              <a:lnSpc>
                <a:spcPct val="134000"/>
              </a:lnSpc>
              <a:spcAft>
                <a:spcPts val="0"/>
              </a:spcAft>
              <a:buNone/>
            </a:pPr>
            <a:r>
              <a:rPr sz="1000" b="0" i="0">
                <a:solidFill>
                  <a:srgbClr val="E6EDF3"/>
                </a:solidFill>
                <a:latin typeface="Consolas"/>
              </a:rPr>
              <a:t>  selector: {app: nginx}</a:t>
            </a:r>
          </a:p>
          <a:p>
            <a:pPr marL="0" indent="0">
              <a:lnSpc>
                <a:spcPct val="134000"/>
              </a:lnSpc>
              <a:spcAft>
                <a:spcPts val="0"/>
              </a:spcAft>
              <a:buNone/>
            </a:pPr>
            <a:r>
              <a:rPr sz="1000" b="0" i="0">
                <a:solidFill>
                  <a:srgbClr val="E6EDF3"/>
                </a:solidFill>
                <a:latin typeface="Consolas"/>
              </a:rPr>
              <a:t>  ports: [{name: web, port: 80}]</a:t>
            </a:r>
          </a:p>
          <a:p>
            <a:pPr marL="0" indent="0">
              <a:lnSpc>
                <a:spcPct val="134000"/>
              </a:lnSpc>
              <a:spcAft>
                <a:spcPts val="0"/>
              </a:spcAft>
              <a:buNone/>
            </a:pPr>
            <a:r>
              <a:rPr sz="1000" b="0" i="0">
                <a:solidFill>
                  <a:srgbClr val="E6EDF3"/>
                </a:solidFill>
                <a:latin typeface="Consolas"/>
              </a:rPr>
              <a:t>---</a:t>
            </a:r>
          </a:p>
          <a:p>
            <a:pPr marL="0" indent="0">
              <a:lnSpc>
                <a:spcPct val="134000"/>
              </a:lnSpc>
              <a:spcAft>
                <a:spcPts val="0"/>
              </a:spcAft>
              <a:buNone/>
            </a:pPr>
            <a:r>
              <a:rPr sz="1000" b="0" i="0">
                <a:solidFill>
                  <a:srgbClr val="E6EDF3"/>
                </a:solidFill>
                <a:latin typeface="Consolas"/>
              </a:rPr>
              <a:t>spec:</a:t>
            </a:r>
          </a:p>
          <a:p>
            <a:pPr marL="0" indent="0">
              <a:lnSpc>
                <a:spcPct val="134000"/>
              </a:lnSpc>
              <a:spcAft>
                <a:spcPts val="0"/>
              </a:spcAft>
              <a:buNone/>
            </a:pPr>
            <a:r>
              <a:rPr sz="1000" b="0" i="0">
                <a:solidFill>
                  <a:srgbClr val="E6EDF3"/>
                </a:solidFill>
                <a:latin typeface="Consolas"/>
              </a:rPr>
              <a:t>  serviceName: nginx     </a:t>
            </a:r>
            <a:r>
              <a:rPr sz="1000" b="0" i="1">
                <a:solidFill>
                  <a:srgbClr val="7C8AA5"/>
                </a:solidFill>
                <a:latin typeface="Consolas"/>
              </a:rPr>
              <a:t>  # &lt;- debe coincidir con el Service de arriba</a:t>
            </a:r>
          </a:p>
          <a:p>
            <a:pPr marL="0" indent="0">
              <a:lnSpc>
                <a:spcPct val="134000"/>
              </a:lnSpc>
              <a:spcAft>
                <a:spcPts val="0"/>
              </a:spcAft>
              <a:buNone/>
            </a:pPr>
            <a:r>
              <a:rPr sz="1000" b="0" i="0">
                <a:solidFill>
                  <a:srgbClr val="E6EDF3"/>
                </a:solidFill>
                <a:latin typeface="Consolas"/>
              </a:rPr>
              <a:t>  volumeClaimTemplates:  </a:t>
            </a:r>
            <a:r>
              <a:rPr sz="1000" b="0" i="1">
                <a:solidFill>
                  <a:srgbClr val="7C8AA5"/>
                </a:solidFill>
                <a:latin typeface="Consolas"/>
              </a:rPr>
              <a:t>  # &lt;- cuelga de spec, NO de spec.template</a:t>
            </a:r>
          </a:p>
          <a:p>
            <a:pPr marL="0" indent="0">
              <a:lnSpc>
                <a:spcPct val="134000"/>
              </a:lnSpc>
              <a:spcAft>
                <a:spcPts val="0"/>
              </a:spcAft>
              <a:buNone/>
            </a:pPr>
            <a:r>
              <a:rPr sz="1000" b="0" i="0">
                <a:solidFill>
                  <a:srgbClr val="E6EDF3"/>
                </a:solidFill>
                <a:latin typeface="Consolas"/>
              </a:rPr>
              <a:t>    - metadata: {name: www}</a:t>
            </a:r>
          </a:p>
          <a:p>
            <a:pPr marL="0" indent="0">
              <a:lnSpc>
                <a:spcPct val="134000"/>
              </a:lnSpc>
              <a:spcAft>
                <a:spcPts val="0"/>
              </a:spcAft>
              <a:buNone/>
            </a:pPr>
            <a:r>
              <a:rPr sz="1000" b="0" i="0">
                <a:solidFill>
                  <a:srgbClr val="E6EDF3"/>
                </a:solidFill>
                <a:latin typeface="Consolas"/>
              </a:rPr>
              <a:t>      spec:</a:t>
            </a:r>
          </a:p>
          <a:p>
            <a:pPr marL="0" indent="0">
              <a:lnSpc>
                <a:spcPct val="134000"/>
              </a:lnSpc>
              <a:spcAft>
                <a:spcPts val="0"/>
              </a:spcAft>
              <a:buNone/>
            </a:pPr>
            <a:r>
              <a:rPr sz="1000" b="0" i="0">
                <a:solidFill>
                  <a:srgbClr val="E6EDF3"/>
                </a:solidFill>
                <a:latin typeface="Consolas"/>
              </a:rPr>
              <a:t>        accessModes: ["ReadWriteOnce"]</a:t>
            </a:r>
          </a:p>
          <a:p>
            <a:pPr marL="0" indent="0">
              <a:lnSpc>
                <a:spcPct val="134000"/>
              </a:lnSpc>
              <a:spcAft>
                <a:spcPts val="0"/>
              </a:spcAft>
              <a:buNone/>
            </a:pPr>
            <a:r>
              <a:rPr sz="1000" b="0" i="0">
                <a:solidFill>
                  <a:srgbClr val="E6EDF3"/>
                </a:solidFill>
                <a:latin typeface="Consolas"/>
              </a:rPr>
              <a:t>        resources: {requests: {storage: 1Gi}}</a:t>
            </a:r>
          </a:p>
        </p:txBody>
      </p:sp>
      <p:sp>
        <p:nvSpPr>
          <p:cNvPr id="19" name="Rounded Rectangle 18"/>
          <p:cNvSpPr/>
          <p:nvPr/>
        </p:nvSpPr>
        <p:spPr>
          <a:xfrm>
            <a:off x="620000" y="5840000"/>
            <a:ext cx="10952000" cy="470000"/>
          </a:xfrm>
          <a:prstGeom prst="roundRect">
            <a:avLst>
              <a:gd name="adj" fmla="val 100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0" name="Rectangle 19"/>
          <p:cNvSpPr/>
          <p:nvPr/>
        </p:nvSpPr>
        <p:spPr>
          <a:xfrm>
            <a:off x="650000" y="5864000"/>
            <a:ext cx="40000" cy="422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TextBox 20"/>
          <p:cNvSpPr txBox="1"/>
          <p:nvPr/>
        </p:nvSpPr>
        <p:spPr>
          <a:xfrm>
            <a:off x="860000" y="5840000"/>
            <a:ext cx="10482000" cy="47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1">
                <a:solidFill>
                  <a:srgbClr val="BDC9DB"/>
                </a:solidFill>
                <a:latin typeface="Segoe UI"/>
              </a:rPr>
              <a:t>Si serviceName no coincide, el StatefulSet arranca igual pero el DNS por Pod no se crea. Fallo silencioso y muy frecuente.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9992000" y="-1500000"/>
            <a:ext cx="3400000" cy="34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00" y="470000"/>
            <a:ext cx="4492000" cy="360000"/>
          </a:xfrm>
          <a:prstGeom prst="roundRect">
            <a:avLst>
              <a:gd name="adj" fmla="val 50000"/>
            </a:avLst>
          </a:prstGeom>
          <a:noFill/>
          <a:ln w="1270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000" b="1" i="0" spc="140">
                <a:solidFill>
                  <a:srgbClr val="74A6FF"/>
                </a:solidFill>
                <a:latin typeface="Segoe UI"/>
              </a:rPr>
              <a:t>Nivel avanzado — solo requerimientos</a:t>
            </a:r>
          </a:p>
        </p:txBody>
      </p:sp>
      <p:sp>
        <p:nvSpPr>
          <p:cNvPr id="4" name="TextBox 3"/>
          <p:cNvSpPr txBox="1"/>
          <p:nvPr/>
        </p:nvSpPr>
        <p:spPr>
          <a:xfrm>
            <a:off x="640000" y="990000"/>
            <a:ext cx="10912000" cy="760000"/>
          </a:xfrm>
          <a:prstGeom prst="rect">
            <a:avLst/>
          </a:prstGeom>
          <a:noFill/>
        </p:spPr>
        <p:txBody>
          <a:bodyPr wrap="square" anchor="t" lIns="0" rIns="0" tIns="0" bIns="0">
            <a:noAutofit/>
          </a:bodyPr>
          <a:lstStyle/>
          <a:p>
            <a:pPr algn="l" marL="0" indent="0">
              <a:lnSpc>
                <a:spcPct val="106000"/>
              </a:lnSpc>
              <a:spcBef>
                <a:spcPts val="0"/>
              </a:spcBef>
              <a:spcAft>
                <a:spcPts val="0"/>
              </a:spcAft>
              <a:buNone/>
            </a:pPr>
            <a:r>
              <a:rPr sz="3100" b="0" i="0">
                <a:solidFill>
                  <a:srgbClr val="F3F6FC"/>
                </a:solidFill>
                <a:latin typeface="Segoe UI Light"/>
              </a:rPr>
              <a:t>LAB 3.3 — StatefulSet con identidad estable</a:t>
            </a:r>
          </a:p>
        </p:txBody>
      </p:sp>
      <p:sp>
        <p:nvSpPr>
          <p:cNvPr id="5" name="TextBox 4"/>
          <p:cNvSpPr txBox="1"/>
          <p:nvPr/>
        </p:nvSpPr>
        <p:spPr>
          <a:xfrm>
            <a:off x="640000" y="1800000"/>
            <a:ext cx="7452000" cy="64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300" b="0" i="1">
                <a:solidFill>
                  <a:srgbClr val="BDC9DB"/>
                </a:solidFill>
                <a:latin typeface="Segoe UI"/>
              </a:rPr>
              <a:t>Desplegar una carga con estado que cumpla cuatro garantías, y demostrar cada una empíricamente.</a:t>
            </a:r>
          </a:p>
        </p:txBody>
      </p:sp>
      <p:sp>
        <p:nvSpPr>
          <p:cNvPr id="6" name="Oval 5"/>
          <p:cNvSpPr/>
          <p:nvPr/>
        </p:nvSpPr>
        <p:spPr>
          <a:xfrm>
            <a:off x="640000" y="269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sp>
        <p:nvSpPr>
          <p:cNvPr id="7" name="TextBox 6"/>
          <p:cNvSpPr txBox="1"/>
          <p:nvPr/>
        </p:nvSpPr>
        <p:spPr>
          <a:xfrm>
            <a:off x="1110000" y="256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Comprobar primero si hay StorageClass por defecto y decidir estático o dinámico.</a:t>
            </a:r>
          </a:p>
        </p:txBody>
      </p:sp>
      <p:sp>
        <p:nvSpPr>
          <p:cNvPr id="8" name="Oval 7"/>
          <p:cNvSpPr/>
          <p:nvPr/>
        </p:nvSpPr>
        <p:spPr>
          <a:xfrm>
            <a:off x="640000" y="325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sp>
        <p:nvSpPr>
          <p:cNvPr id="9" name="TextBox 8"/>
          <p:cNvSpPr txBox="1"/>
          <p:nvPr/>
        </p:nvSpPr>
        <p:spPr>
          <a:xfrm>
            <a:off x="1110000" y="312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Headless Service + StatefulSet de 3 réplicas con un PVC de 1Gi cada una.</a:t>
            </a:r>
          </a:p>
        </p:txBody>
      </p:sp>
      <p:sp>
        <p:nvSpPr>
          <p:cNvPr id="10" name="Oval 9"/>
          <p:cNvSpPr/>
          <p:nvPr/>
        </p:nvSpPr>
        <p:spPr>
          <a:xfrm>
            <a:off x="640000" y="381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sp>
        <p:nvSpPr>
          <p:cNvPr id="11" name="TextBox 10"/>
          <p:cNvSpPr txBox="1"/>
          <p:nvPr/>
        </p:nvSpPr>
        <p:spPr>
          <a:xfrm>
            <a:off x="1110000" y="368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Borrar web-1 y verificar que recupera nombre, PVC y datos.</a:t>
            </a:r>
          </a:p>
        </p:txBody>
      </p:sp>
      <p:sp>
        <p:nvSpPr>
          <p:cNvPr id="12" name="Oval 11"/>
          <p:cNvSpPr/>
          <p:nvPr/>
        </p:nvSpPr>
        <p:spPr>
          <a:xfrm>
            <a:off x="640000" y="437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sp>
        <p:nvSpPr>
          <p:cNvPr id="13" name="TextBox 12"/>
          <p:cNvSpPr txBox="1"/>
          <p:nvPr/>
        </p:nvSpPr>
        <p:spPr>
          <a:xfrm>
            <a:off x="1110000" y="424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Escalar a 5 y volver a 3: explicar por qué sobreviven los PVC.</a:t>
            </a:r>
          </a:p>
        </p:txBody>
      </p:sp>
      <p:sp>
        <p:nvSpPr>
          <p:cNvPr id="14" name="Oval 13"/>
          <p:cNvSpPr/>
          <p:nvPr/>
        </p:nvSpPr>
        <p:spPr>
          <a:xfrm>
            <a:off x="640000" y="4930000"/>
            <a:ext cx="300000" cy="300000"/>
          </a:xfrm>
          <a:prstGeom prst="ellipse">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5</a:t>
            </a:r>
          </a:p>
        </p:txBody>
      </p:sp>
      <p:sp>
        <p:nvSpPr>
          <p:cNvPr id="15" name="TextBox 14"/>
          <p:cNvSpPr txBox="1"/>
          <p:nvPr/>
        </p:nvSpPr>
        <p:spPr>
          <a:xfrm>
            <a:off x="1110000" y="480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Eliminar el StatefulSet, recrearlo y comprobar que los datos siguen ahí.</a:t>
            </a:r>
          </a:p>
        </p:txBody>
      </p:sp>
      <p:sp>
        <p:nvSpPr>
          <p:cNvPr id="16" name="Freeform 15"/>
          <p:cNvSpPr/>
          <p:nvPr/>
        </p:nvSpPr>
        <p:spPr>
          <a:xfrm>
            <a:off x="9590000" y="1418800"/>
            <a:ext cx="784000" cy="842800"/>
          </a:xfrm>
          <a:custGeom>
            <a:avLst/>
            <a:gdLst/>
            <a:ahLst/>
            <a:cxnLst/>
            <a:rect l="l" t="t" r="r" b="b"/>
            <a:pathLst>
              <a:path w="784000" h="842800">
                <a:moveTo>
                  <a:pt x="235200" y="0"/>
                </a:moveTo>
                <a:lnTo>
                  <a:pt x="235200" y="333200"/>
                </a:lnTo>
                <a:lnTo>
                  <a:pt x="0" y="842800"/>
                </a:lnTo>
                <a:lnTo>
                  <a:pt x="784000" y="842800"/>
                </a:lnTo>
                <a:lnTo>
                  <a:pt x="548800" y="333200"/>
                </a:lnTo>
                <a:lnTo>
                  <a:pt x="548800" y="0"/>
                </a:lnTo>
              </a:path>
            </a:pathLst>
          </a:custGeom>
          <a:noFill/>
          <a:ln w="3302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766400" y="1418800"/>
            <a:ext cx="431200" cy="0"/>
          </a:xfrm>
          <a:prstGeom prst="line">
            <a:avLst/>
          </a:prstGeom>
          <a:ln w="3302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727200" y="2006800"/>
            <a:ext cx="509600" cy="0"/>
          </a:xfrm>
          <a:prstGeom prst="line">
            <a:avLst/>
          </a:prstGeom>
          <a:ln w="33020">
            <a:solidFill>
              <a:srgbClr val="74A6FF"/>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392000" y="2560000"/>
            <a:ext cx="3180000" cy="3510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0" name="Rectangle 19"/>
          <p:cNvSpPr/>
          <p:nvPr/>
        </p:nvSpPr>
        <p:spPr>
          <a:xfrm>
            <a:off x="8392000" y="2560000"/>
            <a:ext cx="318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1" name="TextBox 20"/>
          <p:cNvSpPr txBox="1"/>
          <p:nvPr/>
        </p:nvSpPr>
        <p:spPr>
          <a:xfrm>
            <a:off x="8592000" y="274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ARCHIVO</a:t>
            </a:r>
          </a:p>
          <a:p>
            <a:pPr algn="l" marL="0" indent="0">
              <a:lnSpc>
                <a:spcPct val="112000"/>
              </a:lnSpc>
              <a:spcBef>
                <a:spcPts val="0"/>
              </a:spcBef>
              <a:spcAft>
                <a:spcPts val="0"/>
              </a:spcAft>
              <a:buNone/>
            </a:pPr>
            <a:r>
              <a:rPr sz="1100" b="0" i="0">
                <a:solidFill>
                  <a:srgbClr val="F3F6FC"/>
                </a:solidFill>
                <a:latin typeface="Consolas"/>
              </a:rPr>
              <a:t>CLASE-03/LABORATORIOS/LAB-03-AVANZADO.md</a:t>
            </a:r>
          </a:p>
        </p:txBody>
      </p:sp>
      <p:sp>
        <p:nvSpPr>
          <p:cNvPr id="22" name="Rectangle 21"/>
          <p:cNvSpPr/>
          <p:nvPr/>
        </p:nvSpPr>
        <p:spPr>
          <a:xfrm>
            <a:off x="8592000" y="379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3" name="TextBox 22"/>
          <p:cNvSpPr txBox="1"/>
          <p:nvPr/>
        </p:nvSpPr>
        <p:spPr>
          <a:xfrm>
            <a:off x="8592000" y="383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DURACIÓN</a:t>
            </a:r>
          </a:p>
          <a:p>
            <a:pPr algn="l" marL="0" indent="0">
              <a:lnSpc>
                <a:spcPct val="112000"/>
              </a:lnSpc>
              <a:spcBef>
                <a:spcPts val="0"/>
              </a:spcBef>
              <a:spcAft>
                <a:spcPts val="0"/>
              </a:spcAft>
              <a:buNone/>
            </a:pPr>
            <a:r>
              <a:rPr sz="1100" b="1" i="0">
                <a:solidFill>
                  <a:srgbClr val="F3F6FC"/>
                </a:solidFill>
                <a:latin typeface="Segoe UI Semibold"/>
              </a:rPr>
              <a:t>28 min</a:t>
            </a:r>
          </a:p>
        </p:txBody>
      </p:sp>
      <p:sp>
        <p:nvSpPr>
          <p:cNvPr id="24" name="Rectangle 23"/>
          <p:cNvSpPr/>
          <p:nvPr/>
        </p:nvSpPr>
        <p:spPr>
          <a:xfrm>
            <a:off x="8592000" y="488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5" name="TextBox 24"/>
          <p:cNvSpPr txBox="1"/>
          <p:nvPr/>
        </p:nvSpPr>
        <p:spPr>
          <a:xfrm>
            <a:off x="8592000" y="492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VALIDACIÓN</a:t>
            </a:r>
          </a:p>
          <a:p>
            <a:pPr algn="l" marL="0" indent="0">
              <a:lnSpc>
                <a:spcPct val="112000"/>
              </a:lnSpc>
              <a:spcBef>
                <a:spcPts val="0"/>
              </a:spcBef>
              <a:spcAft>
                <a:spcPts val="0"/>
              </a:spcAft>
              <a:buNone/>
            </a:pPr>
            <a:r>
              <a:rPr sz="1100" b="0" i="0">
                <a:solidFill>
                  <a:srgbClr val="F3F6FC"/>
                </a:solidFill>
                <a:latin typeface="Consolas"/>
              </a:rPr>
              <a:t>k get sts,pvc</a:t>
            </a:r>
          </a:p>
        </p:txBody>
      </p:sp>
      <p:sp>
        <p:nvSpPr>
          <p:cNvPr id="26" name="Rectangle 25"/>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7" name="TextBox 26"/>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28" name="TextBox 27"/>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MENTAL MODEL</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Un PVC que no enlaza: ruta de diagnóstico</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19</a:t>
            </a:r>
          </a:p>
        </p:txBody>
      </p:sp>
      <p:pic>
        <p:nvPicPr>
          <p:cNvPr id="8" name="Picture 7" descr="pv.png"/>
          <p:cNvPicPr>
            <a:picLocks noChangeAspect="1"/>
          </p:cNvPicPr>
          <p:nvPr/>
        </p:nvPicPr>
        <p:blipFill>
          <a:blip r:embed="rId2"/>
          <a:stretch>
            <a:fillRect/>
          </a:stretch>
        </p:blipFill>
        <p:spPr>
          <a:xfrm>
            <a:off x="10932000" y="275000"/>
            <a:ext cx="640000" cy="640000"/>
          </a:xfrm>
          <a:prstGeom prst="rect">
            <a:avLst/>
          </a:prstGeom>
        </p:spPr>
      </p:pic>
      <p:sp>
        <p:nvSpPr>
          <p:cNvPr id="9" name="Rounded Rectangle 8"/>
          <p:cNvSpPr/>
          <p:nvPr/>
        </p:nvSpPr>
        <p:spPr>
          <a:xfrm>
            <a:off x="620000" y="1710000"/>
            <a:ext cx="3510666" cy="66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TextBox 9"/>
          <p:cNvSpPr txBox="1"/>
          <p:nvPr/>
        </p:nvSpPr>
        <p:spPr>
          <a:xfrm>
            <a:off x="690000" y="1710000"/>
            <a:ext cx="3370666" cy="66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PVC</a:t>
            </a:r>
          </a:p>
        </p:txBody>
      </p:sp>
      <p:cxnSp>
        <p:nvCxnSpPr>
          <p:cNvPr id="11" name="Connector 10"/>
          <p:cNvCxnSpPr/>
          <p:nvPr/>
        </p:nvCxnSpPr>
        <p:spPr>
          <a:xfrm>
            <a:off x="4154666" y="204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40666" y="1710000"/>
            <a:ext cx="3510666" cy="66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3" name="TextBox 12"/>
          <p:cNvSpPr txBox="1"/>
          <p:nvPr/>
        </p:nvSpPr>
        <p:spPr>
          <a:xfrm>
            <a:off x="4410666" y="1710000"/>
            <a:ext cx="3370666" cy="66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StorageClass</a:t>
            </a:r>
          </a:p>
        </p:txBody>
      </p:sp>
      <p:cxnSp>
        <p:nvCxnSpPr>
          <p:cNvPr id="14" name="Connector 13"/>
          <p:cNvCxnSpPr/>
          <p:nvPr/>
        </p:nvCxnSpPr>
        <p:spPr>
          <a:xfrm>
            <a:off x="7875333" y="204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061333" y="1710000"/>
            <a:ext cx="3510666" cy="66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6" name="TextBox 15"/>
          <p:cNvSpPr txBox="1"/>
          <p:nvPr/>
        </p:nvSpPr>
        <p:spPr>
          <a:xfrm>
            <a:off x="8131333" y="1710000"/>
            <a:ext cx="3370666" cy="66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PV</a:t>
            </a:r>
          </a:p>
        </p:txBody>
      </p:sp>
      <p:cxnSp>
        <p:nvCxnSpPr>
          <p:cNvPr id="17" name="Connector 16"/>
          <p:cNvCxnSpPr/>
          <p:nvPr/>
        </p:nvCxnSpPr>
        <p:spPr>
          <a:xfrm>
            <a:off x="9816666" y="2396000"/>
            <a:ext cx="0" cy="20800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20000" y="2630000"/>
            <a:ext cx="3510666" cy="66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9" name="TextBox 18"/>
          <p:cNvSpPr txBox="1"/>
          <p:nvPr/>
        </p:nvSpPr>
        <p:spPr>
          <a:xfrm>
            <a:off x="690000" y="2630000"/>
            <a:ext cx="3370666" cy="66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AccessMode</a:t>
            </a:r>
          </a:p>
        </p:txBody>
      </p:sp>
      <p:cxnSp>
        <p:nvCxnSpPr>
          <p:cNvPr id="20" name="Connector 19"/>
          <p:cNvCxnSpPr/>
          <p:nvPr/>
        </p:nvCxnSpPr>
        <p:spPr>
          <a:xfrm>
            <a:off x="4154666" y="296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0666" y="2630000"/>
            <a:ext cx="3510666" cy="66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2" name="TextBox 21"/>
          <p:cNvSpPr txBox="1"/>
          <p:nvPr/>
        </p:nvSpPr>
        <p:spPr>
          <a:xfrm>
            <a:off x="4410666" y="2630000"/>
            <a:ext cx="3370666" cy="66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Capacity</a:t>
            </a:r>
          </a:p>
        </p:txBody>
      </p:sp>
      <p:cxnSp>
        <p:nvCxnSpPr>
          <p:cNvPr id="23" name="Connector 22"/>
          <p:cNvCxnSpPr/>
          <p:nvPr/>
        </p:nvCxnSpPr>
        <p:spPr>
          <a:xfrm>
            <a:off x="7875333" y="2960000"/>
            <a:ext cx="162000" cy="0"/>
          </a:xfrm>
          <a:prstGeom prst="line">
            <a:avLst/>
          </a:prstGeom>
          <a:ln w="22225">
            <a:solidFill>
              <a:srgbClr val="74A6F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061333" y="2630000"/>
            <a:ext cx="3510666" cy="660000"/>
          </a:xfrm>
          <a:prstGeom prst="roundRect">
            <a:avLst>
              <a:gd name="adj" fmla="val 11000"/>
            </a:avLst>
          </a:prstGeom>
          <a:solidFill>
            <a:srgbClr val="141E33"/>
          </a:solidFill>
          <a:ln w="15875">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5" name="TextBox 24"/>
          <p:cNvSpPr txBox="1"/>
          <p:nvPr/>
        </p:nvSpPr>
        <p:spPr>
          <a:xfrm>
            <a:off x="8131333" y="2630000"/>
            <a:ext cx="3370666" cy="660000"/>
          </a:xfrm>
          <a:prstGeom prst="rect">
            <a:avLst/>
          </a:prstGeom>
          <a:noFill/>
        </p:spPr>
        <p:txBody>
          <a:bodyPr wrap="square" anchor="ctr" lIns="0" rIns="0" tIns="0" bIns="0">
            <a:noAutofit/>
          </a:bodyPr>
          <a:lstStyle/>
          <a:p>
            <a:pPr algn="ctr" marL="0" indent="0">
              <a:lnSpc>
                <a:spcPct val="112000"/>
              </a:lnSpc>
              <a:spcBef>
                <a:spcPts val="0"/>
              </a:spcBef>
              <a:spcAft>
                <a:spcPts val="0"/>
              </a:spcAft>
              <a:buNone/>
            </a:pPr>
            <a:r>
              <a:rPr sz="1100" b="1" i="0">
                <a:solidFill>
                  <a:srgbClr val="F3F6FC"/>
                </a:solidFill>
                <a:latin typeface="Segoe UI Semibold"/>
              </a:rPr>
              <a:t>Pod</a:t>
            </a:r>
          </a:p>
        </p:txBody>
      </p:sp>
      <p:sp>
        <p:nvSpPr>
          <p:cNvPr id="26" name="Rounded Rectangle 25"/>
          <p:cNvSpPr/>
          <p:nvPr/>
        </p:nvSpPr>
        <p:spPr>
          <a:xfrm>
            <a:off x="620000" y="3650000"/>
            <a:ext cx="10952000" cy="2320000"/>
          </a:xfrm>
          <a:prstGeom prst="roundRect">
            <a:avLst>
              <a:gd name="adj" fmla="val 6000"/>
            </a:avLst>
          </a:prstGeom>
          <a:solidFill>
            <a:srgbClr val="111A2C"/>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7" name="Rectangle 26"/>
          <p:cNvSpPr/>
          <p:nvPr/>
        </p:nvSpPr>
        <p:spPr>
          <a:xfrm>
            <a:off x="650000" y="3674000"/>
            <a:ext cx="40000" cy="2272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8" name="TextBox 27"/>
          <p:cNvSpPr txBox="1"/>
          <p:nvPr/>
        </p:nvSpPr>
        <p:spPr>
          <a:xfrm>
            <a:off x="880000" y="3890000"/>
            <a:ext cx="10432000" cy="1920000"/>
          </a:xfrm>
          <a:prstGeom prst="rect">
            <a:avLst/>
          </a:prstGeom>
          <a:noFill/>
        </p:spPr>
        <p:txBody>
          <a:bodyPr wrap="square" anchor="t" lIns="0" rIns="0" tIns="0" bIns="0">
            <a:noAutofit/>
          </a:bodyPr>
          <a:lstStyle/>
          <a:p>
            <a:pPr algn="l" marL="0" indent="0">
              <a:lnSpc>
                <a:spcPct val="100000"/>
              </a:lnSpc>
              <a:spcBef>
                <a:spcPts val="0"/>
              </a:spcBef>
              <a:spcAft>
                <a:spcPts val="1200"/>
              </a:spcAft>
              <a:buNone/>
            </a:pPr>
            <a:r>
              <a:rPr sz="1000" b="1" i="0" spc="180">
                <a:solidFill>
                  <a:srgbClr val="74A6FF"/>
                </a:solidFill>
                <a:latin typeface="Segoe UI Semibold"/>
              </a:rPr>
              <a:t>PREGUNTA EN CADA ESCALÓN</a:t>
            </a:r>
          </a:p>
          <a:p>
            <a:pPr algn="l" marL="182880" indent="-182880">
              <a:lnSpc>
                <a:spcPct val="120000"/>
              </a:lnSpc>
              <a:spcBef>
                <a:spcPts val="0"/>
              </a:spcBef>
              <a:spcAft>
                <a:spcPts val="700"/>
              </a:spcAft>
              <a:buFont typeface="Arial"/>
              <a:buChar char="•"/>
            </a:pPr>
            <a:r>
              <a:rPr sz="1100" b="0" i="0">
                <a:solidFill>
                  <a:srgbClr val="BDC9DB"/>
                </a:solidFill>
                <a:latin typeface="Segoe UI"/>
              </a:rPr>
              <a:t>¿Coinciden los storageClassName? ¿Existe esa clase? ¿Hay una clase por defecto interfiriendo?</a:t>
            </a:r>
          </a:p>
          <a:p>
            <a:pPr algn="l" marL="182880" indent="-182880">
              <a:lnSpc>
                <a:spcPct val="120000"/>
              </a:lnSpc>
              <a:spcBef>
                <a:spcPts val="0"/>
              </a:spcBef>
              <a:spcAft>
                <a:spcPts val="700"/>
              </a:spcAft>
              <a:buFont typeface="Arial"/>
              <a:buChar char="•"/>
            </a:pPr>
            <a:r>
              <a:rPr sz="1100" b="0" i="0">
                <a:solidFill>
                  <a:srgbClr val="BDC9DB"/>
                </a:solidFill>
                <a:latin typeface="Segoe UI"/>
              </a:rPr>
              <a:t>¿Hay algún PV disponible? ¿En qué Phase está: Available, Bound o Released?</a:t>
            </a:r>
          </a:p>
          <a:p>
            <a:pPr algn="l" marL="182880" indent="-182880">
              <a:lnSpc>
                <a:spcPct val="120000"/>
              </a:lnSpc>
              <a:spcBef>
                <a:spcPts val="0"/>
              </a:spcBef>
              <a:spcAft>
                <a:spcPts val="700"/>
              </a:spcAft>
              <a:buFont typeface="Arial"/>
              <a:buChar char="•"/>
            </a:pPr>
            <a:r>
              <a:rPr sz="1100" b="0" i="0">
                <a:solidFill>
                  <a:srgbClr val="BDC9DB"/>
                </a:solidFill>
                <a:latin typeface="Segoe UI"/>
              </a:rPr>
              <a:t>¿El PVC pide un modo que ningún PV ofrece?</a:t>
            </a:r>
          </a:p>
          <a:p>
            <a:pPr algn="l" marL="182880" indent="-182880">
              <a:lnSpc>
                <a:spcPct val="120000"/>
              </a:lnSpc>
              <a:spcBef>
                <a:spcPts val="0"/>
              </a:spcBef>
              <a:spcAft>
                <a:spcPts val="700"/>
              </a:spcAft>
              <a:buFont typeface="Arial"/>
              <a:buChar char="•"/>
            </a:pPr>
            <a:r>
              <a:rPr sz="1100" b="0" i="0">
                <a:solidFill>
                  <a:srgbClr val="BDC9DB"/>
                </a:solidFill>
                <a:latin typeface="Segoe UI"/>
              </a:rPr>
              <a:t>¿El PV es al menos tan grande como lo solicitado?</a:t>
            </a:r>
          </a:p>
          <a:p>
            <a:pPr algn="l" marL="182880" indent="-182880">
              <a:lnSpc>
                <a:spcPct val="120000"/>
              </a:lnSpc>
              <a:spcBef>
                <a:spcPts val="0"/>
              </a:spcBef>
              <a:spcAft>
                <a:spcPts val="700"/>
              </a:spcAft>
              <a:buFont typeface="Arial"/>
              <a:buChar char="•"/>
            </a:pPr>
            <a:r>
              <a:rPr sz="1100" b="0" i="0">
                <a:solidFill>
                  <a:srgbClr val="BDC9DB"/>
                </a:solidFill>
                <a:latin typeface="Segoe UI"/>
              </a:rPr>
              <a:t>¿El claimName del Pod coincide con el PVC real?</a:t>
            </a:r>
          </a:p>
          <a:p>
            <a:pPr algn="l" marL="182880" indent="-182880">
              <a:lnSpc>
                <a:spcPct val="120000"/>
              </a:lnSpc>
              <a:spcBef>
                <a:spcPts val="0"/>
              </a:spcBef>
              <a:spcAft>
                <a:spcPts val="700"/>
              </a:spcAft>
              <a:buFont typeface="Arial"/>
              <a:buChar char="•"/>
            </a:pPr>
            <a:r>
              <a:rPr sz="1100" b="0" i="0">
                <a:solidFill>
                  <a:srgbClr val="BDC9DB"/>
                </a:solidFill>
                <a:latin typeface="Segoe UI"/>
              </a:rPr>
              <a:t>Y siempre: k describe pvc &lt;pvc&gt; | sed -n '/Events/,$p'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9992000" y="-1500000"/>
            <a:ext cx="3400000" cy="34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00" y="470000"/>
            <a:ext cx="4604000" cy="360000"/>
          </a:xfrm>
          <a:prstGeom prst="roundRect">
            <a:avLst>
              <a:gd name="adj" fmla="val 50000"/>
            </a:avLst>
          </a:prstGeom>
          <a:noFill/>
          <a:ln w="12700">
            <a:solidFill>
              <a:srgbClr val="F8514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000" b="1" i="0" spc="140">
                <a:solidFill>
                  <a:srgbClr val="FF7B72"/>
                </a:solidFill>
                <a:latin typeface="Segoe UI"/>
              </a:rPr>
              <a:t>Challenge — el escenario arranca roto</a:t>
            </a:r>
          </a:p>
        </p:txBody>
      </p:sp>
      <p:sp>
        <p:nvSpPr>
          <p:cNvPr id="4" name="TextBox 3"/>
          <p:cNvSpPr txBox="1"/>
          <p:nvPr/>
        </p:nvSpPr>
        <p:spPr>
          <a:xfrm>
            <a:off x="640000" y="990000"/>
            <a:ext cx="10912000" cy="760000"/>
          </a:xfrm>
          <a:prstGeom prst="rect">
            <a:avLst/>
          </a:prstGeom>
          <a:noFill/>
        </p:spPr>
        <p:txBody>
          <a:bodyPr wrap="square" anchor="t" lIns="0" rIns="0" tIns="0" bIns="0">
            <a:noAutofit/>
          </a:bodyPr>
          <a:lstStyle/>
          <a:p>
            <a:pPr algn="l" marL="0" indent="0">
              <a:lnSpc>
                <a:spcPct val="106000"/>
              </a:lnSpc>
              <a:spcBef>
                <a:spcPts val="0"/>
              </a:spcBef>
              <a:spcAft>
                <a:spcPts val="0"/>
              </a:spcAft>
              <a:buNone/>
            </a:pPr>
            <a:r>
              <a:rPr sz="3100" b="0" i="0">
                <a:solidFill>
                  <a:srgbClr val="F3F6FC"/>
                </a:solidFill>
                <a:latin typeface="Segoe UI Light"/>
              </a:rPr>
              <a:t>LAB 3.4 — Challenge: el PVC que nunca enlaza</a:t>
            </a:r>
          </a:p>
        </p:txBody>
      </p:sp>
      <p:sp>
        <p:nvSpPr>
          <p:cNvPr id="5" name="TextBox 4"/>
          <p:cNvSpPr txBox="1"/>
          <p:nvPr/>
        </p:nvSpPr>
        <p:spPr>
          <a:xfrm>
            <a:off x="640000" y="1800000"/>
            <a:ext cx="7452000" cy="640000"/>
          </a:xfrm>
          <a:prstGeom prst="rect">
            <a:avLst/>
          </a:prstGeom>
          <a:noFill/>
        </p:spPr>
        <p:txBody>
          <a:bodyPr wrap="square" anchor="t" lIns="0" rIns="0" tIns="0" bIns="0">
            <a:noAutofit/>
          </a:bodyPr>
          <a:lstStyle/>
          <a:p>
            <a:pPr algn="l" marL="0" indent="0">
              <a:lnSpc>
                <a:spcPct val="120000"/>
              </a:lnSpc>
              <a:spcBef>
                <a:spcPts val="0"/>
              </a:spcBef>
              <a:spcAft>
                <a:spcPts val="0"/>
              </a:spcAft>
              <a:buNone/>
            </a:pPr>
            <a:r>
              <a:rPr sz="1300" b="0" i="1">
                <a:solidFill>
                  <a:srgbClr val="BDC9DB"/>
                </a:solidFill>
                <a:latin typeface="Segoe UI"/>
              </a:rPr>
              <a:t>Cuatro fallos: tres impiden el binding y el cuarto impide que el Pod arranque aunque el PVC ya esté Bound.</a:t>
            </a:r>
          </a:p>
        </p:txBody>
      </p:sp>
      <p:sp>
        <p:nvSpPr>
          <p:cNvPr id="6" name="Oval 5"/>
          <p:cNvSpPr/>
          <p:nvPr/>
        </p:nvSpPr>
        <p:spPr>
          <a:xfrm>
            <a:off x="640000" y="2690000"/>
            <a:ext cx="300000" cy="300000"/>
          </a:xfrm>
          <a:prstGeom prst="ellipse">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1</a:t>
            </a:r>
          </a:p>
        </p:txBody>
      </p:sp>
      <p:sp>
        <p:nvSpPr>
          <p:cNvPr id="7" name="TextBox 6"/>
          <p:cNvSpPr txBox="1"/>
          <p:nvPr/>
        </p:nvSpPr>
        <p:spPr>
          <a:xfrm>
            <a:off x="1110000" y="256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Prepara el escenario: RECURSOS/SCRIPTS/setup-lab.sh</a:t>
            </a:r>
          </a:p>
        </p:txBody>
      </p:sp>
      <p:sp>
        <p:nvSpPr>
          <p:cNvPr id="8" name="Oval 7"/>
          <p:cNvSpPr/>
          <p:nvPr/>
        </p:nvSpPr>
        <p:spPr>
          <a:xfrm>
            <a:off x="640000" y="3250000"/>
            <a:ext cx="300000" cy="300000"/>
          </a:xfrm>
          <a:prstGeom prst="ellipse">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2</a:t>
            </a:r>
          </a:p>
        </p:txBody>
      </p:sp>
      <p:sp>
        <p:nvSpPr>
          <p:cNvPr id="9" name="TextBox 8"/>
          <p:cNvSpPr txBox="1"/>
          <p:nvPr/>
        </p:nvSpPr>
        <p:spPr>
          <a:xfrm>
            <a:off x="1110000" y="312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Hay PV distractores: aprende a descartar candidatos.</a:t>
            </a:r>
          </a:p>
        </p:txBody>
      </p:sp>
      <p:sp>
        <p:nvSpPr>
          <p:cNvPr id="10" name="Oval 9"/>
          <p:cNvSpPr/>
          <p:nvPr/>
        </p:nvSpPr>
        <p:spPr>
          <a:xfrm>
            <a:off x="640000" y="3810000"/>
            <a:ext cx="300000" cy="300000"/>
          </a:xfrm>
          <a:prstGeom prst="ellipse">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3</a:t>
            </a:r>
          </a:p>
        </p:txBody>
      </p:sp>
      <p:sp>
        <p:nvSpPr>
          <p:cNvPr id="11" name="TextBox 10"/>
          <p:cNvSpPr txBox="1"/>
          <p:nvPr/>
        </p:nvSpPr>
        <p:spPr>
          <a:xfrm>
            <a:off x="1110000" y="368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Prohibido eliminar PersistentVolumes y prohibido crear una StorageClass por defecto.</a:t>
            </a:r>
          </a:p>
        </p:txBody>
      </p:sp>
      <p:sp>
        <p:nvSpPr>
          <p:cNvPr id="12" name="Oval 11"/>
          <p:cNvSpPr/>
          <p:nvPr/>
        </p:nvSpPr>
        <p:spPr>
          <a:xfrm>
            <a:off x="640000" y="4370000"/>
            <a:ext cx="300000" cy="300000"/>
          </a:xfrm>
          <a:prstGeom prst="ellipse">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200" b="1" i="0">
                <a:solidFill>
                  <a:srgbClr val="F3F6FC"/>
                </a:solidFill>
                <a:latin typeface="Segoe UI Semibold"/>
              </a:rPr>
              <a:t>4</a:t>
            </a:r>
          </a:p>
        </p:txBody>
      </p:sp>
      <p:sp>
        <p:nvSpPr>
          <p:cNvPr id="13" name="TextBox 12"/>
          <p:cNvSpPr txBox="1"/>
          <p:nvPr/>
        </p:nvSpPr>
        <p:spPr>
          <a:xfrm>
            <a:off x="1110000" y="4240000"/>
            <a:ext cx="6982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100" b="0" i="0">
                <a:solidFill>
                  <a:srgbClr val="BDC9DB"/>
                </a:solidFill>
                <a:latin typeface="Segoe UI"/>
              </a:rPr>
              <a:t>Objetivo: PVC Bound, Deployment 1/1 y /data escribible.</a:t>
            </a:r>
          </a:p>
        </p:txBody>
      </p:sp>
      <p:sp>
        <p:nvSpPr>
          <p:cNvPr id="14" name="Oval 13"/>
          <p:cNvSpPr/>
          <p:nvPr/>
        </p:nvSpPr>
        <p:spPr>
          <a:xfrm>
            <a:off x="9825200" y="1497200"/>
            <a:ext cx="313600" cy="313600"/>
          </a:xfrm>
          <a:prstGeom prst="ellipse">
            <a:avLst/>
          </a:prstGeom>
          <a:noFill/>
          <a:ln w="33020">
            <a:solidFill>
              <a:srgbClr val="FF7B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766400" y="1752000"/>
            <a:ext cx="431200" cy="490000"/>
          </a:xfrm>
          <a:prstGeom prst="ellipse">
            <a:avLst/>
          </a:prstGeom>
          <a:noFill/>
          <a:ln w="33020">
            <a:solidFill>
              <a:srgbClr val="FF7B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flipH="1" flipV="1">
            <a:off x="9550800" y="1791200"/>
            <a:ext cx="235200" cy="58800"/>
          </a:xfrm>
          <a:prstGeom prst="line">
            <a:avLst/>
          </a:prstGeom>
          <a:ln w="33020">
            <a:solidFill>
              <a:srgbClr val="FF7B72"/>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0178000" y="1791200"/>
            <a:ext cx="235200" cy="58800"/>
          </a:xfrm>
          <a:prstGeom prst="line">
            <a:avLst/>
          </a:prstGeom>
          <a:ln w="33020">
            <a:solidFill>
              <a:srgbClr val="FF7B72"/>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flipV="1">
            <a:off x="9550800" y="1948000"/>
            <a:ext cx="235200" cy="58800"/>
          </a:xfrm>
          <a:prstGeom prst="line">
            <a:avLst/>
          </a:prstGeom>
          <a:ln w="33020">
            <a:solidFill>
              <a:srgbClr val="FF7B72"/>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178000" y="1948000"/>
            <a:ext cx="235200" cy="58800"/>
          </a:xfrm>
          <a:prstGeom prst="line">
            <a:avLst/>
          </a:prstGeom>
          <a:ln w="33020">
            <a:solidFill>
              <a:srgbClr val="FF7B72"/>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9550800" y="2104800"/>
            <a:ext cx="235200" cy="58800"/>
          </a:xfrm>
          <a:prstGeom prst="line">
            <a:avLst/>
          </a:prstGeom>
          <a:ln w="33020">
            <a:solidFill>
              <a:srgbClr val="FF7B72"/>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178000" y="2104800"/>
            <a:ext cx="235200" cy="58800"/>
          </a:xfrm>
          <a:prstGeom prst="line">
            <a:avLst/>
          </a:prstGeom>
          <a:ln w="33020">
            <a:solidFill>
              <a:srgbClr val="FF7B72"/>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392000" y="2560000"/>
            <a:ext cx="3180000" cy="3510000"/>
          </a:xfrm>
          <a:prstGeom prst="roundRect">
            <a:avLst>
              <a:gd name="adj" fmla="val 6000"/>
            </a:avLst>
          </a:prstGeom>
          <a:solidFill>
            <a:srgbClr val="141E33"/>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3" name="Rectangle 22"/>
          <p:cNvSpPr/>
          <p:nvPr/>
        </p:nvSpPr>
        <p:spPr>
          <a:xfrm>
            <a:off x="8392000" y="2560000"/>
            <a:ext cx="3180000" cy="46000"/>
          </a:xfrm>
          <a:prstGeom prst="rect">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4" name="TextBox 23"/>
          <p:cNvSpPr txBox="1"/>
          <p:nvPr/>
        </p:nvSpPr>
        <p:spPr>
          <a:xfrm>
            <a:off x="8592000" y="274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ARCHIVO</a:t>
            </a:r>
          </a:p>
          <a:p>
            <a:pPr algn="l" marL="0" indent="0">
              <a:lnSpc>
                <a:spcPct val="112000"/>
              </a:lnSpc>
              <a:spcBef>
                <a:spcPts val="0"/>
              </a:spcBef>
              <a:spcAft>
                <a:spcPts val="0"/>
              </a:spcAft>
              <a:buNone/>
            </a:pPr>
            <a:r>
              <a:rPr sz="1100" b="0" i="0">
                <a:solidFill>
                  <a:srgbClr val="F3F6FC"/>
                </a:solidFill>
                <a:latin typeface="Consolas"/>
              </a:rPr>
              <a:t>CLASE-03/LABORATORIOS/LAB-04-CHALLENGE.md</a:t>
            </a:r>
          </a:p>
        </p:txBody>
      </p:sp>
      <p:sp>
        <p:nvSpPr>
          <p:cNvPr id="25" name="Rectangle 24"/>
          <p:cNvSpPr/>
          <p:nvPr/>
        </p:nvSpPr>
        <p:spPr>
          <a:xfrm>
            <a:off x="8592000" y="379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6" name="TextBox 25"/>
          <p:cNvSpPr txBox="1"/>
          <p:nvPr/>
        </p:nvSpPr>
        <p:spPr>
          <a:xfrm>
            <a:off x="8592000" y="383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DURACIÓN</a:t>
            </a:r>
          </a:p>
          <a:p>
            <a:pPr algn="l" marL="0" indent="0">
              <a:lnSpc>
                <a:spcPct val="112000"/>
              </a:lnSpc>
              <a:spcBef>
                <a:spcPts val="0"/>
              </a:spcBef>
              <a:spcAft>
                <a:spcPts val="0"/>
              </a:spcAft>
              <a:buNone/>
            </a:pPr>
            <a:r>
              <a:rPr sz="1100" b="1" i="0">
                <a:solidFill>
                  <a:srgbClr val="F3F6FC"/>
                </a:solidFill>
                <a:latin typeface="Segoe UI Semibold"/>
              </a:rPr>
              <a:t>20 min</a:t>
            </a:r>
          </a:p>
        </p:txBody>
      </p:sp>
      <p:sp>
        <p:nvSpPr>
          <p:cNvPr id="27" name="Rectangle 26"/>
          <p:cNvSpPr/>
          <p:nvPr/>
        </p:nvSpPr>
        <p:spPr>
          <a:xfrm>
            <a:off x="8592000" y="4880000"/>
            <a:ext cx="2780000" cy="8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28" name="TextBox 27"/>
          <p:cNvSpPr txBox="1"/>
          <p:nvPr/>
        </p:nvSpPr>
        <p:spPr>
          <a:xfrm>
            <a:off x="8592000" y="4920000"/>
            <a:ext cx="2780000" cy="1030000"/>
          </a:xfrm>
          <a:prstGeom prst="rect">
            <a:avLst/>
          </a:prstGeom>
          <a:noFill/>
        </p:spPr>
        <p:txBody>
          <a:bodyPr wrap="square" anchor="t" lIns="0" rIns="0" tIns="0" bIns="0">
            <a:noAutofit/>
          </a:bodyPr>
          <a:lstStyle/>
          <a:p>
            <a:pPr algn="l" marL="0" indent="0">
              <a:lnSpc>
                <a:spcPct val="100000"/>
              </a:lnSpc>
              <a:spcBef>
                <a:spcPts val="0"/>
              </a:spcBef>
              <a:spcAft>
                <a:spcPts val="500"/>
              </a:spcAft>
              <a:buNone/>
            </a:pPr>
            <a:r>
              <a:rPr sz="900" b="1" i="0" spc="180">
                <a:solidFill>
                  <a:srgbClr val="8493AD"/>
                </a:solidFill>
                <a:latin typeface="Segoe UI Semibold"/>
              </a:rPr>
              <a:t>VALIDACIÓN</a:t>
            </a:r>
          </a:p>
          <a:p>
            <a:pPr algn="l" marL="0" indent="0">
              <a:lnSpc>
                <a:spcPct val="112000"/>
              </a:lnSpc>
              <a:spcBef>
                <a:spcPts val="0"/>
              </a:spcBef>
              <a:spcAft>
                <a:spcPts val="0"/>
              </a:spcAft>
              <a:buNone/>
            </a:pPr>
            <a:r>
              <a:rPr sz="1100" b="0" i="0">
                <a:solidFill>
                  <a:srgbClr val="F3F6FC"/>
                </a:solidFill>
                <a:latin typeface="Consolas"/>
              </a:rPr>
              <a:t>./validate-lab.sh</a:t>
            </a:r>
          </a:p>
        </p:txBody>
      </p:sp>
      <p:sp>
        <p:nvSpPr>
          <p:cNvPr id="29" name="Rectangle 28"/>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30" name="TextBox 29"/>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31" name="TextBox 30"/>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F0C96B"/>
                </a:solidFill>
                <a:latin typeface="Segoe UI Semibold"/>
              </a:rPr>
              <a:t>CKA TIP</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Los comandos que resuelven el 90 % del storage</a:t>
            </a:r>
          </a:p>
        </p:txBody>
      </p:sp>
      <p:sp>
        <p:nvSpPr>
          <p:cNvPr id="4" name="Rectangle 3"/>
          <p:cNvSpPr/>
          <p:nvPr/>
        </p:nvSpPr>
        <p:spPr>
          <a:xfrm>
            <a:off x="620000" y="1230000"/>
            <a:ext cx="560000" cy="46000"/>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21</a:t>
            </a:r>
          </a:p>
        </p:txBody>
      </p:sp>
      <p:pic>
        <p:nvPicPr>
          <p:cNvPr id="8" name="Picture 7" descr="pv.png"/>
          <p:cNvPicPr>
            <a:picLocks noChangeAspect="1"/>
          </p:cNvPicPr>
          <p:nvPr/>
        </p:nvPicPr>
        <p:blipFill>
          <a:blip r:embed="rId2"/>
          <a:stretch>
            <a:fillRect/>
          </a:stretch>
        </p:blipFill>
        <p:spPr>
          <a:xfrm>
            <a:off x="10932000" y="275000"/>
            <a:ext cx="640000" cy="640000"/>
          </a:xfrm>
          <a:prstGeom prst="rect">
            <a:avLst/>
          </a:prstGeom>
        </p:spPr>
      </p:pic>
      <p:sp>
        <p:nvSpPr>
          <p:cNvPr id="9" name="TextBox 8"/>
          <p:cNvSpPr txBox="1"/>
          <p:nvPr/>
        </p:nvSpPr>
        <p:spPr>
          <a:xfrm>
            <a:off x="620000" y="1470000"/>
            <a:ext cx="10952000" cy="520000"/>
          </a:xfrm>
          <a:prstGeom prst="rect">
            <a:avLst/>
          </a:prstGeom>
          <a:noFill/>
        </p:spPr>
        <p:txBody>
          <a:bodyPr wrap="square" anchor="t" lIns="0" rIns="0" tIns="0" bIns="0">
            <a:noAutofit/>
          </a:bodyPr>
          <a:lstStyle/>
          <a:p>
            <a:pPr algn="l" marL="0" indent="0">
              <a:lnSpc>
                <a:spcPct val="116000"/>
              </a:lnSpc>
              <a:spcBef>
                <a:spcPts val="0"/>
              </a:spcBef>
              <a:spcAft>
                <a:spcPts val="0"/>
              </a:spcAft>
              <a:buNone/>
            </a:pPr>
            <a:r>
              <a:rPr sz="1300" b="0" i="1">
                <a:solidFill>
                  <a:srgbClr val="BDC9DB"/>
                </a:solidFill>
                <a:latin typeface="Segoe UI"/>
              </a:rPr>
              <a:t>Una tabla de PV comparada con una de PVC responde casi cualquier pregunta de almacenamiento en menos de un minuto.</a:t>
            </a:r>
          </a:p>
        </p:txBody>
      </p:sp>
      <p:sp>
        <p:nvSpPr>
          <p:cNvPr id="10" name="Rounded Rectangle 9"/>
          <p:cNvSpPr/>
          <p:nvPr/>
        </p:nvSpPr>
        <p:spPr>
          <a:xfrm>
            <a:off x="620000" y="2410000"/>
            <a:ext cx="10952000" cy="1420000"/>
          </a:xfrm>
          <a:prstGeom prst="roundRect">
            <a:avLst>
              <a:gd name="adj" fmla="val 5000"/>
            </a:avLst>
          </a:prstGeom>
          <a:solidFill>
            <a:srgbClr val="0A1120"/>
          </a:solidFill>
          <a:ln w="12700">
            <a:solidFill>
              <a:srgbClr val="26354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1" name="Rectangle 10"/>
          <p:cNvSpPr/>
          <p:nvPr/>
        </p:nvSpPr>
        <p:spPr>
          <a:xfrm>
            <a:off x="620000" y="2410000"/>
            <a:ext cx="46000" cy="1420000"/>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2" name="TextBox 11"/>
          <p:cNvSpPr txBox="1"/>
          <p:nvPr/>
        </p:nvSpPr>
        <p:spPr>
          <a:xfrm>
            <a:off x="890000" y="2560000"/>
            <a:ext cx="10412000" cy="1160000"/>
          </a:xfrm>
          <a:prstGeom prst="rect">
            <a:avLst/>
          </a:prstGeom>
          <a:noFill/>
        </p:spPr>
        <p:txBody>
          <a:bodyPr wrap="square" anchor="t" lIns="0" rIns="0" tIns="0" bIns="0">
            <a:noAutofit/>
          </a:bodyPr>
          <a:lstStyle/>
          <a:p>
            <a:pPr marL="0" indent="0">
              <a:lnSpc>
                <a:spcPct val="134000"/>
              </a:lnSpc>
              <a:spcAft>
                <a:spcPts val="0"/>
              </a:spcAft>
              <a:buNone/>
            </a:pPr>
            <a:r>
              <a:rPr sz="1100" b="0" i="0">
                <a:solidFill>
                  <a:srgbClr val="E6EDF3"/>
                </a:solidFill>
                <a:latin typeface="Consolas"/>
              </a:rPr>
              <a:t>k get pv -o custom-columns=NAME:.metadata.name,CAP:.spec.capacity.storage,\</a:t>
            </a:r>
          </a:p>
          <a:p>
            <a:pPr marL="0" indent="0">
              <a:lnSpc>
                <a:spcPct val="134000"/>
              </a:lnSpc>
              <a:spcAft>
                <a:spcPts val="0"/>
              </a:spcAft>
              <a:buNone/>
            </a:pPr>
            <a:r>
              <a:rPr sz="1100" b="0" i="0">
                <a:solidFill>
                  <a:srgbClr val="E6EDF3"/>
                </a:solidFill>
                <a:latin typeface="Consolas"/>
              </a:rPr>
              <a:t>MODES:.spec.accessModes,SC:.spec.storageClassName,PHASE:.status.phase</a:t>
            </a:r>
          </a:p>
          <a:p>
            <a:pPr marL="0" indent="0">
              <a:lnSpc>
                <a:spcPct val="134000"/>
              </a:lnSpc>
              <a:spcAft>
                <a:spcPts val="0"/>
              </a:spcAft>
              <a:buNone/>
            </a:pPr>
            <a:r>
              <a:rPr sz="1100" b="0" i="0">
                <a:solidFill>
                  <a:srgbClr val="E6EDF3"/>
                </a:solidFill>
                <a:latin typeface="Consolas"/>
              </a:rPr>
              <a:t/>
            </a:r>
          </a:p>
          <a:p>
            <a:pPr marL="0" indent="0">
              <a:lnSpc>
                <a:spcPct val="134000"/>
              </a:lnSpc>
              <a:spcAft>
                <a:spcPts val="0"/>
              </a:spcAft>
              <a:buNone/>
            </a:pPr>
            <a:r>
              <a:rPr sz="1100" b="0" i="0">
                <a:solidFill>
                  <a:srgbClr val="E6EDF3"/>
                </a:solidFill>
                <a:latin typeface="Consolas"/>
              </a:rPr>
              <a:t>k describe pvc &lt;pvc&gt; | sed -n '/Events/,$p'</a:t>
            </a:r>
          </a:p>
          <a:p>
            <a:pPr marL="0" indent="0">
              <a:lnSpc>
                <a:spcPct val="134000"/>
              </a:lnSpc>
              <a:spcAft>
                <a:spcPts val="0"/>
              </a:spcAft>
              <a:buNone/>
            </a:pPr>
            <a:r>
              <a:rPr sz="1100" b="0" i="0">
                <a:solidFill>
                  <a:srgbClr val="E6EDF3"/>
                </a:solidFill>
                <a:latin typeface="Consolas"/>
              </a:rPr>
              <a:t>k patch pv &lt;pv&gt; --type=json -p='[{"op":"remove","path":"/spec/claimRef"}]'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20000" y="300000"/>
            <a:ext cx="10952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CHECKLIST</a:t>
            </a:r>
          </a:p>
        </p:txBody>
      </p:sp>
      <p:sp>
        <p:nvSpPr>
          <p:cNvPr id="3" name="TextBox 2"/>
          <p:cNvSpPr txBox="1"/>
          <p:nvPr/>
        </p:nvSpPr>
        <p:spPr>
          <a:xfrm>
            <a:off x="620000" y="560000"/>
            <a:ext cx="10052000" cy="620000"/>
          </a:xfrm>
          <a:prstGeom prst="rect">
            <a:avLst/>
          </a:prstGeom>
          <a:noFill/>
        </p:spPr>
        <p:txBody>
          <a:bodyPr wrap="square" anchor="t" lIns="0" rIns="0" tIns="0" bIns="0">
            <a:noAutofit/>
          </a:bodyPr>
          <a:lstStyle/>
          <a:p>
            <a:pPr algn="l" marL="0" indent="0">
              <a:lnSpc>
                <a:spcPct val="105000"/>
              </a:lnSpc>
              <a:spcBef>
                <a:spcPts val="0"/>
              </a:spcBef>
              <a:spcAft>
                <a:spcPts val="0"/>
              </a:spcAft>
              <a:buNone/>
            </a:pPr>
            <a:r>
              <a:rPr sz="3000" b="0" i="0">
                <a:solidFill>
                  <a:srgbClr val="F3F6FC"/>
                </a:solidFill>
                <a:latin typeface="Segoe UI Light"/>
              </a:rPr>
              <a:t>Comprueba que puedes hacer esto sin apuntes</a:t>
            </a:r>
          </a:p>
        </p:txBody>
      </p:sp>
      <p:sp>
        <p:nvSpPr>
          <p:cNvPr id="4" name="Rectangle 3"/>
          <p:cNvSpPr/>
          <p:nvPr/>
        </p:nvSpPr>
        <p:spPr>
          <a:xfrm>
            <a:off x="620000" y="1230000"/>
            <a:ext cx="56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5" name="Rectangle 4"/>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6" name="TextBox 5"/>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7" name="TextBox 6"/>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22</a:t>
            </a:r>
          </a:p>
        </p:txBody>
      </p:sp>
      <p:sp>
        <p:nvSpPr>
          <p:cNvPr id="8" name="Rounded Rectangle 7"/>
          <p:cNvSpPr/>
          <p:nvPr/>
        </p:nvSpPr>
        <p:spPr>
          <a:xfrm>
            <a:off x="10996000" y="339000"/>
            <a:ext cx="512000" cy="512000"/>
          </a:xfrm>
          <a:prstGeom prst="roundRect">
            <a:avLst>
              <a:gd name="adj" fmla="val 20000"/>
            </a:avLst>
          </a:prstGeom>
          <a:noFill/>
          <a:ln w="38100">
            <a:solidFill>
              <a:srgbClr val="74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11124000" y="607800"/>
            <a:ext cx="89600" cy="102400"/>
          </a:xfrm>
          <a:prstGeom prst="line">
            <a:avLst/>
          </a:prstGeom>
          <a:ln w="49530">
            <a:solidFill>
              <a:srgbClr val="74A6FF"/>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213600" y="479800"/>
            <a:ext cx="179200" cy="230400"/>
          </a:xfrm>
          <a:prstGeom prst="line">
            <a:avLst/>
          </a:prstGeom>
          <a:ln w="49530">
            <a:solidFill>
              <a:srgbClr val="74A6FF"/>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20000" y="262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12" name="TextBox 11"/>
          <p:cNvSpPr txBox="1"/>
          <p:nvPr/>
        </p:nvSpPr>
        <p:spPr>
          <a:xfrm>
            <a:off x="1120000" y="249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Explico Deployment → ReplicaSet → Pod con ownerReferences.</a:t>
            </a:r>
          </a:p>
        </p:txBody>
      </p:sp>
      <p:sp>
        <p:nvSpPr>
          <p:cNvPr id="13" name="Rounded Rectangle 12"/>
          <p:cNvSpPr/>
          <p:nvPr/>
        </p:nvSpPr>
        <p:spPr>
          <a:xfrm>
            <a:off x="620000" y="318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14" name="TextBox 13"/>
          <p:cNvSpPr txBox="1"/>
          <p:nvPr/>
        </p:nvSpPr>
        <p:spPr>
          <a:xfrm>
            <a:off x="1120000" y="305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Demuestro el self-healing borrando un Pod.</a:t>
            </a:r>
          </a:p>
        </p:txBody>
      </p:sp>
      <p:sp>
        <p:nvSpPr>
          <p:cNvPr id="15" name="Rounded Rectangle 14"/>
          <p:cNvSpPr/>
          <p:nvPr/>
        </p:nvSpPr>
        <p:spPr>
          <a:xfrm>
            <a:off x="620000" y="374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16" name="TextBox 15"/>
          <p:cNvSpPr txBox="1"/>
          <p:nvPr/>
        </p:nvSpPr>
        <p:spPr>
          <a:xfrm>
            <a:off x="1120000" y="361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Comparto un directorio entre dos contenedores del mismo Pod.</a:t>
            </a:r>
          </a:p>
        </p:txBody>
      </p:sp>
      <p:sp>
        <p:nvSpPr>
          <p:cNvPr id="17" name="Rounded Rectangle 16"/>
          <p:cNvSpPr/>
          <p:nvPr/>
        </p:nvSpPr>
        <p:spPr>
          <a:xfrm>
            <a:off x="620000" y="430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18" name="TextBox 17"/>
          <p:cNvSpPr txBox="1"/>
          <p:nvPr/>
        </p:nvSpPr>
        <p:spPr>
          <a:xfrm>
            <a:off x="1120000" y="417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Creo un PV y un PVC que enlazan, y sé decir por qué enlazan.</a:t>
            </a:r>
          </a:p>
        </p:txBody>
      </p:sp>
      <p:sp>
        <p:nvSpPr>
          <p:cNvPr id="19" name="Rounded Rectangle 18"/>
          <p:cNvSpPr/>
          <p:nvPr/>
        </p:nvSpPr>
        <p:spPr>
          <a:xfrm>
            <a:off x="620000" y="486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20" name="TextBox 19"/>
          <p:cNvSpPr txBox="1"/>
          <p:nvPr/>
        </p:nvSpPr>
        <p:spPr>
          <a:xfrm>
            <a:off x="1120000" y="473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Enumero las cinco causas de un PVC en Pending.</a:t>
            </a:r>
          </a:p>
        </p:txBody>
      </p:sp>
      <p:sp>
        <p:nvSpPr>
          <p:cNvPr id="21" name="Rounded Rectangle 20"/>
          <p:cNvSpPr/>
          <p:nvPr/>
        </p:nvSpPr>
        <p:spPr>
          <a:xfrm>
            <a:off x="6256000" y="262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22" name="TextBox 21"/>
          <p:cNvSpPr txBox="1"/>
          <p:nvPr/>
        </p:nvSpPr>
        <p:spPr>
          <a:xfrm>
            <a:off x="6756000" y="249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Distingo aprovisionamiento estático de dinámico.</a:t>
            </a:r>
          </a:p>
        </p:txBody>
      </p:sp>
      <p:sp>
        <p:nvSpPr>
          <p:cNvPr id="23" name="Rounded Rectangle 22"/>
          <p:cNvSpPr/>
          <p:nvPr/>
        </p:nvSpPr>
        <p:spPr>
          <a:xfrm>
            <a:off x="6256000" y="318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24" name="TextBox 23"/>
          <p:cNvSpPr txBox="1"/>
          <p:nvPr/>
        </p:nvSpPr>
        <p:spPr>
          <a:xfrm>
            <a:off x="6756000" y="305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Explico Retain frente a Delete y libero un PV Released.</a:t>
            </a:r>
          </a:p>
        </p:txBody>
      </p:sp>
      <p:sp>
        <p:nvSpPr>
          <p:cNvPr id="25" name="Rounded Rectangle 24"/>
          <p:cNvSpPr/>
          <p:nvPr/>
        </p:nvSpPr>
        <p:spPr>
          <a:xfrm>
            <a:off x="6256000" y="374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26" name="TextBox 25"/>
          <p:cNvSpPr txBox="1"/>
          <p:nvPr/>
        </p:nvSpPr>
        <p:spPr>
          <a:xfrm>
            <a:off x="6756000" y="361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Despliego un StatefulSet con Headless Service y volumeClaimTemplates.</a:t>
            </a:r>
          </a:p>
        </p:txBody>
      </p:sp>
      <p:sp>
        <p:nvSpPr>
          <p:cNvPr id="27" name="Rounded Rectangle 26"/>
          <p:cNvSpPr/>
          <p:nvPr/>
        </p:nvSpPr>
        <p:spPr>
          <a:xfrm>
            <a:off x="6256000" y="430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28" name="TextBox 27"/>
          <p:cNvSpPr txBox="1"/>
          <p:nvPr/>
        </p:nvSpPr>
        <p:spPr>
          <a:xfrm>
            <a:off x="6756000" y="417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Demuestro que un Pod de StatefulSet recupera nombre y volumen.</a:t>
            </a:r>
          </a:p>
        </p:txBody>
      </p:sp>
      <p:sp>
        <p:nvSpPr>
          <p:cNvPr id="29" name="Rounded Rectangle 28"/>
          <p:cNvSpPr/>
          <p:nvPr/>
        </p:nvSpPr>
        <p:spPr>
          <a:xfrm>
            <a:off x="6256000" y="4860000"/>
            <a:ext cx="300000" cy="300000"/>
          </a:xfrm>
          <a:prstGeom prst="roundRect">
            <a:avLst>
              <a:gd name="adj" fmla="val 28000"/>
            </a:avLst>
          </a:prstGeom>
          <a:noFill/>
          <a:ln w="19050">
            <a:solidFill>
              <a:srgbClr val="326C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marL="0" indent="0">
              <a:lnSpc>
                <a:spcPct val="100000"/>
              </a:lnSpc>
              <a:spcBef>
                <a:spcPts val="0"/>
              </a:spcBef>
              <a:spcAft>
                <a:spcPts val="0"/>
              </a:spcAft>
              <a:buNone/>
            </a:pPr>
            <a:r>
              <a:rPr sz="1300" b="1" i="0">
                <a:solidFill>
                  <a:srgbClr val="74A6FF"/>
                </a:solidFill>
                <a:latin typeface="Segoe UI"/>
              </a:rPr>
              <a:t>✓</a:t>
            </a:r>
          </a:p>
        </p:txBody>
      </p:sp>
      <p:sp>
        <p:nvSpPr>
          <p:cNvPr id="30" name="TextBox 29"/>
          <p:cNvSpPr txBox="1"/>
          <p:nvPr/>
        </p:nvSpPr>
        <p:spPr>
          <a:xfrm>
            <a:off x="6756000" y="4730000"/>
            <a:ext cx="4816000" cy="560000"/>
          </a:xfrm>
          <a:prstGeom prst="rect">
            <a:avLst/>
          </a:prstGeom>
          <a:noFill/>
        </p:spPr>
        <p:txBody>
          <a:bodyPr wrap="square" anchor="ctr" lIns="0" rIns="0" tIns="0" bIns="0">
            <a:noAutofit/>
          </a:bodyPr>
          <a:lstStyle/>
          <a:p>
            <a:pPr algn="l" marL="0" indent="0">
              <a:lnSpc>
                <a:spcPct val="116000"/>
              </a:lnSpc>
              <a:spcBef>
                <a:spcPts val="0"/>
              </a:spcBef>
              <a:spcAft>
                <a:spcPts val="0"/>
              </a:spcAft>
              <a:buNone/>
            </a:pPr>
            <a:r>
              <a:rPr sz="1300" b="0" i="0">
                <a:solidFill>
                  <a:srgbClr val="BDC9DB"/>
                </a:solidFill>
                <a:latin typeface="Segoe UI"/>
              </a:rPr>
              <a:t>Sé por qué borrar un StatefulSet no borra sus PVC.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72A"/>
        </a:solidFill>
        <a:effectLst/>
      </p:bgPr>
    </p:bg>
    <p:spTree>
      <p:nvGrpSpPr>
        <p:cNvPr id="1" name=""/>
        <p:cNvGrpSpPr/>
        <p:nvPr/>
      </p:nvGrpSpPr>
      <p:grpSpPr/>
      <p:sp>
        <p:nvSpPr>
          <p:cNvPr id="2" name="Oval 1"/>
          <p:cNvSpPr/>
          <p:nvPr/>
        </p:nvSpPr>
        <p:spPr>
          <a:xfrm>
            <a:off x="9592000" y="-1400000"/>
            <a:ext cx="4000000" cy="40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400000" y="4358000"/>
            <a:ext cx="3800000" cy="3800000"/>
          </a:xfrm>
          <a:prstGeom prst="ellipse">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ubernetes.png"/>
          <p:cNvPicPr>
            <a:picLocks noChangeAspect="1"/>
          </p:cNvPicPr>
          <p:nvPr/>
        </p:nvPicPr>
        <p:blipFill>
          <a:blip r:embed="rId2"/>
          <a:stretch>
            <a:fillRect/>
          </a:stretch>
        </p:blipFill>
        <p:spPr>
          <a:xfrm>
            <a:off x="9542000" y="900000"/>
            <a:ext cx="1650000" cy="1650000"/>
          </a:xfrm>
          <a:prstGeom prst="rect">
            <a:avLst/>
          </a:prstGeom>
        </p:spPr>
      </p:pic>
      <p:sp>
        <p:nvSpPr>
          <p:cNvPr id="5" name="TextBox 4"/>
          <p:cNvSpPr txBox="1"/>
          <p:nvPr/>
        </p:nvSpPr>
        <p:spPr>
          <a:xfrm>
            <a:off x="640000" y="300000"/>
            <a:ext cx="9000000" cy="24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1100" b="1" i="0" spc="240">
                <a:solidFill>
                  <a:srgbClr val="74A6FF"/>
                </a:solidFill>
                <a:latin typeface="Segoe UI Semibold"/>
              </a:rPr>
              <a:t>CIERRE DE LA CLASE</a:t>
            </a:r>
          </a:p>
        </p:txBody>
      </p:sp>
      <p:sp>
        <p:nvSpPr>
          <p:cNvPr id="6" name="TextBox 5"/>
          <p:cNvSpPr txBox="1"/>
          <p:nvPr/>
        </p:nvSpPr>
        <p:spPr>
          <a:xfrm>
            <a:off x="640000" y="1560000"/>
            <a:ext cx="9200000" cy="900000"/>
          </a:xfrm>
          <a:prstGeom prst="rect">
            <a:avLst/>
          </a:prstGeom>
          <a:noFill/>
        </p:spPr>
        <p:txBody>
          <a:bodyPr wrap="square" anchor="t" lIns="0" rIns="0" tIns="0" bIns="0">
            <a:noAutofit/>
          </a:bodyPr>
          <a:lstStyle/>
          <a:p>
            <a:pPr algn="l" marL="0" indent="0">
              <a:lnSpc>
                <a:spcPct val="104000"/>
              </a:lnSpc>
              <a:spcBef>
                <a:spcPts val="0"/>
              </a:spcBef>
              <a:spcAft>
                <a:spcPts val="0"/>
              </a:spcAft>
              <a:buNone/>
            </a:pPr>
            <a:r>
              <a:rPr sz="4400" b="0" i="0">
                <a:solidFill>
                  <a:srgbClr val="F3F6FC"/>
                </a:solidFill>
                <a:latin typeface="Segoe UI Light"/>
              </a:rPr>
              <a:t>Clase 3 completada</a:t>
            </a:r>
          </a:p>
        </p:txBody>
      </p:sp>
      <p:sp>
        <p:nvSpPr>
          <p:cNvPr id="7" name="Rectangle 6"/>
          <p:cNvSpPr/>
          <p:nvPr/>
        </p:nvSpPr>
        <p:spPr>
          <a:xfrm>
            <a:off x="644000" y="2560000"/>
            <a:ext cx="620000" cy="46000"/>
          </a:xfrm>
          <a:prstGeom prst="rect">
            <a:avLst/>
          </a:prstGeom>
          <a:solidFill>
            <a:srgbClr val="326C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8" name="TextBox 7"/>
          <p:cNvSpPr txBox="1"/>
          <p:nvPr/>
        </p:nvSpPr>
        <p:spPr>
          <a:xfrm>
            <a:off x="640000" y="2820000"/>
            <a:ext cx="9752000" cy="2600000"/>
          </a:xfrm>
          <a:prstGeom prst="rect">
            <a:avLst/>
          </a:prstGeom>
          <a:noFill/>
        </p:spPr>
        <p:txBody>
          <a:bodyPr wrap="square" anchor="t" lIns="0" rIns="0" tIns="0" bIns="0">
            <a:noAutofit/>
          </a:bodyPr>
          <a:lstStyle/>
          <a:p>
            <a:pPr algn="l" marL="0" indent="0">
              <a:lnSpc>
                <a:spcPct val="132000"/>
              </a:lnSpc>
              <a:spcBef>
                <a:spcPts val="0"/>
              </a:spcBef>
              <a:spcAft>
                <a:spcPts val="1400"/>
              </a:spcAft>
              <a:buNone/>
            </a:pPr>
            <a:r>
              <a:rPr sz="1500" b="0" i="0">
                <a:solidFill>
                  <a:srgbClr val="BDC9DB"/>
                </a:solidFill>
                <a:latin typeface="Segoe UI"/>
              </a:rPr>
              <a:t>Ya sabes administrar cargas stateless y stateful, y darles almacenamiento que sobrevive.</a:t>
            </a:r>
          </a:p>
          <a:p>
            <a:pPr algn="l" marL="0" indent="0">
              <a:lnSpc>
                <a:spcPct val="132000"/>
              </a:lnSpc>
              <a:spcBef>
                <a:spcPts val="0"/>
              </a:spcBef>
              <a:spcAft>
                <a:spcPts val="1400"/>
              </a:spcAft>
              <a:buNone/>
            </a:pPr>
            <a:r>
              <a:rPr sz="1500" b="0" i="0">
                <a:solidFill>
                  <a:srgbClr val="BDC9DB"/>
                </a:solidFill>
                <a:latin typeface="Segoe UI"/>
              </a:rPr>
              <a:t>En la Clase 4 nos ocupamos del día a día de esas aplicaciones: actualizarlas sin cortar el servicio, revertirlas cuando salen mal, configurarlas desde fuera de la imagen y dimensionarlas.</a:t>
            </a:r>
          </a:p>
          <a:p>
            <a:pPr algn="l" marL="0" indent="0">
              <a:lnSpc>
                <a:spcPct val="132000"/>
              </a:lnSpc>
              <a:spcBef>
                <a:spcPts val="0"/>
              </a:spcBef>
              <a:spcAft>
                <a:spcPts val="1400"/>
              </a:spcAft>
              <a:buNone/>
            </a:pPr>
            <a:r>
              <a:rPr sz="1500" b="0" i="0">
                <a:solidFill>
                  <a:srgbClr val="BDC9DB"/>
                </a:solidFill>
                <a:latin typeface="Segoe UI"/>
              </a:rPr>
              <a:t>Repasa antes: la cadena Deployment → ReplicaSet → Pod.</a:t>
            </a:r>
          </a:p>
        </p:txBody>
      </p:sp>
      <p:sp>
        <p:nvSpPr>
          <p:cNvPr id="9" name="Rectangle 8"/>
          <p:cNvSpPr/>
          <p:nvPr/>
        </p:nvSpPr>
        <p:spPr>
          <a:xfrm>
            <a:off x="620000" y="6404000"/>
            <a:ext cx="10952000" cy="12000"/>
          </a:xfrm>
          <a:prstGeom prst="rect">
            <a:avLst/>
          </a:prstGeom>
          <a:solidFill>
            <a:srgbClr val="2635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p>
        </p:txBody>
      </p:sp>
      <p:sp>
        <p:nvSpPr>
          <p:cNvPr id="10" name="TextBox 9"/>
          <p:cNvSpPr txBox="1"/>
          <p:nvPr/>
        </p:nvSpPr>
        <p:spPr>
          <a:xfrm>
            <a:off x="620000" y="6430000"/>
            <a:ext cx="7666399" cy="220000"/>
          </a:xfrm>
          <a:prstGeom prst="rect">
            <a:avLst/>
          </a:prstGeom>
          <a:noFill/>
        </p:spPr>
        <p:txBody>
          <a:bodyPr wrap="square" anchor="ctr" lIns="0" rIns="0" tIns="0" bIns="0">
            <a:noAutofit/>
          </a:bodyPr>
          <a:lstStyle/>
          <a:p>
            <a:pPr algn="l" marL="0" indent="0">
              <a:lnSpc>
                <a:spcPct val="100000"/>
              </a:lnSpc>
              <a:spcBef>
                <a:spcPts val="0"/>
              </a:spcBef>
              <a:spcAft>
                <a:spcPts val="0"/>
              </a:spcAft>
              <a:buNone/>
            </a:pPr>
            <a:r>
              <a:rPr sz="900" b="0" i="0" spc="30">
                <a:solidFill>
                  <a:srgbClr val="8493AD"/>
                </a:solidFill>
                <a:latin typeface="Segoe UI"/>
              </a:rPr>
              <a:t>CKA Hands-On Training  ·  Clase 3</a:t>
            </a:r>
          </a:p>
        </p:txBody>
      </p:sp>
      <p:sp>
        <p:nvSpPr>
          <p:cNvPr id="11" name="TextBox 10"/>
          <p:cNvSpPr txBox="1"/>
          <p:nvPr/>
        </p:nvSpPr>
        <p:spPr>
          <a:xfrm>
            <a:off x="8286399" y="6430000"/>
            <a:ext cx="3285600" cy="220000"/>
          </a:xfrm>
          <a:prstGeom prst="rect">
            <a:avLst/>
          </a:prstGeom>
          <a:noFill/>
        </p:spPr>
        <p:txBody>
          <a:bodyPr wrap="square" anchor="ctr" lIns="0" rIns="0" tIns="0" bIns="0">
            <a:noAutofit/>
          </a:bodyPr>
          <a:lstStyle/>
          <a:p>
            <a:pPr algn="r" marL="0" indent="0">
              <a:lnSpc>
                <a:spcPct val="100000"/>
              </a:lnSpc>
              <a:spcBef>
                <a:spcPts val="0"/>
              </a:spcBef>
              <a:spcAft>
                <a:spcPts val="0"/>
              </a:spcAft>
              <a:buNone/>
            </a:pPr>
            <a:r>
              <a:rPr sz="900" b="1" i="0" spc="60">
                <a:solidFill>
                  <a:srgbClr val="8493AD"/>
                </a:solidFill>
                <a:latin typeface="Segoe UI Semibold"/>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3 — Workloads, Storage y StatefulSets</dc:title>
  <dc:subject>Clase 3 — Workloads, Storage y StatefulSets</dc:subject>
  <dc:creator>CKA Hands-On Training</dc:creator>
  <cp:keywords/>
  <dc:description>Generado con generador-diapositivas/</dc:description>
  <cp:lastModifiedBy>Steve Canny</cp:lastModifiedBy>
  <cp:revision>1</cp:revision>
  <dcterms:created xsi:type="dcterms:W3CDTF">2013-01-27T09:14:16Z</dcterms:created>
  <dcterms:modified xsi:type="dcterms:W3CDTF">2013-01-27T09:15:58Z</dcterms:modified>
  <cp:category/>
</cp:coreProperties>
</file>