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2000" y="-1350000"/>
            <a:ext cx="4500000" cy="4500000"/>
          </a:xfrm>
          <a:prstGeom prst="ellipse">
            <a:avLst/>
          </a:prstGeom>
          <a:solidFill>
            <a:srgbClr val="0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42000" y="5308000"/>
            <a:ext cx="2900000" cy="2900000"/>
          </a:xfrm>
          <a:prstGeom prst="ellipse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000" y="1000000"/>
            <a:ext cx="1650000" cy="16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0000" y="300000"/>
            <a:ext cx="86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CKA HANDS-ON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" y="162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spc="200">
                <a:solidFill>
                  <a:srgbClr val="74A6FF"/>
                </a:solidFill>
                <a:latin typeface="Segoe UI Semibold"/>
              </a:rPr>
              <a:t>SESIÓN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" y="2040000"/>
            <a:ext cx="89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 i="0">
                <a:solidFill>
                  <a:srgbClr val="F3F6FC"/>
                </a:solidFill>
                <a:latin typeface="Segoe UI Light"/>
              </a:rPr>
              <a:t>Networking en Kubernetes (Services)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000" y="3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000" y="376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De una IP que desaparece a un nombre estable para todo el programa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0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Especial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SESIÓN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5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5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5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4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LABORATORIOS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1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1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1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3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TIPOS DE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6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6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6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GRATITUD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CASO GUÍA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Al terminar esta sesión serás capaz de…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10983200" y="326200"/>
            <a:ext cx="537600" cy="537600"/>
          </a:xfrm>
          <a:prstGeom prst="ellipse">
            <a:avLst/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8400" y="441400"/>
            <a:ext cx="307200" cy="307200"/>
          </a:xfrm>
          <a:prstGeom prst="ellipse">
            <a:avLst/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00800" y="543800"/>
            <a:ext cx="102400" cy="102400"/>
          </a:xfrm>
          <a:prstGeom prst="ellipse">
            <a:avLst/>
          </a:prstGeom>
          <a:solidFill>
            <a:srgbClr val="74A6FF"/>
          </a:solidFill>
          <a:ln w="635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0000" y="20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000" y="19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Explicar por qué la IP de un Pod es efímera y qué problema concreto crea.</a:t>
            </a:r>
          </a:p>
        </p:txBody>
      </p:sp>
      <p:sp>
        <p:nvSpPr>
          <p:cNvPr id="13" name="Oval 12"/>
          <p:cNvSpPr/>
          <p:nvPr/>
        </p:nvSpPr>
        <p:spPr>
          <a:xfrm>
            <a:off x="620000" y="26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000" y="24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Elegir entre ClusterIP, NodePort y LoadBalancer según quién tenga que llegar.</a:t>
            </a:r>
          </a:p>
        </p:txBody>
      </p:sp>
      <p:sp>
        <p:nvSpPr>
          <p:cNvPr id="15" name="Oval 14"/>
          <p:cNvSpPr/>
          <p:nvPr/>
        </p:nvSpPr>
        <p:spPr>
          <a:xfrm>
            <a:off x="620000" y="318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000" y="305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Describir cómo un selector de labels construye el EndpointSlice de un Service.</a:t>
            </a:r>
          </a:p>
        </p:txBody>
      </p:sp>
      <p:sp>
        <p:nvSpPr>
          <p:cNvPr id="17" name="Oval 16"/>
          <p:cNvSpPr/>
          <p:nvPr/>
        </p:nvSpPr>
        <p:spPr>
          <a:xfrm>
            <a:off x="620000" y="374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000" y="361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Distinguir para qué sirven las labels y para qué las anotaciones en un Service.</a:t>
            </a:r>
          </a:p>
        </p:txBody>
      </p:sp>
      <p:sp>
        <p:nvSpPr>
          <p:cNvPr id="19" name="Oval 18"/>
          <p:cNvSpPr/>
          <p:nvPr/>
        </p:nvSpPr>
        <p:spPr>
          <a:xfrm>
            <a:off x="620000" y="430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000" y="417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Resolver un Service de otro namespace por su FQDN y saber cuándo hace falta.</a:t>
            </a:r>
          </a:p>
        </p:txBody>
      </p:sp>
      <p:sp>
        <p:nvSpPr>
          <p:cNvPr id="21" name="Oval 20"/>
          <p:cNvSpPr/>
          <p:nvPr/>
        </p:nvSpPr>
        <p:spPr>
          <a:xfrm>
            <a:off x="620000" y="48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000" y="47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Conectar los tres tramos del programa GRATITUD entre namespaces distintos.</a:t>
            </a:r>
          </a:p>
        </p:txBody>
      </p:sp>
      <p:sp>
        <p:nvSpPr>
          <p:cNvPr id="23" name="Oval 22"/>
          <p:cNvSpPr/>
          <p:nvPr/>
        </p:nvSpPr>
        <p:spPr>
          <a:xfrm>
            <a:off x="620000" y="54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000" y="52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Diagnosticar un Service sin endpoints separando selector, puerto y namespace.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SESIÓN ESPECIAL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10983200" y="326200"/>
            <a:ext cx="537600" cy="537600"/>
          </a:xfrm>
          <a:prstGeom prst="ellipse">
            <a:avLst/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1252000" y="415800"/>
            <a:ext cx="0" cy="17920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252000" y="595000"/>
            <a:ext cx="128000" cy="5120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0000" y="177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00–10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0000" y="195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0000" y="177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 problema: la IP efímera del Pod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" y="224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10–30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0000" y="242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20000" y="224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ClusterIP, kube-proxy y EndpointSlice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000" y="275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000" y="271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30–52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20000" y="289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20000" y="271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9.1 — Básico: la IP que desaparece y el ClusterIP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000" y="318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52–70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20000" y="336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0000" y="318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NodePort, LoadBalancer, labels y anotaciones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000" y="369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000" y="365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70–100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20000" y="383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0000" y="365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9.2 — Intermedio: publicar y descubrir por labels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000" y="412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100–115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20000" y="430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20000" y="412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FQDN y comunicación entre namespaces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0000" y="463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000" y="459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115–145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20000" y="477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20000" y="459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9.3 — Avanzado: conectar el programa GRATITUD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0000" y="510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000" y="506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145–165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20000" y="524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20000" y="506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9.4 — Challenge: «GRATITUD no conecta»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000" y="553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165–180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0000" y="571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20000" y="553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Cierre y CKA Tips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000" y="2150000"/>
            <a:ext cx="1800000" cy="1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La IP efímera y el ClusterIP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Por qué nunca se habla directamente con un Pod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La dirección IP de un Pod no es un contrato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05</a:t>
            </a:r>
          </a:p>
        </p:txBody>
      </p:sp>
      <p:pic>
        <p:nvPicPr>
          <p:cNvPr id="8" name="Picture 7" descr="p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36000" y="1751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00" y="1470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La IP de un Pod se asigna al arrancar y se pierde al morir. No sobrevive a un reinicio ni a un reschedule.</a:t>
            </a:r>
          </a:p>
        </p:txBody>
      </p:sp>
      <p:sp>
        <p:nvSpPr>
          <p:cNvPr id="11" name="Oval 10"/>
          <p:cNvSpPr/>
          <p:nvPr/>
        </p:nvSpPr>
        <p:spPr>
          <a:xfrm>
            <a:off x="636000" y="2419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000" y="2137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Apuntar a la IP de un Pod es una integración que se rompe sola en el primer rollout.</a:t>
            </a:r>
          </a:p>
        </p:txBody>
      </p:sp>
      <p:sp>
        <p:nvSpPr>
          <p:cNvPr id="13" name="Oval 12"/>
          <p:cNvSpPr/>
          <p:nvPr/>
        </p:nvSpPr>
        <p:spPr>
          <a:xfrm>
            <a:off x="636000" y="3086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000" y="2805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 varias réplicas hay varias IPs, cambian por separado y ninguna es estable.</a:t>
            </a:r>
          </a:p>
        </p:txBody>
      </p:sp>
      <p:sp>
        <p:nvSpPr>
          <p:cNvPr id="15" name="Oval 14"/>
          <p:cNvSpPr/>
          <p:nvPr/>
        </p:nvSpPr>
        <p:spPr>
          <a:xfrm>
            <a:off x="636000" y="3754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000" y="3472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 Service da un nombre y una IP virtual fijos, y balancea entre las réplicas Ready del momento.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35040" y="1470000"/>
            <a:ext cx="4936960" cy="2670000"/>
          </a:xfrm>
          <a:prstGeom prst="roundRect">
            <a:avLst>
              <a:gd name="adj" fmla="val 3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35040" y="1770000"/>
            <a:ext cx="46000" cy="237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5040" y="1530000"/>
            <a:ext cx="4556960" cy="2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LA IP CAMBIA; EL SERVICE 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25040" y="1764000"/>
            <a:ext cx="4556960" cy="1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5040" y="1960000"/>
            <a:ext cx="4516960" cy="1785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get pod api-0 -o wide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IP 10.244.1.7  nodo w1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delete pod api-0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get pod -l app=api -o wide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IP 10.244.2.4  nodo w2  &lt;- otra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get svc api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CLUSTER-IP 10.96.40.11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estable mientras exista el Service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Cada Pod recibe una IP del rango del CNI en el momento de arrancar, y esa IP es suya solo mientras vive ese Pod concreto. Si el Pod se reinicia, lo desaloja el nodo, lo recrea un Deployment tras un rollout o simplemente cambia de nodo, el Pod nuevo trae una IP distinta. No hay ninguna garantía de continuidad: la IP no sobrevive al ciclo de vida del Pod.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Esto rompe cualquier integración que apunte a la IP directamente. Un frontend que guarda la IP del backend en su configuración funcionará hasta el primer reinicio del backend y luego fallará sin que nadie haya tocado el frontend. Con réplicas el problema se multiplica: hay varias IPs, cambian de forma independiente y ninguna es «la buena».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El Service resuelve las dos cosas a la vez. Aporta una identidad estable —un nombre DNS y una IP virtual que no cambian mientras exista el Service— y reparte el tráfico entre todas las réplicas sanas que haya detrás en cada momento. El cliente habla siempre con el mismo nombre; quién está detrás es problema de Kubernetes.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RUTA DEL TRÁFICO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Cómo llega un paquete a un Pod por ClusterIP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06</a:t>
            </a:r>
          </a:p>
        </p:txBody>
      </p:sp>
      <p:pic>
        <p:nvPicPr>
          <p:cNvPr id="8" name="Picture 7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1670000"/>
            <a:ext cx="2022400" cy="700000"/>
          </a:xfrm>
          <a:prstGeom prst="roundRect">
            <a:avLst>
              <a:gd name="adj" fmla="val 11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000" y="1670000"/>
            <a:ext cx="1882400" cy="7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Cliente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66400" y="2020000"/>
            <a:ext cx="162000" cy="0"/>
          </a:xfrm>
          <a:prstGeom prst="line">
            <a:avLst/>
          </a:prstGeom>
          <a:ln w="22225">
            <a:solidFill>
              <a:srgbClr val="74A6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52400" y="1670000"/>
            <a:ext cx="2022400" cy="700000"/>
          </a:xfrm>
          <a:prstGeom prst="roundRect">
            <a:avLst>
              <a:gd name="adj" fmla="val 11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2400" y="1670000"/>
            <a:ext cx="1882400" cy="7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ClusterIP (virtual)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8800" y="2020000"/>
            <a:ext cx="162000" cy="0"/>
          </a:xfrm>
          <a:prstGeom prst="line">
            <a:avLst/>
          </a:prstGeom>
          <a:ln w="22225">
            <a:solidFill>
              <a:srgbClr val="74A6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84800" y="1670000"/>
            <a:ext cx="2022400" cy="700000"/>
          </a:xfrm>
          <a:prstGeom prst="roundRect">
            <a:avLst>
              <a:gd name="adj" fmla="val 11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4800" y="1670000"/>
            <a:ext cx="1882400" cy="7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kube-proxy · iptables/IPVS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1200" y="2020000"/>
            <a:ext cx="162000" cy="0"/>
          </a:xfrm>
          <a:prstGeom prst="line">
            <a:avLst/>
          </a:prstGeom>
          <a:ln w="22225">
            <a:solidFill>
              <a:srgbClr val="74A6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7200" y="1670000"/>
            <a:ext cx="2022400" cy="700000"/>
          </a:xfrm>
          <a:prstGeom prst="roundRect">
            <a:avLst>
              <a:gd name="adj" fmla="val 11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7200" y="1670000"/>
            <a:ext cx="1882400" cy="7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EndpointSlice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63600" y="2020000"/>
            <a:ext cx="162000" cy="0"/>
          </a:xfrm>
          <a:prstGeom prst="line">
            <a:avLst/>
          </a:prstGeom>
          <a:ln w="22225">
            <a:solidFill>
              <a:srgbClr val="74A6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49600" y="1670000"/>
            <a:ext cx="2022400" cy="700000"/>
          </a:xfrm>
          <a:prstGeom prst="roundRect">
            <a:avLst>
              <a:gd name="adj" fmla="val 11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600" y="1670000"/>
            <a:ext cx="1882400" cy="7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IP del Pod : targetPort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000" y="2670000"/>
            <a:ext cx="10952000" cy="361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6000" y="2692000"/>
            <a:ext cx="40000" cy="356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000" y="2800000"/>
            <a:ext cx="10522000" cy="335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TRES CONSECUENCIAS PRÁCTICAS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La ClusterIP es una IP virtual: no está configurada en ninguna interfaz de red de ningún nodo ni de ningún Pod. Es una entrada en las reglas que kube-proxy programa en cada nodo, con iptables o IPVS. Cuando un paquete sale hacia esa IP, la regla reescribe el destino a la IP real de uno de los Pods backend y a su targetPort.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La lista de Pods candidatos no la mantiene el Service directamente: la mantiene el controlador de endpoints, que observa qué Pods encajan con el selector del Service y están Ready, y escribe esa lista en objetos EndpointSlice. kube-proxy lee los EndpointSlice y actualiza sus reglas. El DNS no participa en el reparto: resuelve el nombre del Service siempre a la misma ClusterIP.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De aquí salen tres ideas para depurar. Si un Pod deja de estar Ready, sale del EndpointSlice y deja de recibir tráfico —por eso un rollout roto no tumba el servicio—. Si el nombre resuelve pero la conexión a la ClusterIP da timeout, mira endpoints y puertos, no DNS. Y si el EndpointSlice está vacío, el problema casi siempre es el selector del Service frente a las labels de los Pods.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TIPOS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Tres tipos que se apilan, y dos casos aparte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470000"/>
            <a:ext cx="3437333" cy="1215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000" y="147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0000" y="1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pic>
        <p:nvPicPr>
          <p:cNvPr id="11" name="Picture 10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333" y="1676000"/>
            <a:ext cx="330000" cy="33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0000" y="1670000"/>
            <a:ext cx="240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ClusterIP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000" y="2030000"/>
            <a:ext cx="3037333" cy="59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Por defecto. IP virtual accesible solo dentro del cluster. Comunicación entre componentes.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7333" y="1470000"/>
            <a:ext cx="3437333" cy="1215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1333" y="147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7333" y="1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pic>
        <p:nvPicPr>
          <p:cNvPr id="17" name="Picture 16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666" y="1676000"/>
            <a:ext cx="330000" cy="33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87333" y="1670000"/>
            <a:ext cx="240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NodePort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7333" y="2030000"/>
            <a:ext cx="3037333" cy="59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El mismo puerto (30000–32767) abierto en todos los nodos. Laboratorio y balanceadores propios.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4666" y="1470000"/>
            <a:ext cx="3437333" cy="1215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8666" y="147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34666" y="1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pic>
        <p:nvPicPr>
          <p:cNvPr id="23" name="Picture 22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000" y="1676000"/>
            <a:ext cx="330000" cy="33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44666" y="1670000"/>
            <a:ext cx="240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LoadBalancer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4666" y="2030000"/>
            <a:ext cx="3037333" cy="59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IP externa del proveedor de nube, una por Service. Sin integración de nube se queda pending.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000" y="2925000"/>
            <a:ext cx="3437333" cy="1215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000" y="2925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0000" y="3145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pic>
        <p:nvPicPr>
          <p:cNvPr id="29" name="Picture 28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333" y="3131000"/>
            <a:ext cx="330000" cy="33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30000" y="3125000"/>
            <a:ext cx="240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ExternalName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000" y="3485000"/>
            <a:ext cx="3037333" cy="59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Ni IP ni endpoints. CoreDNS devuelve un CNAME a un nombre externo. Alias, no proxy.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7333" y="2925000"/>
            <a:ext cx="3437333" cy="1215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1333" y="2925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77333" y="3145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pic>
        <p:nvPicPr>
          <p:cNvPr id="35" name="Picture 34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666" y="3131000"/>
            <a:ext cx="330000" cy="330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987333" y="3125000"/>
            <a:ext cx="240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Headless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7333" y="3485000"/>
            <a:ext cx="3037333" cy="59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clusterIP: None. El DNS devuelve las IPs de los Pods, no una VIP. Base del StatefulSet.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4666" y="2925000"/>
            <a:ext cx="3437333" cy="1215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58666" y="2925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34666" y="3145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6</a:t>
            </a:r>
          </a:p>
        </p:txBody>
      </p:sp>
      <p:sp>
        <p:nvSpPr>
          <p:cNvPr id="41" name="Oval 40"/>
          <p:cNvSpPr/>
          <p:nvPr/>
        </p:nvSpPr>
        <p:spPr>
          <a:xfrm>
            <a:off x="11108000" y="3164000"/>
            <a:ext cx="198000" cy="198000"/>
          </a:xfrm>
          <a:prstGeom prst="ellipse">
            <a:avLst/>
          </a:prstGeom>
          <a:noFill/>
          <a:ln w="2413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1174000" y="3375200"/>
            <a:ext cx="66000" cy="0"/>
          </a:xfrm>
          <a:prstGeom prst="line">
            <a:avLst/>
          </a:prstGeom>
          <a:ln w="2413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180600" y="3414800"/>
            <a:ext cx="52800" cy="0"/>
          </a:xfrm>
          <a:prstGeom prst="line">
            <a:avLst/>
          </a:prstGeom>
          <a:ln w="2413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744666" y="3125000"/>
            <a:ext cx="240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El error de siempre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4666" y="3485000"/>
            <a:ext cx="3037333" cy="59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port es del Service, targetPort del contenedor, nodePort del nodo. No son lo mismo.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Los tipos de Service se construyen uno encima de otro. ClusterIP es la base: una IP virtual accesible solo desde dentro del cluster, para que los componentes hablen entre sí. Es el tipo por defecto y el que más se usa. NodePort añade a ese ClusterIP la apertura del mismo puerto —del rango 30000–32767— en todos los nodos del cluster; sirve para laboratorio y para poner un balanceador propio por delante.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LoadBalancer añade a un NodePort una IP externa que aprovisiona el proveedor de nube, una por Service. Sin integración de nube (un cluster on-prem sin MetalLB o similar) el Service se queda en estado pending para siempre, aunque el ClusterIP y el NodePort subyacentes sí funcionan.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Los dos casos aparte: ExternalName no crea IP ni endpoints ni proxy —CoreDNS devuelve un CNAME a un nombre externo, y sirve como alias interno estable para algo de fuera del cluster—, y headless (clusterIP: None) hace que el DNS devuelva directamente las IPs de los Pods en vez de una VIP. Y el error de siempre: port es el puerto del Service, targetPort el del contenedor, nodePort el del nodo.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LOS TRES PUERTOS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port, targetPort y nodePort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08</a:t>
            </a:r>
          </a:p>
        </p:txBody>
      </p:sp>
      <p:pic>
        <p:nvPicPr>
          <p:cNvPr id="8" name="Picture 7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0000" y="1470000"/>
            <a:ext cx="10952000" cy="420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1882000"/>
            <a:ext cx="10952000" cy="1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000" y="1470000"/>
            <a:ext cx="1771272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CAMPO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1272" y="1470000"/>
            <a:ext cx="4758181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DE QUIÉN ES EL PUERTO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9454" y="1470000"/>
            <a:ext cx="3762545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QUIÉN LO USA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000" y="24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" y="1890000"/>
            <a:ext cx="1771272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1272" y="1890000"/>
            <a:ext cx="4758181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Del Service (su ClusterIP)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9454" y="1890000"/>
            <a:ext cx="3762545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Clientes dentro del cluster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000" y="245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" y="301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000" y="2450000"/>
            <a:ext cx="1771272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targetPort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1272" y="2450000"/>
            <a:ext cx="4758181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Del contenedor en el Pod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9454" y="2450000"/>
            <a:ext cx="3762545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kube-proxy al reenviar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357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000" y="3010000"/>
            <a:ext cx="1771272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nodePort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1272" y="3010000"/>
            <a:ext cx="4758181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De todos los nodos (30000–32767)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9454" y="3010000"/>
            <a:ext cx="3762545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Clientes de fuera del cluster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" y="357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000" y="413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000" y="3570000"/>
            <a:ext cx="1771272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1272" y="3570000"/>
            <a:ext cx="4758181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ExternalName no tiene puertos: es solo un CNAME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9454" y="3570000"/>
            <a:ext cx="3762545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CoreDNS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000" y="591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0000" y="593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0000" y="591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Si no pones targetPort, Kubernetes asume que es igual a port. Es la causa número uno de «hay endpoints pero no responde».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básico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9.1 — La IP que desaparece y el ClusterIP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Ver morir y renacer la IP de un Pod, y comprobar que el ClusterIP y el EndpointSlice absorben el cambio sin que el cliente se entere.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Anotar la IP de un Pod, borrarlo y comprobar que la nueva es distinta.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Exponer el Deployment con un ClusterIP y resolverlo por nombre desde otro Pod.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Leer el EndpointSlice y ver que lista exactamente las IPs de los Pods Ready.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Escalar, y provocar un Pod no Ready; ver entrar y salir direcciones del EndpointSlice.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curl repetido al Service: comprobar que alterna Pods y explicar quién balancea.</a:t>
            </a:r>
          </a:p>
        </p:txBody>
      </p:sp>
      <p:sp>
        <p:nvSpPr>
          <p:cNvPr id="16" name="Freeform 15"/>
          <p:cNvSpPr/>
          <p:nvPr/>
        </p:nvSpPr>
        <p:spPr>
          <a:xfrm>
            <a:off x="9590000" y="1418800"/>
            <a:ext cx="784000" cy="842800"/>
          </a:xfrm>
          <a:custGeom>
            <a:avLst/>
            <a:gdLst/>
            <a:ahLst/>
            <a:cxnLst/>
            <a:rect l="l" t="t" r="r" b="b"/>
            <a:pathLst>
              <a:path w="784000" h="842800">
                <a:moveTo>
                  <a:pt x="235200" y="0"/>
                </a:moveTo>
                <a:lnTo>
                  <a:pt x="235200" y="333200"/>
                </a:lnTo>
                <a:lnTo>
                  <a:pt x="0" y="842800"/>
                </a:lnTo>
                <a:lnTo>
                  <a:pt x="784000" y="842800"/>
                </a:lnTo>
                <a:lnTo>
                  <a:pt x="548800" y="333200"/>
                </a:lnTo>
                <a:lnTo>
                  <a:pt x="548800" y="0"/>
                </a:lnTo>
              </a:path>
            </a:pathLst>
          </a:custGeom>
          <a:noFill/>
          <a:ln w="3302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766400" y="1418800"/>
            <a:ext cx="4312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27200" y="2006800"/>
            <a:ext cx="5096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CLASE-09/LABORATORIOS/LAB-01-BASICO.md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22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get endpointslices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000" y="2150000"/>
            <a:ext cx="1800000" cy="1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Publicar y descubrir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NodePort, LoadBalancer, labels y anotaciones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DESCUBRIMIENTO DINÁMICO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El selector es lo que engancha un Service a sus Pods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11</a:t>
            </a:r>
          </a:p>
        </p:txBody>
      </p:sp>
      <p:pic>
        <p:nvPicPr>
          <p:cNvPr id="8" name="Picture 7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36000" y="1751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00" y="1470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 Service tiene un selector, no una lista. La lista (EndpointSlice) la deriva el controlador de endpoints.</a:t>
            </a:r>
          </a:p>
        </p:txBody>
      </p:sp>
      <p:sp>
        <p:nvSpPr>
          <p:cNvPr id="11" name="Oval 10"/>
          <p:cNvSpPr/>
          <p:nvPr/>
        </p:nvSpPr>
        <p:spPr>
          <a:xfrm>
            <a:off x="636000" y="2419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000" y="2137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Entran los Pods con TODAS las labels del selector y en estado Ready. Salen los demás.</a:t>
            </a:r>
          </a:p>
        </p:txBody>
      </p:sp>
      <p:sp>
        <p:nvSpPr>
          <p:cNvPr id="13" name="Oval 12"/>
          <p:cNvSpPr/>
          <p:nvPr/>
        </p:nvSpPr>
        <p:spPr>
          <a:xfrm>
            <a:off x="636000" y="3086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000" y="2805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Selector contra labels que no cuadran = Service con cero endpoints y ningún error.</a:t>
            </a:r>
          </a:p>
        </p:txBody>
      </p:sp>
      <p:sp>
        <p:nvSpPr>
          <p:cNvPr id="15" name="Oval 14"/>
          <p:cNvSpPr/>
          <p:nvPr/>
        </p:nvSpPr>
        <p:spPr>
          <a:xfrm>
            <a:off x="636000" y="3754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000" y="3472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Las anotaciones no seleccionan nada: configuran controladores y guardan metadatos.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35040" y="1470000"/>
            <a:ext cx="4936960" cy="2670000"/>
          </a:xfrm>
          <a:prstGeom prst="roundRect">
            <a:avLst>
              <a:gd name="adj" fmla="val 3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35040" y="1770000"/>
            <a:ext cx="46000" cy="237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5040" y="1530000"/>
            <a:ext cx="4556960" cy="2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LABEL SELECCIONA · ANOTACIÓN CONFIGURA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25040" y="1764000"/>
            <a:ext cx="4556960" cy="1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5040" y="1960000"/>
            <a:ext cx="4516960" cy="1983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kind: Service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metadata: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name: api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annotations: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  gratitud.io/owner: plataforma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  prometheus.io/scrape: "true"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spec: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selector: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  app: gratitud-api </a:t>
            </a:r>
            <a:r>
              <a:rPr sz="1000" b="0" i="1">
                <a:solidFill>
                  <a:srgbClr val="7C8AA5"/>
                </a:solidFill>
                <a:latin typeface="Consolas"/>
              </a:rPr>
              <a:t>  # &lt;- esto engancha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ports: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  - {port: 80, targetPort: 8080}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Un Service no guarda una lista de Pods. Guarda un selector: un conjunto de pares clave=valor. El controlador de endpoints observa continuamente todos los Pods del namespace, se queda con los que tienen TODAS esas labels y están Ready, y escribe sus IPs en los EndpointSlice del Service. Cuando un Pod aparece, desaparece o cambia de estado, la lista se actualiza sola. Eso es el descubrimiento dinámico: no hay registro manual.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Por eso las labels de los Pods y el selector del Service tienen que cuadrar al carácter. Una errata (app: portal frente a app: portla), una label de más en el selector o un Pod al que le falta una label son la causa habitual de un Service con cero endpoints. El Service se crea sin error; simplemente no engancha a nada.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Las anotaciones juegan en otra liga. No intervienen en el emparejamiento —nunca seleccionan Pods— sino que llevan configuración para controladores y metadatos para humanos y herramientas: parámetros del balanceador de nube, hints para el scrapeo de métricas, el equipo propietario. Regla práctica: si algo tiene que cambiar QUÉ Pods atiende el Service, es una label; si cambia CÓMO se comporta la infraestructura alrededor, es una anotación.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NO CONFUNDIR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Labels y selectores frente a anotaciones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12</a:t>
            </a:r>
          </a:p>
        </p:txBody>
      </p:sp>
      <p:pic>
        <p:nvPicPr>
          <p:cNvPr id="8" name="Picture 7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1470000"/>
            <a:ext cx="5316000" cy="2670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000" y="1470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000" y="1730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Labels y selectores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Identificar y emparejar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00" y="2300000"/>
            <a:ext cx="4796000" cy="16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Kubernetes las indexa y las usa para seleccionar objetos.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selector del Service construye el EndpointSlice.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Cortas y acotadas. Consultables: k get pod -l app=api.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Cambiarlas cambia QUÉ Pods atiende el Service.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6000" y="1470000"/>
            <a:ext cx="5316000" cy="2670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0000" y="1470000"/>
            <a:ext cx="5268000" cy="46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6000" y="1730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Anotaciones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Configurar y documentar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000" y="2300000"/>
            <a:ext cx="4796000" cy="16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Datos que Kubernetes no interpreta; las lee un controlador o una persona.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Pueden ser largas. No se pueden usar en un selector.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Config del LoadBalancer, hints de métricas, propietario.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Cambian CÓMO se comporta la infra, no a quién atiende el Service.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Las dos cosas son mapas de clave-valor en metadata, y ahí acaba el parecido. Las labels son para identificar y agrupar: Kubernetes las indexa y las usa para emparejar objetos —el selector de un Service, de un Deployment, de una NetworkPolicy—. Están pensadas para ser cortas, acotadas y consultables con kubectl get -l.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Las anotaciones son para adjuntar datos que Kubernetes no interpreta: las lee un controlador concreto (el del balanceador de nube, el de Ingress, el de métricas) o una persona. Pueden ser largas, no se pueden usar en un selector y no cambian a qué se engancha nada.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En un Service esto se ve claro: el selector decide qué Pods forman el EndpointSlice; las anotaciones ajustan el tipo de balanceador de nube, el rango de IPs de origen permitidas, si se hace scrape de métricas o quién es el dueño. Cambiar una label puede dejar un Service sin endpoints; cambiar una anotación nunca hace eso, pero puede reconfigurar la infraestructura de alrededor.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SINTAXIS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El mismo Deployment publicado de tres formas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13</a:t>
            </a:r>
          </a:p>
        </p:txBody>
      </p:sp>
      <p:pic>
        <p:nvPicPr>
          <p:cNvPr id="8" name="Picture 7" descr="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0000" y="1470000"/>
            <a:ext cx="10952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ClusterIP para el tráfico interno, NodePort para entrar desde la red del nodo, LoadBalancer para una IP externa gestionada. Los tres seleccionan los mismos Pods: solo cambia hasta dónde llega la exposición.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" y="2030000"/>
            <a:ext cx="10952000" cy="1516884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000" y="2030000"/>
            <a:ext cx="46000" cy="1516884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000" y="2150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CLUSTERIP — INTERNO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000" y="2430000"/>
            <a:ext cx="10412000" cy="10568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850" b="0" i="0">
                <a:solidFill>
                  <a:srgbClr val="E6EDF3"/>
                </a:solidFill>
                <a:latin typeface="Consolas"/>
              </a:rPr>
              <a:t>apiVersion: v1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850" b="0" i="0">
                <a:solidFill>
                  <a:srgbClr val="E6EDF3"/>
                </a:solidFill>
                <a:latin typeface="Consolas"/>
              </a:rPr>
              <a:t>kind: Service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850" b="0" i="0">
                <a:solidFill>
                  <a:srgbClr val="E6EDF3"/>
                </a:solidFill>
                <a:latin typeface="Consolas"/>
              </a:rPr>
              <a:t>metadata: {name: portal-ci, namespace: gratitud-frontend}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850" b="0" i="0">
                <a:solidFill>
                  <a:srgbClr val="E6EDF3"/>
                </a:solidFill>
                <a:latin typeface="Consolas"/>
              </a:rPr>
              <a:t>spec: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selector: {app: gratitud-portal}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ports: [{port: 80, targetPort: 80}]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0" y="3746884"/>
            <a:ext cx="10952000" cy="1196407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000" y="3746884"/>
            <a:ext cx="46000" cy="1196407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000" y="3866884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NODEPORT — DESDE LA RED DEL NODO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000" y="4146884"/>
            <a:ext cx="10412000" cy="736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850" b="0" i="0">
                <a:solidFill>
                  <a:srgbClr val="E6EDF3"/>
                </a:solidFill>
                <a:latin typeface="Consolas"/>
              </a:rPr>
              <a:t>spec: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type: NodePort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selector: {app: gratitud-portal}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ports: [{port: 80, targetPort: 80, nodePort: 31900}]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000" y="5143291"/>
            <a:ext cx="10952000" cy="1196407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" y="5143291"/>
            <a:ext cx="46000" cy="1196407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000" y="5263291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LOADBALANCER — IP EXTERNA GESTIONADA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000" y="5543291"/>
            <a:ext cx="10412000" cy="736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850" b="0" i="0">
                <a:solidFill>
                  <a:srgbClr val="E6EDF3"/>
                </a:solidFill>
                <a:latin typeface="Consolas"/>
              </a:rPr>
              <a:t>spec: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type: LoadBalancer          </a:t>
            </a:r>
            <a:r>
              <a:rPr sz="850" b="0" i="1">
                <a:solidFill>
                  <a:srgbClr val="7C8AA5"/>
                </a:solidFill>
                <a:latin typeface="Consolas"/>
              </a:rPr>
              <a:t>  # pending sin integración de nube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selector: {app: gratitud-portal}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ports: [{port: 80, targetPort: 80}]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intermedio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9.2 — Publicar y descubrir por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Exponer una aplicación con ClusterIP, NodePort y LoadBalancer, y usar labels y anotaciones para controlar qué atiende el Service y cómo se comporta.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Publicar el mismo Deployment con los tres tipos y comparar sus endpoints.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Probar el NodePort desde fuera y observar el LoadBalancer en pending.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Romper el descubrimiento cambiando una label del Pod; repararlo desde el selector.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Añadir anotaciones de propietario y de métricas y comprobar que no cambian los endpoints.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Mover una réplica a otra versión de label y ver cómo entra y sale del EndpointSlice.</a:t>
            </a:r>
          </a:p>
        </p:txBody>
      </p:sp>
      <p:sp>
        <p:nvSpPr>
          <p:cNvPr id="16" name="Freeform 15"/>
          <p:cNvSpPr/>
          <p:nvPr/>
        </p:nvSpPr>
        <p:spPr>
          <a:xfrm>
            <a:off x="9590000" y="1418800"/>
            <a:ext cx="784000" cy="842800"/>
          </a:xfrm>
          <a:custGeom>
            <a:avLst/>
            <a:gdLst/>
            <a:ahLst/>
            <a:cxnLst/>
            <a:rect l="l" t="t" r="r" b="b"/>
            <a:pathLst>
              <a:path w="784000" h="842800">
                <a:moveTo>
                  <a:pt x="235200" y="0"/>
                </a:moveTo>
                <a:lnTo>
                  <a:pt x="235200" y="333200"/>
                </a:lnTo>
                <a:lnTo>
                  <a:pt x="0" y="842800"/>
                </a:lnTo>
                <a:lnTo>
                  <a:pt x="784000" y="842800"/>
                </a:lnTo>
                <a:lnTo>
                  <a:pt x="548800" y="333200"/>
                </a:lnTo>
                <a:lnTo>
                  <a:pt x="548800" y="0"/>
                </a:lnTo>
              </a:path>
            </a:pathLst>
          </a:custGeom>
          <a:noFill/>
          <a:ln w="3302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766400" y="1418800"/>
            <a:ext cx="4312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27200" y="2006800"/>
            <a:ext cx="5096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CLASE-09/LABORATORIOS/LAB-02-INTERMEDIO.md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30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get svc,endpointslices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000" y="2150000"/>
            <a:ext cx="1800000" cy="1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Entre namespaces · programa GRATITUD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Un nombre estable que cruza fronteras de namespace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RESOLUCIÓN DE NOMBRES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El FQDN de un Service y cuándo hace falta escribirlo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16</a:t>
            </a:r>
          </a:p>
        </p:txBody>
      </p:sp>
      <p:pic>
        <p:nvPicPr>
          <p:cNvPr id="8" name="Picture 7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36000" y="1751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00" y="1470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FQDN: &lt;servicio&gt;.&lt;namespace&gt;.svc.cluster.local. Dentro del namespace, el nombre corto basta.</a:t>
            </a:r>
          </a:p>
        </p:txBody>
      </p:sp>
      <p:sp>
        <p:nvSpPr>
          <p:cNvPr id="11" name="Oval 10"/>
          <p:cNvSpPr/>
          <p:nvPr/>
        </p:nvSpPr>
        <p:spPr>
          <a:xfrm>
            <a:off x="636000" y="2419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000" y="2137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Entre namespaces hace falta como mínimo &lt;servicio&gt;.&lt;namespace&gt;. El FQDN entero nunca falla.</a:t>
            </a:r>
          </a:p>
        </p:txBody>
      </p:sp>
      <p:sp>
        <p:nvSpPr>
          <p:cNvPr id="13" name="Oval 12"/>
          <p:cNvSpPr/>
          <p:nvPr/>
        </p:nvSpPr>
        <p:spPr>
          <a:xfrm>
            <a:off x="636000" y="3086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000" y="2805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 namespace separa nombres, no red: por defecto se puede llamar a un Service de otro namespace.</a:t>
            </a:r>
          </a:p>
        </p:txBody>
      </p:sp>
      <p:sp>
        <p:nvSpPr>
          <p:cNvPr id="15" name="Oval 14"/>
          <p:cNvSpPr/>
          <p:nvPr/>
        </p:nvSpPr>
        <p:spPr>
          <a:xfrm>
            <a:off x="636000" y="3754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000" y="3472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Quien corta el tráfico entre namespaces es una NetworkPolicy, no la frontera del namespace.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35040" y="1470000"/>
            <a:ext cx="4936960" cy="2670000"/>
          </a:xfrm>
          <a:prstGeom prst="roundRect">
            <a:avLst>
              <a:gd name="adj" fmla="val 3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35040" y="1770000"/>
            <a:ext cx="46000" cy="237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5040" y="1530000"/>
            <a:ext cx="4556960" cy="2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DESDE UN POD DE GRATITUD-FRONTEND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25040" y="1764000"/>
            <a:ext cx="4556960" cy="1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5040" y="1960000"/>
            <a:ext cx="4516960" cy="1983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mismo namespace: nombre corto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curl http://portal-ci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otro namespace: svc.namespace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curl http://api.gratitud-api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siempre válido: FQDN completo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curl http://api.gratitud-api.svc.cluster.local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cat /etc/resolv.conf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mira 'search'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El nombre completo de un Service es &lt;servicio&gt;.&lt;namespace&gt;.svc.cluster.local. Dentro del mismo namespace basta con el nombre corto, porque la línea search del /etc/resolv.conf del Pod añade el sufijo &lt;namespace&gt;.svc.cluster.local automáticamente. Ese atajo es también la trampa: funciona hasta que el cliente y el servidor están en namespaces distintos.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Para hablar con un Service de otro namespace hay que darle a CoreDNS al menos &lt;servicio&gt;.&lt;namespace&gt;: portal en gratitud-frontend llama a la API como api.gratitud-api. El FQDN entero siempre funciona y es lo más explícito; en manifiestos que se despliegan en varios entornos es la opción segura.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El namespace es una frontera de nombres y de organización, pero NO de red: por defecto un Pod de cualquier namespace puede abrir una conexión a la ClusterIP de un Service de cualquier otro. Lo que separa el tráfico entre namespaces es una NetworkPolicy, no el namespace en sí. En esta sesión conectamos GRATITUD; aislarlo es tema de la sesión de NetworkPolicy.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PROGRAMA GRATITUD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Tres namespaces, un flujo de tráfico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17</a:t>
            </a:r>
          </a:p>
        </p:txBody>
      </p:sp>
      <p:pic>
        <p:nvPicPr>
          <p:cNvPr id="8" name="Picture 7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1470000"/>
            <a:ext cx="10952000" cy="776666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0000" y="1693333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0000" y="1470000"/>
            <a:ext cx="2500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gratitud-frontend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0000" y="1640866"/>
            <a:ext cx="8000" cy="434933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0000" y="1470000"/>
            <a:ext cx="7202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Deployment portal (nginx). Service portal-np NodePort para entrar desde fuera. Llama a api.gratitud-api.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000" y="2254666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00" y="2416666"/>
            <a:ext cx="10952000" cy="776666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0000" y="264000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0000" y="2416666"/>
            <a:ext cx="2500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gratitud-api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0000" y="2587533"/>
            <a:ext cx="8000" cy="434933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0000" y="2416666"/>
            <a:ext cx="7202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Deployment api. Service api ClusterIP, port 80 → targetPort 8080. Llama a cache.gratitud-datos y a db-externa.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000" y="3201333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000" y="3363333"/>
            <a:ext cx="10952000" cy="776666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0000" y="3586666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0000" y="3363333"/>
            <a:ext cx="2500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gratitud-datos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0000" y="3534199"/>
            <a:ext cx="8000" cy="434933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0000" y="3363333"/>
            <a:ext cx="7202000" cy="7766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Deployment cache. Service cache ClusterIP. Service db-externa ExternalName → db.corp.example.com.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GRATITUD está partido en tres namespaces por responsabilidad: gratitud-frontend (el portal que ve el usuario), gratitud-api (la lógica de negocio) y gratitud-datos (caché y acceso a datos). Cada tramo se expone con un ClusterIP y se llama al siguiente por su FQDN. El portal no conoce ninguna IP de Pod: conoce el nombre api.gratitud-api, y punto.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El acceso al exterior se modela con un Service ExternalName: db-externa en gratitud-datos es un CNAME a db.corp.example.com. Para el código de la API es un Service más —le habla a db-externa:5432— y si mañana cambia el host real de la base de datos, se cambia el ExternalName y nada más.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La única puerta de entrada desde fuera es un NodePort (o un LoadBalancer donde haya nube) sobre el portal. Los Services de api y de datos son ClusterIP: nadie de fuera los alcanza y no hace falta que lo hagan. Esto es lo que se valida en el LAB 9.3, y lo que aparece roto en el 9.4.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SINTAXIS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ExternalName y llamada entre namespaces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18</a:t>
            </a:r>
          </a:p>
        </p:txBody>
      </p:sp>
      <p:pic>
        <p:nvPicPr>
          <p:cNvPr id="8" name="Picture 7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1850000"/>
            <a:ext cx="10952000" cy="1944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1850000"/>
            <a:ext cx="46000" cy="1944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000" y="1970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ALIAS INTERNO A UN SERVICIO EXTERNO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000" y="2250000"/>
            <a:ext cx="10412000" cy="148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apiVersion: v1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kind: Service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metadata: {name: db-externa, namespace: gratitud-datos}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spec: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type: ExternalName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externalName: db.corp.example.com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CNAME, sin ClusterIP ni puertos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" y="3994000"/>
            <a:ext cx="10952000" cy="1272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00" y="3994000"/>
            <a:ext cx="46000" cy="127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000" y="4114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LA API LLAMA A DATOS POR FQDN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000" y="4394000"/>
            <a:ext cx="10412000" cy="81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dentro de un Pod de gratitud-api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curl http://cache.gratitud-datos.svc.cluster.local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curl http://db-externa.gratitud-datos.svc.cluster.local:5432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" y="584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000" y="586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000" y="584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El ExternalName solo traduce el nombre. No abre puertos ni hace proxy: la conectividad real a db.corp.example.com es cosa de la red del cluster.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4492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avanzado — solo requerimientos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9.3 — Conectar el programa GRATITUD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Partir de tres namespaces con sus Deployments y llegar, solo a partir de requerimientos, a un flujo portal → api → datos que funcione de extremo a extremo.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Crear los tres namespaces y desplegar portal, api y cache con sus labels.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Exponer cada tramo con el tipo de Service correcto: NodePort solo el portal.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Resolver api.gratitud-api y cache.gratitud-datos por FQDN desde el Pod que corresponde.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Modelar la base de datos externa con un Service ExternalName.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Validar el flujo completo desde fuera del cluster contra el NodePort del portal.</a:t>
            </a:r>
          </a:p>
        </p:txBody>
      </p:sp>
      <p:sp>
        <p:nvSpPr>
          <p:cNvPr id="16" name="Freeform 15"/>
          <p:cNvSpPr/>
          <p:nvPr/>
        </p:nvSpPr>
        <p:spPr>
          <a:xfrm>
            <a:off x="9590000" y="1418800"/>
            <a:ext cx="784000" cy="842800"/>
          </a:xfrm>
          <a:custGeom>
            <a:avLst/>
            <a:gdLst/>
            <a:ahLst/>
            <a:cxnLst/>
            <a:rect l="l" t="t" r="r" b="b"/>
            <a:pathLst>
              <a:path w="784000" h="842800">
                <a:moveTo>
                  <a:pt x="235200" y="0"/>
                </a:moveTo>
                <a:lnTo>
                  <a:pt x="235200" y="333200"/>
                </a:lnTo>
                <a:lnTo>
                  <a:pt x="0" y="842800"/>
                </a:lnTo>
                <a:lnTo>
                  <a:pt x="784000" y="842800"/>
                </a:lnTo>
                <a:lnTo>
                  <a:pt x="548800" y="333200"/>
                </a:lnTo>
                <a:lnTo>
                  <a:pt x="548800" y="0"/>
                </a:lnTo>
              </a:path>
            </a:pathLst>
          </a:custGeom>
          <a:noFill/>
          <a:ln w="3302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766400" y="1418800"/>
            <a:ext cx="4312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27200" y="2006800"/>
            <a:ext cx="5096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CLASE-09/LABORATORIOS/LAB-03-AVANZADO.md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30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get svc -A -l part-of=gratitud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4604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FF7B72"/>
                </a:solidFill>
                <a:latin typeface="Segoe UI"/>
              </a:rPr>
              <a:t>Challenge — el escenario arranca roto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9.4 — Challenge: «GRATITUD no conecta»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El portal responde pero devuelve error; la API no ve la caché. Cuatro fallos repartidos entre selector, puertos, tipo de Service y FQDN.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Prepara el escenario: RECURSOS/SCRIPTS/setup-lab.sh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Recorre el flujo de dentro hacia fuera: Pod → EndpointSlice → Service → FQDN → NodePort.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Identifica los 4 fallos y la capa de cada uno; documenta síntoma, comando y causa.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Corrige in situ: prohibido borrar Services o cambiar todo a NodePort.</a:t>
            </a:r>
          </a:p>
        </p:txBody>
      </p:sp>
      <p:sp>
        <p:nvSpPr>
          <p:cNvPr id="14" name="Oval 13"/>
          <p:cNvSpPr/>
          <p:nvPr/>
        </p:nvSpPr>
        <p:spPr>
          <a:xfrm>
            <a:off x="9825200" y="1497200"/>
            <a:ext cx="313600" cy="313600"/>
          </a:xfrm>
          <a:prstGeom prst="ellipse">
            <a:avLst/>
          </a:prstGeom>
          <a:noFill/>
          <a:ln w="33020">
            <a:solidFill>
              <a:srgbClr val="FF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66400" y="1752000"/>
            <a:ext cx="431200" cy="490000"/>
          </a:xfrm>
          <a:prstGeom prst="ellipse">
            <a:avLst/>
          </a:prstGeom>
          <a:noFill/>
          <a:ln w="33020">
            <a:solidFill>
              <a:srgbClr val="FF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9550800" y="17912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178000" y="17912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9550800" y="19480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178000" y="19480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9550800" y="21048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178000" y="21048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CLASE-09/LABORATORIOS/LAB-04-CHALLENGE.md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20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./validate-lab.sh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Traducción de síntomas de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21</a:t>
            </a:r>
          </a:p>
        </p:txBody>
      </p:sp>
      <p:pic>
        <p:nvPicPr>
          <p:cNvPr id="8" name="Picture 7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0000" y="1470000"/>
            <a:ext cx="10952000" cy="420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1882000"/>
            <a:ext cx="10952000" cy="1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000" y="1470000"/>
            <a:ext cx="30656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LO QUE OBSERVAS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5600" y="1470000"/>
            <a:ext cx="41608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DÓNDE ESTÁ EL PROBLEMA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6400" y="1470000"/>
            <a:ext cx="30656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COMANDO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000" y="24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" y="189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EndpointSlice vacío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5600" y="189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Selector del Service contra labels del Pod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6400" y="189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get pods --show-labels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000" y="245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" y="301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000" y="245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Hay endpoints, curl da timeout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5600" y="245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targetPort equivocado o falta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6400" y="245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get svc -o yaml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357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000" y="301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Resuelve dentro, no desde otro 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5600" y="301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Falta el namespace en el nombre (FQDN)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6400" y="301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exec -- nslookup svc.ns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" y="357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000" y="413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000" y="357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LoadBalancer en pending eterno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5600" y="357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Sin integración de nube; usa NodePort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6400" y="357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get svc -w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000" y="469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000" y="413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Externo no entra, interno sí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5600" y="413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Service es ClusterIP, no NodePort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46400" y="413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get svc -o wide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Comprueba que puedes hacer esto sin apuntes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96000" y="339000"/>
            <a:ext cx="512000" cy="512000"/>
          </a:xfrm>
          <a:prstGeom prst="roundRect">
            <a:avLst>
              <a:gd name="adj" fmla="val 20000"/>
            </a:avLst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1124000" y="607800"/>
            <a:ext cx="89600" cy="102400"/>
          </a:xfrm>
          <a:prstGeom prst="line">
            <a:avLst/>
          </a:prstGeom>
          <a:ln w="4953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213600" y="479800"/>
            <a:ext cx="179200" cy="230400"/>
          </a:xfrm>
          <a:prstGeom prst="line">
            <a:avLst/>
          </a:prstGeom>
          <a:ln w="4953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0000" y="262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000" y="24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Explico por qué la IP de un Pod es efímera y qué integración rompe.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" y="318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000" y="30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Elijo entre ClusterIP, NodePort y LoadBalancer según quién deba llegar.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00" y="374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000" y="361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Describo la cadena Service → EndpointSlice → Pod.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" y="430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000" y="41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Sé que el selector construye el EndpointSlice y qué pasa si no cuadra.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00" y="486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000" y="47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Distingo para qué es una label y para qué una anotación en un Service.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6000" y="262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6000" y="24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Diferencio port, targetPort y nodePort sin dudar.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6000" y="318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6000" y="30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Resuelvo un Service de otro namespace por su FQDN.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6000" y="374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6000" y="361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Conecto portal → api → datos entre namespaces de GRATITUD.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6000" y="430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6000" y="41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Modelo un servicio externo con ExternalName.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6000" y="486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6000" y="47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Diagnostico un Service sin endpoints separando selector, puerto y namespace.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92000" y="-1400000"/>
            <a:ext cx="4000000" cy="40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00000" y="4358000"/>
            <a:ext cx="3800000" cy="38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000" y="900000"/>
            <a:ext cx="1650000" cy="16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00" y="300000"/>
            <a:ext cx="90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CIERRE DE LA SESIÓN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1560000"/>
            <a:ext cx="9200000" cy="9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 i="0">
                <a:solidFill>
                  <a:srgbClr val="F3F6FC"/>
                </a:solidFill>
                <a:latin typeface="Segoe UI Light"/>
              </a:rPr>
              <a:t>Sesión 9 completada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2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2820000"/>
            <a:ext cx="9752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Ya sabes por qué existe el Service y cómo elegir su tipo según quién tenga que llegar.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El selector es lo que engancha un Service a sus Pods; la anotación solo configura lo de alrededor. Y un nombre de Service cruza namespaces si le añades el suyo.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Con esto, GRATITUD conecta de extremo a extremo. Aislar ese tráfico ya es NetworkPolicy.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9 — Networking en Kubernetes (Services)</dc:title>
  <dc:subject>Sesión 9 — Networking en Kubernetes (Services)</dc:subject>
  <dc:creator>CKA Hands-On Training</dc:creator>
  <cp:keywords/>
  <dc:description>Generado con generador-diapositivas/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