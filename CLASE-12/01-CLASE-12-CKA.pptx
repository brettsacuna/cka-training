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2000" y="-1350000"/>
            <a:ext cx="4500000" cy="4500000"/>
          </a:xfrm>
          <a:prstGeom prst="ellipse">
            <a:avLst/>
          </a:prstGeom>
          <a:solidFill>
            <a:srgbClr val="0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42000" y="5308000"/>
            <a:ext cx="2900000" cy="2900000"/>
          </a:xfrm>
          <a:prstGeom prst="ellipse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000" y="1000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0000" y="300000"/>
            <a:ext cx="8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CKA HANDS-ON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" y="162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spc="200">
                <a:solidFill>
                  <a:srgbClr val="74A6FF"/>
                </a:solidFill>
                <a:latin typeface="Segoe UI Semibold"/>
              </a:rPr>
              <a:t>SESIÓN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" y="2040000"/>
            <a:ext cx="89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Salud de Aplicaciones y Observabilidad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00" y="3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00" y="376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Sondas que deciden reinicio y tráfico, y las herramientas para ver qué pasa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Especial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SESIÓN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5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5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4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LABORATORIOS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1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3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TIPOS DE SONDA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6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6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30 %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PESO TROUBLESHOOTING CKA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Al terminar esta sesión serás capaz de…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10983200" y="326200"/>
            <a:ext cx="537600" cy="5376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8400" y="441400"/>
            <a:ext cx="307200" cy="3072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00800" y="543800"/>
            <a:ext cx="102400" cy="102400"/>
          </a:xfrm>
          <a:prstGeom prst="ellipse">
            <a:avLst/>
          </a:prstGeom>
          <a:solidFill>
            <a:srgbClr val="74A6FF"/>
          </a:solidFill>
          <a:ln w="635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0000" y="20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000" y="19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Configurar liveness, readiness y startup probes y saber qué desencadena cada una.</a:t>
            </a:r>
          </a:p>
        </p:txBody>
      </p:sp>
      <p:sp>
        <p:nvSpPr>
          <p:cNvPr id="13" name="Oval 12"/>
          <p:cNvSpPr/>
          <p:nvPr/>
        </p:nvSpPr>
        <p:spPr>
          <a:xfrm>
            <a:off x="620000" y="26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000" y="24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Elegir el handler correcto: httpGet, tcpSocket, exec o grpc.</a:t>
            </a:r>
          </a:p>
        </p:txBody>
      </p:sp>
      <p:sp>
        <p:nvSpPr>
          <p:cNvPr id="15" name="Oval 14"/>
          <p:cNvSpPr/>
          <p:nvPr/>
        </p:nvSpPr>
        <p:spPr>
          <a:xfrm>
            <a:off x="620000" y="318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000" y="305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Diagnosticar un Pod con describe, logs --previous, exec, top y events.</a:t>
            </a:r>
          </a:p>
        </p:txBody>
      </p:sp>
      <p:sp>
        <p:nvSpPr>
          <p:cNvPr id="17" name="Oval 16"/>
          <p:cNvSpPr/>
          <p:nvPr/>
        </p:nvSpPr>
        <p:spPr>
          <a:xfrm>
            <a:off x="620000" y="374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000" y="361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Reconocer CrashLoopBackOff, OOMKilled, ImagePullBackOff y Pending por su causa.</a:t>
            </a:r>
          </a:p>
        </p:txBody>
      </p:sp>
      <p:sp>
        <p:nvSpPr>
          <p:cNvPr id="19" name="Oval 18"/>
          <p:cNvSpPr/>
          <p:nvPr/>
        </p:nvSpPr>
        <p:spPr>
          <a:xfrm>
            <a:off x="620000" y="430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000" y="417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Leer y seguir logs con kubectl logs: -f, --previous, --since, --tail, por label.</a:t>
            </a:r>
          </a:p>
        </p:txBody>
      </p:sp>
      <p:sp>
        <p:nvSpPr>
          <p:cNvPr id="21" name="Oval 20"/>
          <p:cNvSpPr/>
          <p:nvPr/>
        </p:nvSpPr>
        <p:spPr>
          <a:xfrm>
            <a:off x="620000" y="48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000" y="47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Explicar metrics-server frente a Prometheus, y para qué sirve cada uno.</a:t>
            </a:r>
          </a:p>
        </p:txBody>
      </p:sp>
      <p:sp>
        <p:nvSpPr>
          <p:cNvPr id="23" name="Oval 22"/>
          <p:cNvSpPr/>
          <p:nvPr/>
        </p:nvSpPr>
        <p:spPr>
          <a:xfrm>
            <a:off x="620000" y="54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000" y="52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Describir la arquitectura de monitoreo con Prometheus y Grafana.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SESIÓN ESPECIAL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10983200" y="326200"/>
            <a:ext cx="537600" cy="5376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1252000" y="415800"/>
            <a:ext cx="0" cy="1792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52000" y="595000"/>
            <a:ext cx="128000" cy="512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0000" y="177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00–10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0000" y="195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0000" y="177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Por qué un Pod «arriba» no siempre está sano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" y="224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10–30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0000" y="242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0000" y="224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liveness, readiness, startup y sus handlers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275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000" y="271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30–52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0000" y="289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0000" y="271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12.1 — Básico: las tres sondas en acción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000" y="318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52–70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20000" y="336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0000" y="318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el kit de troubleshooting y los estados de Pod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00" y="369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000" y="365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70–102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0000" y="383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0000" y="365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12.2 — Intermedio: diagnosticar cuatro Pods rotos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000" y="412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102–120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20000" y="430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20000" y="412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logs, metrics-server, Prometheus y Grafana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000" y="463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000" y="459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120–150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0000" y="477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20000" y="459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12.3 — Avanzado: sondas, top y métricas para GRATITUD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0000" y="510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000" y="506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150–170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20000" y="524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20000" y="506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12.4 — Challenge: «GRATITUD está degradado»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000" y="553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170–180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0000" y="571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20000" y="553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Cierre y CKA Tips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Sondas de salud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Una reinicia el contenedor, otra le corta el tráfico, otra le da tiempo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TRES SONDAS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Liveness, Readiness y Startup: qué hace cada 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470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147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0000" y="1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pic>
        <p:nvPicPr>
          <p:cNvPr id="11" name="Picture 10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333" y="1676000"/>
            <a:ext cx="330000" cy="33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0000" y="1670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Liveness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00" y="2030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«¿Sigue vivo?» Si falla, el kubelet mata y reinicia el contenedor. Para procesos colgados.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7333" y="1470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1333" y="147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7333" y="1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pic>
        <p:nvPicPr>
          <p:cNvPr id="17" name="Picture 16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666" y="1676000"/>
            <a:ext cx="330000" cy="33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87333" y="1670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7333" y="2030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«¿Puede atender ya?» Si falla, sale del EndpointSlice y deja de recibir tráfico. No reinicia.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4666" y="1470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8666" y="147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34666" y="1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pic>
        <p:nvPicPr>
          <p:cNvPr id="23" name="Picture 22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00" y="1676000"/>
            <a:ext cx="330000" cy="33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44666" y="1670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Startup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4666" y="2030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«¿Terminó de arrancar?» Mientras no pasa, liveness y readiness quedan en pausa. Para arranques lentos.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000" y="2925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000" y="2925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0000" y="3145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pic>
        <p:nvPicPr>
          <p:cNvPr id="29" name="Picture 28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333" y="3131000"/>
            <a:ext cx="330000" cy="33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30000" y="3125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El error clásico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000" y="3485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Liveness contra una dependencia externa: si la BD cae, tu app se reinicia en bucle sin motivo.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7333" y="2925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1333" y="2925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7333" y="3145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pic>
        <p:nvPicPr>
          <p:cNvPr id="35" name="Picture 34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666" y="3131000"/>
            <a:ext cx="330000" cy="330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87333" y="3125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Readiness sí depende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7333" y="3485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La readiness sí puede mirar dependencias: cortar el tráfico mientras la BD no está es correcto.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4666" y="2925000"/>
            <a:ext cx="3437333" cy="1215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58666" y="2925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34666" y="3145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pic>
        <p:nvPicPr>
          <p:cNvPr id="41" name="Picture 40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00" y="3131000"/>
            <a:ext cx="330000" cy="330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744666" y="3125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Sin sondas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4666" y="3485000"/>
            <a:ext cx="3037333" cy="59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Solo se mira si el proceso principal vive. Un cuelgue no se detecta y el tráfico sigue llegando.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Un contenedor en estado Running no implica que la aplicación funcione: puede estar colgada, calentando cachés o esperando una migración. Las probes son comprobaciones periódicas que el kubelet ejecuta contra el contenedor para decidir qué hacer con él. Hay tres, y cada una tiene una consecuencia distinta.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La liveness probe responde a «¿sigue vivo?». Si falla failureThreshold veces seguidas, el kubelet MATA el contenedor y lo reinicia según la restartPolicy. Sirve para procesos que se cuelgan sin morir. El error clásico: apuntar la liveness a una dependencia externa (la base de datos); si la BD cae, Kubernetes reinicia tu aplicación en bucle sin arreglar nada.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La readiness probe responde a «¿puede atender peticiones AHORA?». Si falla, el Pod NO se reinicia: se le quita del EndpointSlice de sus Services y deja de recibir tráfico hasta que vuelva a pasar. La startup probe responde a «¿ya terminó de arrancar?»: mientras no pasa, se desactivan la liveness y la readiness. Es la forma correcta de proteger aplicaciones de arranque lento sin poner una liveness laxa para todo su ciclo de vida.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CÓMO SE COMPRUEBA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Handlers y campos de temporización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96000" y="339000"/>
            <a:ext cx="512000" cy="512000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124000" y="607800"/>
            <a:ext cx="89600" cy="102400"/>
          </a:xfrm>
          <a:prstGeom prst="line">
            <a:avLst/>
          </a:prstGeom>
          <a:ln w="495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213600" y="479800"/>
            <a:ext cx="179200" cy="230400"/>
          </a:xfrm>
          <a:prstGeom prst="line">
            <a:avLst/>
          </a:prstGeom>
          <a:ln w="495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000" y="1470000"/>
            <a:ext cx="25180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ELEMENTO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8000" y="1470000"/>
            <a:ext cx="4343333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VALORES / CAMPOS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1333" y="1470000"/>
            <a:ext cx="3430666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NOTA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000" y="189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httpGet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8000" y="189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path, port, httpHeaders — 2xx/3xx = éxito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1333" y="189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El más habitual para servicios HTTP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000" y="245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tcpSocket / exec / grpc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8000" y="245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puerto abierto · comando con exit 0 · check gRPC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1333" y="245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exec para procesos sin HTTP; grpc desde v1.27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0000" y="301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initialDelaySeconds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8000" y="301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espera antes de la primera comprobación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1333" y="301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Mejor usar startupProbe que un initialDelay grande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000" y="357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periodSeconds · timeoutSeconds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18000" y="357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cada cuánto se comprueba · cuánto se espera respuesta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1333" y="357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Por defecto 10 s y 1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000" y="46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000" y="413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failureThreshold · successThreshold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18000" y="413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fallos para dar por caído · éxitos para dar por recuperado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1333" y="413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successThreshold de readiness puede ser &gt;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000" y="591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0000" y="593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000" y="591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Presupuesto de detección de un fallo de liveness ≈ initialDelaySeconds + periodSeconds × failureThreshold. Ajústalo al arranque real de la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SINTAXIS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Las tres sondas en un contenedor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07</a:t>
            </a:r>
          </a:p>
        </p:txBody>
      </p:sp>
      <p:sp>
        <p:nvSpPr>
          <p:cNvPr id="8" name="Freeform 7"/>
          <p:cNvSpPr/>
          <p:nvPr/>
        </p:nvSpPr>
        <p:spPr>
          <a:xfrm>
            <a:off x="11034400" y="300600"/>
            <a:ext cx="448000" cy="588800"/>
          </a:xfrm>
          <a:custGeom>
            <a:avLst/>
            <a:gdLst/>
            <a:ahLst/>
            <a:cxnLst/>
            <a:rect l="l" t="t" r="r" b="b"/>
            <a:pathLst>
              <a:path w="448000" h="588800">
                <a:moveTo>
                  <a:pt x="0" y="0"/>
                </a:moveTo>
                <a:lnTo>
                  <a:pt x="345600" y="0"/>
                </a:lnTo>
                <a:lnTo>
                  <a:pt x="448000" y="102400"/>
                </a:lnTo>
                <a:lnTo>
                  <a:pt x="448000" y="588800"/>
                </a:lnTo>
                <a:lnTo>
                  <a:pt x="0" y="588800"/>
                </a:lnTo>
                <a:close/>
              </a:path>
            </a:pathLst>
          </a:cu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380000" y="300600"/>
            <a:ext cx="0" cy="1024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380000" y="403000"/>
            <a:ext cx="1024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111200" y="543800"/>
            <a:ext cx="2816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111200" y="646200"/>
            <a:ext cx="2816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11200" y="748600"/>
            <a:ext cx="2816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0000" y="1850000"/>
            <a:ext cx="10952000" cy="3512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00" y="1850000"/>
            <a:ext cx="46000" cy="351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000" y="1970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STARTUP PROTEGE A LIVENESS DURANTE EL ARRANQUE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000" y="2250000"/>
            <a:ext cx="10412000" cy="305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containers: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 name: api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startupProbe:             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hasta 5 min de margen para arrancar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httpGet: {path: /healthz, port: 8080}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periodSeconds: 5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failureThreshold: 60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livenessProbe:            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solo actúa cuando startup ha pasado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httpGet: {path: /healthz, port: 8080}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periodSeconds: 10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failureThreshold: 3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readinessProbe:           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controla el tráfico, no el reinicio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httpGet: {path: /ready, port: 8080}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periodSeconds: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healthz y ready deben ser endpoints DISTINTOS: healthz = «el proceso responde»; ready = «tengo BD, caché y config y puedo servir».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12.1 — Las tres sondas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Configurar liveness, readiness y startup en una aplicación de prueba y observar en directo el reinicio, la salida del EndpointSlice y la protección del arranque.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Añadir una liveness que falle a propósito y ver subir el RESTARTS y el CrashLoopBackOff.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Añadir una readiness que falle y comprobar que el Pod sale de los endpoints del Service sin reiniciarse.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Simular un arranque lento y ver a la liveness matar el Pod; añadir un startupProbe y arreglarlo.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Leer los eventos del Pod: Unhealthy, Killing, Started.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Anotar el presupuesto de detección de cada sonda con sus periodSeconds y failureThreshold.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CLASE-12/LABORATORIOS/LAB-01-BASICO.md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22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describe pod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00" y="2330000"/>
            <a:ext cx="1080000" cy="1080000"/>
          </a:xfrm>
          <a:prstGeom prst="ellipse">
            <a:avLst/>
          </a:prstGeom>
          <a:noFill/>
          <a:ln w="3048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9958000" y="3266000"/>
            <a:ext cx="540000" cy="540000"/>
          </a:xfrm>
          <a:prstGeom prst="line">
            <a:avLst/>
          </a:prstGeom>
          <a:ln w="48768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Troubleshooting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describe, logs, exec, top, events: en ese orden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EL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Cinco pasos para cualquier Pod que no 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10</a:t>
            </a:r>
          </a:p>
        </p:txBody>
      </p:sp>
      <p:pic>
        <p:nvPicPr>
          <p:cNvPr id="8" name="Picture 7" descr="p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470000"/>
            <a:ext cx="10952000" cy="398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0000" y="1504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0000" y="1470000"/>
            <a:ext cx="2500000" cy="398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describe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0000" y="1557560"/>
            <a:ext cx="8000" cy="22288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0000" y="1470000"/>
            <a:ext cx="7202000" cy="398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kubectl describe pod: Events y State/Last State. La causa está aquí el 80 % de las veces.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000" y="1876000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" y="2038000"/>
            <a:ext cx="10952000" cy="398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000" y="2072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0000" y="2038000"/>
            <a:ext cx="2500000" cy="398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logs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0000" y="2125560"/>
            <a:ext cx="8000" cy="22288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0000" y="2038000"/>
            <a:ext cx="7202000" cy="398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kubectl logs [--previous] [-c &lt;cont&gt;] [-l &lt;label&gt;]. --previous para el arranque que crasheó.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000" y="2444000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000" y="2606000"/>
            <a:ext cx="10952000" cy="398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0000" y="2640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0000" y="2606000"/>
            <a:ext cx="2500000" cy="398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exec / debug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0000" y="2693560"/>
            <a:ext cx="8000" cy="22288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0000" y="2606000"/>
            <a:ext cx="7202000" cy="398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kubectl exec -it -- sh para inspeccionar; kubectl debug con contenedor efímero si no hay shell.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000" y="3012000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000" y="3174000"/>
            <a:ext cx="10952000" cy="398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0000" y="3208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0000" y="3174000"/>
            <a:ext cx="2500000" cy="398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top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0000" y="3261560"/>
            <a:ext cx="8000" cy="22288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0000" y="3174000"/>
            <a:ext cx="7202000" cy="398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kubectl top pod / node (necesita metrics-server). Confirma OOM o consumo anómalo.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000" y="3580000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000" y="3742000"/>
            <a:ext cx="10952000" cy="398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0000" y="3776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0000" y="3742000"/>
            <a:ext cx="2500000" cy="398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events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70000" y="3829560"/>
            <a:ext cx="8000" cy="22288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70000" y="3742000"/>
            <a:ext cx="7202000" cy="398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kubectl get events -A --sort-by=.lastTimestamp. La cronología de lo que ha pasado.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troubleshooting es el 30 % del examen y casi siempre sigue la misma secuencia. Primero kubectl get pod para ver el estado y el RESTARTS. Si algo llama la atención, kubectl describe pod: la sección Events y el bloque State/Last State dan la causa en la mayoría de los casos (imagen que no baja, sonda que falla, OOMKilled, volumen que no monta).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Si el contenedor llegó a arrancar, kubectl logs; y si está en CrashLoopBackOff, kubectl logs --previous para ver el arranque que falló, porque el actual aún no ha escrito nada. Con varios contenedores, -c; con varios Pods, -l por label.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kubectl exec entra al contenedor para mirar ficheros, procesos y conectividad (o kubectl debug con un contenedor efímero si la imagen no trae shell). kubectl top pod muestra CPU y memoria reales —necesita metrics-server— y confirma un OOM inminente o un consumo desbocado. kubectl get events -A --sort-by=.lastTimestamp da la foto del cluster entero.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ESTADOS DE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El síntoma y dónde mirar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11</a:t>
            </a:r>
          </a:p>
        </p:txBody>
      </p:sp>
      <p:pic>
        <p:nvPicPr>
          <p:cNvPr id="8" name="Picture 7" descr="p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1470000"/>
            <a:ext cx="25180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ESTADO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000" y="1470000"/>
            <a:ext cx="4343333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QUÉ SIGNIFICA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1333" y="1470000"/>
            <a:ext cx="3430666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PRIMER COMANDO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189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ImagePullBackOff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8000" y="189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No puede descargar la imagen: nombre, tag o credenciales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1333" y="189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(Events)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000" y="245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CrashLoopBackOff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8000" y="245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contenedor arranca y se cae una y otra vez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1333" y="245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logs --previous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" y="301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OOMKilled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8000" y="301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Superó el limits.memory; el kernel lo mató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1333" y="301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(Last State) · top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" y="357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Pending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8000" y="357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scheduler no lo coloca: recursos, taints, PVC sin enlazar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1333" y="357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· get events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000" y="46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000" y="413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CreateContainerConfigError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18000" y="413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Falta un ConfigMap/Secret o una clave referenciada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81333" y="413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(Events)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000" y="469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000" y="52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000" y="469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Completed / Error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8000" y="469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proceso terminó (0) o falló (≠0)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1333" y="469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RECETAS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Comandos de diagnóstico que se usan siempre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10996000" y="339000"/>
            <a:ext cx="384000" cy="3840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328800" y="671800"/>
            <a:ext cx="192000" cy="192000"/>
          </a:xfrm>
          <a:prstGeom prst="line">
            <a:avLst/>
          </a:prstGeom>
          <a:ln w="6096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0000" y="1782000"/>
            <a:ext cx="10952000" cy="1272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000" y="1782000"/>
            <a:ext cx="46000" cy="12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000" y="1902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ESTADO Y CAUSA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000" y="2182000"/>
            <a:ext cx="10412000" cy="81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pod -o wide --show-labels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describe pod &lt;p&gt; | sed -n '/Events/,$p'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events -A --sort-by=.lastTimestamp | tail -20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" y="3254000"/>
            <a:ext cx="10952000" cy="1272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00" y="3254000"/>
            <a:ext cx="46000" cy="12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000" y="3374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000" y="3654000"/>
            <a:ext cx="10412000" cy="81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logs &lt;p&gt; --previous      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el arranque que crasheó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logs -l part-of=gratitud --all-containers --prefix --tail=50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logs -f deploy/api --since=10m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" y="4726000"/>
            <a:ext cx="10952000" cy="1272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4726000"/>
            <a:ext cx="46000" cy="12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000" y="4846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DENTRO Y RECURSOS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000" y="5126000"/>
            <a:ext cx="10412000" cy="81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exec -it &lt;p&gt; -- sh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debug -it &lt;p&gt; --image=nicolaka/netshoot --target=&lt;cont&gt;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top pod -n gratitud-api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necesita metrics-server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intermedio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12.2 — Diagnosticar cuatro Pods rotos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Un namespace con cuatro Pods en estados distintos: ImagePullBackOff, CrashLoopBackOff, OOMKilled y Pending. Identificar la causa de cada uno con el kit y repararlos.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get pod: clasificar los cuatro por estado y RESTARTS.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describe + logs --previous: causa raíz de cada uno.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Corregir: tag de imagen, comando del contenedor, limits.memory y requests/tolerations.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top pod y events para confirmar que ninguno vuelve a caer.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Documentar síntoma, comando y causa por Pod.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CLASE-12/LABORATORIOS/LAB-02-INTERMEDIO.md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30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pods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Logs y monitoreo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De kubectl logs a Prometheus y Grafana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Todo a stdout/stderr, y kubectl logs para leerlo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15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36000" y="1751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1470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La app loguea a stdout/stderr. Escribir en un fichero del contenedor = kubectl logs vacío.</a:t>
            </a:r>
          </a:p>
        </p:txBody>
      </p:sp>
      <p:sp>
        <p:nvSpPr>
          <p:cNvPr id="11" name="Oval 10"/>
          <p:cNvSpPr/>
          <p:nvPr/>
        </p:nvSpPr>
        <p:spPr>
          <a:xfrm>
            <a:off x="636000" y="2419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137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 kubelet guarda y rota los logs en el nodo; kubectl logs los lee de ahí.</a:t>
            </a:r>
          </a:p>
        </p:txBody>
      </p:sp>
      <p:sp>
        <p:nvSpPr>
          <p:cNvPr id="13" name="Oval 12"/>
          <p:cNvSpPr/>
          <p:nvPr/>
        </p:nvSpPr>
        <p:spPr>
          <a:xfrm>
            <a:off x="636000" y="3086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000" y="2805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-f, --previous, --since, --tail, -c, -l ... --all-containers --prefix. deploy/ y job/ valen.</a:t>
            </a:r>
          </a:p>
        </p:txBody>
      </p:sp>
      <p:sp>
        <p:nvSpPr>
          <p:cNvPr id="15" name="Oval 14"/>
          <p:cNvSpPr/>
          <p:nvPr/>
        </p:nvSpPr>
        <p:spPr>
          <a:xfrm>
            <a:off x="636000" y="3754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3472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Centralización: DaemonSet recolector + backend con búsqueda (EFK / Loki). kubectl logs es la primera parada.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5040" y="1470000"/>
            <a:ext cx="4936960" cy="267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5040" y="1770000"/>
            <a:ext cx="46000" cy="237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5040" y="153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RECETAS DE KUBECTL 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5040" y="176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5040" y="1960000"/>
            <a:ext cx="4516960" cy="1785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logs &lt;p&gt; --previous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logs -f deploy/api --since=5m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logs -l part-of=gratitud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--all-containers --prefix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--tail=100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logs job/migracion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anti-patrón: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app -&gt; /var/log/app.log  (se pierde)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>
                <a:solidFill>
                  <a:srgbClr val="BDC9DB"/>
                </a:solidFill>
                <a:latin typeface="Segoe UI"/>
              </a:rPr>
              <a:t>La regla de oro: la aplicación escribe sus logs en stdout y stderr, no en ficheros dentro del contenedor. El runtime los captura, el kubelet los guarda en el nodo (con rotación) y kubectl logs los lee de ahí. Si la app escribe en /var/log/app.log dentro del contenedor, kubectl logs sale vacío y el fichero se pierde al recrearse el Pod.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>
                <a:solidFill>
                  <a:srgbClr val="BDC9DB"/>
                </a:solidFill>
                <a:latin typeface="Segoe UI"/>
              </a:rPr>
              <a:t>kubectl logs tiene todo lo necesario para el examen: -f para seguir en directo, --previous para el contenedor anterior (clave en CrashLoopBackOff), --since=10m y --tail=100 para acotar, -c para elegir contenedor, y -l &lt;label&gt; con --all-containers --prefix para ver varios Pods a la vez. deploy/&lt;n&gt; y job/&lt;n&gt; también valen como destino.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>
                <a:solidFill>
                  <a:srgbClr val="BDC9DB"/>
                </a:solidFill>
                <a:latin typeface="Segoe UI"/>
              </a:rPr>
              <a:t>Eso cubre el diagnóstico puntual. Para retener e indexar los logs de todo el cluster —y sobrevivir al borrado de un Pod— se despliega una pila de logging: un DaemonSet que recoge de cada nodo (Fluent Bit, Vector, Promtail) y un backend con búsqueda (Elasticsearch/OpenSearch con Kibana, o Loki con Grafana). Es infraestructura institucional; kubectl logs sigue siendo la primera parada.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metrics-server no es Prometheus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16</a:t>
            </a:r>
          </a:p>
        </p:txBody>
      </p:sp>
      <p:pic>
        <p:nvPicPr>
          <p:cNvPr id="8" name="Picture 7" descr="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36000" y="1751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1470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metrics-server: una muestra reciente en memoria, sin historia. Alimenta kubectl top y el HPA.</a:t>
            </a:r>
          </a:p>
        </p:txBody>
      </p:sp>
      <p:sp>
        <p:nvSpPr>
          <p:cNvPr id="11" name="Oval 10"/>
          <p:cNvSpPr/>
          <p:nvPr/>
        </p:nvSpPr>
        <p:spPr>
          <a:xfrm>
            <a:off x="636000" y="2419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137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Prometheus: series temporales en disco, PromQL, retención de días/semanas, alertas.</a:t>
            </a:r>
          </a:p>
        </p:txBody>
      </p:sp>
      <p:sp>
        <p:nvSpPr>
          <p:cNvPr id="13" name="Oval 12"/>
          <p:cNvSpPr/>
          <p:nvPr/>
        </p:nvSpPr>
        <p:spPr>
          <a:xfrm>
            <a:off x="636000" y="3086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000" y="2805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Modelo pull: Prometheus hace GET a /metrics de cada objetivo cada N segundos.</a:t>
            </a:r>
          </a:p>
        </p:txBody>
      </p:sp>
      <p:sp>
        <p:nvSpPr>
          <p:cNvPr id="15" name="Oval 14"/>
          <p:cNvSpPr/>
          <p:nvPr/>
        </p:nvSpPr>
        <p:spPr>
          <a:xfrm>
            <a:off x="636000" y="3754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3472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Descubrimiento: anotaciones prometheus.io/scrape, o ServiceMonitor con el Prometheus Operator.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5040" y="1470000"/>
            <a:ext cx="4936960" cy="267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5040" y="1770000"/>
            <a:ext cx="46000" cy="237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5040" y="153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TOP NECESITA METRICS-SERVER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5040" y="176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5040" y="1960000"/>
            <a:ext cx="4516960" cy="1983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k top node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k top pod -n gratitud-api --containers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si falla: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'Metrics API not available'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k -n kube-system get deploy metrics-server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exponer /metrics para Prometheus: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annotations: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  prometheus.io/scrape: "true"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  prometheus.io/port: "8080"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metrics-server es un componente ligero que sondea a los kubelets y mantiene en memoria una única muestra reciente de CPU y memoria por Pod y por nodo. No guarda historia. Es lo que alimenta kubectl top y el Horizontal Pod Autoscaler. Sin él, kubectl top pod devuelve «Metrics API not available».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Prometheus es un sistema de series temporales. Cada cierto intervalo hace scrape (un GET) del endpoint /metrics de cada objetivo, guarda el resultado con marca de tiempo en su TSDB y permite consultarlo con PromQL sobre ventanas de tiempo. Retiene días o semanas, calcula tasas y percentiles, y dispara alertas vía Alertmanager.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Son complementarios: metrics-server para autoescalado y un vistazo inmediato; Prometheus para «¿cómo ha evolucionado la latencia de la API esta semana?» y para alertar. Las aplicaciones exponen /metrics con una librería cliente; en Kubernetes, Prometheus descubre los objetivos por anotaciones (prometheus.io/scrape) o por objetos ServiceMonitor del Prometheus Operator.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Prometheus y Grafana: quién hace qué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17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670000"/>
            <a:ext cx="2022400" cy="700000"/>
          </a:xfrm>
          <a:prstGeom prst="roundRect">
            <a:avLst>
              <a:gd name="adj" fmla="val 11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000" y="1670000"/>
            <a:ext cx="1882400" cy="7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App /metrics + exporters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6400" y="2020000"/>
            <a:ext cx="162000" cy="0"/>
          </a:xfrm>
          <a:prstGeom prst="line">
            <a:avLst/>
          </a:prstGeom>
          <a:ln w="22225">
            <a:solidFill>
              <a:srgbClr val="74A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52400" y="1670000"/>
            <a:ext cx="2022400" cy="700000"/>
          </a:xfrm>
          <a:prstGeom prst="roundRect">
            <a:avLst>
              <a:gd name="adj" fmla="val 11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2400" y="1670000"/>
            <a:ext cx="1882400" cy="7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Prometheus (scrape + TSDB)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8800" y="2020000"/>
            <a:ext cx="162000" cy="0"/>
          </a:xfrm>
          <a:prstGeom prst="line">
            <a:avLst/>
          </a:prstGeom>
          <a:ln w="22225">
            <a:solidFill>
              <a:srgbClr val="74A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84800" y="1670000"/>
            <a:ext cx="2022400" cy="700000"/>
          </a:xfrm>
          <a:prstGeom prst="roundRect">
            <a:avLst>
              <a:gd name="adj" fmla="val 11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4800" y="1670000"/>
            <a:ext cx="1882400" cy="7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PromQL / reglas de alerta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1200" y="2020000"/>
            <a:ext cx="162000" cy="0"/>
          </a:xfrm>
          <a:prstGeom prst="line">
            <a:avLst/>
          </a:prstGeom>
          <a:ln w="22225">
            <a:solidFill>
              <a:srgbClr val="74A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7200" y="1670000"/>
            <a:ext cx="2022400" cy="700000"/>
          </a:xfrm>
          <a:prstGeom prst="roundRect">
            <a:avLst>
              <a:gd name="adj" fmla="val 11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7200" y="1670000"/>
            <a:ext cx="1882400" cy="7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Alertmanager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63600" y="2020000"/>
            <a:ext cx="162000" cy="0"/>
          </a:xfrm>
          <a:prstGeom prst="line">
            <a:avLst/>
          </a:prstGeom>
          <a:ln w="22225">
            <a:solidFill>
              <a:srgbClr val="74A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49600" y="1670000"/>
            <a:ext cx="2022400" cy="700000"/>
          </a:xfrm>
          <a:prstGeom prst="roundRect">
            <a:avLst>
              <a:gd name="adj" fmla="val 11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600" y="1670000"/>
            <a:ext cx="1882400" cy="70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Grafana (tableros)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000" y="2670000"/>
            <a:ext cx="10952000" cy="361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6000" y="2692000"/>
            <a:ext cx="40000" cy="356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000" y="2800000"/>
            <a:ext cx="10522000" cy="335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LO QUE HAY QUE ENTENDER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flujo empieza en la aplicación: expone /metrics en texto plano con contadores, gauges e histogramas. Los exporters hacen lo mismo para software que no habla el formato de Prometheus (node_exporter para el sistema operativo, kube-state-metrics para el estado de los objetos de Kubernetes).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Prometheus, en el centro, descubre los objetivos (por anotaciones o ServiceMonitor), hace scrape de sus /metrics cada intervalo y lo guarda en su TSDB local. Sobre esos datos se consultan expresiones PromQL y se evalúan reglas de alerta; cuando una se cumple, Prometheus se lo pasa a Alertmanager, que agrupa, silencia y enruta la notificación a correo, Slack o PagerDuty.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Grafana no almacena nada: se conecta a Prometheus como fuente de datos y dibuja los tableros. Es la capa de visualización. En un cluster típico todo esto se instala junto con el kube-prometheus-stack (Prometheus Operator + Grafana + kube-state-metrics + node_exporter + dashboards ya hechos).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492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avanzado — solo requerimientos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12.3 — Sondas, top y métricas para GRATITUD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Dar a la API y al portal de GRATITUD sondas correctas y límites de recursos, dejar kubectl top operativo y exponer sus métricas para un Prometheus.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Instalar metrics-server y verificar kubectl top node/pod.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Añadir a api y portal: startupProbe, livenessProbe (proceso) y readinessProbe (dependencias).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Fijar requests y limits de CPU y memoria coherentes con lo que muestra top.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Anotar los Services con prometheus.io/scrape y prometheus.io/port.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Demostrar: un proceso colgado se reinicia; un Pod calentando no recibe tráfico.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CLASE-12/LABORATORIOS/LAB-03-AVANZADO.md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30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top pod -A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604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FF7B72"/>
                </a:solidFill>
                <a:latin typeface="Segoe UI"/>
              </a:rPr>
              <a:t>Challenge — el escenario arranca roto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12.4 — Challenge: «GRATITUD está degradado»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La API se reinicia en bucle, el portal muere por memoria, un Service no tiene endpoints y no salen logs de un componente. Cuatro fallos de salud y observabilidad.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Prepara el escenario: RECURSOS/SCRIPTS/setup-lab.sh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Clasifica: CrashLoopBackOff, OOMKilled, 0 endpoints, kubectl logs vacío.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Ruta: liveness/startup → readiness/puerto → limits.memory → logs a stdout.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Corrige in situ. Prohibido quitar las sondas o los límites para «que arranque».</a:t>
            </a:r>
          </a:p>
        </p:txBody>
      </p:sp>
      <p:sp>
        <p:nvSpPr>
          <p:cNvPr id="14" name="Oval 13"/>
          <p:cNvSpPr/>
          <p:nvPr/>
        </p:nvSpPr>
        <p:spPr>
          <a:xfrm>
            <a:off x="9825200" y="1497200"/>
            <a:ext cx="313600" cy="313600"/>
          </a:xfrm>
          <a:prstGeom prst="ellipse">
            <a:avLst/>
          </a:prstGeom>
          <a:noFill/>
          <a:ln w="33020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66400" y="1752000"/>
            <a:ext cx="431200" cy="490000"/>
          </a:xfrm>
          <a:prstGeom prst="ellipse">
            <a:avLst/>
          </a:prstGeom>
          <a:noFill/>
          <a:ln w="33020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9550800" y="17912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178000" y="17912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9550800" y="19480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178000" y="19480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9550800" y="21048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178000" y="21048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CLASE-12/LABORATORIOS/LAB-04-CHALLENGE.md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./validate-lab.sh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Traducción de síntomas de salud y observabilidad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20</a:t>
            </a:r>
          </a:p>
        </p:txBody>
      </p:sp>
      <p:pic>
        <p:nvPicPr>
          <p:cNvPr id="8" name="Picture 7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1470000"/>
            <a:ext cx="30656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LO QUE OBSERVAS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5600" y="1470000"/>
            <a:ext cx="41608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DÓNDE ESTÁ EL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6400" y="1470000"/>
            <a:ext cx="30656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COMANDO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189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RESTARTS sube sin parar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5600" y="189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Liveness demasiado agresiva o app que crashea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6400" y="189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logs --previous · describe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000" y="245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Pod Running pero Service sin 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5600" y="245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Readiness que no pasa (puerto o path)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6400" y="245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· get endpoints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" y="301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Last State: OOMKilled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5600" y="301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limits.memory por debajo de lo que usa la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6400" y="301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· top pod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" y="357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kubectl logs vacío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5600" y="357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La app escribe en un fichero, no en stdout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6400" y="357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exec -- ls /var/log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000" y="46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000" y="413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kubectl top: Metrics API not available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5600" y="413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metrics-server no instalado o no listo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6400" y="413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-n kube-system get deploy metrics-server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Comprueba que puedes hacer esto sin apuntes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96000" y="339000"/>
            <a:ext cx="512000" cy="512000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124000" y="607800"/>
            <a:ext cx="89600" cy="102400"/>
          </a:xfrm>
          <a:prstGeom prst="line">
            <a:avLst/>
          </a:prstGeom>
          <a:ln w="495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213600" y="479800"/>
            <a:ext cx="179200" cy="230400"/>
          </a:xfrm>
          <a:prstGeom prst="line">
            <a:avLst/>
          </a:prstGeom>
          <a:ln w="495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0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Explico qué desencadena liveness, readiness y startup.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Sé por qué una liveness contra la BD es un error.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Elijo httpGet, tcpSocket, exec o grpc según el caso.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Calculo el presupuesto de detección de una sonda.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Diagnostico con describe → logs --previous → exec → top → events.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6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6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Reconozco OOMKilled, CrashLoopBackOff, ImagePullBackOff y Pending.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6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6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Sigo logs con -f, --previous, --since, --tail y por label.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6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6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Sé por qué kubectl logs sale vacío si la app escribe a un fichero.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6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6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Distingo metrics-server de Prometheus y para qué es cada uno.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6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6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Describo el flujo App → Prometheus → Alertmanager / Grafana.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92000" y="-1400000"/>
            <a:ext cx="4000000" cy="40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00000" y="4358000"/>
            <a:ext cx="3800000" cy="38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000" y="900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00" y="300000"/>
            <a:ext cx="90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CIERRE DE LA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1560000"/>
            <a:ext cx="9200000" cy="9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Sesión 12 completada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2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2820000"/>
            <a:ext cx="9752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Ya distingues «el proceso vive» de «la aplicación puede servir», y sabes qué sonda usar para cada cosa.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El kit de troubleshooting es siempre el mismo: describe, logs --previous, exec, top, events. La causa suele estar en los Events.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Y sabes dónde encaja cada pieza del monitoreo: metrics-server para top y el HPA, Prometheus para la historia y las alertas, Grafana para verlo.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12 — Salud de Aplicaciones y Observabilidad</dc:title>
  <dc:subject>Sesión 12 — Salud de Aplicaciones y Observabilidad</dc:subject>
  <dc:creator>CKA Hands-On Training</dc:creator>
  <cp:keywords/>
  <dc:description>Generado con generador-diapositivas/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