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2000" y="-1350000"/>
            <a:ext cx="4500000" cy="4500000"/>
          </a:xfrm>
          <a:prstGeom prst="ellipse">
            <a:avLst/>
          </a:prstGeom>
          <a:solidFill>
            <a:srgbClr val="0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42000" y="5308000"/>
            <a:ext cx="2900000" cy="2900000"/>
          </a:xfrm>
          <a:prstGeom prst="ellipse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720832" y="400000"/>
            <a:ext cx="2242335" cy="2186114"/>
          </a:xfrm>
          <a:custGeom>
            <a:avLst/>
            <a:gdLst/>
            <a:ahLst/>
            <a:cxnLst/>
            <a:rect l="l" t="t" r="r" b="b"/>
            <a:pathLst>
              <a:path w="2242335" h="2186114">
                <a:moveTo>
                  <a:pt x="1121168" y="0"/>
                </a:moveTo>
                <a:lnTo>
                  <a:pt x="2020274" y="432986"/>
                </a:lnTo>
                <a:lnTo>
                  <a:pt x="2242335" y="1405899"/>
                </a:lnTo>
                <a:lnTo>
                  <a:pt x="1620134" y="2186114"/>
                </a:lnTo>
                <a:lnTo>
                  <a:pt x="622201" y="2186114"/>
                </a:lnTo>
                <a:lnTo>
                  <a:pt x="0" y="1405899"/>
                </a:lnTo>
                <a:lnTo>
                  <a:pt x="222061" y="432986"/>
                </a:lnTo>
                <a:close/>
              </a:path>
            </a:pathLst>
          </a:custGeom>
          <a:noFill/>
          <a:ln w="28575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0000" y="300000"/>
            <a:ext cx="86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CKA HANDS-ON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" y="162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spc="200">
                <a:solidFill>
                  <a:srgbClr val="74A6FF"/>
                </a:solidFill>
                <a:latin typeface="Segoe UI Semibold"/>
              </a:rPr>
              <a:t>CLASE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" y="2040000"/>
            <a:ext cx="89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 i="0">
                <a:solidFill>
                  <a:srgbClr val="F3F6FC"/>
                </a:solidFill>
                <a:latin typeface="Segoe UI Light"/>
              </a:rPr>
              <a:t>Troubleshooting e Integración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000" y="3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000" y="376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El 30 % del examen y la razón por la que hiciste las cinco clases anteriores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0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180 min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DURACIÓN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5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5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5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5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LABORATORIOS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1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1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1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30 %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PESO EN EL CKA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6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6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6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0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TEMAS NUEVOS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Al terminar esta clase serás capaz de…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620000" y="234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000" y="221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Aplicar un método de diagnóstico reproducible en vez de ir probando comandos.</a:t>
            </a:r>
          </a:p>
        </p:txBody>
      </p:sp>
      <p:sp>
        <p:nvSpPr>
          <p:cNvPr id="10" name="Oval 9"/>
          <p:cNvSpPr/>
          <p:nvPr/>
        </p:nvSpPr>
        <p:spPr>
          <a:xfrm>
            <a:off x="620000" y="290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000" y="277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Reconocer cada estado de Pod y saber a qué capa apunta.</a:t>
            </a:r>
          </a:p>
        </p:txBody>
      </p:sp>
      <p:sp>
        <p:nvSpPr>
          <p:cNvPr id="12" name="Oval 11"/>
          <p:cNvSpPr/>
          <p:nvPr/>
        </p:nvSpPr>
        <p:spPr>
          <a:xfrm>
            <a:off x="620000" y="34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000" y="33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Diagnosticar fallos de nodo y de control plane, no solo de aplicación.</a:t>
            </a:r>
          </a:p>
        </p:txBody>
      </p:sp>
      <p:sp>
        <p:nvSpPr>
          <p:cNvPr id="14" name="Oval 13"/>
          <p:cNvSpPr/>
          <p:nvPr/>
        </p:nvSpPr>
        <p:spPr>
          <a:xfrm>
            <a:off x="620000" y="40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000" y="38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Resolver escenarios que cruzan scheduling, storage, configuración, permisos y red.</a:t>
            </a:r>
          </a:p>
        </p:txBody>
      </p:sp>
      <p:sp>
        <p:nvSpPr>
          <p:cNvPr id="16" name="Oval 15"/>
          <p:cNvSpPr/>
          <p:nvPr/>
        </p:nvSpPr>
        <p:spPr>
          <a:xfrm>
            <a:off x="620000" y="458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000" y="445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Trabajar contrarreloj sin perder el método.</a:t>
            </a:r>
          </a:p>
        </p:txBody>
      </p:sp>
      <p:sp>
        <p:nvSpPr>
          <p:cNvPr id="18" name="Oval 17"/>
          <p:cNvSpPr/>
          <p:nvPr/>
        </p:nvSpPr>
        <p:spPr>
          <a:xfrm>
            <a:off x="620000" y="514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000" y="501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Desplegar y reparar una arquitectura completa de principio a fin.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180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" y="177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00–12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120000" y="195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20000" y="177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Método de diagnóstico y mapa de estados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224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12–30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0000" y="242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0000" y="224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Demo: cinco Pods rotos, cinco causas distintas, en 15 minutos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" y="275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000" y="271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30–50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0000" y="289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0000" y="271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6.1 — Básico: identificar el estado y la capa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0000" y="322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000" y="318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50–78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20000" y="336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20000" y="318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6.2 — Intermedio: nodo y control plane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000" y="369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000" y="365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78–105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20000" y="383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20000" y="365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6.3 — Avanzado: cadena de fallos entre capas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0000" y="416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" y="412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105–120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20000" y="430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20000" y="412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6.4 — Challenge: contrarreloj, 15 minutos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0000" y="463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000" y="459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120–170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20000" y="477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20000" y="459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6.5 — INTEGRADOR 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000" y="506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170–178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20000" y="524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20000" y="506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Checklist CKA y Cheat Sheet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0000" y="553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178–180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20000" y="571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20000" y="553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Cierre del curso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479608" y="4208000"/>
            <a:ext cx="2924783" cy="2851453"/>
          </a:xfrm>
          <a:custGeom>
            <a:avLst/>
            <a:gdLst/>
            <a:ahLst/>
            <a:cxnLst/>
            <a:rect l="l" t="t" r="r" b="b"/>
            <a:pathLst>
              <a:path w="2924783" h="2851453">
                <a:moveTo>
                  <a:pt x="1462392" y="0"/>
                </a:moveTo>
                <a:lnTo>
                  <a:pt x="2635139" y="564765"/>
                </a:lnTo>
                <a:lnTo>
                  <a:pt x="2924783" y="1833781"/>
                </a:lnTo>
                <a:lnTo>
                  <a:pt x="2113217" y="2851453"/>
                </a:lnTo>
                <a:lnTo>
                  <a:pt x="811566" y="2851453"/>
                </a:lnTo>
                <a:lnTo>
                  <a:pt x="0" y="1833781"/>
                </a:lnTo>
                <a:lnTo>
                  <a:pt x="289644" y="564765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El método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Lo que separa a quien diagnostica de quien prueba comandos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MÉTODO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Seis pasos, siempre en el mismo orden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470000"/>
            <a:ext cx="10952000" cy="578333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0000" y="1594166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0000" y="1470000"/>
            <a:ext cx="2500000" cy="57833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Observar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0000" y="1597233"/>
            <a:ext cx="8000" cy="323866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0000" y="1470000"/>
            <a:ext cx="7202000" cy="57833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get: ¿qué estado exacto tiene cada objeto?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000" y="2056333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" y="2218333"/>
            <a:ext cx="10952000" cy="578333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0000" y="234250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0000" y="2218333"/>
            <a:ext cx="2500000" cy="57833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Acotar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0000" y="2345566"/>
            <a:ext cx="8000" cy="323866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0000" y="2218333"/>
            <a:ext cx="7202000" cy="57833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¿En qué capa está el problema? No toques nada todavía.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000" y="2804666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000" y="2966666"/>
            <a:ext cx="10952000" cy="578333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0000" y="3090833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0000" y="2966666"/>
            <a:ext cx="2500000" cy="57833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Hipótesis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0000" y="3093900"/>
            <a:ext cx="8000" cy="323866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0000" y="2966666"/>
            <a:ext cx="7202000" cy="57833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Formula una causa concreta antes de investigar.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000" y="3553000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000" y="3715000"/>
            <a:ext cx="10952000" cy="578333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0000" y="3839166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0000" y="3715000"/>
            <a:ext cx="2500000" cy="57833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Verificar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0000" y="3842233"/>
            <a:ext cx="8000" cy="323866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70000" y="3715000"/>
            <a:ext cx="7202000" cy="57833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Un comando que la confirme o la descarte.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000" y="4301333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000" y="4463333"/>
            <a:ext cx="10952000" cy="578333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0000" y="4587500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0000" y="4463333"/>
            <a:ext cx="2500000" cy="57833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Corregir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70000" y="4590566"/>
            <a:ext cx="8000" cy="323866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0000" y="4463333"/>
            <a:ext cx="7202000" cy="57833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Una cosa cada vez.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000" y="5049666"/>
            <a:ext cx="180000" cy="15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74A6FF"/>
                </a:solidFill>
                <a:latin typeface="Segoe UI"/>
              </a:rPr>
              <a:t>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0000" y="5211666"/>
            <a:ext cx="10952000" cy="578333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0000" y="5335833"/>
            <a:ext cx="330000" cy="33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0000" y="5211666"/>
            <a:ext cx="2500000" cy="57833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Validar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70000" y="5338900"/>
            <a:ext cx="8000" cy="323866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70000" y="5211666"/>
            <a:ext cx="7202000" cy="57833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Comprobar antes de seguir.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0000" y="591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0000" y="593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0000" y="591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El error de siempre: saltar de «observar» a «corregir». Se arreglan tres cosas a la vez, dos estaban bien, y ya nadie sabe qué pasaba.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TRADUCCIÓN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El estado ya te dice en qué fase murió el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000" y="1470000"/>
            <a:ext cx="30656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ESTADO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5600" y="1470000"/>
            <a:ext cx="41608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FASE EN LA QUE FALLÓ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6400" y="1470000"/>
            <a:ext cx="30656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PRIMER COMANDO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000" y="2447142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000" y="1890000"/>
            <a:ext cx="30656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5600" y="1890000"/>
            <a:ext cx="41608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scheduler no encontró nodo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6400" y="1890000"/>
            <a:ext cx="30656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→ 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000" y="2447142"/>
            <a:ext cx="10952000" cy="557142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000" y="3004285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000" y="2447142"/>
            <a:ext cx="30656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ContainerCreating atascado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5600" y="2447142"/>
            <a:ext cx="41608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Montaje de volumen o red del Pod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6400" y="2447142"/>
            <a:ext cx="30656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→ Events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000" y="3561428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000" y="3004285"/>
            <a:ext cx="30656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ImagePullBackOff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5600" y="3004285"/>
            <a:ext cx="41608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nodo no puede traer la imagen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6400" y="3004285"/>
            <a:ext cx="30656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→ Events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3561428"/>
            <a:ext cx="10952000" cy="557142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000" y="4118571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000" y="3561428"/>
            <a:ext cx="30656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CreateContainerConfigError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5600" y="3561428"/>
            <a:ext cx="41608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Falta un ConfigMap, Secret o clave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6400" y="3561428"/>
            <a:ext cx="30656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+ get cm,secret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000" y="4675714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0000" y="4118571"/>
            <a:ext cx="30656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CrashLoopBackOff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5600" y="4118571"/>
            <a:ext cx="41608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proceso arrancó y murió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6400" y="4118571"/>
            <a:ext cx="30656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logs --previous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0000" y="4675714"/>
            <a:ext cx="10952000" cy="557142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0000" y="5232857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0000" y="4675714"/>
            <a:ext cx="30656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Running con 0/1 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5600" y="4675714"/>
            <a:ext cx="41608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La readinessProbe falla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6400" y="4675714"/>
            <a:ext cx="30656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→ Conditions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0000" y="579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0000" y="5232857"/>
            <a:ext cx="30656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OOMKilled · exit 137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5600" y="5232857"/>
            <a:ext cx="41608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Superó limits.memory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6400" y="5232857"/>
            <a:ext cx="3065600" cy="55714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pod → Last State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0000" y="591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000" y="593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0000" y="591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Pending e ImagePullBackOff se confunden constantemente. En Pending el Pod no tiene nodo; en ImagePullBackOff ya lo tiene.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FF7B72"/>
                </a:solidFill>
                <a:latin typeface="Segoe UI Semibold"/>
              </a:rPr>
              <a:t>EL COMANDO QUE MÁS RINDE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logs --previous existe por una razón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" y="1470000"/>
            <a:ext cx="10952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En un CrashLoopBackOff, kubectl logs devuelve el contenedor ACTUAL, que probablemente aún no ha escrito nada. La causa está en la instancia anterior. Quien no conoce --previous concluye que «no hay logs» y se queda sin diagnóstico.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" y="2410000"/>
            <a:ext cx="10952000" cy="1420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2410000"/>
            <a:ext cx="46000" cy="1420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0000" y="2560000"/>
            <a:ext cx="10412000" cy="11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logs &lt;pod&gt; --previous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describe pod &lt;pod&gt; | sed -n '/Events/,$p'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describe pod &lt;pod&gt; | grep -A5 'Last State'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get events -n &lt;ns&gt; --sort-by=.lastTimestamp | tail -20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get pods -A -o wide | grep -vE 'Running|Completed'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básico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6.1 — Traducir estados: seis Pods, seis causas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Convertir el estado de un Pod en una hipótesis ANTES de investigar, y confirmarla con un solo comando.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Rellenar la tabla de hipótesis mirando solo kubectl get pods.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Confirmar cada caso con uno o dos comandos, no más.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Usar logs --previous en el caso que lo requiere.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Reparar atacando la causa, no el síntoma.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CLASE-06/LABORATORIOS/LAB-01-BASICO.md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./validate-lab.sh basico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479608" y="4208000"/>
            <a:ext cx="2924783" cy="2851453"/>
          </a:xfrm>
          <a:custGeom>
            <a:avLst/>
            <a:gdLst/>
            <a:ahLst/>
            <a:cxnLst/>
            <a:rect l="l" t="t" r="r" b="b"/>
            <a:pathLst>
              <a:path w="2924783" h="2851453">
                <a:moveTo>
                  <a:pt x="1462392" y="0"/>
                </a:moveTo>
                <a:lnTo>
                  <a:pt x="2635139" y="564765"/>
                </a:lnTo>
                <a:lnTo>
                  <a:pt x="2924783" y="1833781"/>
                </a:lnTo>
                <a:lnTo>
                  <a:pt x="2113217" y="2851453"/>
                </a:lnTo>
                <a:lnTo>
                  <a:pt x="811566" y="2851453"/>
                </a:lnTo>
                <a:lnTo>
                  <a:pt x="0" y="1833781"/>
                </a:lnTo>
                <a:lnTo>
                  <a:pt x="289644" y="564765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Nodo y control plane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Cuando el problema está debajo de las aplicaciones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DISTINCIÓN CRÍTICA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NotReady no es SchedulingDisabled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061000"/>
            <a:ext cx="5316000" cy="3058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2061000"/>
            <a:ext cx="5268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2321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NotReady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El nodo está averiado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00" y="2891000"/>
            <a:ext cx="4796000" cy="204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kubelet no reporta al API server.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Causas: kubelet parado, runtime caído, disco lleno, red del nodo.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Se diagnostica por SSH: systemctl status kubelet, journalctl, df -h.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Los Pods que había ahí acaban siendo desalojados.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6000" y="2061000"/>
            <a:ext cx="5316000" cy="3058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0000" y="2061000"/>
            <a:ext cx="5268000" cy="46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6000" y="2321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SchedulingDisabled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El nodo está cerrado a propósito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000" y="2891000"/>
            <a:ext cx="4796000" cy="204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Alguien ejecutó cordon o drain y no lo revirtió.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nodo está perfectamente sano.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Los Pods existentes siguen corriendo con normalidad.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Se arregla con un comando: kubectl uncordon.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00" y="586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0000" y="588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000" y="586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Confundirlos cuesta diez minutos revisando el kubelet de un nodo que no tiene absolutamente nada.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CUANDO KUBECTL NO RESPONDE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Deja de usar kubectl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0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kubectl no responde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04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04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04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systemctl status kubelet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08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08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08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crictl ps -a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12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12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2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crictl logs / journalctl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16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16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16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/etc/kubernetes/manifests/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2830000"/>
            <a:ext cx="10952000" cy="23200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0000" y="2854000"/>
            <a:ext cx="40000" cy="227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000" y="3070000"/>
            <a:ext cx="10432000" cy="19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000" b="1" i="0" spc="180">
                <a:solidFill>
                  <a:srgbClr val="74A6FF"/>
                </a:solidFill>
                <a:latin typeface="Segoe UI Semibold"/>
              </a:rPr>
              <a:t>POR QUÉ FUNCIONA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kubelet es un servicio de systemd, no un contenedor: sigue vivo aunque el API server esté caído.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Sus logs registran por qué no consigue arrancar un static Pod. Es la fuente de verdad.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crictl sustituye a kubectl para ver y depurar contenedores en el nodo.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Editar el manifiesto en /etc/kubernetes/manifests/ hace que el kubelet recree el componente en segundos.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No existe systemctl restart kube-apiserver: el API server es un contenedor que gestiona el kubelet.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kubeadm guarda copias de seguridad en /etc/kubernetes/tmp/kubeadm-backup-manifests-*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intermedio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6.2 — Nodo y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Dos incidentes seguidos: un worker que no acepta Pods y un control plane que deja kubectl sin respuesta.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Distinguir NotReady de SchedulingDisabled leyendo las Conditions.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Orden de diagnóstico: kubelet → runtime → disco.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Diagnosticar el control plane SIN kubectl, con crictl y journalctl.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Localizar el error del static Pod y esperar a que el kubelet lo recree.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Prohibido reiniciar nodos como primera medida: esconde la causa.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CLASE-06/LABORATORIOS/LAB-02-INTERMEDIO.md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28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nodes -o wide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479608" y="4208000"/>
            <a:ext cx="2924783" cy="2851453"/>
          </a:xfrm>
          <a:custGeom>
            <a:avLst/>
            <a:gdLst/>
            <a:ahLst/>
            <a:cxnLst/>
            <a:rect l="l" t="t" r="r" b="b"/>
            <a:pathLst>
              <a:path w="2924783" h="2851453">
                <a:moveTo>
                  <a:pt x="1462392" y="0"/>
                </a:moveTo>
                <a:lnTo>
                  <a:pt x="2635139" y="564765"/>
                </a:lnTo>
                <a:lnTo>
                  <a:pt x="2924783" y="1833781"/>
                </a:lnTo>
                <a:lnTo>
                  <a:pt x="2113217" y="2851453"/>
                </a:lnTo>
                <a:lnTo>
                  <a:pt x="811566" y="2851453"/>
                </a:lnTo>
                <a:lnTo>
                  <a:pt x="0" y="1833781"/>
                </a:lnTo>
                <a:lnTo>
                  <a:pt x="289644" y="564765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Los seis mental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Todo el curso condensado en seis rutas de diagnóstico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REFERENCIA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Cada capa tiene su ruta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902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1902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000" y="2152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2132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POD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552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get → describe → events → logs → logs --previous. El punto de partida de todo.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7333" y="1902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1333" y="1902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07333" y="2152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7333" y="2132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7333" y="2552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Pending → Events → recursos → nodeSelector → affinity → taints.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4666" y="1902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8666" y="1902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4666" y="2152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4666" y="2132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4666" y="2552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Service → selector → EndpointSlice → labels del Pod → targetPort.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000" y="3710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000" y="371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0000" y="39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000" y="3940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000" y="4360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PVC → StorageClass → PV → accessMode → capacity → Pod.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7333" y="3710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1333" y="371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07333" y="39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7333" y="3940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RBAC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7333" y="4360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identidad → Role/ClusterRole → binding → recurso → verbo → auth can-i.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4666" y="3710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58666" y="371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64666" y="39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4666" y="3940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NETWORKING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4666" y="4360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Pod → Service → EndpointSlice → DNS → NetworkPolicy → Ingress.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0000" y="586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0000" y="588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000" y="586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No son mnemotecnias: son el orden en que hay que descartar causas. Saltarse un escalón es lo que hace perder tiempo.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CADENAS DE FALLOS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Cuando todo parece roto, hay un orden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67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000" y="167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PERMISOS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0666" y="1670000"/>
            <a:ext cx="2300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666" y="167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0666" y="167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SCHEDULING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1333" y="1670000"/>
            <a:ext cx="2300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1333" y="167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1333" y="167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6666" y="2300000"/>
            <a:ext cx="200000" cy="21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74A6FF"/>
                </a:solidFill>
                <a:latin typeface="Segoe U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" y="248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000" y="248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CONFIGURACIÓN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666" y="2480000"/>
            <a:ext cx="2300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666" y="248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0666" y="248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APLICACIÓN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1333" y="2480000"/>
            <a:ext cx="2300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1333" y="2480000"/>
            <a:ext cx="3550666" cy="66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1333" y="2480000"/>
            <a:ext cx="3410666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000" y="3460000"/>
            <a:ext cx="10952000" cy="23200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0000" y="3484000"/>
            <a:ext cx="40000" cy="227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000" y="3700000"/>
            <a:ext cx="10432000" cy="19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000" b="1" i="0" spc="180">
                <a:solidFill>
                  <a:srgbClr val="74A6FF"/>
                </a:solidFill>
                <a:latin typeface="Segoe UI Semibold"/>
              </a:rPr>
              <a:t>SE DIAGNOSTICA DE ABAJO HACIA ARRIBA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Sin permisos no puedes ni operar: auth can-i primero.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Sin nodo no hay Pod: un Pod Pending no puede tener un problema de red.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Sin volumen el Pod no monta y se queda en ContainerCreating.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Sin ConfigMap o Secret el contenedor ni siquiera se crea.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Sin contenedor corriendo no hay nada que probar por red.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Y solo entonces: DNS, endpoints, políticas e Ingress.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avanzado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6.3 — Cadena de fallos entre capas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Seis fallos encadenados donde cada corrección destapa el siguiente. Obliga a recorrer todas las capas del curso.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Corregir los permisos de una ServiceAccount con mínimo privilegio.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Levantar un StatefulSet de 3 réplicas con volumen escribible.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Hacer llegar configuración y credenciales al contenedor.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Conseguir que el DNS por Pod resuelva.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Justificar por escrito el orden en que atacaste los fallos.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CLASE-06/LABORATORIOS/LAB-03-AVANZADO.md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27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./validate-lab.sh cadena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3148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FF7B72"/>
                </a:solidFill>
                <a:latin typeface="Segoe UI"/>
              </a:rPr>
              <a:t>Challenge — cronometrado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6.4 — Challenge contrarreloj: 15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Cinco tareas con peso distinto y tiempo insuficiente. Reproduce exactamente la presión del examen.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Minuto 0–1: lee las cinco tareas y ordénalas. No empieces por la primera.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Ataca lo de mayor peso que sepas resolver rápido.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 una tarea pasa de 4 minutos, déjala y vuelve al final.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Valida cada tarea al terminarla: «casi hecha» puntúa cero.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Objetivo: 24 de 35 puntos, el 66 % de aprobado del CKA.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CLASE-06/LABORATORIOS/LAB-04-CHALLENGE.md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15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./validate-lab.sh sprint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479608" y="4208000"/>
            <a:ext cx="2924783" cy="2851453"/>
          </a:xfrm>
          <a:custGeom>
            <a:avLst/>
            <a:gdLst/>
            <a:ahLst/>
            <a:cxnLst/>
            <a:rect l="l" t="t" r="r" b="b"/>
            <a:pathLst>
              <a:path w="2924783" h="2851453">
                <a:moveTo>
                  <a:pt x="1462392" y="0"/>
                </a:moveTo>
                <a:lnTo>
                  <a:pt x="2635139" y="564765"/>
                </a:lnTo>
                <a:lnTo>
                  <a:pt x="2924783" y="1833781"/>
                </a:lnTo>
                <a:lnTo>
                  <a:pt x="2113217" y="2851453"/>
                </a:lnTo>
                <a:lnTo>
                  <a:pt x="811566" y="2851453"/>
                </a:lnTo>
                <a:lnTo>
                  <a:pt x="0" y="1833781"/>
                </a:lnTo>
                <a:lnTo>
                  <a:pt x="289644" y="564765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Laboratorio integrador final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Construir la arquitectura completa y después repararla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ARQUITECTURA A CONSTRUIR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Todo el curso en un solo despliegue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138000"/>
            <a:ext cx="5316000" cy="1332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2138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000" y="2388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2368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INGRESS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788000"/>
            <a:ext cx="4856000" cy="60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HTTPS con certificado propio, host tienda.local, dos paths.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6000" y="2138000"/>
            <a:ext cx="5316000" cy="1332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0000" y="2138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6000" y="2388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6000" y="2368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000" y="2788000"/>
            <a:ext cx="4856000" cy="60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Deployment 2 réplicas, readiness, requests y limits.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000" y="3710000"/>
            <a:ext cx="5316000" cy="1332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000" y="3710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000" y="39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0000" y="3940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000" y="4360000"/>
            <a:ext cx="4856000" cy="60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ConfigMap por envFrom, Secret por variable y como volumen.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6000" y="3710000"/>
            <a:ext cx="5316000" cy="1332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0000" y="3710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86000" y="39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6000" y="3940000"/>
            <a:ext cx="4626000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STATEFULSET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000" y="4360000"/>
            <a:ext cx="4856000" cy="60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3 réplicas postgres, Headless Service, un PVC RWO por réplica.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000" y="586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0000" y="588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000" y="586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Más NetworkPolicies con default deny que solo permiten DNS, frontend→backend, backend→db y la entrada del Ingress Controller. Se construye SIN manifiestos dados: solo a partir de requerimientos.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FF7B72"/>
                </a:solidFill>
                <a:latin typeface="Segoe UI Semibold"/>
              </a:rPr>
              <a:t>ORDEN DE CONSTRUCCIÓN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Las políticas de red, siempre al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" y="1470000"/>
            <a:ext cx="10952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Si aplicas default-deny antes de que las aplicaciones funcionen, nada arranca y el diagnóstico se vuelve imposible: no sabrás si el problema es la red o el despliegue. Construye, valida, y solo entonces cierra la 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" y="2410000"/>
            <a:ext cx="10952000" cy="748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2410000"/>
            <a:ext cx="46000" cy="748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0000" y="2560000"/>
            <a:ext cx="10412000" cy="4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Namespace -&gt; ConfigMap + Secret -&gt; Storage -&gt; StatefulSet -&gt; Deployments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-&gt; Services -&gt; TLS -&gt; Ingress -&gt; NetworkPolicies -&gt; Validación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Otros puntos de fricción esperados: PGDATA en un subdirectorio, el namespace del Ingress Controller, y anti-affinity preferred en vez de required con solo dos nodos.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5276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Integrador — construcción y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6.5 — INTEGRADOR FINAL — Fase 1 y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30 minutos para construir la arquitectura desde requerimientos. Después el instructor inyecta fallas y tienes 20 para repararla.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Fase 1: construir sin manifiestos dados y superar la validación completa.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Fase 2: ./inject-failures.sh introduce entre 5 y 8 fallas. No se te dice cuáles.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Documentar por cada falla: capa, síntoma, comando, causa raíz, corrección.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Prohibido borrar el namespace, la política default-deny o los PVC.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Los datos de la base de datos deben conservarse.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CLASE-06/LABORATORIOS/LAB-05-INTEGRADOR-FINAL.md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50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./validate-lab.sh final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Los cinco comandos que resuelven la mayoría de los incidentes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" y="1470000"/>
            <a:ext cx="10952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En este orden, sin saltarse ninguno.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" y="2410000"/>
            <a:ext cx="10952000" cy="1420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2410000"/>
            <a:ext cx="46000" cy="14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0000" y="2560000"/>
            <a:ext cx="10412000" cy="11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-n &lt;ns&gt; get all,pvc,ingress,networkpolicy   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¿qué hay y en qué estado?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-n &lt;ns&gt; get events --sort-by=.lastTimestamp | tail -30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-n &lt;ns&gt; describe pod &lt;p&gt; | sed -n '/Events/,$p'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-n &lt;ns&gt; get endpointslices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logs &lt;p&gt; --previous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El método vale más que los comandos. Acota la capa antes de tocar nada, corrige una cosa cada vez, y valida antes de seguir. Es igual en el examen que a las tres de la mañana en producción.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ESTRATEGIA DE EXAMEN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Lo que hay que hacer el día del CKA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23</a:t>
            </a:r>
          </a:p>
        </p:txBody>
      </p:sp>
      <p:sp>
        <p:nvSpPr>
          <p:cNvPr id="8" name="Oval 7"/>
          <p:cNvSpPr/>
          <p:nvPr/>
        </p:nvSpPr>
        <p:spPr>
          <a:xfrm>
            <a:off x="620000" y="290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000" y="27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Primer minuto: lee todas las tareas y anota su peso.</a:t>
            </a:r>
          </a:p>
        </p:txBody>
      </p:sp>
      <p:sp>
        <p:nvSpPr>
          <p:cNvPr id="10" name="Oval 9"/>
          <p:cNvSpPr/>
          <p:nvPr/>
        </p:nvSpPr>
        <p:spPr>
          <a:xfrm>
            <a:off x="620000" y="34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000" y="33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Ordénalas: primero las que valen mucho y sabes hacer rápido.</a:t>
            </a:r>
          </a:p>
        </p:txBody>
      </p:sp>
      <p:sp>
        <p:nvSpPr>
          <p:cNvPr id="12" name="Oval 11"/>
          <p:cNvSpPr/>
          <p:nvPr/>
        </p:nvSpPr>
        <p:spPr>
          <a:xfrm>
            <a:off x="620000" y="40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000" y="38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Prepara alias k, export do y export now antes de la primera tarea.</a:t>
            </a:r>
          </a:p>
        </p:txBody>
      </p:sp>
      <p:sp>
        <p:nvSpPr>
          <p:cNvPr id="14" name="Oval 13"/>
          <p:cNvSpPr/>
          <p:nvPr/>
        </p:nvSpPr>
        <p:spPr>
          <a:xfrm>
            <a:off x="620000" y="458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000" y="44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Cambia el contexto y el namespace que indica cada enunciado.</a:t>
            </a:r>
          </a:p>
        </p:txBody>
      </p:sp>
      <p:sp>
        <p:nvSpPr>
          <p:cNvPr id="16" name="Oval 15"/>
          <p:cNvSpPr/>
          <p:nvPr/>
        </p:nvSpPr>
        <p:spPr>
          <a:xfrm>
            <a:off x="6256000" y="290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000" y="27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Marca y salta cualquier tarea que se pase de tu presupuesto de tiempo.</a:t>
            </a:r>
          </a:p>
        </p:txBody>
      </p:sp>
      <p:sp>
        <p:nvSpPr>
          <p:cNvPr id="18" name="Oval 17"/>
          <p:cNvSpPr/>
          <p:nvPr/>
        </p:nvSpPr>
        <p:spPr>
          <a:xfrm>
            <a:off x="6256000" y="34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6000" y="33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Valida cada tarea nada más terminarla.</a:t>
            </a:r>
          </a:p>
        </p:txBody>
      </p:sp>
      <p:sp>
        <p:nvSpPr>
          <p:cNvPr id="20" name="Oval 19"/>
          <p:cNvSpPr/>
          <p:nvPr/>
        </p:nvSpPr>
        <p:spPr>
          <a:xfrm>
            <a:off x="6256000" y="40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6000" y="38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Guarda los últimos 10 minutos para las tareas marcadas.</a:t>
            </a:r>
          </a:p>
        </p:txBody>
      </p:sp>
      <p:sp>
        <p:nvSpPr>
          <p:cNvPr id="22" name="Oval 21"/>
          <p:cNvSpPr/>
          <p:nvPr/>
        </p:nvSpPr>
        <p:spPr>
          <a:xfrm>
            <a:off x="6256000" y="458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6000" y="44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Usa solo kubernetes.io/docs y kubectl explain. Practica así desde hoy.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92000" y="-1400000"/>
            <a:ext cx="4000000" cy="40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63645" y="4308000"/>
            <a:ext cx="2827290" cy="2756404"/>
          </a:xfrm>
          <a:custGeom>
            <a:avLst/>
            <a:gdLst/>
            <a:ahLst/>
            <a:cxnLst/>
            <a:rect l="l" t="t" r="r" b="b"/>
            <a:pathLst>
              <a:path w="2827290" h="2756404">
                <a:moveTo>
                  <a:pt x="1413645" y="0"/>
                </a:moveTo>
                <a:lnTo>
                  <a:pt x="2547300" y="545939"/>
                </a:lnTo>
                <a:lnTo>
                  <a:pt x="2827290" y="1772655"/>
                </a:lnTo>
                <a:lnTo>
                  <a:pt x="2042776" y="2756404"/>
                </a:lnTo>
                <a:lnTo>
                  <a:pt x="784513" y="2756404"/>
                </a:lnTo>
                <a:lnTo>
                  <a:pt x="0" y="1772655"/>
                </a:lnTo>
                <a:lnTo>
                  <a:pt x="279989" y="545939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00" y="300000"/>
            <a:ext cx="90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CIERRE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500000"/>
            <a:ext cx="10000000" cy="9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0" i="0">
                <a:solidFill>
                  <a:srgbClr val="F3F6FC"/>
                </a:solidFill>
                <a:latin typeface="Segoe UI Light"/>
              </a:rPr>
              <a:t>Curso completado — 18 horas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000" y="2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00" y="2820000"/>
            <a:ext cx="9752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Has recorrido el camino completo: COMPRENDER → EJECUTAR → PRACTICAR → INTEGRAR → DIAGNOSTICAR → RESOLVER.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Llévate dos documentos: 02-CHECKLIST-CKA.md para saber qué dominas de verdad, y 03-CHEATSHEET-CKA.md para repasar antes del examen.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Y una recomendación: repite el LAB 6.5 completo una vez por semana hasta que te salga sin mirar. Es el mejor simulacro que tienes.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6 — Troubleshooting e Integración</dc:title>
  <dc:subject>Clase 6 — Troubleshooting e Integración</dc:subject>
  <dc:creator>CKA Hands-On Training</dc:creator>
  <cp:keywords/>
  <dc:description>Generado con generador-diapositivas/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