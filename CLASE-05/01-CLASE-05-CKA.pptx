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2000" y="-1350000"/>
            <a:ext cx="4500000" cy="4500000"/>
          </a:xfrm>
          <a:prstGeom prst="ellipse">
            <a:avLst/>
          </a:prstGeom>
          <a:solidFill>
            <a:srgbClr val="0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42000" y="5308000"/>
            <a:ext cx="2900000" cy="2900000"/>
          </a:xfrm>
          <a:prstGeom prst="ellipse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9720832" y="400000"/>
            <a:ext cx="2242335" cy="2186114"/>
          </a:xfrm>
          <a:custGeom>
            <a:avLst/>
            <a:gdLst/>
            <a:ahLst/>
            <a:cxnLst/>
            <a:rect l="l" t="t" r="r" b="b"/>
            <a:pathLst>
              <a:path w="2242335" h="2186114">
                <a:moveTo>
                  <a:pt x="1121168" y="0"/>
                </a:moveTo>
                <a:lnTo>
                  <a:pt x="2020274" y="432986"/>
                </a:lnTo>
                <a:lnTo>
                  <a:pt x="2242335" y="1405899"/>
                </a:lnTo>
                <a:lnTo>
                  <a:pt x="1620134" y="2186114"/>
                </a:lnTo>
                <a:lnTo>
                  <a:pt x="622201" y="2186114"/>
                </a:lnTo>
                <a:lnTo>
                  <a:pt x="0" y="1405899"/>
                </a:lnTo>
                <a:lnTo>
                  <a:pt x="222061" y="432986"/>
                </a:lnTo>
                <a:close/>
              </a:path>
            </a:pathLst>
          </a:custGeom>
          <a:noFill/>
          <a:ln w="28575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0000" y="300000"/>
            <a:ext cx="860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CKA HANDS-ON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000" y="1620000"/>
            <a:ext cx="8600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spc="200">
                <a:solidFill>
                  <a:srgbClr val="74A6FF"/>
                </a:solidFill>
                <a:latin typeface="Segoe UI Semibold"/>
              </a:rPr>
              <a:t>CLASE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00" y="2040000"/>
            <a:ext cx="89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 i="0">
                <a:solidFill>
                  <a:srgbClr val="F3F6FC"/>
                </a:solidFill>
                <a:latin typeface="Segoe UI Light"/>
              </a:rPr>
              <a:t>Services, Ingress, CoreDNS y NetworkPolicy</a:t>
            </a:r>
          </a:p>
        </p:txBody>
      </p:sp>
      <p:sp>
        <p:nvSpPr>
          <p:cNvPr id="8" name="Rectangle 7"/>
          <p:cNvSpPr/>
          <p:nvPr/>
        </p:nvSpPr>
        <p:spPr>
          <a:xfrm>
            <a:off x="660000" y="356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000" y="3760000"/>
            <a:ext cx="8600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Publicar aplicaciones y decidir exactamente quién puede hablar con quién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00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00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180 min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DURACIÓN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55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55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55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4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LABORATORIOS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10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10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10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20 %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PESO EN EL CKA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6500" y="4650000"/>
            <a:ext cx="2645500" cy="9000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46500" y="4650000"/>
            <a:ext cx="26455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96500" y="4770000"/>
            <a:ext cx="2345500" cy="6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i="0">
                <a:solidFill>
                  <a:srgbClr val="F3F6FC"/>
                </a:solidFill>
                <a:latin typeface="Segoe UI Light"/>
              </a:rPr>
              <a:t>TLS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8493AD"/>
                </a:solidFill>
                <a:latin typeface="Segoe UI Semibold"/>
              </a:rPr>
              <a:t>HTTPS PROPIO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Al terminar esta clase serás capaz de…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02</a:t>
            </a:r>
          </a:p>
        </p:txBody>
      </p:sp>
      <p:sp>
        <p:nvSpPr>
          <p:cNvPr id="8" name="Oval 7"/>
          <p:cNvSpPr/>
          <p:nvPr/>
        </p:nvSpPr>
        <p:spPr>
          <a:xfrm>
            <a:off x="620000" y="20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000" y="193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Elegir el tipo de Service correcto para cada necesidad de publicación.</a:t>
            </a:r>
          </a:p>
        </p:txBody>
      </p:sp>
      <p:sp>
        <p:nvSpPr>
          <p:cNvPr id="10" name="Oval 9"/>
          <p:cNvSpPr/>
          <p:nvPr/>
        </p:nvSpPr>
        <p:spPr>
          <a:xfrm>
            <a:off x="620000" y="262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000" y="249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Explicar el modelo de red: Pod-to-Pod, Pod-to-Service y entrada desde fuera.</a:t>
            </a:r>
          </a:p>
        </p:txBody>
      </p:sp>
      <p:sp>
        <p:nvSpPr>
          <p:cNvPr id="12" name="Oval 11"/>
          <p:cNvSpPr/>
          <p:nvPr/>
        </p:nvSpPr>
        <p:spPr>
          <a:xfrm>
            <a:off x="620000" y="318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000" y="305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Resolver nombres con CoreDNS y diagnosticar un fallo de resolución.</a:t>
            </a:r>
          </a:p>
        </p:txBody>
      </p:sp>
      <p:sp>
        <p:nvSpPr>
          <p:cNvPr id="14" name="Oval 13"/>
          <p:cNvSpPr/>
          <p:nvPr/>
        </p:nvSpPr>
        <p:spPr>
          <a:xfrm>
            <a:off x="620000" y="374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000" y="361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Publicar varias aplicaciones tras una sola entrada, con HTTP y HTTPS.</a:t>
            </a:r>
          </a:p>
        </p:txBody>
      </p:sp>
      <p:sp>
        <p:nvSpPr>
          <p:cNvPr id="16" name="Oval 15"/>
          <p:cNvSpPr/>
          <p:nvPr/>
        </p:nvSpPr>
        <p:spPr>
          <a:xfrm>
            <a:off x="620000" y="430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000" y="417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Situar Gateway API frente a Ingress y saber por qué existe.</a:t>
            </a:r>
          </a:p>
        </p:txBody>
      </p:sp>
      <p:sp>
        <p:nvSpPr>
          <p:cNvPr id="18" name="Oval 17"/>
          <p:cNvSpPr/>
          <p:nvPr/>
        </p:nvSpPr>
        <p:spPr>
          <a:xfrm>
            <a:off x="620000" y="48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000" y="473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Escribir NetworkPolicies de Ingress y Egress, incluyendo default deny.</a:t>
            </a:r>
          </a:p>
        </p:txBody>
      </p:sp>
      <p:sp>
        <p:nvSpPr>
          <p:cNvPr id="20" name="Oval 19"/>
          <p:cNvSpPr/>
          <p:nvPr/>
        </p:nvSpPr>
        <p:spPr>
          <a:xfrm>
            <a:off x="620000" y="542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000" y="5290000"/>
            <a:ext cx="1045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Distinguir un fallo de DNS de uno de endpoints, de política o de Ingress.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180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000" y="154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00–10</a:t>
            </a:r>
          </a:p>
        </p:txBody>
      </p:sp>
      <p:sp>
        <p:nvSpPr>
          <p:cNvPr id="9" name="Rectangle 8"/>
          <p:cNvSpPr/>
          <p:nvPr/>
        </p:nvSpPr>
        <p:spPr>
          <a:xfrm>
            <a:off x="2120000" y="1715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20000" y="154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Repaso de la Clase 4 y objetivos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" y="201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10–30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20000" y="2185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20000" y="201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Conceptos: modelo de red, tipos de Service, EndpointSlice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" y="248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30–45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0000" y="2655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20000" y="248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Conceptos: CoreDNS y resolución de nombres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0000" y="2990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000" y="295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45–68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20000" y="3125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20000" y="295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5.1 — Básico: Services y DNS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000" y="342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68–85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20000" y="3595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20000" y="342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Conceptos: Ingress, controlador, TLS y Gateway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0000" y="3930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0000" y="389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85–120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20000" y="4065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20000" y="389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5.2 — Intermedio: Ingress con HTTP y HTTPS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0000" y="436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120–133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20000" y="4535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20000" y="436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Conceptos: NetworkPolicy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0000" y="4870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0000" y="483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133–160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20000" y="5005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20000" y="483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5.3 — Avanzado: aislar frontend y backend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0000" y="5340000"/>
            <a:ext cx="11072000" cy="390000"/>
          </a:xfrm>
          <a:prstGeom prst="roundRect">
            <a:avLst>
              <a:gd name="adj" fmla="val 16000"/>
            </a:avLst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0000" y="530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74A6FF"/>
                </a:solidFill>
                <a:latin typeface="Consolas"/>
              </a:rPr>
              <a:t>160–176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20000" y="5475000"/>
            <a:ext cx="8000" cy="12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20000" y="530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F3F6FC"/>
                </a:solidFill>
                <a:latin typeface="Segoe UI"/>
              </a:rPr>
              <a:t>LAB 5.4 — Challenge: «la red está rota»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0000" y="5770000"/>
            <a:ext cx="1500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40">
                <a:solidFill>
                  <a:srgbClr val="8493AD"/>
                </a:solidFill>
                <a:latin typeface="Consolas"/>
              </a:rPr>
              <a:t>176–180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20000" y="5945000"/>
            <a:ext cx="8000" cy="12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20000" y="5770000"/>
            <a:ext cx="925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Cierre y CKA Tips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00000" y="4258000"/>
            <a:ext cx="4200000" cy="42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9479608" y="4208000"/>
            <a:ext cx="2924783" cy="2851453"/>
          </a:xfrm>
          <a:custGeom>
            <a:avLst/>
            <a:gdLst/>
            <a:ahLst/>
            <a:cxnLst/>
            <a:rect l="l" t="t" r="r" b="b"/>
            <a:pathLst>
              <a:path w="2924783" h="2851453">
                <a:moveTo>
                  <a:pt x="1462392" y="0"/>
                </a:moveTo>
                <a:lnTo>
                  <a:pt x="2635139" y="564765"/>
                </a:lnTo>
                <a:lnTo>
                  <a:pt x="2924783" y="1833781"/>
                </a:lnTo>
                <a:lnTo>
                  <a:pt x="2113217" y="2851453"/>
                </a:lnTo>
                <a:lnTo>
                  <a:pt x="811566" y="2851453"/>
                </a:lnTo>
                <a:lnTo>
                  <a:pt x="0" y="1833781"/>
                </a:lnTo>
                <a:lnTo>
                  <a:pt x="289644" y="564765"/>
                </a:lnTo>
                <a:close/>
              </a:path>
            </a:pathLst>
          </a:custGeom>
          <a:noFill/>
          <a:ln w="3175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0000" y="1150000"/>
            <a:ext cx="40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i="0">
                <a:solidFill>
                  <a:srgbClr val="4C5B75"/>
                </a:solidFill>
                <a:latin typeface="Segoe UI Ligh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50000"/>
            <a:ext cx="92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60">
                <a:solidFill>
                  <a:srgbClr val="74A6FF"/>
                </a:solidFill>
                <a:latin typeface="Segoe UI Semibold"/>
              </a:rPr>
              <a:t>BLOQUE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350000"/>
            <a:ext cx="102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3F6FC"/>
                </a:solidFill>
                <a:latin typeface="Segoe UI Light"/>
              </a:rPr>
              <a:t>Services y DNS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438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4560000"/>
            <a:ext cx="9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Lo que hay debajo de cualquier problema de 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RUTA DEL TRÁFICO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Cómo llega un paquete a un Pod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1790000"/>
            <a:ext cx="2070400" cy="72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000" y="1790000"/>
            <a:ext cx="19304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Cliente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0400" y="1790000"/>
            <a:ext cx="23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40400" y="1790000"/>
            <a:ext cx="2070400" cy="72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0400" y="1790000"/>
            <a:ext cx="19304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ClusterIP (virtual)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0800" y="1790000"/>
            <a:ext cx="23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60800" y="1790000"/>
            <a:ext cx="2070400" cy="72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0800" y="1790000"/>
            <a:ext cx="19304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kube-proxy · iptables/IPVS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1200" y="1790000"/>
            <a:ext cx="23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81200" y="1790000"/>
            <a:ext cx="2070400" cy="72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1200" y="1790000"/>
            <a:ext cx="19304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EndpointSlice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1600" y="1790000"/>
            <a:ext cx="23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1600" y="1790000"/>
            <a:ext cx="2070400" cy="72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71600" y="1790000"/>
            <a:ext cx="19304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IP del Pod : targetPort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000" y="2830000"/>
            <a:ext cx="10952000" cy="182000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0000" y="2854000"/>
            <a:ext cx="40000" cy="177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0000" y="3070000"/>
            <a:ext cx="10432000" cy="14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000" b="1" i="0" spc="180">
                <a:solidFill>
                  <a:srgbClr val="74A6FF"/>
                </a:solidFill>
                <a:latin typeface="Segoe UI Semibold"/>
              </a:rPr>
              <a:t>TRES CONSECUENCIAS PRÁCTICAS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La ClusterIP no existe en ninguna interfaz de red: es una regla, no una dirección real.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DNS NO balancea. Resuelve siempre a la misma ClusterIP; quien reparte es kube-proxy.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Un Pod que no está Ready desaparece del EndpointSlice y deja de recibir tráfico. Es lo que hace que un rollout roto no rompa el servicio.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Por eso: nslookup OK + curl timeout = problema de endpoints, NO de DNS.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TIPOS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Cuatro tipos y un caso especial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2202000"/>
            <a:ext cx="3437333" cy="1568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000" y="2202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0000" y="2452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0000" y="2432000"/>
            <a:ext cx="274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ClusterIP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00" y="2852000"/>
            <a:ext cx="2977333" cy="83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Por defecto. Solo dentro del cluster. Para que un componente hable con otro.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7333" y="2202000"/>
            <a:ext cx="3437333" cy="1568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1333" y="2202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07333" y="2452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7333" y="2432000"/>
            <a:ext cx="274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NodePort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7333" y="2852000"/>
            <a:ext cx="2977333" cy="83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Mismo puerto en todos los nodos, rango 30000–32767. Laboratorio y balanceadores propios.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4666" y="2202000"/>
            <a:ext cx="3437333" cy="1568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8666" y="2202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64666" y="2452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4666" y="2432000"/>
            <a:ext cx="274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LoadBalancer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4666" y="2852000"/>
            <a:ext cx="2977333" cy="83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IP pública del proveedor de nube. Una por Service: caro cuando hay muchos.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000" y="4010000"/>
            <a:ext cx="3437333" cy="1568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4000" y="4010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0000" y="42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0000" y="4240000"/>
            <a:ext cx="274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ExternalName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000" y="4660000"/>
            <a:ext cx="2977333" cy="83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Ni IP ni endpoints. CoreDNS devuelve un CNAME a un nombre externo. No hay proxy.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77333" y="4010000"/>
            <a:ext cx="3437333" cy="1568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01333" y="4010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07333" y="42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17333" y="4240000"/>
            <a:ext cx="274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Headless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07333" y="4660000"/>
            <a:ext cx="2977333" cy="83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clusterIP: None. El DNS devuelve las IP de los Pods, no una VIP. Base del StatefulSet.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4666" y="4010000"/>
            <a:ext cx="3437333" cy="1568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58666" y="4010000"/>
            <a:ext cx="3389333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64666" y="426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4666" y="4240000"/>
            <a:ext cx="2747333" cy="3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3F6FC"/>
                </a:solidFill>
                <a:latin typeface="Segoe UI Semibold"/>
              </a:rPr>
              <a:t>El error de siempre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4666" y="4660000"/>
            <a:ext cx="2977333" cy="83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port es el puerto del Service; targetPort el del contenedor; nodePort el del nodo.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COREDNS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Cómo encuentra un Pod a otro por nombre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07</a:t>
            </a:r>
          </a:p>
        </p:txBody>
      </p:sp>
      <p:sp>
        <p:nvSpPr>
          <p:cNvPr id="8" name="Oval 7"/>
          <p:cNvSpPr/>
          <p:nvPr/>
        </p:nvSpPr>
        <p:spPr>
          <a:xfrm>
            <a:off x="636000" y="242800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000" y="2010000"/>
            <a:ext cx="5435040" cy="9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CoreDNS vive en kube-system. Su Service se sigue llamando kube-dns por motivos históricos.</a:t>
            </a:r>
          </a:p>
        </p:txBody>
      </p:sp>
      <p:sp>
        <p:nvSpPr>
          <p:cNvPr id="10" name="Oval 9"/>
          <p:cNvSpPr/>
          <p:nvPr/>
        </p:nvSpPr>
        <p:spPr>
          <a:xfrm>
            <a:off x="636000" y="336800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0000" y="2950000"/>
            <a:ext cx="5435040" cy="9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El FQDN de un Service es &lt;svc&gt;.&lt;ns&gt;.svc.cluster.local; el de un Pod de StatefulSet añade el nombre del Pod delante.</a:t>
            </a:r>
          </a:p>
        </p:txBody>
      </p:sp>
      <p:sp>
        <p:nvSpPr>
          <p:cNvPr id="12" name="Oval 11"/>
          <p:cNvSpPr/>
          <p:nvPr/>
        </p:nvSpPr>
        <p:spPr>
          <a:xfrm>
            <a:off x="636000" y="430800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000" y="3890000"/>
            <a:ext cx="5435040" cy="9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search hace que dentro del namespace baste con escribir el nombre corto del Service.</a:t>
            </a:r>
          </a:p>
        </p:txBody>
      </p:sp>
      <p:sp>
        <p:nvSpPr>
          <p:cNvPr id="14" name="Oval 13"/>
          <p:cNvSpPr/>
          <p:nvPr/>
        </p:nvSpPr>
        <p:spPr>
          <a:xfrm>
            <a:off x="636000" y="524800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0000" y="4830000"/>
            <a:ext cx="5435040" cy="9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ndots:5 significa que un nombre con menos de 5 puntos prueba primero los sufijos de search.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35040" y="2010000"/>
            <a:ext cx="4936960" cy="3760000"/>
          </a:xfrm>
          <a:prstGeom prst="roundRect">
            <a:avLst>
              <a:gd name="adj" fmla="val 3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35040" y="2310000"/>
            <a:ext cx="46000" cy="346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25040" y="2070000"/>
            <a:ext cx="4556960" cy="2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/ETC/RESOLV.CONF DE UN POD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25040" y="2304000"/>
            <a:ext cx="4556960" cy="1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65040" y="2500000"/>
            <a:ext cx="4516960" cy="218211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nameserver 10.96.0.10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search c5-basico.svc.cluster.local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 svc.cluster.local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 cluster.local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options ndots:5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/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Diagnóstico rápido: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k run tmp --rm -it \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--image=busybox:1.36 \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--restart=Never -- \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nslookup &lt;svc&gt;.&lt;ns&gt;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2500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74A6FF"/>
                </a:solidFill>
                <a:latin typeface="Segoe UI"/>
              </a:rPr>
              <a:t>Nivel básico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5.1 — Services, EndpointSlice y CoreDNS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Publicar la misma aplicación con distintos tipos de Service y entender exactamente cómo un Pod encuentra a otro.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ClusterIP, NodePort con nodePort 31500 y ExternalName. Averiguar qué hace el último.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Comprobar que dos Services distintos comparten los mismos endpoints.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Provocar que una réplica deje de estar Ready y ver desaparecer su dirección.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Leer /etc/resolv.conf, explicar search y ndots, y comprobar quién balancea.</a:t>
            </a:r>
          </a:p>
        </p:txBody>
      </p:sp>
      <p:sp>
        <p:nvSpPr>
          <p:cNvPr id="14" name="Oval 13"/>
          <p:cNvSpPr/>
          <p:nvPr/>
        </p:nvSpPr>
        <p:spPr>
          <a:xfrm>
            <a:off x="640000" y="493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000" y="480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Activar y revertir el log de consultas de CoreDNS.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CLASE-05/LABORATORIOS/LAB-01-BASICO.md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23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k get endpointslices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00000" y="4258000"/>
            <a:ext cx="4200000" cy="42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9479608" y="4208000"/>
            <a:ext cx="2924783" cy="2851453"/>
          </a:xfrm>
          <a:custGeom>
            <a:avLst/>
            <a:gdLst/>
            <a:ahLst/>
            <a:cxnLst/>
            <a:rect l="l" t="t" r="r" b="b"/>
            <a:pathLst>
              <a:path w="2924783" h="2851453">
                <a:moveTo>
                  <a:pt x="1462392" y="0"/>
                </a:moveTo>
                <a:lnTo>
                  <a:pt x="2635139" y="564765"/>
                </a:lnTo>
                <a:lnTo>
                  <a:pt x="2924783" y="1833781"/>
                </a:lnTo>
                <a:lnTo>
                  <a:pt x="2113217" y="2851453"/>
                </a:lnTo>
                <a:lnTo>
                  <a:pt x="811566" y="2851453"/>
                </a:lnTo>
                <a:lnTo>
                  <a:pt x="0" y="1833781"/>
                </a:lnTo>
                <a:lnTo>
                  <a:pt x="289644" y="564765"/>
                </a:lnTo>
                <a:close/>
              </a:path>
            </a:pathLst>
          </a:custGeom>
          <a:noFill/>
          <a:ln w="3175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0000" y="1150000"/>
            <a:ext cx="40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i="0">
                <a:solidFill>
                  <a:srgbClr val="4C5B75"/>
                </a:solidFill>
                <a:latin typeface="Segoe UI Ligh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50000"/>
            <a:ext cx="92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60">
                <a:solidFill>
                  <a:srgbClr val="74A6FF"/>
                </a:solidFill>
                <a:latin typeface="Segoe UI Semibold"/>
              </a:rPr>
              <a:t>BLOQUE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350000"/>
            <a:ext cx="102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3F6FC"/>
                </a:solidFill>
                <a:latin typeface="Segoe UI Light"/>
              </a:rPr>
              <a:t>Ingress y Gateway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438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4560000"/>
            <a:ext cx="9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Una sola puerta de entrada para muchas aplicaciones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Del cliente al contenedor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1790000"/>
            <a:ext cx="2070400" cy="72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000" y="1790000"/>
            <a:ext cx="19304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CLIENTE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0400" y="1790000"/>
            <a:ext cx="23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40400" y="1790000"/>
            <a:ext cx="2070400" cy="72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0400" y="1790000"/>
            <a:ext cx="19304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INGRESS CONTROLLER (proxy L7)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0800" y="1790000"/>
            <a:ext cx="23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60800" y="1790000"/>
            <a:ext cx="2070400" cy="72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0800" y="1790000"/>
            <a:ext cx="19304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1200" y="1790000"/>
            <a:ext cx="23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81200" y="1790000"/>
            <a:ext cx="2070400" cy="72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1200" y="1790000"/>
            <a:ext cx="19304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ENDPOINTSLICE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1600" y="1790000"/>
            <a:ext cx="2300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>
                <a:solidFill>
                  <a:srgbClr val="74A6FF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1600" y="1790000"/>
            <a:ext cx="2070400" cy="720000"/>
          </a:xfrm>
          <a:prstGeom prst="roundRect">
            <a:avLst>
              <a:gd name="adj" fmla="val 12000"/>
            </a:avLst>
          </a:prstGeom>
          <a:solidFill>
            <a:srgbClr val="141E33"/>
          </a:solidFill>
          <a:ln w="15875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71600" y="1790000"/>
            <a:ext cx="1930400" cy="7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POD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000" y="2830000"/>
            <a:ext cx="10952000" cy="2070000"/>
          </a:xfrm>
          <a:prstGeom prst="roundRect">
            <a:avLst>
              <a:gd name="adj" fmla="val 6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0000" y="2854000"/>
            <a:ext cx="40000" cy="20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0000" y="3070000"/>
            <a:ext cx="10432000" cy="167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1000" b="1" i="0" spc="180">
                <a:solidFill>
                  <a:srgbClr val="74A6FF"/>
                </a:solidFill>
                <a:latin typeface="Segoe UI Semibold"/>
              </a:rPr>
              <a:t>LO QUE HAY QUE ENTENDER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objeto Ingress es solo una declaración. Sin un controlador que la lea, no hace absolutamente nada.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controlador termina el TLS en el borde: del controlador al Pod el tráfico va en claro.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El Secret TLS debe estar en el MISMO namespace que el Ingress.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Si ingressClassName no coincide con ninguna IngressClass registrada, nadie adopta el Ingress: ADDRESS queda vacío y no hay ningún error.</a:t>
            </a:r>
          </a:p>
          <a:p>
            <a:pPr algn="l" marL="182880" indent="-182880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Verifica los Services ANTES de crear el Ingress. Si no tienen endpoints, verás 503 y buscarás en el sitio equivocado.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F0C96B"/>
                </a:solidFill>
                <a:latin typeface="Segoe UI Semibold"/>
              </a:rPr>
              <a:t>ACTUALIZACIÓN TÉCNICA · MARZO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ingress-nginx de la comunidad fue retirado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000" y="1470000"/>
            <a:ext cx="10952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El proyecto kubernetes/ingress-nginx está archivado desde marzo de 2026: no hay más releases, ni correcciones, ni parches de seguridad. Lo usaba alrededor de la mitad de los clusters del ecosistema, y el sucesor previsto (InGate) nunca maduró y también se retiró.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000" y="2410000"/>
            <a:ext cx="10952000" cy="1644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000" y="2410000"/>
            <a:ext cx="46000" cy="164400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0000" y="2560000"/>
            <a:ext cx="10412000" cy="138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La API Ingress NO está deprecada: sigue vigente y sigue en el examen.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Lo retirado es UNA implementación concreta.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En este curso usamos un controlador mantenido (Traefik).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Los manifiestos Ingress que escribes son los mismos: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solo cambia el ingressClassName.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000" y="584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0000" y="5864000"/>
            <a:ext cx="40000" cy="422000"/>
          </a:xfrm>
          <a:prstGeom prst="rect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0000" y="584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Consecuencia práctica: las anotaciones NO son portables entre controladores. Fue una de las causas del problema.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PRESENTE Y FUTURO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Ingress frente a Gateway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2061000"/>
            <a:ext cx="5316000" cy="3058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000" y="2061000"/>
            <a:ext cx="5268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0000" y="2321000"/>
            <a:ext cx="4796000" cy="57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F3F6FC"/>
                </a:solidFill>
                <a:latin typeface="Segoe UI Semibold"/>
              </a:rPr>
              <a:t>Ingress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8493AD"/>
                </a:solidFill>
                <a:latin typeface="Segoe UI"/>
              </a:rPr>
              <a:t>Lo que se pide hoy en el examen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000" y="2891000"/>
            <a:ext cx="4796000" cy="204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/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Un solo objeto para todo: reglas, TLS y configuración.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Todo lo que no encaja se resuelve con anotaciones propietarias.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Esa flexibilidad se volvió una carga de mantenimiento y un riesgo de seguridad.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Sigue siendo estándar y ampliamente desplegado.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6000" y="2061000"/>
            <a:ext cx="5316000" cy="3058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0000" y="2061000"/>
            <a:ext cx="5268000" cy="460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6000" y="2321000"/>
            <a:ext cx="4796000" cy="57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F3F6FC"/>
                </a:solidFill>
                <a:latin typeface="Segoe UI Semibold"/>
              </a:rPr>
              <a:t>Gateway API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8493AD"/>
                </a:solidFill>
                <a:latin typeface="Segoe UI"/>
              </a:rPr>
              <a:t>Hacia donde va el ecosistema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6000" y="2891000"/>
            <a:ext cx="4796000" cy="204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/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GatewayClass, Gateway y HTTPRoute: tres objetos, tres responsables.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Filtros tipados en lugar de anotaciones: URLRewrite, RequestHeaderModifier.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Rutas entre namespaces controladas con ReferenceGrant.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Ya figura en el currículum CKA vigente.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000" y="586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0000" y="588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0000" y="586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Manifiesto de referencia con el mismo routing expresado en Gateway API: CLASE-05/RECURSOS/YAML/04-gateway-api.yaml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SINTAXIS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Ingress con routing por path y TLS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1479456"/>
            <a:ext cx="10952000" cy="3593452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00" y="1479456"/>
            <a:ext cx="46000" cy="3593452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000" y="1599456"/>
            <a:ext cx="10492000" cy="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EL MANIFIESTO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0000" y="1879456"/>
            <a:ext cx="10412000" cy="31334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E6EDF3"/>
                </a:solidFill>
                <a:latin typeface="Consolas"/>
              </a:rPr>
              <a:t>apiVersion: networking.k8s.io/v1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E6EDF3"/>
                </a:solidFill>
                <a:latin typeface="Consolas"/>
              </a:rPr>
              <a:t>kind: Ingress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E6EDF3"/>
                </a:solidFill>
                <a:latin typeface="Consolas"/>
              </a:rPr>
              <a:t>metadata: {name: app-ingress, namespace: c5-ingress}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E6EDF3"/>
                </a:solidFill>
                <a:latin typeface="Consolas"/>
              </a:rPr>
              <a:t>spec: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E6EDF3"/>
                </a:solidFill>
                <a:latin typeface="Consolas"/>
              </a:rPr>
              <a:t>  ingressClassName: traefik      </a:t>
            </a:r>
            <a:r>
              <a:rPr sz="1050" b="0" i="1">
                <a:solidFill>
                  <a:srgbClr val="7C8AA5"/>
                </a:solidFill>
                <a:latin typeface="Consolas"/>
              </a:rPr>
              <a:t>  # &lt;- k get ingressclass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E6EDF3"/>
                </a:solidFill>
                <a:latin typeface="Consolas"/>
              </a:rPr>
              <a:t>  tls: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E6EDF3"/>
                </a:solidFill>
                <a:latin typeface="Consolas"/>
              </a:rPr>
              <a:t>    - hosts: ["secure-ingress.com"]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E6EDF3"/>
                </a:solidFill>
                <a:latin typeface="Consolas"/>
              </a:rPr>
              <a:t>      secretName: secure-ingress </a:t>
            </a:r>
            <a:r>
              <a:rPr sz="1050" b="0" i="1">
                <a:solidFill>
                  <a:srgbClr val="7C8AA5"/>
                </a:solidFill>
                <a:latin typeface="Consolas"/>
              </a:rPr>
              <a:t>  # &lt;- Secret kubernetes.io/tls, MISMO namespace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E6EDF3"/>
                </a:solidFill>
                <a:latin typeface="Consolas"/>
              </a:rPr>
              <a:t>  rules: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E6EDF3"/>
                </a:solidFill>
                <a:latin typeface="Consolas"/>
              </a:rPr>
              <a:t>    - host: secure-ingress.com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E6EDF3"/>
                </a:solidFill>
                <a:latin typeface="Consolas"/>
              </a:rPr>
              <a:t>      http: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E6EDF3"/>
                </a:solidFill>
                <a:latin typeface="Consolas"/>
              </a:rPr>
              <a:t>        paths: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E6EDF3"/>
                </a:solidFill>
                <a:latin typeface="Consolas"/>
              </a:rPr>
              <a:t>          - {path: /service1, pathType: Prefix,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E6EDF3"/>
                </a:solidFill>
                <a:latin typeface="Consolas"/>
              </a:rPr>
              <a:t>             backend: {service: {name: service1, port: {number: 80}}}}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000" y="5272908"/>
            <a:ext cx="10952000" cy="1027636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0000" y="5272908"/>
            <a:ext cx="46000" cy="1027636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000" y="5392908"/>
            <a:ext cx="10492000" cy="2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PROBAR SIN TOCAR /ETC/HOSTS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000" y="5672908"/>
            <a:ext cx="10412000" cy="5676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E6EDF3"/>
                </a:solidFill>
                <a:latin typeface="Consolas"/>
              </a:rPr>
              <a:t>curl -kv https://secure-ingress.com:32443/service2 \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050" b="0" i="0">
                <a:solidFill>
                  <a:srgbClr val="E6EDF3"/>
                </a:solidFill>
                <a:latin typeface="Consolas"/>
              </a:rPr>
              <a:t>  --resolve secure-ingress.com:32443:&lt;IP-NODO&gt;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2500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74A6FF"/>
                </a:solidFill>
                <a:latin typeface="Segoe UI"/>
              </a:rPr>
              <a:t>Nivel intermedio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5.2 — Ingress con HTTP, HTTPS y routing por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Publicar dos aplicaciones tras una sola entrada, primero en HTTP y después con un certificado propio.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Instalar un controlador mantenido y anotar su IngressClass y sus nodePort.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VERIFICAR los Services antes de tocar el Ingress. Si esto falla, el Ingress también.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Dos reglas de path con pathType: Prefix. Investigar la reescritura de path.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Certificado con CN=secure-ingress.com y Secret kubernetes.io/tls.</a:t>
            </a:r>
          </a:p>
        </p:txBody>
      </p:sp>
      <p:sp>
        <p:nvSpPr>
          <p:cNvPr id="14" name="Oval 13"/>
          <p:cNvSpPr/>
          <p:nvPr/>
        </p:nvSpPr>
        <p:spPr>
          <a:xfrm>
            <a:off x="640000" y="493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000" y="480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Anotar subject, issuer, versión TLS y código HTTP de la salida verbose.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CLASE-05/LABORATORIOS/LAB-02-INTERMEDIO.md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35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k get ingressclass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00000" y="4258000"/>
            <a:ext cx="4200000" cy="42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9479608" y="4208000"/>
            <a:ext cx="2924783" cy="2851453"/>
          </a:xfrm>
          <a:custGeom>
            <a:avLst/>
            <a:gdLst/>
            <a:ahLst/>
            <a:cxnLst/>
            <a:rect l="l" t="t" r="r" b="b"/>
            <a:pathLst>
              <a:path w="2924783" h="2851453">
                <a:moveTo>
                  <a:pt x="1462392" y="0"/>
                </a:moveTo>
                <a:lnTo>
                  <a:pt x="2635139" y="564765"/>
                </a:lnTo>
                <a:lnTo>
                  <a:pt x="2924783" y="1833781"/>
                </a:lnTo>
                <a:lnTo>
                  <a:pt x="2113217" y="2851453"/>
                </a:lnTo>
                <a:lnTo>
                  <a:pt x="811566" y="2851453"/>
                </a:lnTo>
                <a:lnTo>
                  <a:pt x="0" y="1833781"/>
                </a:lnTo>
                <a:lnTo>
                  <a:pt x="289644" y="564765"/>
                </a:lnTo>
                <a:close/>
              </a:path>
            </a:pathLst>
          </a:custGeom>
          <a:noFill/>
          <a:ln w="3175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0000" y="1150000"/>
            <a:ext cx="40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0" b="0" i="0">
                <a:solidFill>
                  <a:srgbClr val="4C5B75"/>
                </a:solidFill>
                <a:latin typeface="Segoe UI Ligh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50000"/>
            <a:ext cx="9200000" cy="3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60">
                <a:solidFill>
                  <a:srgbClr val="74A6FF"/>
                </a:solidFill>
                <a:latin typeface="Segoe UI Semibold"/>
              </a:rPr>
              <a:t>BLOQUE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350000"/>
            <a:ext cx="102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0" i="0">
                <a:solidFill>
                  <a:srgbClr val="F3F6FC"/>
                </a:solidFill>
                <a:latin typeface="Segoe UI Light"/>
              </a:rPr>
              <a:t>NetworkPolicy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000" y="438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00" y="4560000"/>
            <a:ext cx="9600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1">
                <a:solidFill>
                  <a:srgbClr val="BDC9DB"/>
                </a:solidFill>
                <a:latin typeface="Segoe UI"/>
              </a:rPr>
              <a:t>Reglas de firewall a nivel de Pod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CONCEPTO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Cuatro reglas que lo explican todo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16</a:t>
            </a:r>
          </a:p>
        </p:txBody>
      </p:sp>
      <p:sp>
        <p:nvSpPr>
          <p:cNvPr id="8" name="Oval 7"/>
          <p:cNvSpPr/>
          <p:nvPr/>
        </p:nvSpPr>
        <p:spPr>
          <a:xfrm>
            <a:off x="636000" y="242800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0000" y="2010000"/>
            <a:ext cx="5435040" cy="9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Un Pod al que no selecciona ninguna política acepta todo el tráfico. El aislamiento no es el estado por defecto.</a:t>
            </a:r>
          </a:p>
        </p:txBody>
      </p:sp>
      <p:sp>
        <p:nvSpPr>
          <p:cNvPr id="10" name="Oval 9"/>
          <p:cNvSpPr/>
          <p:nvPr/>
        </p:nvSpPr>
        <p:spPr>
          <a:xfrm>
            <a:off x="636000" y="336800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0000" y="2950000"/>
            <a:ext cx="5435040" cy="9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En cuanto UNA política lo selecciona para un policyType, queda aislado para ese tipo y solo pasa lo autorizado.</a:t>
            </a:r>
          </a:p>
        </p:txBody>
      </p:sp>
      <p:sp>
        <p:nvSpPr>
          <p:cNvPr id="12" name="Oval 11"/>
          <p:cNvSpPr/>
          <p:nvPr/>
        </p:nvSpPr>
        <p:spPr>
          <a:xfrm>
            <a:off x="636000" y="430800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000" y="3890000"/>
            <a:ext cx="5435040" cy="9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Las políticas son ADITIVAS: se aplica la unión de todas. No existen reglas de denegación y el orden no importa.</a:t>
            </a:r>
          </a:p>
        </p:txBody>
      </p:sp>
      <p:sp>
        <p:nvSpPr>
          <p:cNvPr id="14" name="Oval 13"/>
          <p:cNvSpPr/>
          <p:nvPr/>
        </p:nvSpPr>
        <p:spPr>
          <a:xfrm>
            <a:off x="636000" y="5248000"/>
            <a:ext cx="104000" cy="104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0000" y="4830000"/>
            <a:ext cx="5435040" cy="9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Ingress y Egress son independientes: para que A hable con B hacen falta DOS permisos, salida en A y entrada en 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35040" y="2010000"/>
            <a:ext cx="4936960" cy="3760000"/>
          </a:xfrm>
          <a:prstGeom prst="roundRect">
            <a:avLst>
              <a:gd name="adj" fmla="val 3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35040" y="2310000"/>
            <a:ext cx="46000" cy="346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25040" y="2070000"/>
            <a:ext cx="4556960" cy="2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80">
                <a:solidFill>
                  <a:srgbClr val="8493AD"/>
                </a:solidFill>
                <a:latin typeface="Segoe UI Semibold"/>
              </a:rPr>
              <a:t>DEFAULT DENY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25040" y="2304000"/>
            <a:ext cx="4556960" cy="10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65040" y="2500000"/>
            <a:ext cx="4516960" cy="2380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spec: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podSelector: {} </a:t>
            </a:r>
            <a:r>
              <a:rPr sz="1100" b="0" i="1">
                <a:solidFill>
                  <a:srgbClr val="7C8AA5"/>
                </a:solidFill>
                <a:latin typeface="Consolas"/>
              </a:rPr>
              <a:t>  # todos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policyTypes: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- Ingress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- Egress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/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Sin secciones ingress/egress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= denegar todo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/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Requisito previo: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que tu CNI implemente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1">
                <a:solidFill>
                  <a:srgbClr val="7C8AA5"/>
                </a:solidFill>
                <a:latin typeface="Consolas"/>
              </a:rPr>
              <a:t># NetworkPolicy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FF7B72"/>
                </a:solidFill>
                <a:latin typeface="Segoe UI Semibold"/>
              </a:rPr>
              <a:t>EL FALLO ESTRELLA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Un default deny rompe el DNS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000" y="1470000"/>
            <a:ext cx="10952000" cy="5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En cuanto aplicas una política de egress, el tráfico al puerto 53 hacia CoreDNS también queda bloqueado. Nada resuelve, y el síntoma se confunde con «la red está muerta» o «CoreDNS se ha caído». Hay que permitirlo explícitamente.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000" y="2410000"/>
            <a:ext cx="10952000" cy="1868000"/>
          </a:xfrm>
          <a:prstGeom prst="roundRect">
            <a:avLst>
              <a:gd name="adj" fmla="val 5000"/>
            </a:avLst>
          </a:prstGeom>
          <a:solidFill>
            <a:srgbClr val="0A1120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0000" y="2410000"/>
            <a:ext cx="46000" cy="18680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0000" y="2560000"/>
            <a:ext cx="10412000" cy="160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egress: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- to: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- namespaceSelector: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    matchLabels: {kubernetes.io/metadata.name: kube-system}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ports: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- {protocol: UDP, port: 53}</a:t>
            </a:r>
          </a:p>
          <a:p>
            <a:pPr marL="0" indent="0">
              <a:lnSpc>
                <a:spcPct val="134000"/>
              </a:lnSpc>
              <a:spcAft>
                <a:spcPts val="0"/>
              </a:spcAft>
              <a:buNone/>
            </a:pPr>
            <a:r>
              <a:rPr sz="1100" b="0" i="0">
                <a:solidFill>
                  <a:srgbClr val="E6EDF3"/>
                </a:solidFill>
                <a:latin typeface="Consolas"/>
              </a:rPr>
              <a:t>      - {protocol: TCP, port: 53}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000" y="584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0000" y="5864000"/>
            <a:ext cx="40000" cy="4220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0000" y="584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Kubernetes añade automáticamente el label kubernetes.io/metadata.name a todos los namespaces. Úsalo.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UN GUION LO CAMBIA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AND frente a OR en los selectores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2205000"/>
            <a:ext cx="5316000" cy="2770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000" y="2205000"/>
            <a:ext cx="5268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0000" y="2465000"/>
            <a:ext cx="4796000" cy="57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F3F6FC"/>
                </a:solidFill>
                <a:latin typeface="Segoe UI Semibold"/>
              </a:rPr>
              <a:t>AND — un solo elemento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8493AD"/>
                </a:solidFill>
                <a:latin typeface="Segoe UI"/>
              </a:rPr>
              <a:t>Ese Pod, en ese namespace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000" y="3035000"/>
            <a:ext cx="4796000" cy="1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/>
          <a:p>
            <a:pPr algn="l"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Consolas"/>
              </a:rPr>
              <a:t>- from:</a:t>
            </a:r>
          </a:p>
          <a:p>
            <a:pPr algn="l"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Consolas"/>
              </a:rPr>
              <a:t>    - namespaceSelector: {...}</a:t>
            </a:r>
          </a:p>
          <a:p>
            <a:pPr algn="l"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Consolas"/>
              </a:rPr>
              <a:t>      podSelector: {...}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Las dos condiciones deben cumplirse a la vez.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6000" y="2205000"/>
            <a:ext cx="5316000" cy="2770000"/>
          </a:xfrm>
          <a:prstGeom prst="roundRect">
            <a:avLst>
              <a:gd name="adj" fmla="val 5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0000" y="2205000"/>
            <a:ext cx="5268000" cy="460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6000" y="2465000"/>
            <a:ext cx="4796000" cy="57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600" b="1" i="0">
                <a:solidFill>
                  <a:srgbClr val="F3F6FC"/>
                </a:solidFill>
                <a:latin typeface="Segoe UI Semibold"/>
              </a:rPr>
              <a:t>OR — dos elementos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8493AD"/>
                </a:solidFill>
                <a:latin typeface="Segoe UI"/>
              </a:rPr>
              <a:t>Ese namespace, O ese Pod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6000" y="3035000"/>
            <a:ext cx="4796000" cy="1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/>
          <a:p>
            <a:pPr algn="l"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Consolas"/>
              </a:rPr>
              <a:t>- from:</a:t>
            </a:r>
          </a:p>
          <a:p>
            <a:pPr algn="l"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Consolas"/>
              </a:rPr>
              <a:t>    - namespaceSelector: {...}</a:t>
            </a:r>
          </a:p>
          <a:p>
            <a:pPr algn="l" marL="0" indent="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0" i="0">
                <a:solidFill>
                  <a:srgbClr val="BDC9DB"/>
                </a:solidFill>
                <a:latin typeface="Consolas"/>
              </a:rPr>
              <a:t>    - podSelector: {...}</a:t>
            </a:r>
          </a:p>
          <a:p>
            <a:pPr algn="l" marL="182880" indent="-182880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Basta con que se cumpla una. Concede mucho más de lo que crees.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000" y="5860000"/>
            <a:ext cx="10952000" cy="470000"/>
          </a:xfrm>
          <a:prstGeom prst="roundRect">
            <a:avLst>
              <a:gd name="adj" fmla="val 10000"/>
            </a:avLst>
          </a:prstGeom>
          <a:solidFill>
            <a:srgbClr val="111A2C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0000" y="5884000"/>
            <a:ext cx="40000" cy="422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0000" y="5860000"/>
            <a:ext cx="10482000" cy="47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1">
                <a:solidFill>
                  <a:srgbClr val="BDC9DB"/>
                </a:solidFill>
                <a:latin typeface="Segoe UI"/>
              </a:rPr>
              <a:t>Es la diferencia entre una política correcta y un agujero de seguridad, y es un solo guion.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4492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74A6FF"/>
                </a:solidFill>
                <a:latin typeface="Segoe UI"/>
              </a:rPr>
              <a:t>Nivel avanzado — solo requerimientos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5.3 — NetworkPolicy: aislar frontend y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Pasar de un cluster totalmente abierto a un modelo donde solo circula el tráfico autorizado, sin dejarlo inutilizable.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Verificar PRIMERO que tu CNI implementa NetworkPolicy.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Documentar la conectividad de partida antes de aplicar nada.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Aplicar default deny, comprobar qué se rompió y explicar el efecto sobre el DNS.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Permitir DNS, frontend→backend, y backend→namespace de datos.</a:t>
            </a:r>
          </a:p>
        </p:txBody>
      </p:sp>
      <p:sp>
        <p:nvSpPr>
          <p:cNvPr id="14" name="Oval 13"/>
          <p:cNvSpPr/>
          <p:nvPr/>
        </p:nvSpPr>
        <p:spPr>
          <a:xfrm>
            <a:off x="640000" y="4930000"/>
            <a:ext cx="300000" cy="300000"/>
          </a:xfrm>
          <a:prstGeom prst="ellipse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000" y="480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Añadir una política más sin borrar ninguna y explicar el carácter aditivo.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CLASE-05/LABORATORIOS/LAB-03-AVANZADO.md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27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k get networkpolicy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92000" y="-1500000"/>
            <a:ext cx="3400000" cy="34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00" y="470000"/>
            <a:ext cx="4604000" cy="3600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40">
                <a:solidFill>
                  <a:srgbClr val="FF7B72"/>
                </a:solidFill>
                <a:latin typeface="Segoe UI"/>
              </a:rPr>
              <a:t>Challenge — el escenario arranca roto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990000"/>
            <a:ext cx="10912000" cy="76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00" b="0" i="0">
                <a:solidFill>
                  <a:srgbClr val="F3F6FC"/>
                </a:solidFill>
                <a:latin typeface="Segoe UI Light"/>
              </a:rPr>
              <a:t>LAB 5.4 — Challenge: «la red está rota»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800000"/>
            <a:ext cx="7452000" cy="64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1">
                <a:solidFill>
                  <a:srgbClr val="BDC9DB"/>
                </a:solidFill>
                <a:latin typeface="Segoe UI"/>
              </a:rPr>
              <a:t>Cuatro fallos en cuatro capas distintas, todos con el mismo síntoma aparente: «no llego».</a:t>
            </a:r>
          </a:p>
        </p:txBody>
      </p:sp>
      <p:sp>
        <p:nvSpPr>
          <p:cNvPr id="6" name="Oval 5"/>
          <p:cNvSpPr/>
          <p:nvPr/>
        </p:nvSpPr>
        <p:spPr>
          <a:xfrm>
            <a:off x="640000" y="269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000" y="256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Prepara el escenario: RECURSOS/SCRIPTS/setup-lab.sh</a:t>
            </a:r>
          </a:p>
        </p:txBody>
      </p:sp>
      <p:sp>
        <p:nvSpPr>
          <p:cNvPr id="8" name="Oval 7"/>
          <p:cNvSpPr/>
          <p:nvPr/>
        </p:nvSpPr>
        <p:spPr>
          <a:xfrm>
            <a:off x="640000" y="325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00" y="312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Empieza el diagnóstico DENTRO del cluster, nunca por el curl externo.</a:t>
            </a:r>
          </a:p>
        </p:txBody>
      </p:sp>
      <p:sp>
        <p:nvSpPr>
          <p:cNvPr id="10" name="Oval 9"/>
          <p:cNvSpPr/>
          <p:nvPr/>
        </p:nvSpPr>
        <p:spPr>
          <a:xfrm>
            <a:off x="640000" y="381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000" y="368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Ruta: Pod → Service → EndpointSlice → DNS → NetworkPolicy → Ingress → Cliente.</a:t>
            </a:r>
          </a:p>
        </p:txBody>
      </p:sp>
      <p:sp>
        <p:nvSpPr>
          <p:cNvPr id="12" name="Oval 11"/>
          <p:cNvSpPr/>
          <p:nvPr/>
        </p:nvSpPr>
        <p:spPr>
          <a:xfrm>
            <a:off x="640000" y="4370000"/>
            <a:ext cx="300000" cy="30000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F3F6FC"/>
                </a:solidFill>
                <a:latin typeface="Segoe UI Semibol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000" y="4240000"/>
            <a:ext cx="6982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Prohibido borrar default-deny y prohibido convertir Services a NodePort.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92000" y="2560000"/>
            <a:ext cx="3180000" cy="3510000"/>
          </a:xfrm>
          <a:prstGeom prst="roundRect">
            <a:avLst>
              <a:gd name="adj" fmla="val 6000"/>
            </a:avLst>
          </a:prstGeom>
          <a:solidFill>
            <a:srgbClr val="141E33"/>
          </a:solidFill>
          <a:ln w="1270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92000" y="2560000"/>
            <a:ext cx="3180000" cy="4600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2000" y="274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ARCHIVO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CLASE-05/LABORATORIOS/LAB-04-CHALLENGE.md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2000" y="379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2000" y="383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DURACIÓN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 Semibold"/>
              </a:rPr>
              <a:t>18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2000" y="4880000"/>
            <a:ext cx="2780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2000" y="4920000"/>
            <a:ext cx="2780000" cy="103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00" b="1" i="0" spc="180">
                <a:solidFill>
                  <a:srgbClr val="8493AD"/>
                </a:solidFill>
                <a:latin typeface="Segoe UI Semibold"/>
              </a:rPr>
              <a:t>VALIDACIÓN</a:t>
            </a:r>
          </a:p>
          <a:p>
            <a:pPr algn="l" marL="0" indent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F3F6FC"/>
                </a:solidFill>
                <a:latin typeface="Consolas"/>
              </a:rPr>
              <a:t>./validate-lab.sh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Traducción de síntomas de 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000" y="1470000"/>
            <a:ext cx="10952000" cy="420000"/>
          </a:xfrm>
          <a:prstGeom prst="rect">
            <a:avLst/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000" y="1882000"/>
            <a:ext cx="10952000" cy="10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0000" y="1470000"/>
            <a:ext cx="3065600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LO QUE OBSERVAS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5600" y="1470000"/>
            <a:ext cx="4160800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DÓNDE ESTÁ EL PROBLEMA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6400" y="1470000"/>
            <a:ext cx="3065600" cy="4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spc="160">
                <a:solidFill>
                  <a:srgbClr val="74A6FF"/>
                </a:solidFill>
                <a:latin typeface="Segoe UI Semibold"/>
              </a:rPr>
              <a:t>COMANDO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000" y="245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0000" y="189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nslookup falla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5600" y="1890000"/>
            <a:ext cx="41608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DNS, o política de egress al 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6400" y="189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describe networkpolicy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0000" y="245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000" y="301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0000" y="245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nslookup OK, curl timeout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5600" y="2450000"/>
            <a:ext cx="41608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Endpoints o NetworkPolicy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6400" y="245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get endpointslices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000" y="357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0000" y="301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EndpointSlice vacío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5600" y="3010000"/>
            <a:ext cx="41608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Selector del Service o labels del Pod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6400" y="301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get pods --show-labels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0000" y="3570000"/>
            <a:ext cx="10952000" cy="560000"/>
          </a:xfrm>
          <a:prstGeom prst="rect">
            <a:avLst/>
          </a:prstGeom>
          <a:solidFill>
            <a:srgbClr val="11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0000" y="413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0000" y="357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Hay endpoints, curl falla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5600" y="3570000"/>
            <a:ext cx="41608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targetPort o política de ingress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6400" y="357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get svc -o yaml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000" y="4690000"/>
            <a:ext cx="10952000" cy="8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0000" y="413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3F6FC"/>
                </a:solidFill>
                <a:latin typeface="Segoe UI"/>
              </a:rPr>
              <a:t>Interno OK, externo falla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5600" y="4130000"/>
            <a:ext cx="41608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Segoe UI"/>
              </a:rPr>
              <a:t>Ingress, clase o controlador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6400" y="4130000"/>
            <a:ext cx="30656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>
                <a:solidFill>
                  <a:srgbClr val="BDC9DB"/>
                </a:solidFill>
                <a:latin typeface="Consolas"/>
              </a:rPr>
              <a:t>get ingress,ingressclass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0000" y="300000"/>
            <a:ext cx="10952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0000" y="560000"/>
            <a:ext cx="10952000" cy="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000" b="0" i="0">
                <a:solidFill>
                  <a:srgbClr val="F3F6FC"/>
                </a:solidFill>
                <a:latin typeface="Segoe UI Light"/>
              </a:rPr>
              <a:t>Comprueba que puedes hacer esto sin apuntes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0000" y="1230000"/>
            <a:ext cx="56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" y="262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000" y="249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Elijo el tipo de Service adecuado y sé qué hace cada uno.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000" y="318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000" y="305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Explico la cadena Service → EndpointSlice → Pod.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000" y="374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000" y="361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Resuelvo un Service por FQDN y leo /etc/resolv.conf de un Pod.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000" y="430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000" y="417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Distingo un fallo de DNS de uno de endpoints.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000" y="486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000" y="473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Publico dos aplicaciones por path con un solo Ingress.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6000" y="262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6000" y="249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Creo un TLS Secret y lo asocio a un Ingress por host.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6000" y="318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6000" y="305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Explico qué es Gateway API y por qué existe.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6000" y="374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56000" y="361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Escribo una NetworkPolicy default deny.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6000" y="430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6000" y="417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Permito DNS explícitamente en una política de egress.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6000" y="4860000"/>
            <a:ext cx="300000" cy="300000"/>
          </a:xfrm>
          <a:prstGeom prst="roundRect">
            <a:avLst>
              <a:gd name="adj" fmla="val 28000"/>
            </a:avLst>
          </a:prstGeom>
          <a:noFill/>
          <a:ln w="19050">
            <a:solidFill>
              <a:srgbClr val="326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74A6FF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6000" y="4730000"/>
            <a:ext cx="4816000" cy="56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BDC9DB"/>
                </a:solidFill>
                <a:latin typeface="Segoe UI"/>
              </a:rPr>
              <a:t>Distingo el AND del OR en namespaceSelector y podSelector.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92000" y="-1400000"/>
            <a:ext cx="4000000" cy="4000000"/>
          </a:xfrm>
          <a:prstGeom prst="ellipse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-163645" y="4308000"/>
            <a:ext cx="2827290" cy="2756404"/>
          </a:xfrm>
          <a:custGeom>
            <a:avLst/>
            <a:gdLst/>
            <a:ahLst/>
            <a:cxnLst/>
            <a:rect l="l" t="t" r="r" b="b"/>
            <a:pathLst>
              <a:path w="2827290" h="2756404">
                <a:moveTo>
                  <a:pt x="1413645" y="0"/>
                </a:moveTo>
                <a:lnTo>
                  <a:pt x="2547300" y="545939"/>
                </a:lnTo>
                <a:lnTo>
                  <a:pt x="2827290" y="1772655"/>
                </a:lnTo>
                <a:lnTo>
                  <a:pt x="2042776" y="2756404"/>
                </a:lnTo>
                <a:lnTo>
                  <a:pt x="784513" y="2756404"/>
                </a:lnTo>
                <a:lnTo>
                  <a:pt x="0" y="1772655"/>
                </a:lnTo>
                <a:lnTo>
                  <a:pt x="279989" y="545939"/>
                </a:lnTo>
                <a:close/>
              </a:path>
            </a:pathLst>
          </a:custGeom>
          <a:noFill/>
          <a:ln w="31750">
            <a:solidFill>
              <a:srgbClr val="26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00" y="300000"/>
            <a:ext cx="900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spc="240">
                <a:solidFill>
                  <a:srgbClr val="74A6FF"/>
                </a:solidFill>
                <a:latin typeface="Segoe UI Semibold"/>
              </a:rPr>
              <a:t>CIERRE DE LA CLASE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1500000"/>
            <a:ext cx="10000000" cy="9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00" b="0" i="0">
                <a:solidFill>
                  <a:srgbClr val="F3F6FC"/>
                </a:solidFill>
                <a:latin typeface="Segoe UI Light"/>
              </a:rPr>
              <a:t>Clase 5 completada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4000" y="2560000"/>
            <a:ext cx="620000" cy="46000"/>
          </a:xfrm>
          <a:prstGeom prst="rect">
            <a:avLst/>
          </a:prstGeom>
          <a:solidFill>
            <a:srgbClr val="326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00" y="2820000"/>
            <a:ext cx="9752000" cy="260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500" b="0" i="0">
                <a:solidFill>
                  <a:srgbClr val="BDC9DB"/>
                </a:solidFill>
                <a:latin typeface="Segoe UI"/>
              </a:rPr>
              <a:t>Ya sabes publicar aplicaciones y controlar el tráfico entre ellas.</a:t>
            </a:r>
          </a:p>
          <a:p>
            <a:pPr algn="l" marL="0" indent="0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500" b="0" i="0">
                <a:solidFill>
                  <a:srgbClr val="BDC9DB"/>
                </a:solidFill>
                <a:latin typeface="Segoe UI"/>
              </a:rPr>
              <a:t>La Clase 6 no introduce temas nuevos: usa todo lo anterior contra escenarios rotos. Es el 30 % del examen y la razón por la que has hecho las cinco clases previas.</a:t>
            </a:r>
          </a:p>
          <a:p>
            <a:pPr algn="l" marL="0" indent="0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  <a:buNone/>
            </a:pPr>
            <a:r>
              <a:rPr sz="1500" b="0" i="0">
                <a:solidFill>
                  <a:srgbClr val="BDC9DB"/>
                </a:solidFill>
                <a:latin typeface="Segoe UI"/>
              </a:rPr>
              <a:t>Llega con los seis mental models frescos. Los vas a necesitar todos.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0000" y="6404000"/>
            <a:ext cx="10952000" cy="12000"/>
          </a:xfrm>
          <a:prstGeom prst="rect">
            <a:avLst/>
          </a:prstGeom>
          <a:solidFill>
            <a:srgbClr val="263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>
            <a:noAutofit/>
          </a:bodyPr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000" y="6430000"/>
            <a:ext cx="7666399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spc="30">
                <a:solidFill>
                  <a:srgbClr val="8493AD"/>
                </a:solidFill>
                <a:latin typeface="Segoe UI"/>
              </a:rPr>
              <a:t>CKA Hands-On Training  ·  Clase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399" y="6430000"/>
            <a:ext cx="3285600" cy="2200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spc="60">
                <a:solidFill>
                  <a:srgbClr val="8493AD"/>
                </a:solidFill>
                <a:latin typeface="Segoe UI Semibold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5 — Services, Ingress, CoreDNS y NetworkPolicy</dc:title>
  <dc:subject>Clase 5 — Services, Ingress, CoreDNS y NetworkPolicy</dc:subject>
  <dc:creator>CKA Hands-On Training</dc:creator>
  <cp:keywords/>
  <dc:description>Generado con generador-diapositivas/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