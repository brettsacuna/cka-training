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2000" y="-1350000"/>
            <a:ext cx="4500000" cy="4500000"/>
          </a:xfrm>
          <a:prstGeom prst="ellipse">
            <a:avLst/>
          </a:prstGeom>
          <a:solidFill>
            <a:srgbClr val="0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42000" y="5308000"/>
            <a:ext cx="2900000" cy="2900000"/>
          </a:xfrm>
          <a:prstGeom prst="ellipse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000" y="10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0000" y="300000"/>
            <a:ext cx="86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CKA HANDS-ON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000" y="162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spc="200">
                <a:solidFill>
                  <a:srgbClr val="74A6FF"/>
                </a:solidFill>
                <a:latin typeface="Segoe UI Semibold"/>
              </a:rPr>
              <a:t>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00" y="2040000"/>
            <a:ext cx="89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Services, Ingress, CoreDNS y NetworkPolicy</a:t>
            </a:r>
          </a:p>
        </p:txBody>
      </p:sp>
      <p:sp>
        <p:nvSpPr>
          <p:cNvPr id="8" name="Rectangle 7"/>
          <p:cNvSpPr/>
          <p:nvPr/>
        </p:nvSpPr>
        <p:spPr>
          <a:xfrm>
            <a:off x="660000" y="3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000" y="376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Publicar aplicaciones y decidir exactamente quién puede hablar con quién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180 min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DURACIÓN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5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5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5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4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LABORATORIOS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1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1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1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20 %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PESO EN EL CKA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6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46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6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TLS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HTTPS PROPIO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Al terminar esta clase serás capaz de…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98400" y="441400"/>
            <a:ext cx="307200" cy="3072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00800" y="543800"/>
            <a:ext cx="102400" cy="1024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0000" y="20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" y="19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Elegir el tipo de Service correcto para cada necesidad de publicación.</a:t>
            </a:r>
          </a:p>
        </p:txBody>
      </p:sp>
      <p:sp>
        <p:nvSpPr>
          <p:cNvPr id="13" name="Oval 12"/>
          <p:cNvSpPr/>
          <p:nvPr/>
        </p:nvSpPr>
        <p:spPr>
          <a:xfrm>
            <a:off x="620000" y="26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000" y="24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Explicar el modelo de red: Pod-to-Pod, Pod-to-Service y entrada desde fuera.</a:t>
            </a:r>
          </a:p>
        </p:txBody>
      </p:sp>
      <p:sp>
        <p:nvSpPr>
          <p:cNvPr id="15" name="Oval 14"/>
          <p:cNvSpPr/>
          <p:nvPr/>
        </p:nvSpPr>
        <p:spPr>
          <a:xfrm>
            <a:off x="620000" y="318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000" y="305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Resolver nombres con CoreDNS y diagnosticar un fallo de resolución.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20000" y="374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000" y="361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Publicar varias aplicaciones tras una sola entrada, con HTTP y HTTPS.</a:t>
            </a:r>
          </a:p>
        </p:txBody>
      </p:sp>
      <p:sp>
        <p:nvSpPr>
          <p:cNvPr id="19" name="Oval 18"/>
          <p:cNvSpPr/>
          <p:nvPr/>
        </p:nvSpPr>
        <p:spPr>
          <a:xfrm>
            <a:off x="620000" y="430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" y="417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Situar Gateway API frente a Ingress y saber por qué existe.</a:t>
            </a:r>
          </a:p>
        </p:txBody>
      </p:sp>
      <p:sp>
        <p:nvSpPr>
          <p:cNvPr id="21" name="Oval 20"/>
          <p:cNvSpPr/>
          <p:nvPr/>
        </p:nvSpPr>
        <p:spPr>
          <a:xfrm>
            <a:off x="620000" y="48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000" y="47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Escribir NetworkPolicies de Ingress y Egress, incluyendo default deny.</a:t>
            </a:r>
          </a:p>
        </p:txBody>
      </p:sp>
      <p:sp>
        <p:nvSpPr>
          <p:cNvPr id="23" name="Oval 22"/>
          <p:cNvSpPr/>
          <p:nvPr/>
        </p:nvSpPr>
        <p:spPr>
          <a:xfrm>
            <a:off x="620000" y="54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000" y="52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Distinguir un fallo de DNS de uno de endpoints, de política o de Ingress.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180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1252000" y="415800"/>
            <a:ext cx="0" cy="179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52000" y="595000"/>
            <a:ext cx="128000" cy="51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0000" y="154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00–10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0000" y="171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0000" y="154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Repaso de la Clase 4 y objetivos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" y="201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10–30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0000" y="218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20000" y="201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modelo de red, tipos de Service, EndpointSlice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000" y="248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30–45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0000" y="265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0000" y="248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CoreDNS y resolución de nombres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00" y="299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000" y="295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45–68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20000" y="312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0000" y="295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5.1 — Básico: Services y DNS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000" y="342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68–85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0000" y="359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0000" y="342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Ingress, controlador, TLS y Gateway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0000" y="393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000" y="389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85–120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20000" y="406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20000" y="389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5.2 — Intermedio: Ingress con HTTP y HTTPS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000" y="436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120–133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20000" y="453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0000" y="436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NetworkPolicy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0000" y="487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" y="483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133–160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0000" y="500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0000" y="483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5.3 — Avanzado: aislar frontend y backend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0000" y="534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0000" y="530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160–176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0000" y="547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20000" y="530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5.4 — Challenge: «la red está rota»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0000" y="577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176–180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20000" y="594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20000" y="577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Cierre y CKA Tips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Services y DNS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Lo que hay debajo de cualquier problema de 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RUTA DEL TRÁFICO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Cómo llega un paquete a un Pod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05</a:t>
            </a:r>
          </a:p>
        </p:txBody>
      </p:sp>
      <p:pic>
        <p:nvPicPr>
          <p:cNvPr id="8" name="Picture 7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0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Cliente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64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524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24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ClusterIP (virtual)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988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848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48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kube-proxy · iptables/IPVS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12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72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72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EndpointSlice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636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5496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6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IP del Pod : targetPort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000" y="2950000"/>
            <a:ext cx="10952000" cy="1820000"/>
          </a:xfrm>
          <a:prstGeom prst="roundRect">
            <a:avLst>
              <a:gd name="adj" fmla="val 6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0000" y="2974000"/>
            <a:ext cx="40000" cy="177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000" y="3190000"/>
            <a:ext cx="10432000" cy="1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TRES CONSECUENCIAS PRÁCTICAS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La ClusterIP no existe en ninguna interfaz de red: es una regla, no una dirección real.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DNS NO balancea. Resuelve siempre a la misma ClusterIP; quien reparte es kube-proxy.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 Pod que no está Ready desaparece del EndpointSlice y deja de recibir tráfico. Es lo que hace que un rollout roto no rompa el servicio.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Por eso: nslookup OK + curl timeout = problema de endpoints, NO de DNS.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TIPOS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Cuatro tipos y un caso especial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202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000" y="2202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000" y="2452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pic>
        <p:nvPicPr>
          <p:cNvPr id="11" name="Picture 10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333" y="2438000"/>
            <a:ext cx="330000" cy="33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2432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ClusterIP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000" y="2852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Por defecto. Solo dentro del cluster. Para que un componente hable con otro.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333" y="2202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1333" y="2202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7333" y="2452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pic>
        <p:nvPicPr>
          <p:cNvPr id="17" name="Picture 16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666" y="2438000"/>
            <a:ext cx="330000" cy="33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17333" y="2432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NodePort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7333" y="2852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Mismo puerto en todos los nodos, rango 30000–32767. Laboratorio y balanceadores propios.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4666" y="2202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8666" y="2202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64666" y="2452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pic>
        <p:nvPicPr>
          <p:cNvPr id="23" name="Picture 22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2000" y="2438000"/>
            <a:ext cx="330000" cy="33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74666" y="2432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LoadBalancer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4666" y="2852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IP pública del proveedor de nube. Una por Service: caro cuando hay muchos.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000" y="4010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000" y="4010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0000" y="42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pic>
        <p:nvPicPr>
          <p:cNvPr id="29" name="Picture 28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333" y="4246000"/>
            <a:ext cx="330000" cy="33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0000" y="4240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ExternalName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000" y="4660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Ni IP ni endpoints. CoreDNS devuelve un CNAME a un nombre externo. No hay proxy.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7333" y="4010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01333" y="4010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07333" y="42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pic>
        <p:nvPicPr>
          <p:cNvPr id="35" name="Picture 34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666" y="4246000"/>
            <a:ext cx="330000" cy="33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17333" y="4240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Headless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7333" y="4660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clusterIP: None. El DNS devuelve las IP de los Pods, no una VIP. Base del StatefulSet.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4666" y="4010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58666" y="4010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64666" y="42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sp>
        <p:nvSpPr>
          <p:cNvPr id="41" name="Oval 40"/>
          <p:cNvSpPr/>
          <p:nvPr/>
        </p:nvSpPr>
        <p:spPr>
          <a:xfrm>
            <a:off x="11078000" y="4279000"/>
            <a:ext cx="198000" cy="198000"/>
          </a:xfrm>
          <a:prstGeom prst="ellipse">
            <a:avLst/>
          </a:prstGeom>
          <a:noFill/>
          <a:ln w="2413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1144000" y="4490200"/>
            <a:ext cx="66000" cy="0"/>
          </a:xfrm>
          <a:prstGeom prst="line">
            <a:avLst/>
          </a:prstGeom>
          <a:ln w="241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150600" y="4529800"/>
            <a:ext cx="52800" cy="0"/>
          </a:xfrm>
          <a:prstGeom prst="line">
            <a:avLst/>
          </a:prstGeom>
          <a:ln w="241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74666" y="4240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El error de siempre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4666" y="4660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port es el puerto del Service; targetPort el del contenedor; nodePort el del nodo.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COREDNS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Cómo encuentra un Pod a otro por nombre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07</a:t>
            </a:r>
          </a:p>
        </p:txBody>
      </p:sp>
      <p:pic>
        <p:nvPicPr>
          <p:cNvPr id="8" name="Picture 7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CoreDNS vive en kube-system. Su Service se sigue llamando kube-dns por motivos históricos.</a:t>
            </a:r>
          </a:p>
        </p:txBody>
      </p:sp>
      <p:sp>
        <p:nvSpPr>
          <p:cNvPr id="11" name="Oval 10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 FQDN de un Service es &lt;svc&gt;.&lt;ns&gt;.svc.cluster.local; el de un Pod de StatefulSet añade el nombre del Pod delante.</a:t>
            </a:r>
          </a:p>
        </p:txBody>
      </p:sp>
      <p:sp>
        <p:nvSpPr>
          <p:cNvPr id="13" name="Oval 12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search hace que dentro del namespace baste con escribir el nombre corto del Service.</a:t>
            </a:r>
          </a:p>
        </p:txBody>
      </p:sp>
      <p:sp>
        <p:nvSpPr>
          <p:cNvPr id="15" name="Oval 14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ndots:5 significa que un nombre con menos de 5 puntos prueba primero los sufijos de search.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3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35040" y="2310000"/>
            <a:ext cx="46000" cy="346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5040" y="2070000"/>
            <a:ext cx="4556960" cy="2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/ETC/RESOLV.CONF DE UN POD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25040" y="2304000"/>
            <a:ext cx="4556960" cy="1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5040" y="2500000"/>
            <a:ext cx="4516960" cy="21821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nameserver 10.96.0.10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search c5-basico.svc.cluster.local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 svc.cluster.local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 cluster.local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options ndots:5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Diagnóstico rápido: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run tmp --rm -it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--image=busybox:1.36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--restart=Never --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nslookup &lt;svc&gt;.&lt;ns&gt;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básico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5.1 — Services, EndpointSlice y CoreDNS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Publicar la misma aplicación con distintos tipos de Service y entender exactamente cómo un Pod encuentra a otro.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ClusterIP, NodePort con nodePort 31500 y ExternalName. Averiguar qué hace el último.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Comprobar que dos Services distintos comparten los mismos endpoints.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Provocar que una réplica deje de estar Ready y ver desaparecer su dirección.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Leer /etc/resolv.conf, explicar search y ndots, y comprobar quién balancea.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Activar y revertir el log de consultas de CoreDNS.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CLASE-05/LABORATORIOS/LAB-01-BASICO.md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23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endpointslices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Ingress y Gateway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Una sola puerta de entrada para muchas aplicaciones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Del cliente al contenedor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10</a:t>
            </a:r>
          </a:p>
        </p:txBody>
      </p:sp>
      <p:pic>
        <p:nvPicPr>
          <p:cNvPr id="8" name="Picture 7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0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CLIENTE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64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524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24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INGRESS CONTROLLER (proxy L7)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988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848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48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SERVICE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12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72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72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ENDPOINTSLICE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636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5496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6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000" y="2950000"/>
            <a:ext cx="10952000" cy="2070000"/>
          </a:xfrm>
          <a:prstGeom prst="roundRect">
            <a:avLst>
              <a:gd name="adj" fmla="val 6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0000" y="2974000"/>
            <a:ext cx="40000" cy="20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000" y="3190000"/>
            <a:ext cx="10432000" cy="16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LO QUE HAY QUE ENTENDER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objeto Ingress es solo una declaración. Sin un controlador que la lea, no hace absolutamente nada.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controlador termina el TLS en el borde: del controlador al Pod el tráfico va en claro.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Secret TLS debe estar en el MISMO namespace que el Ingress.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ingressClassName no coincide con ninguna IngressClass registrada, nadie adopta el Ingress: ADDRESS queda vacío y no hay ningún error.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Verifica los Services ANTES de crear el Ingress. Si no tienen endpoints, verás 503 y buscarás en el sitio equivocado.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0C96B"/>
                </a:solidFill>
                <a:latin typeface="Segoe UI Semibold"/>
              </a:rPr>
              <a:t>ACTUALIZACIÓN TÉCNICA · MARZO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ingress-nginx de la comunidad fue retirado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11</a:t>
            </a:r>
          </a:p>
        </p:txBody>
      </p:sp>
      <p:pic>
        <p:nvPicPr>
          <p:cNvPr id="8" name="Picture 7" descr="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El proyecto kubernetes/ingress-nginx está archivado desde marzo de 2026: no hay más releases, ni correcciones, ni parches de seguridad. Lo usaba alrededor de la mitad de los clusters del ecosistema, y el sucesor previsto (InGate) nunca maduró y también se retiró.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2410000"/>
            <a:ext cx="10952000" cy="164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000" y="2410000"/>
            <a:ext cx="46000" cy="1644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00" y="2560000"/>
            <a:ext cx="10412000" cy="138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La API Ingress NO está deprecada: sigue vigente y sigue en el examen.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Lo retirado es UNA implementación concreta.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En este curso usamos un controlador mantenido (Traefik).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Los manifiestos Ingress que escribes son los mismos: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solo cambia el ingressClassName.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Consecuencia práctica: las anotaciones NO son portables entre controladores. Fue una de las causas del problema.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PRESENTE Y FUTURO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Ingress frente a Gateway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12</a:t>
            </a:r>
          </a:p>
        </p:txBody>
      </p:sp>
      <p:pic>
        <p:nvPicPr>
          <p:cNvPr id="8" name="Picture 7" descr="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2061000"/>
            <a:ext cx="5316000" cy="3058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4000" y="2061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000" y="2321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Ingress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Lo que se pide hoy en el examen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000" y="2891000"/>
            <a:ext cx="4796000" cy="204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 solo objeto para todo: reglas, TLS y configuración.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Todo lo que no encaja se resuelve con anotaciones propietarias.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Esa flexibilidad se volvió una carga de mantenimiento y un riesgo de seguridad.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Sigue siendo estándar y ampliamente desplegado.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6000" y="2061000"/>
            <a:ext cx="5316000" cy="3058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0000" y="2061000"/>
            <a:ext cx="5268000" cy="4600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6000" y="2321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Gateway API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Hacia donde va el ecosistema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6000" y="2891000"/>
            <a:ext cx="4796000" cy="204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GatewayClass, Gateway y HTTPRoute: tres objetos, tres responsables.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Filtros tipados en lugar de anotaciones: URLRewrite, RequestHeaderModifier.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Rutas entre namespaces controladas con ReferenceGrant.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Ya figura en el currículum CKA vigente.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Manifiesto de referencia con el mismo routing expresado en Gateway API: CLASE-05/RECURSOS/YAML/04-gateway-api.yaml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SINTAXIS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Ingress con routing por path y TLS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13</a:t>
            </a:r>
          </a:p>
        </p:txBody>
      </p:sp>
      <p:pic>
        <p:nvPicPr>
          <p:cNvPr id="8" name="Picture 7" descr="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479456"/>
            <a:ext cx="10952000" cy="3593452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479456"/>
            <a:ext cx="46000" cy="3593452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000" y="1599456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EL MANIFIESTO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000" y="1879456"/>
            <a:ext cx="10412000" cy="31334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apiVersion: networking.k8s.io/v1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kind: Ingress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metadata: {name: app-ingress, namespace: c5-ingress}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spec: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ingressClassName: traefik      </a:t>
            </a:r>
            <a:r>
              <a:rPr sz="1050" b="0" i="1">
                <a:solidFill>
                  <a:srgbClr val="7C8AA5"/>
                </a:solidFill>
                <a:latin typeface="Consolas"/>
              </a:rPr>
              <a:t>  # &lt;- k get ingressclass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tls: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  - hosts: ["secure-ingress.com"]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    secretName: secure-ingress </a:t>
            </a:r>
            <a:r>
              <a:rPr sz="1050" b="0" i="1">
                <a:solidFill>
                  <a:srgbClr val="7C8AA5"/>
                </a:solidFill>
                <a:latin typeface="Consolas"/>
              </a:rPr>
              <a:t>  # &lt;- Secret kubernetes.io/tls, MISMO namespace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rules: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  - host: secure-ingress.com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    http: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      paths: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        - {path: /service1, pathType: Prefix,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           backend: {service: {name: service1, port: {number: 80}}}}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5272908"/>
            <a:ext cx="10952000" cy="1027636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000" y="5272908"/>
            <a:ext cx="46000" cy="1027636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000" y="5392908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PROBAR SIN TOCAR /ETC/HOSTS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000" y="5672908"/>
            <a:ext cx="10412000" cy="5676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curl -kv https://secure-ingress.com:32443/service2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--resolve secure-ingress.com:32443:&lt;IP-NODO&gt;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intermedio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5.2 — Ingress con HTTP, HTTPS y routing por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Publicar dos aplicaciones tras una sola entrada, primero en HTTP y después con un certificado propio.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Instalar un controlador mantenido y anotar su IngressClass y sus nodePort.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VERIFICAR los Services antes de tocar el Ingress. Si esto falla, el Ingress también.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Dos reglas de path con pathType: Prefix. Investigar la reescritura de path.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Certificado con CN=secure-ingress.com y Secret kubernetes.io/tls.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Anotar subject, issuer, versión TLS y código HTTP de la salida verbose.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CLASE-05/LABORATORIOS/LAB-02-INTERMEDIO.md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35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ingressclass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p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NetworkPolicy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Reglas de firewall a nivel de Pod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Cuatro reglas que lo explican todo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16</a:t>
            </a:r>
          </a:p>
        </p:txBody>
      </p:sp>
      <p:pic>
        <p:nvPicPr>
          <p:cNvPr id="8" name="Picture 7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Un Pod al que no selecciona ninguna política acepta todo el tráfico. El aislamiento no es el estado por defecto.</a:t>
            </a:r>
          </a:p>
        </p:txBody>
      </p:sp>
      <p:sp>
        <p:nvSpPr>
          <p:cNvPr id="11" name="Oval 10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En cuanto UNA política lo selecciona para un policyType, queda aislado para ese tipo y solo pasa lo autorizado.</a:t>
            </a:r>
          </a:p>
        </p:txBody>
      </p:sp>
      <p:sp>
        <p:nvSpPr>
          <p:cNvPr id="13" name="Oval 12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Las políticas son ADITIVAS: se aplica la unión de todas. No existen reglas de denegación y el orden no importa.</a:t>
            </a:r>
          </a:p>
        </p:txBody>
      </p:sp>
      <p:sp>
        <p:nvSpPr>
          <p:cNvPr id="15" name="Oval 14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Ingress y Egress son independientes: para que A hable con B hacen falta DOS permisos, salida en A y entrada en 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3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35040" y="2310000"/>
            <a:ext cx="46000" cy="346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5040" y="2070000"/>
            <a:ext cx="4556960" cy="2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DEFAULT DENY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25040" y="2304000"/>
            <a:ext cx="4556960" cy="1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5040" y="2500000"/>
            <a:ext cx="4516960" cy="2380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spec: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podSelector: {}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todos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policyTypes: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- Ingress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- Egress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Sin secciones ingress/egress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= denegar todo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Requisito previo: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que tu CNI implemente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NetworkPolicy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F7B72"/>
                </a:solidFill>
                <a:latin typeface="Segoe UI Semibold"/>
              </a:rPr>
              <a:t>EL FALLO ESTRELLA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Un default deny rompe el DNS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17</a:t>
            </a:r>
          </a:p>
        </p:txBody>
      </p:sp>
      <p:pic>
        <p:nvPicPr>
          <p:cNvPr id="8" name="Picture 7" descr="netp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En cuanto aplicas una política de egress, el tráfico al puerto 53 hacia CoreDNS también queda bloqueado. Nada resuelve, y el síntoma se confunde con «la red está muerta» o «CoreDNS se ha caído». Hay que permitirlo explícitamente.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2410000"/>
            <a:ext cx="10952000" cy="186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000" y="2410000"/>
            <a:ext cx="46000" cy="1868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00" y="2560000"/>
            <a:ext cx="10412000" cy="160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egress: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 to: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- namespaceSelector: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    matchLabels: {kubernetes.io/metadata.name: kube-system}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ports: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- {protocol: UDP, port: 53}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- {protocol: TCP, port: 53}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Kubernetes añade automáticamente el label kubernetes.io/metadata.name a todos los namespaces. Úsalo.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UN GUION LO CAMBIA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AND frente a OR en los selectores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18</a:t>
            </a:r>
          </a:p>
        </p:txBody>
      </p:sp>
      <p:sp>
        <p:nvSpPr>
          <p:cNvPr id="8" name="Freeform 7"/>
          <p:cNvSpPr/>
          <p:nvPr/>
        </p:nvSpPr>
        <p:spPr>
          <a:xfrm>
            <a:off x="10970400" y="326200"/>
            <a:ext cx="563200" cy="512000"/>
          </a:xfrm>
          <a:custGeom>
            <a:avLst/>
            <a:gdLst/>
            <a:ahLst/>
            <a:cxnLst/>
            <a:rect l="l" t="t" r="r" b="b"/>
            <a:pathLst>
              <a:path w="563200" h="512000">
                <a:moveTo>
                  <a:pt x="281600" y="0"/>
                </a:moveTo>
                <a:lnTo>
                  <a:pt x="563200" y="512000"/>
                </a:lnTo>
                <a:lnTo>
                  <a:pt x="0" y="512000"/>
                </a:lnTo>
                <a:close/>
              </a:path>
            </a:pathLst>
          </a:cu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252000" y="518200"/>
            <a:ext cx="0" cy="1536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220000" y="716600"/>
            <a:ext cx="64000" cy="640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0000" y="2205000"/>
            <a:ext cx="5316000" cy="277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000" y="2205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000" y="2465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AND — un solo elemento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Ese Pod, en ese namespace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000" y="3035000"/>
            <a:ext cx="4796000" cy="1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0" indent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BDC9DB"/>
                </a:solidFill>
                <a:latin typeface="Consolas"/>
              </a:rPr>
              <a:t>- from:</a:t>
            </a:r>
          </a:p>
          <a:p>
            <a:pPr algn="l" marL="0" indent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BDC9DB"/>
                </a:solidFill>
                <a:latin typeface="Consolas"/>
              </a:rPr>
              <a:t>    - namespaceSelector: {...}</a:t>
            </a:r>
          </a:p>
          <a:p>
            <a:pPr algn="l" marL="0" indent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BDC9DB"/>
                </a:solidFill>
                <a:latin typeface="Consolas"/>
              </a:rPr>
              <a:t>      podSelector: {...}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Las dos condiciones deben cumplirse a la vez.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6000" y="2205000"/>
            <a:ext cx="5316000" cy="277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0000" y="2205000"/>
            <a:ext cx="5268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6000" y="2465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OR — dos elementos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Ese namespace, O ese Pod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6000" y="3035000"/>
            <a:ext cx="4796000" cy="1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0" indent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BDC9DB"/>
                </a:solidFill>
                <a:latin typeface="Consolas"/>
              </a:rPr>
              <a:t>- from:</a:t>
            </a:r>
          </a:p>
          <a:p>
            <a:pPr algn="l" marL="0" indent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BDC9DB"/>
                </a:solidFill>
                <a:latin typeface="Consolas"/>
              </a:rPr>
              <a:t>    - namespaceSelector: {...}</a:t>
            </a:r>
          </a:p>
          <a:p>
            <a:pPr algn="l" marL="0" indent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BDC9DB"/>
                </a:solidFill>
                <a:latin typeface="Consolas"/>
              </a:rPr>
              <a:t>    - podSelector: {...}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Basta con que se cumpla una. Concede mucho más de lo que crees.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Es la diferencia entre una política correcta y un agujero de seguridad, y es un solo guion.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492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avanzado — solo requerimientos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5.3 — NetworkPolicy: aislar frontend y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Pasar de un cluster totalmente abierto a un modelo donde solo circula el tráfico autorizado, sin dejarlo inutilizable.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Verificar PRIMERO que tu CNI implementa NetworkPolicy.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Documentar la conectividad de partida antes de aplicar nada.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Aplicar default deny, comprobar qué se rompió y explicar el efecto sobre el DNS.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Permitir DNS, frontend→backend, y backend→namespace de datos.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Añadir una política más sin borrar ninguna y explicar el carácter aditivo.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CLASE-05/LABORATORIOS/LAB-03-AVANZADO.md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27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networkpolicy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604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FF7B72"/>
                </a:solidFill>
                <a:latin typeface="Segoe UI"/>
              </a:rPr>
              <a:t>Challenge — el escenario arranca roto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5.4 — Challenge: «la red está rota»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Cuatro fallos en cuatro capas distintas, todos con el mismo síntoma aparente: «no llego».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Prepara el escenario: RECURSOS/SCRIPTS/setup-lab.sh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Empieza el diagnóstico DENTRO del cluster, nunca por el curl externo.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Ruta: Pod → Service → EndpointSlice → DNS → NetworkPolicy → Ingress → Cliente.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Prohibido borrar default-deny y prohibido convertir Services a NodePort.</a:t>
            </a:r>
          </a:p>
        </p:txBody>
      </p:sp>
      <p:sp>
        <p:nvSpPr>
          <p:cNvPr id="14" name="Oval 13"/>
          <p:cNvSpPr/>
          <p:nvPr/>
        </p:nvSpPr>
        <p:spPr>
          <a:xfrm>
            <a:off x="9825200" y="1497200"/>
            <a:ext cx="313600" cy="3136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66400" y="1752000"/>
            <a:ext cx="431200" cy="4900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 flipV="1">
            <a:off x="95508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01780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95508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01780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95508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1780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CLASE-05/LABORATORIOS/LAB-04-CHALLENGE.md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18 min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./validate-lab.sh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MENTAL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Traducción de síntomas de 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21</a:t>
            </a:r>
          </a:p>
        </p:txBody>
      </p:sp>
      <p:pic>
        <p:nvPicPr>
          <p:cNvPr id="8" name="Picture 7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0000" y="1470000"/>
            <a:ext cx="10952000" cy="420000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882000"/>
            <a:ext cx="10952000" cy="1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000" y="1470000"/>
            <a:ext cx="3065600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LO QUE OBSERVAS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5600" y="1470000"/>
            <a:ext cx="4160800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DÓNDE ESTÁ EL PROBLEMA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6400" y="1470000"/>
            <a:ext cx="3065600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COMANDO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000" y="245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" y="1890000"/>
            <a:ext cx="30656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nslookup falla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5600" y="1890000"/>
            <a:ext cx="41608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DNS, o política de egress al 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6400" y="1890000"/>
            <a:ext cx="30656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networkpolicy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000" y="245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000" y="301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0000" y="2450000"/>
            <a:ext cx="30656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nslookup OK, curl timeout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5600" y="2450000"/>
            <a:ext cx="41608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Endpoints o NetworkPolicy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6400" y="2450000"/>
            <a:ext cx="30656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get endpointslices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000" y="357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0000" y="3010000"/>
            <a:ext cx="30656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EndpointSlice vacío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5600" y="3010000"/>
            <a:ext cx="41608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Selector del Service o labels del Pod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6400" y="3010000"/>
            <a:ext cx="30656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get pods --show-labels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000" y="357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000" y="413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000" y="3570000"/>
            <a:ext cx="30656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Hay endpoints, curl falla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5600" y="3570000"/>
            <a:ext cx="41608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targetPort o política de ingress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6400" y="3570000"/>
            <a:ext cx="30656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get svc -o yaml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000" y="469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000" y="4130000"/>
            <a:ext cx="30656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Interno OK, externo falla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5600" y="4130000"/>
            <a:ext cx="41608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Ingress, clase o controlador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6400" y="4130000"/>
            <a:ext cx="30656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get ingress,ingressclass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Comprueba que puedes hacer esto sin apuntes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96000" y="339000"/>
            <a:ext cx="512000" cy="512000"/>
          </a:xfrm>
          <a:prstGeom prst="roundRect">
            <a:avLst>
              <a:gd name="adj" fmla="val 20000"/>
            </a:avLst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124000" y="607800"/>
            <a:ext cx="89600" cy="1024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213600" y="479800"/>
            <a:ext cx="179200" cy="2304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0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Elijo el tipo de Service adecuado y sé qué hace cada uno.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Explico la cadena Service → EndpointSlice → Pod.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Resuelvo un Service por FQDN y leo /etc/resolv.conf de un Pod.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Distingo un fallo de DNS de uno de endpoints.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Publico dos aplicaciones por path con un solo Ingress.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6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56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Creo un TLS Secret y lo asocio a un Ingress por host.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6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6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Explico qué es Gateway API y por qué existe.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6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6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Escribo una NetworkPolicy default deny.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6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6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Permito DNS explícitamente en una política de egress.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56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6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Distingo el AND del OR en namespaceSelector y podSelector.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92000" y="-1400000"/>
            <a:ext cx="4000000" cy="40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00000" y="4358000"/>
            <a:ext cx="3800000" cy="38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2000" y="9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00" y="300000"/>
            <a:ext cx="90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CIERRE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1560000"/>
            <a:ext cx="9200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Clase 5 completada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2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2820000"/>
            <a:ext cx="9752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Ya sabes publicar aplicaciones y controlar el tráfico entre ellas.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La Clase 6 no introduce temas nuevos: usa todo lo anterior contra escenarios rotos. Es el 30 % del examen y la razón por la que has hecho las cinco clases previas.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Llega con los seis mental models frescos. Los vas a necesitar todos.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5 — Services, Ingress, CoreDNS y NetworkPolicy</dc:title>
  <dc:subject>Clase 5 — Services, Ingress, CoreDNS y NetworkPolicy</dc:subject>
  <dc:creator>CKA Hands-On Training</dc:creator>
  <cp:keywords/>
  <dc:description>Generado con generador-diapositivas/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