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 Id="rId27" Type="http://schemas.openxmlformats.org/officeDocument/2006/relationships/slide" Target="slides/slide21.xml"/><Relationship Id="rId28" Type="http://schemas.openxmlformats.org/officeDocument/2006/relationships/slide" Target="slides/slide22.xml"/><Relationship Id="rId29" Type="http://schemas.openxmlformats.org/officeDocument/2006/relationships/slide" Target="slides/slide23.xml"/><Relationship Id="rId30" Type="http://schemas.openxmlformats.org/officeDocument/2006/relationships/slide" Target="slides/slide2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image" Target="../media/image4.png"/><Relationship Id="rId4" Type="http://schemas.openxmlformats.org/officeDocument/2006/relationships/image" Target="../media/image6.png"/><Relationship Id="rId5" Type="http://schemas.openxmlformats.org/officeDocument/2006/relationships/image" Target="../media/image7.png"/><Relationship Id="rId6" Type="http://schemas.openxmlformats.org/officeDocument/2006/relationships/image" Target="../media/image8.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 Id="rId3" Type="http://schemas.openxmlformats.org/officeDocument/2006/relationships/image" Target="../media/image5.png"/><Relationship Id="rId4" Type="http://schemas.openxmlformats.org/officeDocument/2006/relationships/image" Target="../media/image10.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Oval 1"/>
          <p:cNvSpPr/>
          <p:nvPr/>
        </p:nvSpPr>
        <p:spPr>
          <a:xfrm>
            <a:off x="9142000" y="-1350000"/>
            <a:ext cx="4500000" cy="4500000"/>
          </a:xfrm>
          <a:prstGeom prst="ellipse">
            <a:avLst/>
          </a:prstGeom>
          <a:solidFill>
            <a:srgbClr val="0E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0342000" y="5308000"/>
            <a:ext cx="2900000" cy="2900000"/>
          </a:xfrm>
          <a:prstGeom prst="ellipse">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ubernetes.png"/>
          <p:cNvPicPr>
            <a:picLocks noChangeAspect="1"/>
          </p:cNvPicPr>
          <p:nvPr/>
        </p:nvPicPr>
        <p:blipFill>
          <a:blip r:embed="rId2"/>
          <a:stretch>
            <a:fillRect/>
          </a:stretch>
        </p:blipFill>
        <p:spPr>
          <a:xfrm>
            <a:off x="9642000" y="1000000"/>
            <a:ext cx="1650000" cy="1650000"/>
          </a:xfrm>
          <a:prstGeom prst="rect">
            <a:avLst/>
          </a:prstGeom>
        </p:spPr>
      </p:pic>
      <p:sp>
        <p:nvSpPr>
          <p:cNvPr id="5" name="TextBox 4"/>
          <p:cNvSpPr txBox="1"/>
          <p:nvPr/>
        </p:nvSpPr>
        <p:spPr>
          <a:xfrm>
            <a:off x="660000" y="300000"/>
            <a:ext cx="8600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CKA HANDS-ON TRAINING</a:t>
            </a:r>
          </a:p>
        </p:txBody>
      </p:sp>
      <p:sp>
        <p:nvSpPr>
          <p:cNvPr id="6" name="TextBox 5"/>
          <p:cNvSpPr txBox="1"/>
          <p:nvPr/>
        </p:nvSpPr>
        <p:spPr>
          <a:xfrm>
            <a:off x="660000" y="1620000"/>
            <a:ext cx="8600000" cy="520000"/>
          </a:xfrm>
          <a:prstGeom prst="rect">
            <a:avLst/>
          </a:prstGeom>
          <a:noFill/>
        </p:spPr>
        <p:txBody>
          <a:bodyPr wrap="square" anchor="t" lIns="0" rIns="0" tIns="0" bIns="0">
            <a:noAutofit/>
          </a:bodyPr>
          <a:lstStyle/>
          <a:p>
            <a:pPr algn="l" marL="0" indent="0">
              <a:lnSpc>
                <a:spcPct val="100000"/>
              </a:lnSpc>
              <a:spcBef>
                <a:spcPts val="0"/>
              </a:spcBef>
              <a:spcAft>
                <a:spcPts val="0"/>
              </a:spcAft>
              <a:buNone/>
            </a:pPr>
            <a:r>
              <a:rPr sz="1500" b="1" i="0" spc="200">
                <a:solidFill>
                  <a:srgbClr val="74A6FF"/>
                </a:solidFill>
                <a:latin typeface="Segoe UI Semibold"/>
              </a:rPr>
              <a:t>CLASE 6</a:t>
            </a:r>
          </a:p>
        </p:txBody>
      </p:sp>
      <p:sp>
        <p:nvSpPr>
          <p:cNvPr id="7" name="TextBox 6"/>
          <p:cNvSpPr txBox="1"/>
          <p:nvPr/>
        </p:nvSpPr>
        <p:spPr>
          <a:xfrm>
            <a:off x="660000" y="2040000"/>
            <a:ext cx="8900000" cy="150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4400" b="0" i="0">
                <a:solidFill>
                  <a:srgbClr val="F3F6FC"/>
                </a:solidFill>
                <a:latin typeface="Segoe UI Light"/>
              </a:rPr>
              <a:t>Troubleshooting e Integración</a:t>
            </a:r>
          </a:p>
        </p:txBody>
      </p:sp>
      <p:sp>
        <p:nvSpPr>
          <p:cNvPr id="8" name="Rectangle 7"/>
          <p:cNvSpPr/>
          <p:nvPr/>
        </p:nvSpPr>
        <p:spPr>
          <a:xfrm>
            <a:off x="660000" y="356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9" name="TextBox 8"/>
          <p:cNvSpPr txBox="1"/>
          <p:nvPr/>
        </p:nvSpPr>
        <p:spPr>
          <a:xfrm>
            <a:off x="660000" y="3760000"/>
            <a:ext cx="8600000" cy="5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El 30 % del examen y la razón por la que hiciste las cinco clases anteriores</a:t>
            </a:r>
          </a:p>
        </p:txBody>
      </p:sp>
      <p:sp>
        <p:nvSpPr>
          <p:cNvPr id="10" name="Rounded Rectangle 9"/>
          <p:cNvSpPr/>
          <p:nvPr/>
        </p:nvSpPr>
        <p:spPr>
          <a:xfrm>
            <a:off x="6600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Rectangle 10"/>
          <p:cNvSpPr/>
          <p:nvPr/>
        </p:nvSpPr>
        <p:spPr>
          <a:xfrm>
            <a:off x="6600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2" name="TextBox 11"/>
          <p:cNvSpPr txBox="1"/>
          <p:nvPr/>
        </p:nvSpPr>
        <p:spPr>
          <a:xfrm>
            <a:off x="8100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180 min</a:t>
            </a:r>
          </a:p>
          <a:p>
            <a:pPr algn="l" marL="0" indent="0">
              <a:lnSpc>
                <a:spcPct val="100000"/>
              </a:lnSpc>
              <a:spcBef>
                <a:spcPts val="0"/>
              </a:spcBef>
              <a:spcAft>
                <a:spcPts val="0"/>
              </a:spcAft>
              <a:buNone/>
            </a:pPr>
            <a:r>
              <a:rPr sz="1000" b="1" i="0" spc="160">
                <a:solidFill>
                  <a:srgbClr val="8493AD"/>
                </a:solidFill>
                <a:latin typeface="Segoe UI Semibold"/>
              </a:rPr>
              <a:t>DURACIÓN</a:t>
            </a:r>
          </a:p>
        </p:txBody>
      </p:sp>
      <p:sp>
        <p:nvSpPr>
          <p:cNvPr id="13" name="Rounded Rectangle 12"/>
          <p:cNvSpPr/>
          <p:nvPr/>
        </p:nvSpPr>
        <p:spPr>
          <a:xfrm>
            <a:off x="34555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34555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36055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5</a:t>
            </a:r>
          </a:p>
          <a:p>
            <a:pPr algn="l" marL="0" indent="0">
              <a:lnSpc>
                <a:spcPct val="100000"/>
              </a:lnSpc>
              <a:spcBef>
                <a:spcPts val="0"/>
              </a:spcBef>
              <a:spcAft>
                <a:spcPts val="0"/>
              </a:spcAft>
              <a:buNone/>
            </a:pPr>
            <a:r>
              <a:rPr sz="1000" b="1" i="0" spc="160">
                <a:solidFill>
                  <a:srgbClr val="8493AD"/>
                </a:solidFill>
                <a:latin typeface="Segoe UI Semibold"/>
              </a:rPr>
              <a:t>LABORATORIOS</a:t>
            </a:r>
          </a:p>
        </p:txBody>
      </p:sp>
      <p:sp>
        <p:nvSpPr>
          <p:cNvPr id="16" name="Rounded Rectangle 15"/>
          <p:cNvSpPr/>
          <p:nvPr/>
        </p:nvSpPr>
        <p:spPr>
          <a:xfrm>
            <a:off x="62510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7" name="Rectangle 16"/>
          <p:cNvSpPr/>
          <p:nvPr/>
        </p:nvSpPr>
        <p:spPr>
          <a:xfrm>
            <a:off x="62510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TextBox 17"/>
          <p:cNvSpPr txBox="1"/>
          <p:nvPr/>
        </p:nvSpPr>
        <p:spPr>
          <a:xfrm>
            <a:off x="64010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30 %</a:t>
            </a:r>
          </a:p>
          <a:p>
            <a:pPr algn="l" marL="0" indent="0">
              <a:lnSpc>
                <a:spcPct val="100000"/>
              </a:lnSpc>
              <a:spcBef>
                <a:spcPts val="0"/>
              </a:spcBef>
              <a:spcAft>
                <a:spcPts val="0"/>
              </a:spcAft>
              <a:buNone/>
            </a:pPr>
            <a:r>
              <a:rPr sz="1000" b="1" i="0" spc="160">
                <a:solidFill>
                  <a:srgbClr val="8493AD"/>
                </a:solidFill>
                <a:latin typeface="Segoe UI Semibold"/>
              </a:rPr>
              <a:t>PESO EN EL CKA</a:t>
            </a:r>
          </a:p>
        </p:txBody>
      </p:sp>
      <p:sp>
        <p:nvSpPr>
          <p:cNvPr id="19" name="Rounded Rectangle 18"/>
          <p:cNvSpPr/>
          <p:nvPr/>
        </p:nvSpPr>
        <p:spPr>
          <a:xfrm>
            <a:off x="9046500" y="4650000"/>
            <a:ext cx="2645500" cy="900000"/>
          </a:xfrm>
          <a:prstGeom prst="roundRect">
            <a:avLst>
              <a:gd name="adj" fmla="val 10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9046500" y="4650000"/>
            <a:ext cx="26455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9196500" y="4770000"/>
            <a:ext cx="2345500" cy="660000"/>
          </a:xfrm>
          <a:prstGeom prst="rect">
            <a:avLst/>
          </a:prstGeom>
          <a:noFill/>
        </p:spPr>
        <p:txBody>
          <a:bodyPr wrap="square" anchor="ctr" lIns="0" rIns="0" tIns="0" bIns="0">
            <a:noAutofit/>
          </a:bodyPr>
          <a:lstStyle/>
          <a:p>
            <a:pPr algn="l" marL="0" indent="0">
              <a:lnSpc>
                <a:spcPct val="100000"/>
              </a:lnSpc>
              <a:spcBef>
                <a:spcPts val="0"/>
              </a:spcBef>
              <a:spcAft>
                <a:spcPts val="200"/>
              </a:spcAft>
              <a:buNone/>
            </a:pPr>
            <a:r>
              <a:rPr sz="2200" b="0" i="0">
                <a:solidFill>
                  <a:srgbClr val="F3F6FC"/>
                </a:solidFill>
                <a:latin typeface="Segoe UI Light"/>
              </a:rPr>
              <a:t>0</a:t>
            </a:r>
          </a:p>
          <a:p>
            <a:pPr algn="l" marL="0" indent="0">
              <a:lnSpc>
                <a:spcPct val="100000"/>
              </a:lnSpc>
              <a:spcBef>
                <a:spcPts val="0"/>
              </a:spcBef>
              <a:spcAft>
                <a:spcPts val="0"/>
              </a:spcAft>
              <a:buNone/>
            </a:pPr>
            <a:r>
              <a:rPr sz="1000" b="1" i="0" spc="160">
                <a:solidFill>
                  <a:srgbClr val="8493AD"/>
                </a:solidFill>
                <a:latin typeface="Segoe UI Semibold"/>
              </a:rPr>
              <a:t>TEMAS NUEVOS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OBJETIVOS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Al terminar esta clase serás capaz de…</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02</a:t>
            </a:r>
          </a:p>
        </p:txBody>
      </p:sp>
      <p:sp>
        <p:nvSpPr>
          <p:cNvPr id="8" name="Oval 7"/>
          <p:cNvSpPr/>
          <p:nvPr/>
        </p:nvSpPr>
        <p:spPr>
          <a:xfrm>
            <a:off x="10983200" y="326200"/>
            <a:ext cx="537600" cy="537600"/>
          </a:xfrm>
          <a:prstGeom prst="ellipse">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Oval 8"/>
          <p:cNvSpPr/>
          <p:nvPr/>
        </p:nvSpPr>
        <p:spPr>
          <a:xfrm>
            <a:off x="11098400" y="441400"/>
            <a:ext cx="307200" cy="307200"/>
          </a:xfrm>
          <a:prstGeom prst="ellipse">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11200800" y="543800"/>
            <a:ext cx="102400" cy="102400"/>
          </a:xfrm>
          <a:prstGeom prst="ellipse">
            <a:avLst/>
          </a:prstGeom>
          <a:solidFill>
            <a:srgbClr val="74A6FF"/>
          </a:solidFill>
          <a:ln w="635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Oval 10"/>
          <p:cNvSpPr/>
          <p:nvPr/>
        </p:nvSpPr>
        <p:spPr>
          <a:xfrm>
            <a:off x="620000" y="234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12" name="TextBox 11"/>
          <p:cNvSpPr txBox="1"/>
          <p:nvPr/>
        </p:nvSpPr>
        <p:spPr>
          <a:xfrm>
            <a:off x="1120000" y="221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Aplicar un método de diagnóstico reproducible en vez de ir probando comandos.</a:t>
            </a:r>
          </a:p>
        </p:txBody>
      </p:sp>
      <p:sp>
        <p:nvSpPr>
          <p:cNvPr id="13" name="Oval 12"/>
          <p:cNvSpPr/>
          <p:nvPr/>
        </p:nvSpPr>
        <p:spPr>
          <a:xfrm>
            <a:off x="620000" y="290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14" name="TextBox 13"/>
          <p:cNvSpPr txBox="1"/>
          <p:nvPr/>
        </p:nvSpPr>
        <p:spPr>
          <a:xfrm>
            <a:off x="1120000" y="277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Reconocer cada estado de Pod y saber a qué capa apunta.</a:t>
            </a:r>
          </a:p>
        </p:txBody>
      </p:sp>
      <p:sp>
        <p:nvSpPr>
          <p:cNvPr id="15" name="Oval 14"/>
          <p:cNvSpPr/>
          <p:nvPr/>
        </p:nvSpPr>
        <p:spPr>
          <a:xfrm>
            <a:off x="620000" y="346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6" name="TextBox 15"/>
          <p:cNvSpPr txBox="1"/>
          <p:nvPr/>
        </p:nvSpPr>
        <p:spPr>
          <a:xfrm>
            <a:off x="1120000" y="333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Diagnosticar fallos de nodo y de control plane, no solo de aplicación.</a:t>
            </a:r>
          </a:p>
        </p:txBody>
      </p:sp>
      <p:sp>
        <p:nvSpPr>
          <p:cNvPr id="17" name="Oval 16"/>
          <p:cNvSpPr/>
          <p:nvPr/>
        </p:nvSpPr>
        <p:spPr>
          <a:xfrm>
            <a:off x="620000" y="402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8" name="TextBox 17"/>
          <p:cNvSpPr txBox="1"/>
          <p:nvPr/>
        </p:nvSpPr>
        <p:spPr>
          <a:xfrm>
            <a:off x="1120000" y="389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Resolver escenarios que cruzan scheduling, storage, configuración, permisos y red.</a:t>
            </a:r>
          </a:p>
        </p:txBody>
      </p:sp>
      <p:sp>
        <p:nvSpPr>
          <p:cNvPr id="19" name="Oval 18"/>
          <p:cNvSpPr/>
          <p:nvPr/>
        </p:nvSpPr>
        <p:spPr>
          <a:xfrm>
            <a:off x="620000" y="458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20" name="TextBox 19"/>
          <p:cNvSpPr txBox="1"/>
          <p:nvPr/>
        </p:nvSpPr>
        <p:spPr>
          <a:xfrm>
            <a:off x="1120000" y="445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Trabajar contrarreloj sin perder el método.</a:t>
            </a:r>
          </a:p>
        </p:txBody>
      </p:sp>
      <p:sp>
        <p:nvSpPr>
          <p:cNvPr id="21" name="Oval 20"/>
          <p:cNvSpPr/>
          <p:nvPr/>
        </p:nvSpPr>
        <p:spPr>
          <a:xfrm>
            <a:off x="620000" y="514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6</a:t>
            </a:r>
          </a:p>
        </p:txBody>
      </p:sp>
      <p:sp>
        <p:nvSpPr>
          <p:cNvPr id="22" name="TextBox 21"/>
          <p:cNvSpPr txBox="1"/>
          <p:nvPr/>
        </p:nvSpPr>
        <p:spPr>
          <a:xfrm>
            <a:off x="1120000" y="5010000"/>
            <a:ext cx="1045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Desplegar y reparar una arquitectura completa de principio a fin.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180 MINUTOS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Agenda</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03</a:t>
            </a:r>
          </a:p>
        </p:txBody>
      </p:sp>
      <p:sp>
        <p:nvSpPr>
          <p:cNvPr id="8" name="Oval 7"/>
          <p:cNvSpPr/>
          <p:nvPr/>
        </p:nvSpPr>
        <p:spPr>
          <a:xfrm>
            <a:off x="10983200" y="326200"/>
            <a:ext cx="537600" cy="537600"/>
          </a:xfrm>
          <a:prstGeom prst="ellipse">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flipV="1">
            <a:off x="11252000" y="415800"/>
            <a:ext cx="0" cy="17920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11252000" y="595000"/>
            <a:ext cx="128000" cy="5120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1" name="TextBox 10"/>
          <p:cNvSpPr txBox="1"/>
          <p:nvPr/>
        </p:nvSpPr>
        <p:spPr>
          <a:xfrm>
            <a:off x="620000" y="177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00–12</a:t>
            </a:r>
          </a:p>
        </p:txBody>
      </p:sp>
      <p:sp>
        <p:nvSpPr>
          <p:cNvPr id="12" name="Rectangle 11"/>
          <p:cNvSpPr/>
          <p:nvPr/>
        </p:nvSpPr>
        <p:spPr>
          <a:xfrm>
            <a:off x="2120000" y="1950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3" name="TextBox 12"/>
          <p:cNvSpPr txBox="1"/>
          <p:nvPr/>
        </p:nvSpPr>
        <p:spPr>
          <a:xfrm>
            <a:off x="2320000" y="177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Método de diagnóstico y mapa de estados</a:t>
            </a:r>
          </a:p>
        </p:txBody>
      </p:sp>
      <p:sp>
        <p:nvSpPr>
          <p:cNvPr id="14" name="TextBox 13"/>
          <p:cNvSpPr txBox="1"/>
          <p:nvPr/>
        </p:nvSpPr>
        <p:spPr>
          <a:xfrm>
            <a:off x="620000" y="224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12–30</a:t>
            </a:r>
          </a:p>
        </p:txBody>
      </p:sp>
      <p:sp>
        <p:nvSpPr>
          <p:cNvPr id="15" name="Rectangle 14"/>
          <p:cNvSpPr/>
          <p:nvPr/>
        </p:nvSpPr>
        <p:spPr>
          <a:xfrm>
            <a:off x="2120000" y="2420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TextBox 15"/>
          <p:cNvSpPr txBox="1"/>
          <p:nvPr/>
        </p:nvSpPr>
        <p:spPr>
          <a:xfrm>
            <a:off x="2320000" y="224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Demo: cinco Pods rotos, cinco causas distintas, en 15 minutos</a:t>
            </a:r>
          </a:p>
        </p:txBody>
      </p:sp>
      <p:sp>
        <p:nvSpPr>
          <p:cNvPr id="17" name="Rounded Rectangle 16"/>
          <p:cNvSpPr/>
          <p:nvPr/>
        </p:nvSpPr>
        <p:spPr>
          <a:xfrm>
            <a:off x="560000" y="2755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TextBox 17"/>
          <p:cNvSpPr txBox="1"/>
          <p:nvPr/>
        </p:nvSpPr>
        <p:spPr>
          <a:xfrm>
            <a:off x="620000" y="271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30–50</a:t>
            </a:r>
          </a:p>
        </p:txBody>
      </p:sp>
      <p:sp>
        <p:nvSpPr>
          <p:cNvPr id="19" name="Rectangle 18"/>
          <p:cNvSpPr/>
          <p:nvPr/>
        </p:nvSpPr>
        <p:spPr>
          <a:xfrm>
            <a:off x="2120000" y="2890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TextBox 19"/>
          <p:cNvSpPr txBox="1"/>
          <p:nvPr/>
        </p:nvSpPr>
        <p:spPr>
          <a:xfrm>
            <a:off x="2320000" y="271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6.1 — Básico: identificar el estado y la capa</a:t>
            </a:r>
          </a:p>
        </p:txBody>
      </p:sp>
      <p:sp>
        <p:nvSpPr>
          <p:cNvPr id="21" name="Rounded Rectangle 20"/>
          <p:cNvSpPr/>
          <p:nvPr/>
        </p:nvSpPr>
        <p:spPr>
          <a:xfrm>
            <a:off x="560000" y="3225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2" name="TextBox 21"/>
          <p:cNvSpPr txBox="1"/>
          <p:nvPr/>
        </p:nvSpPr>
        <p:spPr>
          <a:xfrm>
            <a:off x="620000" y="318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50–78</a:t>
            </a:r>
          </a:p>
        </p:txBody>
      </p:sp>
      <p:sp>
        <p:nvSpPr>
          <p:cNvPr id="23" name="Rectangle 22"/>
          <p:cNvSpPr/>
          <p:nvPr/>
        </p:nvSpPr>
        <p:spPr>
          <a:xfrm>
            <a:off x="2120000" y="3360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2320000" y="318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6.2 — Intermedio: nodo y control plane</a:t>
            </a:r>
          </a:p>
        </p:txBody>
      </p:sp>
      <p:sp>
        <p:nvSpPr>
          <p:cNvPr id="25" name="Rounded Rectangle 24"/>
          <p:cNvSpPr/>
          <p:nvPr/>
        </p:nvSpPr>
        <p:spPr>
          <a:xfrm>
            <a:off x="560000" y="3695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6" name="TextBox 25"/>
          <p:cNvSpPr txBox="1"/>
          <p:nvPr/>
        </p:nvSpPr>
        <p:spPr>
          <a:xfrm>
            <a:off x="620000" y="365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78–105</a:t>
            </a:r>
          </a:p>
        </p:txBody>
      </p:sp>
      <p:sp>
        <p:nvSpPr>
          <p:cNvPr id="27" name="Rectangle 26"/>
          <p:cNvSpPr/>
          <p:nvPr/>
        </p:nvSpPr>
        <p:spPr>
          <a:xfrm>
            <a:off x="2120000" y="3830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TextBox 27"/>
          <p:cNvSpPr txBox="1"/>
          <p:nvPr/>
        </p:nvSpPr>
        <p:spPr>
          <a:xfrm>
            <a:off x="2320000" y="365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6.3 — Avanzado: cadena de fallos entre capas</a:t>
            </a:r>
          </a:p>
        </p:txBody>
      </p:sp>
      <p:sp>
        <p:nvSpPr>
          <p:cNvPr id="29" name="Rounded Rectangle 28"/>
          <p:cNvSpPr/>
          <p:nvPr/>
        </p:nvSpPr>
        <p:spPr>
          <a:xfrm>
            <a:off x="560000" y="4165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0" name="TextBox 29"/>
          <p:cNvSpPr txBox="1"/>
          <p:nvPr/>
        </p:nvSpPr>
        <p:spPr>
          <a:xfrm>
            <a:off x="620000" y="412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105–120</a:t>
            </a:r>
          </a:p>
        </p:txBody>
      </p:sp>
      <p:sp>
        <p:nvSpPr>
          <p:cNvPr id="31" name="Rectangle 30"/>
          <p:cNvSpPr/>
          <p:nvPr/>
        </p:nvSpPr>
        <p:spPr>
          <a:xfrm>
            <a:off x="2120000" y="4300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2" name="TextBox 31"/>
          <p:cNvSpPr txBox="1"/>
          <p:nvPr/>
        </p:nvSpPr>
        <p:spPr>
          <a:xfrm>
            <a:off x="2320000" y="412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6.4 — Challenge: contrarreloj, 15 minutos</a:t>
            </a:r>
          </a:p>
        </p:txBody>
      </p:sp>
      <p:sp>
        <p:nvSpPr>
          <p:cNvPr id="33" name="Rounded Rectangle 32"/>
          <p:cNvSpPr/>
          <p:nvPr/>
        </p:nvSpPr>
        <p:spPr>
          <a:xfrm>
            <a:off x="560000" y="4635000"/>
            <a:ext cx="11072000" cy="390000"/>
          </a:xfrm>
          <a:prstGeom prst="roundRect">
            <a:avLst>
              <a:gd name="adj" fmla="val 16000"/>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4" name="TextBox 33"/>
          <p:cNvSpPr txBox="1"/>
          <p:nvPr/>
        </p:nvSpPr>
        <p:spPr>
          <a:xfrm>
            <a:off x="620000" y="459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74A6FF"/>
                </a:solidFill>
                <a:latin typeface="Consolas"/>
              </a:rPr>
              <a:t>120–170</a:t>
            </a:r>
          </a:p>
        </p:txBody>
      </p:sp>
      <p:sp>
        <p:nvSpPr>
          <p:cNvPr id="35" name="Rectangle 34"/>
          <p:cNvSpPr/>
          <p:nvPr/>
        </p:nvSpPr>
        <p:spPr>
          <a:xfrm>
            <a:off x="2120000" y="4770000"/>
            <a:ext cx="8000" cy="1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6" name="TextBox 35"/>
          <p:cNvSpPr txBox="1"/>
          <p:nvPr/>
        </p:nvSpPr>
        <p:spPr>
          <a:xfrm>
            <a:off x="2320000" y="459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1" i="0">
                <a:solidFill>
                  <a:srgbClr val="F3F6FC"/>
                </a:solidFill>
                <a:latin typeface="Segoe UI"/>
              </a:rPr>
              <a:t>LAB 6.5 — INTEGRADOR FINAL</a:t>
            </a:r>
          </a:p>
        </p:txBody>
      </p:sp>
      <p:sp>
        <p:nvSpPr>
          <p:cNvPr id="37" name="TextBox 36"/>
          <p:cNvSpPr txBox="1"/>
          <p:nvPr/>
        </p:nvSpPr>
        <p:spPr>
          <a:xfrm>
            <a:off x="620000" y="506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170–178</a:t>
            </a:r>
          </a:p>
        </p:txBody>
      </p:sp>
      <p:sp>
        <p:nvSpPr>
          <p:cNvPr id="38" name="Rectangle 37"/>
          <p:cNvSpPr/>
          <p:nvPr/>
        </p:nvSpPr>
        <p:spPr>
          <a:xfrm>
            <a:off x="2120000" y="5240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9" name="TextBox 38"/>
          <p:cNvSpPr txBox="1"/>
          <p:nvPr/>
        </p:nvSpPr>
        <p:spPr>
          <a:xfrm>
            <a:off x="2320000" y="506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Checklist CKA y Cheat Sheet</a:t>
            </a:r>
          </a:p>
        </p:txBody>
      </p:sp>
      <p:sp>
        <p:nvSpPr>
          <p:cNvPr id="40" name="TextBox 39"/>
          <p:cNvSpPr txBox="1"/>
          <p:nvPr/>
        </p:nvSpPr>
        <p:spPr>
          <a:xfrm>
            <a:off x="620000" y="5535000"/>
            <a:ext cx="1500000" cy="47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40">
                <a:solidFill>
                  <a:srgbClr val="8493AD"/>
                </a:solidFill>
                <a:latin typeface="Consolas"/>
              </a:rPr>
              <a:t>178–180</a:t>
            </a:r>
          </a:p>
        </p:txBody>
      </p:sp>
      <p:sp>
        <p:nvSpPr>
          <p:cNvPr id="41" name="Rectangle 40"/>
          <p:cNvSpPr/>
          <p:nvPr/>
        </p:nvSpPr>
        <p:spPr>
          <a:xfrm>
            <a:off x="2120000" y="5710000"/>
            <a:ext cx="8000" cy="120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2" name="TextBox 41"/>
          <p:cNvSpPr txBox="1"/>
          <p:nvPr/>
        </p:nvSpPr>
        <p:spPr>
          <a:xfrm>
            <a:off x="2320000" y="5535000"/>
            <a:ext cx="9252000" cy="470000"/>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300" b="0" i="0">
                <a:solidFill>
                  <a:srgbClr val="BDC9DB"/>
                </a:solidFill>
                <a:latin typeface="Segoe UI"/>
              </a:rPr>
              <a:t>Cierre del curso</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1500000" y="4258000"/>
            <a:ext cx="4200000" cy="42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9022000" y="2330000"/>
            <a:ext cx="1080000" cy="1080000"/>
          </a:xfrm>
          <a:prstGeom prst="ellipse">
            <a:avLst/>
          </a:prstGeom>
          <a:noFill/>
          <a:ln w="3048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4" name="Connector 3"/>
          <p:cNvCxnSpPr/>
          <p:nvPr/>
        </p:nvCxnSpPr>
        <p:spPr>
          <a:xfrm>
            <a:off x="9958000" y="3266000"/>
            <a:ext cx="540000" cy="540000"/>
          </a:xfrm>
          <a:prstGeom prst="line">
            <a:avLst/>
          </a:prstGeom>
          <a:ln w="48768">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5" name="TextBox 4"/>
          <p:cNvSpPr txBox="1"/>
          <p:nvPr/>
        </p:nvSpPr>
        <p:spPr>
          <a:xfrm>
            <a:off x="590000" y="1150000"/>
            <a:ext cx="4000000" cy="260000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000" b="0" i="0">
                <a:solidFill>
                  <a:srgbClr val="4C5B75"/>
                </a:solidFill>
                <a:latin typeface="Segoe UI Light"/>
              </a:rPr>
              <a:t>01</a:t>
            </a:r>
          </a:p>
        </p:txBody>
      </p:sp>
      <p:sp>
        <p:nvSpPr>
          <p:cNvPr id="6" name="TextBox 5"/>
          <p:cNvSpPr txBox="1"/>
          <p:nvPr/>
        </p:nvSpPr>
        <p:spPr>
          <a:xfrm>
            <a:off x="640000" y="3050000"/>
            <a:ext cx="9200000" cy="3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60">
                <a:solidFill>
                  <a:srgbClr val="74A6FF"/>
                </a:solidFill>
                <a:latin typeface="Segoe UI Semibold"/>
              </a:rPr>
              <a:t>BLOQUE 1</a:t>
            </a:r>
          </a:p>
        </p:txBody>
      </p:sp>
      <p:sp>
        <p:nvSpPr>
          <p:cNvPr id="7" name="TextBox 6"/>
          <p:cNvSpPr txBox="1"/>
          <p:nvPr/>
        </p:nvSpPr>
        <p:spPr>
          <a:xfrm>
            <a:off x="640000" y="3350000"/>
            <a:ext cx="10200000" cy="1000000"/>
          </a:xfrm>
          <a:prstGeom prst="rect">
            <a:avLst/>
          </a:prstGeom>
          <a:noFill/>
        </p:spPr>
        <p:txBody>
          <a:bodyPr wrap="square" anchor="t" lIns="0" rIns="0" tIns="0" bIns="0">
            <a:noAutofit/>
          </a:bodyPr>
          <a:lstStyle/>
          <a:p>
            <a:pPr algn="l" marL="0" indent="0">
              <a:lnSpc>
                <a:spcPct val="102000"/>
              </a:lnSpc>
              <a:spcBef>
                <a:spcPts val="0"/>
              </a:spcBef>
              <a:spcAft>
                <a:spcPts val="0"/>
              </a:spcAft>
              <a:buNone/>
            </a:pPr>
            <a:r>
              <a:rPr sz="5400" b="0" i="0">
                <a:solidFill>
                  <a:srgbClr val="F3F6FC"/>
                </a:solidFill>
                <a:latin typeface="Segoe UI Light"/>
              </a:rPr>
              <a:t>El método</a:t>
            </a:r>
          </a:p>
        </p:txBody>
      </p:sp>
      <p:sp>
        <p:nvSpPr>
          <p:cNvPr id="8" name="Rectangle 7"/>
          <p:cNvSpPr/>
          <p:nvPr/>
        </p:nvSpPr>
        <p:spPr>
          <a:xfrm>
            <a:off x="644000" y="438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9" name="TextBox 8"/>
          <p:cNvSpPr txBox="1"/>
          <p:nvPr/>
        </p:nvSpPr>
        <p:spPr>
          <a:xfrm>
            <a:off x="640000" y="4560000"/>
            <a:ext cx="9600000" cy="6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Lo que separa a quien diagnostica de quien prueba comandos</a:t>
            </a:r>
          </a:p>
        </p:txBody>
      </p:sp>
      <p:sp>
        <p:nvSpPr>
          <p:cNvPr id="10" name="Rectangle 9"/>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12" name="TextBox 11"/>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MÉTODO GENERAL</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Seis pasos, siempre en el mismo orden</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05</a:t>
            </a:r>
          </a:p>
        </p:txBody>
      </p:sp>
      <p:sp>
        <p:nvSpPr>
          <p:cNvPr id="8" name="Oval 7"/>
          <p:cNvSpPr/>
          <p:nvPr/>
        </p:nvSpPr>
        <p:spPr>
          <a:xfrm>
            <a:off x="10996000" y="339000"/>
            <a:ext cx="384000" cy="384000"/>
          </a:xfrm>
          <a:prstGeom prst="ellipse">
            <a:avLst/>
          </a:prstGeom>
          <a:noFill/>
          <a:ln w="3810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1328800" y="671800"/>
            <a:ext cx="192000" cy="192000"/>
          </a:xfrm>
          <a:prstGeom prst="line">
            <a:avLst/>
          </a:prstGeom>
          <a:ln w="6096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0" name="Rounded Rectangle 9"/>
          <p:cNvSpPr/>
          <p:nvPr/>
        </p:nvSpPr>
        <p:spPr>
          <a:xfrm>
            <a:off x="620000" y="1470000"/>
            <a:ext cx="10952000" cy="303333"/>
          </a:xfrm>
          <a:prstGeom prst="roundRect">
            <a:avLst>
              <a:gd name="adj" fmla="val 8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Oval 10"/>
          <p:cNvSpPr/>
          <p:nvPr/>
        </p:nvSpPr>
        <p:spPr>
          <a:xfrm>
            <a:off x="840000" y="1456666"/>
            <a:ext cx="330000" cy="33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12" name="TextBox 11"/>
          <p:cNvSpPr txBox="1"/>
          <p:nvPr/>
        </p:nvSpPr>
        <p:spPr>
          <a:xfrm>
            <a:off x="1370000" y="1470000"/>
            <a:ext cx="2500000" cy="303333"/>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Observar</a:t>
            </a:r>
          </a:p>
        </p:txBody>
      </p:sp>
      <p:sp>
        <p:nvSpPr>
          <p:cNvPr id="13" name="Rectangle 12"/>
          <p:cNvSpPr/>
          <p:nvPr/>
        </p:nvSpPr>
        <p:spPr>
          <a:xfrm>
            <a:off x="3970000" y="1536733"/>
            <a:ext cx="8000" cy="169866"/>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TextBox 13"/>
          <p:cNvSpPr txBox="1"/>
          <p:nvPr/>
        </p:nvSpPr>
        <p:spPr>
          <a:xfrm>
            <a:off x="4170000" y="1470000"/>
            <a:ext cx="7202000" cy="303333"/>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get: ¿qué estado exacto tiene cada objeto?</a:t>
            </a:r>
          </a:p>
        </p:txBody>
      </p:sp>
      <p:sp>
        <p:nvSpPr>
          <p:cNvPr id="15" name="TextBox 14"/>
          <p:cNvSpPr txBox="1"/>
          <p:nvPr/>
        </p:nvSpPr>
        <p:spPr>
          <a:xfrm>
            <a:off x="915000" y="1781333"/>
            <a:ext cx="180000" cy="154000"/>
          </a:xfrm>
          <a:prstGeom prst="rect">
            <a:avLst/>
          </a:prstGeom>
          <a:noFill/>
        </p:spPr>
        <p:txBody>
          <a:bodyPr wrap="square" anchor="ctr" lIns="0" rIns="0" tIns="0" bIns="0">
            <a:noAutofit/>
          </a:bodyPr>
          <a:lstStyle/>
          <a:p>
            <a:pPr algn="ctr" marL="0" indent="0">
              <a:lnSpc>
                <a:spcPct val="100000"/>
              </a:lnSpc>
              <a:spcBef>
                <a:spcPts val="0"/>
              </a:spcBef>
              <a:spcAft>
                <a:spcPts val="0"/>
              </a:spcAft>
              <a:buNone/>
            </a:pPr>
            <a:r>
              <a:rPr sz="900" b="0" i="0">
                <a:solidFill>
                  <a:srgbClr val="74A6FF"/>
                </a:solidFill>
                <a:latin typeface="Segoe UI"/>
              </a:rPr>
              <a:t>▼</a:t>
            </a:r>
          </a:p>
        </p:txBody>
      </p:sp>
      <p:sp>
        <p:nvSpPr>
          <p:cNvPr id="16" name="Rounded Rectangle 15"/>
          <p:cNvSpPr/>
          <p:nvPr/>
        </p:nvSpPr>
        <p:spPr>
          <a:xfrm>
            <a:off x="620000" y="1943333"/>
            <a:ext cx="10952000" cy="303333"/>
          </a:xfrm>
          <a:prstGeom prst="roundRect">
            <a:avLst>
              <a:gd name="adj" fmla="val 8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7" name="Oval 16"/>
          <p:cNvSpPr/>
          <p:nvPr/>
        </p:nvSpPr>
        <p:spPr>
          <a:xfrm>
            <a:off x="840000" y="1930000"/>
            <a:ext cx="330000" cy="33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18" name="TextBox 17"/>
          <p:cNvSpPr txBox="1"/>
          <p:nvPr/>
        </p:nvSpPr>
        <p:spPr>
          <a:xfrm>
            <a:off x="1370000" y="1943333"/>
            <a:ext cx="2500000" cy="303333"/>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Acotar</a:t>
            </a:r>
          </a:p>
        </p:txBody>
      </p:sp>
      <p:sp>
        <p:nvSpPr>
          <p:cNvPr id="19" name="Rectangle 18"/>
          <p:cNvSpPr/>
          <p:nvPr/>
        </p:nvSpPr>
        <p:spPr>
          <a:xfrm>
            <a:off x="3970000" y="2010066"/>
            <a:ext cx="8000" cy="169866"/>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TextBox 19"/>
          <p:cNvSpPr txBox="1"/>
          <p:nvPr/>
        </p:nvSpPr>
        <p:spPr>
          <a:xfrm>
            <a:off x="4170000" y="1943333"/>
            <a:ext cx="7202000" cy="303333"/>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¿En qué capa está el problema? No toques nada todavía.</a:t>
            </a:r>
          </a:p>
        </p:txBody>
      </p:sp>
      <p:sp>
        <p:nvSpPr>
          <p:cNvPr id="21" name="TextBox 20"/>
          <p:cNvSpPr txBox="1"/>
          <p:nvPr/>
        </p:nvSpPr>
        <p:spPr>
          <a:xfrm>
            <a:off x="915000" y="2254666"/>
            <a:ext cx="180000" cy="154000"/>
          </a:xfrm>
          <a:prstGeom prst="rect">
            <a:avLst/>
          </a:prstGeom>
          <a:noFill/>
        </p:spPr>
        <p:txBody>
          <a:bodyPr wrap="square" anchor="ctr" lIns="0" rIns="0" tIns="0" bIns="0">
            <a:noAutofit/>
          </a:bodyPr>
          <a:lstStyle/>
          <a:p>
            <a:pPr algn="ctr" marL="0" indent="0">
              <a:lnSpc>
                <a:spcPct val="100000"/>
              </a:lnSpc>
              <a:spcBef>
                <a:spcPts val="0"/>
              </a:spcBef>
              <a:spcAft>
                <a:spcPts val="0"/>
              </a:spcAft>
              <a:buNone/>
            </a:pPr>
            <a:r>
              <a:rPr sz="900" b="0" i="0">
                <a:solidFill>
                  <a:srgbClr val="74A6FF"/>
                </a:solidFill>
                <a:latin typeface="Segoe UI"/>
              </a:rPr>
              <a:t>▼</a:t>
            </a:r>
          </a:p>
        </p:txBody>
      </p:sp>
      <p:sp>
        <p:nvSpPr>
          <p:cNvPr id="22" name="Rounded Rectangle 21"/>
          <p:cNvSpPr/>
          <p:nvPr/>
        </p:nvSpPr>
        <p:spPr>
          <a:xfrm>
            <a:off x="620000" y="2416666"/>
            <a:ext cx="10952000" cy="303333"/>
          </a:xfrm>
          <a:prstGeom prst="roundRect">
            <a:avLst>
              <a:gd name="adj" fmla="val 8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Oval 22"/>
          <p:cNvSpPr/>
          <p:nvPr/>
        </p:nvSpPr>
        <p:spPr>
          <a:xfrm>
            <a:off x="840000" y="2403333"/>
            <a:ext cx="330000" cy="33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24" name="TextBox 23"/>
          <p:cNvSpPr txBox="1"/>
          <p:nvPr/>
        </p:nvSpPr>
        <p:spPr>
          <a:xfrm>
            <a:off x="1370000" y="2416666"/>
            <a:ext cx="2500000" cy="303333"/>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Hipótesis</a:t>
            </a:r>
          </a:p>
        </p:txBody>
      </p:sp>
      <p:sp>
        <p:nvSpPr>
          <p:cNvPr id="25" name="Rectangle 24"/>
          <p:cNvSpPr/>
          <p:nvPr/>
        </p:nvSpPr>
        <p:spPr>
          <a:xfrm>
            <a:off x="3970000" y="2483400"/>
            <a:ext cx="8000" cy="169866"/>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6" name="TextBox 25"/>
          <p:cNvSpPr txBox="1"/>
          <p:nvPr/>
        </p:nvSpPr>
        <p:spPr>
          <a:xfrm>
            <a:off x="4170000" y="2416666"/>
            <a:ext cx="7202000" cy="303333"/>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Formula una causa concreta antes de investigar.</a:t>
            </a:r>
          </a:p>
        </p:txBody>
      </p:sp>
      <p:sp>
        <p:nvSpPr>
          <p:cNvPr id="27" name="TextBox 26"/>
          <p:cNvSpPr txBox="1"/>
          <p:nvPr/>
        </p:nvSpPr>
        <p:spPr>
          <a:xfrm>
            <a:off x="915000" y="2728000"/>
            <a:ext cx="180000" cy="154000"/>
          </a:xfrm>
          <a:prstGeom prst="rect">
            <a:avLst/>
          </a:prstGeom>
          <a:noFill/>
        </p:spPr>
        <p:txBody>
          <a:bodyPr wrap="square" anchor="ctr" lIns="0" rIns="0" tIns="0" bIns="0">
            <a:noAutofit/>
          </a:bodyPr>
          <a:lstStyle/>
          <a:p>
            <a:pPr algn="ctr" marL="0" indent="0">
              <a:lnSpc>
                <a:spcPct val="100000"/>
              </a:lnSpc>
              <a:spcBef>
                <a:spcPts val="0"/>
              </a:spcBef>
              <a:spcAft>
                <a:spcPts val="0"/>
              </a:spcAft>
              <a:buNone/>
            </a:pPr>
            <a:r>
              <a:rPr sz="900" b="0" i="0">
                <a:solidFill>
                  <a:srgbClr val="74A6FF"/>
                </a:solidFill>
                <a:latin typeface="Segoe UI"/>
              </a:rPr>
              <a:t>▼</a:t>
            </a:r>
          </a:p>
        </p:txBody>
      </p:sp>
      <p:sp>
        <p:nvSpPr>
          <p:cNvPr id="28" name="Rounded Rectangle 27"/>
          <p:cNvSpPr/>
          <p:nvPr/>
        </p:nvSpPr>
        <p:spPr>
          <a:xfrm>
            <a:off x="620000" y="2890000"/>
            <a:ext cx="10952000" cy="303333"/>
          </a:xfrm>
          <a:prstGeom prst="roundRect">
            <a:avLst>
              <a:gd name="adj" fmla="val 8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9" name="Oval 28"/>
          <p:cNvSpPr/>
          <p:nvPr/>
        </p:nvSpPr>
        <p:spPr>
          <a:xfrm>
            <a:off x="840000" y="2876666"/>
            <a:ext cx="330000" cy="33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30" name="TextBox 29"/>
          <p:cNvSpPr txBox="1"/>
          <p:nvPr/>
        </p:nvSpPr>
        <p:spPr>
          <a:xfrm>
            <a:off x="1370000" y="2890000"/>
            <a:ext cx="2500000" cy="303333"/>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Verificar</a:t>
            </a:r>
          </a:p>
        </p:txBody>
      </p:sp>
      <p:sp>
        <p:nvSpPr>
          <p:cNvPr id="31" name="Rectangle 30"/>
          <p:cNvSpPr/>
          <p:nvPr/>
        </p:nvSpPr>
        <p:spPr>
          <a:xfrm>
            <a:off x="3970000" y="2956733"/>
            <a:ext cx="8000" cy="169866"/>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2" name="TextBox 31"/>
          <p:cNvSpPr txBox="1"/>
          <p:nvPr/>
        </p:nvSpPr>
        <p:spPr>
          <a:xfrm>
            <a:off x="4170000" y="2890000"/>
            <a:ext cx="7202000" cy="303333"/>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Un comando que la confirme o la descarte.</a:t>
            </a:r>
          </a:p>
        </p:txBody>
      </p:sp>
      <p:sp>
        <p:nvSpPr>
          <p:cNvPr id="33" name="TextBox 32"/>
          <p:cNvSpPr txBox="1"/>
          <p:nvPr/>
        </p:nvSpPr>
        <p:spPr>
          <a:xfrm>
            <a:off x="915000" y="3201333"/>
            <a:ext cx="180000" cy="154000"/>
          </a:xfrm>
          <a:prstGeom prst="rect">
            <a:avLst/>
          </a:prstGeom>
          <a:noFill/>
        </p:spPr>
        <p:txBody>
          <a:bodyPr wrap="square" anchor="ctr" lIns="0" rIns="0" tIns="0" bIns="0">
            <a:noAutofit/>
          </a:bodyPr>
          <a:lstStyle/>
          <a:p>
            <a:pPr algn="ctr" marL="0" indent="0">
              <a:lnSpc>
                <a:spcPct val="100000"/>
              </a:lnSpc>
              <a:spcBef>
                <a:spcPts val="0"/>
              </a:spcBef>
              <a:spcAft>
                <a:spcPts val="0"/>
              </a:spcAft>
              <a:buNone/>
            </a:pPr>
            <a:r>
              <a:rPr sz="900" b="0" i="0">
                <a:solidFill>
                  <a:srgbClr val="74A6FF"/>
                </a:solidFill>
                <a:latin typeface="Segoe UI"/>
              </a:rPr>
              <a:t>▼</a:t>
            </a:r>
          </a:p>
        </p:txBody>
      </p:sp>
      <p:sp>
        <p:nvSpPr>
          <p:cNvPr id="34" name="Rounded Rectangle 33"/>
          <p:cNvSpPr/>
          <p:nvPr/>
        </p:nvSpPr>
        <p:spPr>
          <a:xfrm>
            <a:off x="620000" y="3363333"/>
            <a:ext cx="10952000" cy="303333"/>
          </a:xfrm>
          <a:prstGeom prst="roundRect">
            <a:avLst>
              <a:gd name="adj" fmla="val 8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5" name="Oval 34"/>
          <p:cNvSpPr/>
          <p:nvPr/>
        </p:nvSpPr>
        <p:spPr>
          <a:xfrm>
            <a:off x="840000" y="3349999"/>
            <a:ext cx="330000" cy="33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36" name="TextBox 35"/>
          <p:cNvSpPr txBox="1"/>
          <p:nvPr/>
        </p:nvSpPr>
        <p:spPr>
          <a:xfrm>
            <a:off x="1370000" y="3363333"/>
            <a:ext cx="2500000" cy="303333"/>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Corregir</a:t>
            </a:r>
          </a:p>
        </p:txBody>
      </p:sp>
      <p:sp>
        <p:nvSpPr>
          <p:cNvPr id="37" name="Rectangle 36"/>
          <p:cNvSpPr/>
          <p:nvPr/>
        </p:nvSpPr>
        <p:spPr>
          <a:xfrm>
            <a:off x="3970000" y="3430066"/>
            <a:ext cx="8000" cy="169866"/>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8" name="TextBox 37"/>
          <p:cNvSpPr txBox="1"/>
          <p:nvPr/>
        </p:nvSpPr>
        <p:spPr>
          <a:xfrm>
            <a:off x="4170000" y="3363333"/>
            <a:ext cx="7202000" cy="303333"/>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Una cosa cada vez.</a:t>
            </a:r>
          </a:p>
        </p:txBody>
      </p:sp>
      <p:sp>
        <p:nvSpPr>
          <p:cNvPr id="39" name="TextBox 38"/>
          <p:cNvSpPr txBox="1"/>
          <p:nvPr/>
        </p:nvSpPr>
        <p:spPr>
          <a:xfrm>
            <a:off x="915000" y="3674666"/>
            <a:ext cx="180000" cy="154000"/>
          </a:xfrm>
          <a:prstGeom prst="rect">
            <a:avLst/>
          </a:prstGeom>
          <a:noFill/>
        </p:spPr>
        <p:txBody>
          <a:bodyPr wrap="square" anchor="ctr" lIns="0" rIns="0" tIns="0" bIns="0">
            <a:noAutofit/>
          </a:bodyPr>
          <a:lstStyle/>
          <a:p>
            <a:pPr algn="ctr" marL="0" indent="0">
              <a:lnSpc>
                <a:spcPct val="100000"/>
              </a:lnSpc>
              <a:spcBef>
                <a:spcPts val="0"/>
              </a:spcBef>
              <a:spcAft>
                <a:spcPts val="0"/>
              </a:spcAft>
              <a:buNone/>
            </a:pPr>
            <a:r>
              <a:rPr sz="900" b="0" i="0">
                <a:solidFill>
                  <a:srgbClr val="74A6FF"/>
                </a:solidFill>
                <a:latin typeface="Segoe UI"/>
              </a:rPr>
              <a:t>▼</a:t>
            </a:r>
          </a:p>
        </p:txBody>
      </p:sp>
      <p:sp>
        <p:nvSpPr>
          <p:cNvPr id="40" name="Rounded Rectangle 39"/>
          <p:cNvSpPr/>
          <p:nvPr/>
        </p:nvSpPr>
        <p:spPr>
          <a:xfrm>
            <a:off x="620000" y="3836666"/>
            <a:ext cx="10952000" cy="303333"/>
          </a:xfrm>
          <a:prstGeom prst="roundRect">
            <a:avLst>
              <a:gd name="adj" fmla="val 8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1" name="Oval 40"/>
          <p:cNvSpPr/>
          <p:nvPr/>
        </p:nvSpPr>
        <p:spPr>
          <a:xfrm>
            <a:off x="840000" y="3823333"/>
            <a:ext cx="330000" cy="33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6</a:t>
            </a:r>
          </a:p>
        </p:txBody>
      </p:sp>
      <p:sp>
        <p:nvSpPr>
          <p:cNvPr id="42" name="TextBox 41"/>
          <p:cNvSpPr txBox="1"/>
          <p:nvPr/>
        </p:nvSpPr>
        <p:spPr>
          <a:xfrm>
            <a:off x="1370000" y="3836666"/>
            <a:ext cx="2500000" cy="303333"/>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Validar</a:t>
            </a:r>
          </a:p>
        </p:txBody>
      </p:sp>
      <p:sp>
        <p:nvSpPr>
          <p:cNvPr id="43" name="Rectangle 42"/>
          <p:cNvSpPr/>
          <p:nvPr/>
        </p:nvSpPr>
        <p:spPr>
          <a:xfrm>
            <a:off x="3970000" y="3903400"/>
            <a:ext cx="8000" cy="169866"/>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4" name="TextBox 43"/>
          <p:cNvSpPr txBox="1"/>
          <p:nvPr/>
        </p:nvSpPr>
        <p:spPr>
          <a:xfrm>
            <a:off x="4170000" y="3836666"/>
            <a:ext cx="7202000" cy="303333"/>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Comprobar antes de seguir.</a:t>
            </a:r>
          </a:p>
        </p:txBody>
      </p:sp>
      <p:sp>
        <p:nvSpPr>
          <p:cNvPr id="45" name="Rounded Rectangle 44"/>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6" name="Rectangle 45"/>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7" name="TextBox 46"/>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50" b="0" i="0">
                <a:solidFill>
                  <a:srgbClr val="BDC9DB"/>
                </a:solidFill>
                <a:latin typeface="Segoe UI"/>
              </a:rPr>
              <a:t>Lo que separa a quien diagnostica de quien prueba comandos al azar es seguir siempre el mismo método. Observar: con kubectl get, anota el estado EXACTO de cada objeto implicado, sin interpretarlo todavía. Acotar: decide en qué capa está el problema (scheduling, imagen, almacenamiento, configuración, permisos, aplicación, red) y no toques nada aún.</a:t>
            </a:r>
          </a:p>
          <a:p>
            <a:pPr algn="l" marL="0" indent="0">
              <a:lnSpc>
                <a:spcPct val="128000"/>
              </a:lnSpc>
              <a:spcBef>
                <a:spcPts val="0"/>
              </a:spcBef>
              <a:spcAft>
                <a:spcPts val="400"/>
              </a:spcAft>
              <a:buNone/>
            </a:pPr>
            <a:r>
              <a:rPr sz="1050" b="0" i="0">
                <a:solidFill>
                  <a:srgbClr val="BDC9DB"/>
                </a:solidFill>
                <a:latin typeface="Segoe UI"/>
              </a:rPr>
              <a:t>Hipótesis: formula una causa CONCRETA («falta el ConfigMap x», «el selector no casa») antes de investigar. Verificar: ejecuta UN comando que confirme o descarte esa hipótesis (describe, events, logs, auth can-i). Corregir: aplica UNA sola cosa. Validar: comprueba que funciona antes de pasar a lo siguiente.</a:t>
            </a:r>
          </a:p>
          <a:p>
            <a:pPr algn="l" marL="0" indent="0">
              <a:lnSpc>
                <a:spcPct val="128000"/>
              </a:lnSpc>
              <a:spcBef>
                <a:spcPts val="0"/>
              </a:spcBef>
              <a:spcAft>
                <a:spcPts val="400"/>
              </a:spcAft>
              <a:buNone/>
            </a:pPr>
            <a:r>
              <a:rPr sz="1050" b="0" i="0">
                <a:solidFill>
                  <a:srgbClr val="BDC9DB"/>
                </a:solidFill>
                <a:latin typeface="Segoe UI"/>
              </a:rPr>
              <a:t>El error clásico es saltar de «observar» directo a «corregir»: se cambian tres cosas a la vez, dos estaban bien, y ya nadie sabe qué pasaba. En el examen, con el tiempo justo, el método es lo que evita quemar veinte minutos en una tarea de cinco.</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TRADUCCIÓN</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El estado ya te dice en qué fase murió el Pod</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06</a:t>
            </a:r>
          </a:p>
        </p:txBody>
      </p:sp>
      <p:pic>
        <p:nvPicPr>
          <p:cNvPr id="8" name="Picture 7" descr="pod.png"/>
          <p:cNvPicPr>
            <a:picLocks noChangeAspect="1"/>
          </p:cNvPicPr>
          <p:nvPr/>
        </p:nvPicPr>
        <p:blipFill>
          <a:blip r:embed="rId2"/>
          <a:stretch>
            <a:fillRect/>
          </a:stretch>
        </p:blipFill>
        <p:spPr>
          <a:xfrm>
            <a:off x="10932000" y="275000"/>
            <a:ext cx="640000" cy="640000"/>
          </a:xfrm>
          <a:prstGeom prst="rect">
            <a:avLst/>
          </a:prstGeom>
        </p:spPr>
      </p:pic>
      <p:sp>
        <p:nvSpPr>
          <p:cNvPr id="9" name="Rectangle 8"/>
          <p:cNvSpPr/>
          <p:nvPr/>
        </p:nvSpPr>
        <p:spPr>
          <a:xfrm>
            <a:off x="620000" y="1470000"/>
            <a:ext cx="10952000" cy="420000"/>
          </a:xfrm>
          <a:prstGeom prst="rect">
            <a:avLst/>
          </a:prstGeom>
          <a:solidFill>
            <a:srgbClr val="141E33"/>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20000" y="1882000"/>
            <a:ext cx="10952000" cy="1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780000" y="1470000"/>
            <a:ext cx="3065600"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ESTADO</a:t>
            </a:r>
          </a:p>
        </p:txBody>
      </p:sp>
      <p:sp>
        <p:nvSpPr>
          <p:cNvPr id="12" name="TextBox 11"/>
          <p:cNvSpPr txBox="1"/>
          <p:nvPr/>
        </p:nvSpPr>
        <p:spPr>
          <a:xfrm>
            <a:off x="4065600" y="1470000"/>
            <a:ext cx="4160800"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FASE EN LA QUE FALLÓ</a:t>
            </a:r>
          </a:p>
        </p:txBody>
      </p:sp>
      <p:sp>
        <p:nvSpPr>
          <p:cNvPr id="13" name="TextBox 12"/>
          <p:cNvSpPr txBox="1"/>
          <p:nvPr/>
        </p:nvSpPr>
        <p:spPr>
          <a:xfrm>
            <a:off x="8446400" y="1470000"/>
            <a:ext cx="3065600" cy="4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000" b="1" i="0" spc="160">
                <a:solidFill>
                  <a:srgbClr val="74A6FF"/>
                </a:solidFill>
                <a:latin typeface="Segoe UI Semibold"/>
              </a:rPr>
              <a:t>PRIMER COMANDO</a:t>
            </a:r>
          </a:p>
        </p:txBody>
      </p:sp>
      <p:sp>
        <p:nvSpPr>
          <p:cNvPr id="14" name="Rectangle 13"/>
          <p:cNvSpPr/>
          <p:nvPr/>
        </p:nvSpPr>
        <p:spPr>
          <a:xfrm>
            <a:off x="620000" y="2211428"/>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780000" y="1890000"/>
            <a:ext cx="30656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Pending</a:t>
            </a:r>
          </a:p>
        </p:txBody>
      </p:sp>
      <p:sp>
        <p:nvSpPr>
          <p:cNvPr id="16" name="TextBox 15"/>
          <p:cNvSpPr txBox="1"/>
          <p:nvPr/>
        </p:nvSpPr>
        <p:spPr>
          <a:xfrm>
            <a:off x="4065600" y="1890000"/>
            <a:ext cx="41608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El scheduler no encontró nodo</a:t>
            </a:r>
          </a:p>
        </p:txBody>
      </p:sp>
      <p:sp>
        <p:nvSpPr>
          <p:cNvPr id="17" name="TextBox 16"/>
          <p:cNvSpPr txBox="1"/>
          <p:nvPr/>
        </p:nvSpPr>
        <p:spPr>
          <a:xfrm>
            <a:off x="8446400" y="1890000"/>
            <a:ext cx="30656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describe pod → Events</a:t>
            </a:r>
          </a:p>
        </p:txBody>
      </p:sp>
      <p:sp>
        <p:nvSpPr>
          <p:cNvPr id="18" name="Rectangle 17"/>
          <p:cNvSpPr/>
          <p:nvPr/>
        </p:nvSpPr>
        <p:spPr>
          <a:xfrm>
            <a:off x="620000" y="2211428"/>
            <a:ext cx="10952000" cy="321428"/>
          </a:xfrm>
          <a:prstGeom prst="rect">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Rectangle 18"/>
          <p:cNvSpPr/>
          <p:nvPr/>
        </p:nvSpPr>
        <p:spPr>
          <a:xfrm>
            <a:off x="620000" y="2532857"/>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TextBox 19"/>
          <p:cNvSpPr txBox="1"/>
          <p:nvPr/>
        </p:nvSpPr>
        <p:spPr>
          <a:xfrm>
            <a:off x="780000" y="2211428"/>
            <a:ext cx="30656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ContainerCreating atascado</a:t>
            </a:r>
          </a:p>
        </p:txBody>
      </p:sp>
      <p:sp>
        <p:nvSpPr>
          <p:cNvPr id="21" name="TextBox 20"/>
          <p:cNvSpPr txBox="1"/>
          <p:nvPr/>
        </p:nvSpPr>
        <p:spPr>
          <a:xfrm>
            <a:off x="4065600" y="2211428"/>
            <a:ext cx="41608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Montaje de volumen o red del Pod</a:t>
            </a:r>
          </a:p>
        </p:txBody>
      </p:sp>
      <p:sp>
        <p:nvSpPr>
          <p:cNvPr id="22" name="TextBox 21"/>
          <p:cNvSpPr txBox="1"/>
          <p:nvPr/>
        </p:nvSpPr>
        <p:spPr>
          <a:xfrm>
            <a:off x="8446400" y="2211428"/>
            <a:ext cx="30656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describe pod → Events</a:t>
            </a:r>
          </a:p>
        </p:txBody>
      </p:sp>
      <p:sp>
        <p:nvSpPr>
          <p:cNvPr id="23" name="Rectangle 22"/>
          <p:cNvSpPr/>
          <p:nvPr/>
        </p:nvSpPr>
        <p:spPr>
          <a:xfrm>
            <a:off x="620000" y="2854285"/>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TextBox 23"/>
          <p:cNvSpPr txBox="1"/>
          <p:nvPr/>
        </p:nvSpPr>
        <p:spPr>
          <a:xfrm>
            <a:off x="780000" y="2532857"/>
            <a:ext cx="30656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ImagePullBackOff</a:t>
            </a:r>
          </a:p>
        </p:txBody>
      </p:sp>
      <p:sp>
        <p:nvSpPr>
          <p:cNvPr id="25" name="TextBox 24"/>
          <p:cNvSpPr txBox="1"/>
          <p:nvPr/>
        </p:nvSpPr>
        <p:spPr>
          <a:xfrm>
            <a:off x="4065600" y="2532857"/>
            <a:ext cx="41608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El nodo no puede traer la imagen</a:t>
            </a:r>
          </a:p>
        </p:txBody>
      </p:sp>
      <p:sp>
        <p:nvSpPr>
          <p:cNvPr id="26" name="TextBox 25"/>
          <p:cNvSpPr txBox="1"/>
          <p:nvPr/>
        </p:nvSpPr>
        <p:spPr>
          <a:xfrm>
            <a:off x="8446400" y="2532857"/>
            <a:ext cx="30656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describe pod → Events</a:t>
            </a:r>
          </a:p>
        </p:txBody>
      </p:sp>
      <p:sp>
        <p:nvSpPr>
          <p:cNvPr id="27" name="Rectangle 26"/>
          <p:cNvSpPr/>
          <p:nvPr/>
        </p:nvSpPr>
        <p:spPr>
          <a:xfrm>
            <a:off x="620000" y="2854285"/>
            <a:ext cx="10952000" cy="321428"/>
          </a:xfrm>
          <a:prstGeom prst="rect">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Rectangle 27"/>
          <p:cNvSpPr/>
          <p:nvPr/>
        </p:nvSpPr>
        <p:spPr>
          <a:xfrm>
            <a:off x="620000" y="3175714"/>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9" name="TextBox 28"/>
          <p:cNvSpPr txBox="1"/>
          <p:nvPr/>
        </p:nvSpPr>
        <p:spPr>
          <a:xfrm>
            <a:off x="780000" y="2854285"/>
            <a:ext cx="30656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CreateContainerConfigError</a:t>
            </a:r>
          </a:p>
        </p:txBody>
      </p:sp>
      <p:sp>
        <p:nvSpPr>
          <p:cNvPr id="30" name="TextBox 29"/>
          <p:cNvSpPr txBox="1"/>
          <p:nvPr/>
        </p:nvSpPr>
        <p:spPr>
          <a:xfrm>
            <a:off x="4065600" y="2854285"/>
            <a:ext cx="41608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Falta un ConfigMap, Secret o clave</a:t>
            </a:r>
          </a:p>
        </p:txBody>
      </p:sp>
      <p:sp>
        <p:nvSpPr>
          <p:cNvPr id="31" name="TextBox 30"/>
          <p:cNvSpPr txBox="1"/>
          <p:nvPr/>
        </p:nvSpPr>
        <p:spPr>
          <a:xfrm>
            <a:off x="8446400" y="2854285"/>
            <a:ext cx="30656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describe + get cm,secret</a:t>
            </a:r>
          </a:p>
        </p:txBody>
      </p:sp>
      <p:sp>
        <p:nvSpPr>
          <p:cNvPr id="32" name="Rectangle 31"/>
          <p:cNvSpPr/>
          <p:nvPr/>
        </p:nvSpPr>
        <p:spPr>
          <a:xfrm>
            <a:off x="620000" y="3497142"/>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3" name="TextBox 32"/>
          <p:cNvSpPr txBox="1"/>
          <p:nvPr/>
        </p:nvSpPr>
        <p:spPr>
          <a:xfrm>
            <a:off x="780000" y="3175714"/>
            <a:ext cx="30656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CrashLoopBackOff</a:t>
            </a:r>
          </a:p>
        </p:txBody>
      </p:sp>
      <p:sp>
        <p:nvSpPr>
          <p:cNvPr id="34" name="TextBox 33"/>
          <p:cNvSpPr txBox="1"/>
          <p:nvPr/>
        </p:nvSpPr>
        <p:spPr>
          <a:xfrm>
            <a:off x="4065600" y="3175714"/>
            <a:ext cx="41608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El proceso arrancó y murió</a:t>
            </a:r>
          </a:p>
        </p:txBody>
      </p:sp>
      <p:sp>
        <p:nvSpPr>
          <p:cNvPr id="35" name="TextBox 34"/>
          <p:cNvSpPr txBox="1"/>
          <p:nvPr/>
        </p:nvSpPr>
        <p:spPr>
          <a:xfrm>
            <a:off x="8446400" y="3175714"/>
            <a:ext cx="30656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logs --previous</a:t>
            </a:r>
          </a:p>
        </p:txBody>
      </p:sp>
      <p:sp>
        <p:nvSpPr>
          <p:cNvPr id="36" name="Rectangle 35"/>
          <p:cNvSpPr/>
          <p:nvPr/>
        </p:nvSpPr>
        <p:spPr>
          <a:xfrm>
            <a:off x="620000" y="3497142"/>
            <a:ext cx="10952000" cy="321428"/>
          </a:xfrm>
          <a:prstGeom prst="rect">
            <a:avLst/>
          </a:prstGeom>
          <a:solidFill>
            <a:srgbClr val="111A2C"/>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7" name="Rectangle 36"/>
          <p:cNvSpPr/>
          <p:nvPr/>
        </p:nvSpPr>
        <p:spPr>
          <a:xfrm>
            <a:off x="620000" y="3818571"/>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8" name="TextBox 37"/>
          <p:cNvSpPr txBox="1"/>
          <p:nvPr/>
        </p:nvSpPr>
        <p:spPr>
          <a:xfrm>
            <a:off x="780000" y="3497142"/>
            <a:ext cx="30656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Running con 0/1 READY</a:t>
            </a:r>
          </a:p>
        </p:txBody>
      </p:sp>
      <p:sp>
        <p:nvSpPr>
          <p:cNvPr id="39" name="TextBox 38"/>
          <p:cNvSpPr txBox="1"/>
          <p:nvPr/>
        </p:nvSpPr>
        <p:spPr>
          <a:xfrm>
            <a:off x="4065600" y="3497142"/>
            <a:ext cx="41608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La readinessProbe falla</a:t>
            </a:r>
          </a:p>
        </p:txBody>
      </p:sp>
      <p:sp>
        <p:nvSpPr>
          <p:cNvPr id="40" name="TextBox 39"/>
          <p:cNvSpPr txBox="1"/>
          <p:nvPr/>
        </p:nvSpPr>
        <p:spPr>
          <a:xfrm>
            <a:off x="8446400" y="3497142"/>
            <a:ext cx="30656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describe pod → Conditions</a:t>
            </a:r>
          </a:p>
        </p:txBody>
      </p:sp>
      <p:sp>
        <p:nvSpPr>
          <p:cNvPr id="41" name="Rectangle 40"/>
          <p:cNvSpPr/>
          <p:nvPr/>
        </p:nvSpPr>
        <p:spPr>
          <a:xfrm>
            <a:off x="620000" y="4140000"/>
            <a:ext cx="10952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2" name="TextBox 41"/>
          <p:cNvSpPr txBox="1"/>
          <p:nvPr/>
        </p:nvSpPr>
        <p:spPr>
          <a:xfrm>
            <a:off x="780000" y="3818571"/>
            <a:ext cx="30656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1" i="0">
                <a:solidFill>
                  <a:srgbClr val="F3F6FC"/>
                </a:solidFill>
                <a:latin typeface="Segoe UI"/>
              </a:rPr>
              <a:t>OOMKilled · exit 137</a:t>
            </a:r>
          </a:p>
        </p:txBody>
      </p:sp>
      <p:sp>
        <p:nvSpPr>
          <p:cNvPr id="43" name="TextBox 42"/>
          <p:cNvSpPr txBox="1"/>
          <p:nvPr/>
        </p:nvSpPr>
        <p:spPr>
          <a:xfrm>
            <a:off x="4065600" y="3818571"/>
            <a:ext cx="41608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Segoe UI"/>
              </a:rPr>
              <a:t>Superó limits.memory</a:t>
            </a:r>
          </a:p>
        </p:txBody>
      </p:sp>
      <p:sp>
        <p:nvSpPr>
          <p:cNvPr id="44" name="TextBox 43"/>
          <p:cNvSpPr txBox="1"/>
          <p:nvPr/>
        </p:nvSpPr>
        <p:spPr>
          <a:xfrm>
            <a:off x="8446400" y="3818571"/>
            <a:ext cx="3065600" cy="321428"/>
          </a:xfrm>
          <a:prstGeom prst="rect">
            <a:avLst/>
          </a:prstGeom>
          <a:noFill/>
        </p:spPr>
        <p:txBody>
          <a:bodyPr wrap="square" anchor="ctr" lIns="0" rIns="0" tIns="0" bIns="0">
            <a:noAutofit/>
          </a:bodyPr>
          <a:lstStyle/>
          <a:p>
            <a:pPr algn="l" marL="0" indent="0">
              <a:lnSpc>
                <a:spcPct val="110000"/>
              </a:lnSpc>
              <a:spcBef>
                <a:spcPts val="0"/>
              </a:spcBef>
              <a:spcAft>
                <a:spcPts val="0"/>
              </a:spcAft>
              <a:buNone/>
            </a:pPr>
            <a:r>
              <a:rPr sz="1100" b="0" i="0">
                <a:solidFill>
                  <a:srgbClr val="BDC9DB"/>
                </a:solidFill>
                <a:latin typeface="Consolas"/>
              </a:rPr>
              <a:t>describe pod → Last State</a:t>
            </a:r>
          </a:p>
        </p:txBody>
      </p:sp>
      <p:sp>
        <p:nvSpPr>
          <p:cNvPr id="45" name="Rounded Rectangle 44"/>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6" name="Rectangle 45"/>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7" name="TextBox 46"/>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00" b="0" i="0">
                <a:solidFill>
                  <a:srgbClr val="BDC9DB"/>
                </a:solidFill>
                <a:latin typeface="Segoe UI"/>
              </a:rPr>
              <a:t>Cada estado de Pod corresponde a una fase concreta del arranque y se investiga con un comando distinto. Pending: el scheduler no encontró nodo (recursos, taints, selectores) — se mira en los eventos. ContainerCreating atascado: el nodo ya está asignado pero falla el montaje del volumen o la red del Pod — también en los eventos. ImagePullBackOff: el nodo no puede traer la imagen (nombre mal, registro privado sin credenciales) — eventos.</a:t>
            </a:r>
          </a:p>
          <a:p>
            <a:pPr algn="l" marL="0" indent="0">
              <a:lnSpc>
                <a:spcPct val="128000"/>
              </a:lnSpc>
              <a:spcBef>
                <a:spcPts val="0"/>
              </a:spcBef>
              <a:spcAft>
                <a:spcPts val="400"/>
              </a:spcAft>
              <a:buNone/>
            </a:pPr>
            <a:r>
              <a:rPr sz="1000" b="0" i="0">
                <a:solidFill>
                  <a:srgbClr val="BDC9DB"/>
                </a:solidFill>
                <a:latin typeface="Segoe UI"/>
              </a:rPr>
              <a:t>CreateContainerConfigError: falta un ConfigMap, un Secret o una clave que el Pod referencia — describe más get cm,secret. CrashLoopBackOff: el proceso arrancó y salió, la causa está en la instancia anterior — kubectl logs --previous. Running con 0/1 READY: el proceso vive pero la readinessProbe no pasa — describe, sección Conditions. OOMKilled con exit 137: superó limits.memory — describe, Last State.</a:t>
            </a:r>
          </a:p>
          <a:p>
            <a:pPr algn="l" marL="0" indent="0">
              <a:lnSpc>
                <a:spcPct val="128000"/>
              </a:lnSpc>
              <a:spcBef>
                <a:spcPts val="0"/>
              </a:spcBef>
              <a:spcAft>
                <a:spcPts val="400"/>
              </a:spcAft>
              <a:buNone/>
            </a:pPr>
            <a:r>
              <a:rPr sz="1000" b="0" i="0">
                <a:solidFill>
                  <a:srgbClr val="BDC9DB"/>
                </a:solidFill>
                <a:latin typeface="Segoe UI"/>
              </a:rPr>
              <a:t>El par que más se confunde es Pending frente a ImagePullBackOff: en Pending el Pod aún no tiene nodo; en ImagePullBackOff ya lo tiene y el problema es la imagen. Leer bien el estado ahorra minutos de mirar en el sitio equivocado.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FF7B72"/>
                </a:solidFill>
                <a:latin typeface="Segoe UI Semibold"/>
              </a:rPr>
              <a:t>EL COMANDO QUE MÁS RINDE</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logs --previous existe por una razón</a:t>
            </a:r>
          </a:p>
        </p:txBody>
      </p:sp>
      <p:sp>
        <p:nvSpPr>
          <p:cNvPr id="4" name="Rectangle 3"/>
          <p:cNvSpPr/>
          <p:nvPr/>
        </p:nvSpPr>
        <p:spPr>
          <a:xfrm>
            <a:off x="620000" y="1230000"/>
            <a:ext cx="560000" cy="460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07</a:t>
            </a:r>
          </a:p>
        </p:txBody>
      </p:sp>
      <p:pic>
        <p:nvPicPr>
          <p:cNvPr id="8" name="Picture 7" descr="kubernetes.png"/>
          <p:cNvPicPr>
            <a:picLocks noChangeAspect="1"/>
          </p:cNvPicPr>
          <p:nvPr/>
        </p:nvPicPr>
        <p:blipFill>
          <a:blip r:embed="rId2"/>
          <a:stretch>
            <a:fillRect/>
          </a:stretch>
        </p:blipFill>
        <p:spPr>
          <a:xfrm>
            <a:off x="10932000" y="275000"/>
            <a:ext cx="640000" cy="640000"/>
          </a:xfrm>
          <a:prstGeom prst="rect">
            <a:avLst/>
          </a:prstGeom>
        </p:spPr>
      </p:pic>
      <p:sp>
        <p:nvSpPr>
          <p:cNvPr id="9" name="TextBox 8"/>
          <p:cNvSpPr txBox="1"/>
          <p:nvPr/>
        </p:nvSpPr>
        <p:spPr>
          <a:xfrm>
            <a:off x="620000" y="1470000"/>
            <a:ext cx="10952000" cy="520000"/>
          </a:xfrm>
          <a:prstGeom prst="rect">
            <a:avLst/>
          </a:prstGeom>
          <a:noFill/>
        </p:spPr>
        <p:txBody>
          <a:bodyPr wrap="square" anchor="t" lIns="0" rIns="0" tIns="0" bIns="0">
            <a:noAutofit/>
          </a:bodyPr>
          <a:lstStyle/>
          <a:p>
            <a:pPr algn="l" marL="0" indent="0">
              <a:lnSpc>
                <a:spcPct val="116000"/>
              </a:lnSpc>
              <a:spcBef>
                <a:spcPts val="0"/>
              </a:spcBef>
              <a:spcAft>
                <a:spcPts val="0"/>
              </a:spcAft>
              <a:buNone/>
            </a:pPr>
            <a:r>
              <a:rPr sz="1300" b="0" i="1">
                <a:solidFill>
                  <a:srgbClr val="BDC9DB"/>
                </a:solidFill>
                <a:latin typeface="Segoe UI"/>
              </a:rPr>
              <a:t>En un CrashLoopBackOff, kubectl logs devuelve el contenedor ACTUAL, que probablemente aún no ha escrito nada. La causa está en la instancia anterior. Quien no conoce --previous concluye que «no hay logs» y se queda sin diagnóstico.</a:t>
            </a:r>
          </a:p>
        </p:txBody>
      </p:sp>
      <p:sp>
        <p:nvSpPr>
          <p:cNvPr id="10" name="Rounded Rectangle 9"/>
          <p:cNvSpPr/>
          <p:nvPr/>
        </p:nvSpPr>
        <p:spPr>
          <a:xfrm>
            <a:off x="620000" y="2410000"/>
            <a:ext cx="10952000" cy="1420000"/>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Rectangle 10"/>
          <p:cNvSpPr/>
          <p:nvPr/>
        </p:nvSpPr>
        <p:spPr>
          <a:xfrm>
            <a:off x="620000" y="2410000"/>
            <a:ext cx="46000" cy="14200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2" name="TextBox 11"/>
          <p:cNvSpPr txBox="1"/>
          <p:nvPr/>
        </p:nvSpPr>
        <p:spPr>
          <a:xfrm>
            <a:off x="890000" y="2560000"/>
            <a:ext cx="10412000" cy="1160000"/>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k logs &lt;pod&gt; --previous</a:t>
            </a:r>
          </a:p>
          <a:p>
            <a:pPr marL="0" indent="0">
              <a:lnSpc>
                <a:spcPct val="134000"/>
              </a:lnSpc>
              <a:spcAft>
                <a:spcPts val="0"/>
              </a:spcAft>
              <a:buNone/>
            </a:pPr>
            <a:r>
              <a:rPr sz="1100" b="0" i="0">
                <a:solidFill>
                  <a:srgbClr val="E6EDF3"/>
                </a:solidFill>
                <a:latin typeface="Consolas"/>
              </a:rPr>
              <a:t>k describe pod &lt;pod&gt; | sed -n '/Events/,$p'</a:t>
            </a:r>
          </a:p>
          <a:p>
            <a:pPr marL="0" indent="0">
              <a:lnSpc>
                <a:spcPct val="134000"/>
              </a:lnSpc>
              <a:spcAft>
                <a:spcPts val="0"/>
              </a:spcAft>
              <a:buNone/>
            </a:pPr>
            <a:r>
              <a:rPr sz="1100" b="0" i="0">
                <a:solidFill>
                  <a:srgbClr val="E6EDF3"/>
                </a:solidFill>
                <a:latin typeface="Consolas"/>
              </a:rPr>
              <a:t>k describe pod &lt;pod&gt; | grep -A5 'Last State'</a:t>
            </a:r>
          </a:p>
          <a:p>
            <a:pPr marL="0" indent="0">
              <a:lnSpc>
                <a:spcPct val="134000"/>
              </a:lnSpc>
              <a:spcAft>
                <a:spcPts val="0"/>
              </a:spcAft>
              <a:buNone/>
            </a:pPr>
            <a:r>
              <a:rPr sz="1100" b="0" i="0">
                <a:solidFill>
                  <a:srgbClr val="E6EDF3"/>
                </a:solidFill>
                <a:latin typeface="Consolas"/>
              </a:rPr>
              <a:t>k get events -n &lt;ns&gt; --sort-by=.lastTimestamp | tail -20</a:t>
            </a:r>
          </a:p>
          <a:p>
            <a:pPr marL="0" indent="0">
              <a:lnSpc>
                <a:spcPct val="134000"/>
              </a:lnSpc>
              <a:spcAft>
                <a:spcPts val="0"/>
              </a:spcAft>
              <a:buNone/>
            </a:pPr>
            <a:r>
              <a:rPr sz="1100" b="0" i="0">
                <a:solidFill>
                  <a:srgbClr val="E6EDF3"/>
                </a:solidFill>
                <a:latin typeface="Consolas"/>
              </a:rPr>
              <a:t>k get pods -A -o wide | grep -vE 'Running|Completed'</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2500000" cy="360000"/>
          </a:xfrm>
          <a:prstGeom prst="roundRect">
            <a:avLst>
              <a:gd name="adj" fmla="val 50000"/>
            </a:avLst>
          </a:prstGeom>
          <a:noFill/>
          <a:ln w="1270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74A6FF"/>
                </a:solidFill>
                <a:latin typeface="Segoe UI"/>
              </a:rPr>
              <a:t>Nivel básico</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6.1 — Traducir estados: seis Pods, seis causas</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Convertir el estado de un Pod en una hipótesis ANTES de investigar, y confirmarla con un solo comando.</a:t>
            </a:r>
          </a:p>
        </p:txBody>
      </p:sp>
      <p:sp>
        <p:nvSpPr>
          <p:cNvPr id="6" name="Oval 5"/>
          <p:cNvSpPr/>
          <p:nvPr/>
        </p:nvSpPr>
        <p:spPr>
          <a:xfrm>
            <a:off x="640000" y="2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Rellenar la tabla de hipótesis mirando solo kubectl get pods.</a:t>
            </a:r>
          </a:p>
        </p:txBody>
      </p:sp>
      <p:sp>
        <p:nvSpPr>
          <p:cNvPr id="8" name="Oval 7"/>
          <p:cNvSpPr/>
          <p:nvPr/>
        </p:nvSpPr>
        <p:spPr>
          <a:xfrm>
            <a:off x="640000" y="325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Confirmar cada caso con uno o dos comandos, no más.</a:t>
            </a:r>
          </a:p>
        </p:txBody>
      </p:sp>
      <p:sp>
        <p:nvSpPr>
          <p:cNvPr id="10" name="Oval 9"/>
          <p:cNvSpPr/>
          <p:nvPr/>
        </p:nvSpPr>
        <p:spPr>
          <a:xfrm>
            <a:off x="640000" y="381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Usar logs --previous en el caso que lo requiere.</a:t>
            </a:r>
          </a:p>
        </p:txBody>
      </p:sp>
      <p:sp>
        <p:nvSpPr>
          <p:cNvPr id="12" name="Oval 11"/>
          <p:cNvSpPr/>
          <p:nvPr/>
        </p:nvSpPr>
        <p:spPr>
          <a:xfrm>
            <a:off x="640000" y="437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Reparar atacando la causa, no el síntoma.</a:t>
            </a:r>
          </a:p>
        </p:txBody>
      </p:sp>
      <p:sp>
        <p:nvSpPr>
          <p:cNvPr id="14" name="Freeform 13"/>
          <p:cNvSpPr/>
          <p:nvPr/>
        </p:nvSpPr>
        <p:spPr>
          <a:xfrm>
            <a:off x="9590000" y="1418800"/>
            <a:ext cx="784000" cy="842800"/>
          </a:xfrm>
          <a:custGeom>
            <a:avLst/>
            <a:gdLst/>
            <a:ahLst/>
            <a:cxnLst/>
            <a:rect l="l" t="t" r="r" b="b"/>
            <a:pathLst>
              <a:path w="784000" h="842800">
                <a:moveTo>
                  <a:pt x="235200" y="0"/>
                </a:moveTo>
                <a:lnTo>
                  <a:pt x="235200" y="333200"/>
                </a:lnTo>
                <a:lnTo>
                  <a:pt x="0" y="842800"/>
                </a:lnTo>
                <a:lnTo>
                  <a:pt x="784000" y="842800"/>
                </a:lnTo>
                <a:lnTo>
                  <a:pt x="548800" y="333200"/>
                </a:lnTo>
                <a:lnTo>
                  <a:pt x="548800" y="0"/>
                </a:lnTo>
              </a:path>
            </a:pathLst>
          </a:custGeom>
          <a:noFill/>
          <a:ln w="3302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 name="Connector 14"/>
          <p:cNvCxnSpPr/>
          <p:nvPr/>
        </p:nvCxnSpPr>
        <p:spPr>
          <a:xfrm>
            <a:off x="9766400" y="1418800"/>
            <a:ext cx="4312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6" name="Connector 15"/>
          <p:cNvCxnSpPr/>
          <p:nvPr/>
        </p:nvCxnSpPr>
        <p:spPr>
          <a:xfrm>
            <a:off x="9727200" y="2006800"/>
            <a:ext cx="5096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7" name="Rounded Rectangle 16"/>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8392000" y="2560000"/>
            <a:ext cx="318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CLASE-06/LABORATORIOS/LAB-01-BASICO.md</a:t>
            </a:r>
          </a:p>
        </p:txBody>
      </p:sp>
      <p:sp>
        <p:nvSpPr>
          <p:cNvPr id="20" name="Rectangle 19"/>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20 min</a:t>
            </a:r>
          </a:p>
        </p:txBody>
      </p:sp>
      <p:sp>
        <p:nvSpPr>
          <p:cNvPr id="22" name="Rectangle 21"/>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./validate-lab.sh basico</a:t>
            </a:r>
          </a:p>
        </p:txBody>
      </p:sp>
      <p:sp>
        <p:nvSpPr>
          <p:cNvPr id="24" name="Rectangle 23"/>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26" name="TextBox 25"/>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1500000" y="4258000"/>
            <a:ext cx="4200000" cy="42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control-plane.png"/>
          <p:cNvPicPr>
            <a:picLocks noChangeAspect="1"/>
          </p:cNvPicPr>
          <p:nvPr/>
        </p:nvPicPr>
        <p:blipFill>
          <a:blip r:embed="rId2"/>
          <a:stretch>
            <a:fillRect/>
          </a:stretch>
        </p:blipFill>
        <p:spPr>
          <a:xfrm>
            <a:off x="8842000" y="2150000"/>
            <a:ext cx="1800000" cy="1800000"/>
          </a:xfrm>
          <a:prstGeom prst="rect">
            <a:avLst/>
          </a:prstGeom>
        </p:spPr>
      </p:pic>
      <p:sp>
        <p:nvSpPr>
          <p:cNvPr id="4" name="TextBox 3"/>
          <p:cNvSpPr txBox="1"/>
          <p:nvPr/>
        </p:nvSpPr>
        <p:spPr>
          <a:xfrm>
            <a:off x="590000" y="1150000"/>
            <a:ext cx="4000000" cy="260000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000" b="0" i="0">
                <a:solidFill>
                  <a:srgbClr val="4C5B75"/>
                </a:solidFill>
                <a:latin typeface="Segoe UI Light"/>
              </a:rPr>
              <a:t>02</a:t>
            </a:r>
          </a:p>
        </p:txBody>
      </p:sp>
      <p:sp>
        <p:nvSpPr>
          <p:cNvPr id="5" name="TextBox 4"/>
          <p:cNvSpPr txBox="1"/>
          <p:nvPr/>
        </p:nvSpPr>
        <p:spPr>
          <a:xfrm>
            <a:off x="640000" y="3050000"/>
            <a:ext cx="9200000" cy="3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60">
                <a:solidFill>
                  <a:srgbClr val="74A6FF"/>
                </a:solidFill>
                <a:latin typeface="Segoe UI Semibold"/>
              </a:rPr>
              <a:t>BLOQUE 2</a:t>
            </a:r>
          </a:p>
        </p:txBody>
      </p:sp>
      <p:sp>
        <p:nvSpPr>
          <p:cNvPr id="6" name="TextBox 5"/>
          <p:cNvSpPr txBox="1"/>
          <p:nvPr/>
        </p:nvSpPr>
        <p:spPr>
          <a:xfrm>
            <a:off x="640000" y="3350000"/>
            <a:ext cx="10200000" cy="1000000"/>
          </a:xfrm>
          <a:prstGeom prst="rect">
            <a:avLst/>
          </a:prstGeom>
          <a:noFill/>
        </p:spPr>
        <p:txBody>
          <a:bodyPr wrap="square" anchor="t" lIns="0" rIns="0" tIns="0" bIns="0">
            <a:noAutofit/>
          </a:bodyPr>
          <a:lstStyle/>
          <a:p>
            <a:pPr algn="l" marL="0" indent="0">
              <a:lnSpc>
                <a:spcPct val="102000"/>
              </a:lnSpc>
              <a:spcBef>
                <a:spcPts val="0"/>
              </a:spcBef>
              <a:spcAft>
                <a:spcPts val="0"/>
              </a:spcAft>
              <a:buNone/>
            </a:pPr>
            <a:r>
              <a:rPr sz="5400" b="0" i="0">
                <a:solidFill>
                  <a:srgbClr val="F3F6FC"/>
                </a:solidFill>
                <a:latin typeface="Segoe UI Light"/>
              </a:rPr>
              <a:t>Nodo y control plane</a:t>
            </a:r>
          </a:p>
        </p:txBody>
      </p:sp>
      <p:sp>
        <p:nvSpPr>
          <p:cNvPr id="7" name="Rectangle 6"/>
          <p:cNvSpPr/>
          <p:nvPr/>
        </p:nvSpPr>
        <p:spPr>
          <a:xfrm>
            <a:off x="644000" y="438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4560000"/>
            <a:ext cx="9600000" cy="6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Cuando el problema está debajo de las aplicaciones</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DISTINCIÓN CRÍTICA</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NotReady no es SchedulingDisabled</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10</a:t>
            </a:r>
          </a:p>
        </p:txBody>
      </p:sp>
      <p:pic>
        <p:nvPicPr>
          <p:cNvPr id="8" name="Picture 7" descr="cp-sched.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470000"/>
            <a:ext cx="5316000" cy="2670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Rectangle 9"/>
          <p:cNvSpPr/>
          <p:nvPr/>
        </p:nvSpPr>
        <p:spPr>
          <a:xfrm>
            <a:off x="644000" y="1470000"/>
            <a:ext cx="5268000" cy="460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1" name="TextBox 10"/>
          <p:cNvSpPr txBox="1"/>
          <p:nvPr/>
        </p:nvSpPr>
        <p:spPr>
          <a:xfrm>
            <a:off x="880000" y="1730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NotReady</a:t>
            </a:r>
          </a:p>
          <a:p>
            <a:pPr algn="l" marL="0" indent="0">
              <a:lnSpc>
                <a:spcPct val="112000"/>
              </a:lnSpc>
              <a:spcBef>
                <a:spcPts val="0"/>
              </a:spcBef>
              <a:spcAft>
                <a:spcPts val="0"/>
              </a:spcAft>
              <a:buNone/>
            </a:pPr>
            <a:r>
              <a:rPr sz="1100" b="0" i="1">
                <a:solidFill>
                  <a:srgbClr val="8493AD"/>
                </a:solidFill>
                <a:latin typeface="Segoe UI"/>
              </a:rPr>
              <a:t>El nodo está averiado</a:t>
            </a:r>
          </a:p>
        </p:txBody>
      </p:sp>
      <p:sp>
        <p:nvSpPr>
          <p:cNvPr id="12" name="TextBox 11"/>
          <p:cNvSpPr txBox="1"/>
          <p:nvPr/>
        </p:nvSpPr>
        <p:spPr>
          <a:xfrm>
            <a:off x="880000" y="2300000"/>
            <a:ext cx="4796000" cy="1660000"/>
          </a:xfrm>
          <a:prstGeom prst="rect">
            <a:avLst/>
          </a:prstGeom>
          <a:noFill/>
        </p:spPr>
        <p:txBody>
          <a:bodyPr wrap="square" anchor="t" lIns="0" rIns="0" tIns="0" bIns="0">
            <a:noAutofit/>
          </a:bodyPr>
          <a:lstStyle/>
          <a:p/>
          <a:p>
            <a:pPr algn="l" marL="182880" indent="-182880">
              <a:lnSpc>
                <a:spcPct val="116000"/>
              </a:lnSpc>
              <a:spcBef>
                <a:spcPts val="0"/>
              </a:spcBef>
              <a:spcAft>
                <a:spcPts val="800"/>
              </a:spcAft>
              <a:buFont typeface="Arial"/>
              <a:buChar char="•"/>
            </a:pPr>
            <a:r>
              <a:rPr sz="1100" b="0" i="0">
                <a:solidFill>
                  <a:srgbClr val="BDC9DB"/>
                </a:solidFill>
                <a:latin typeface="Segoe UI"/>
              </a:rPr>
              <a:t>El kubelet no reporta al API server.</a:t>
            </a:r>
          </a:p>
          <a:p>
            <a:pPr algn="l" marL="182880" indent="-182880">
              <a:lnSpc>
                <a:spcPct val="116000"/>
              </a:lnSpc>
              <a:spcBef>
                <a:spcPts val="0"/>
              </a:spcBef>
              <a:spcAft>
                <a:spcPts val="800"/>
              </a:spcAft>
              <a:buFont typeface="Arial"/>
              <a:buChar char="•"/>
            </a:pPr>
            <a:r>
              <a:rPr sz="1100" b="0" i="0">
                <a:solidFill>
                  <a:srgbClr val="BDC9DB"/>
                </a:solidFill>
                <a:latin typeface="Segoe UI"/>
              </a:rPr>
              <a:t>Causas: kubelet parado, runtime caído, disco lleno, red del nodo.</a:t>
            </a:r>
          </a:p>
          <a:p>
            <a:pPr algn="l" marL="182880" indent="-182880">
              <a:lnSpc>
                <a:spcPct val="116000"/>
              </a:lnSpc>
              <a:spcBef>
                <a:spcPts val="0"/>
              </a:spcBef>
              <a:spcAft>
                <a:spcPts val="800"/>
              </a:spcAft>
              <a:buFont typeface="Arial"/>
              <a:buChar char="•"/>
            </a:pPr>
            <a:r>
              <a:rPr sz="1100" b="0" i="0">
                <a:solidFill>
                  <a:srgbClr val="BDC9DB"/>
                </a:solidFill>
                <a:latin typeface="Segoe UI"/>
              </a:rPr>
              <a:t>Se diagnostica por SSH: systemctl status kubelet, journalctl, df -h.</a:t>
            </a:r>
          </a:p>
          <a:p>
            <a:pPr algn="l" marL="182880" indent="-182880">
              <a:lnSpc>
                <a:spcPct val="116000"/>
              </a:lnSpc>
              <a:spcBef>
                <a:spcPts val="0"/>
              </a:spcBef>
              <a:spcAft>
                <a:spcPts val="800"/>
              </a:spcAft>
              <a:buFont typeface="Arial"/>
              <a:buChar char="•"/>
            </a:pPr>
            <a:r>
              <a:rPr sz="1100" b="0" i="0">
                <a:solidFill>
                  <a:srgbClr val="BDC9DB"/>
                </a:solidFill>
                <a:latin typeface="Segoe UI"/>
              </a:rPr>
              <a:t>Los Pods que había ahí acaban siendo desalojados.</a:t>
            </a:r>
          </a:p>
        </p:txBody>
      </p:sp>
      <p:sp>
        <p:nvSpPr>
          <p:cNvPr id="13" name="Rounded Rectangle 12"/>
          <p:cNvSpPr/>
          <p:nvPr/>
        </p:nvSpPr>
        <p:spPr>
          <a:xfrm>
            <a:off x="6256000" y="1470000"/>
            <a:ext cx="5316000" cy="2670000"/>
          </a:xfrm>
          <a:prstGeom prst="roundRect">
            <a:avLst>
              <a:gd name="adj" fmla="val 5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4" name="Rectangle 13"/>
          <p:cNvSpPr/>
          <p:nvPr/>
        </p:nvSpPr>
        <p:spPr>
          <a:xfrm>
            <a:off x="6280000" y="1470000"/>
            <a:ext cx="5268000" cy="46000"/>
          </a:xfrm>
          <a:prstGeom prst="rect">
            <a:avLst/>
          </a:prstGeom>
          <a:solidFill>
            <a:srgbClr val="E3B341"/>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TextBox 14"/>
          <p:cNvSpPr txBox="1"/>
          <p:nvPr/>
        </p:nvSpPr>
        <p:spPr>
          <a:xfrm>
            <a:off x="6516000" y="1730000"/>
            <a:ext cx="4796000" cy="570000"/>
          </a:xfrm>
          <a:prstGeom prst="rect">
            <a:avLst/>
          </a:prstGeom>
          <a:noFill/>
        </p:spPr>
        <p:txBody>
          <a:bodyPr wrap="square" anchor="t" lIns="0" rIns="0" tIns="0" bIns="0">
            <a:noAutofit/>
          </a:bodyPr>
          <a:lstStyle/>
          <a:p>
            <a:pPr algn="l" marL="0" indent="0">
              <a:lnSpc>
                <a:spcPct val="105000"/>
              </a:lnSpc>
              <a:spcBef>
                <a:spcPts val="0"/>
              </a:spcBef>
              <a:spcAft>
                <a:spcPts val="400"/>
              </a:spcAft>
              <a:buNone/>
            </a:pPr>
            <a:r>
              <a:rPr sz="1600" b="1" i="0">
                <a:solidFill>
                  <a:srgbClr val="F3F6FC"/>
                </a:solidFill>
                <a:latin typeface="Segoe UI Semibold"/>
              </a:rPr>
              <a:t>SchedulingDisabled</a:t>
            </a:r>
          </a:p>
          <a:p>
            <a:pPr algn="l" marL="0" indent="0">
              <a:lnSpc>
                <a:spcPct val="112000"/>
              </a:lnSpc>
              <a:spcBef>
                <a:spcPts val="0"/>
              </a:spcBef>
              <a:spcAft>
                <a:spcPts val="0"/>
              </a:spcAft>
              <a:buNone/>
            </a:pPr>
            <a:r>
              <a:rPr sz="1100" b="0" i="1">
                <a:solidFill>
                  <a:srgbClr val="8493AD"/>
                </a:solidFill>
                <a:latin typeface="Segoe UI"/>
              </a:rPr>
              <a:t>El nodo está cerrado a propósito</a:t>
            </a:r>
          </a:p>
        </p:txBody>
      </p:sp>
      <p:sp>
        <p:nvSpPr>
          <p:cNvPr id="16" name="TextBox 15"/>
          <p:cNvSpPr txBox="1"/>
          <p:nvPr/>
        </p:nvSpPr>
        <p:spPr>
          <a:xfrm>
            <a:off x="6516000" y="2300000"/>
            <a:ext cx="4796000" cy="1660000"/>
          </a:xfrm>
          <a:prstGeom prst="rect">
            <a:avLst/>
          </a:prstGeom>
          <a:noFill/>
        </p:spPr>
        <p:txBody>
          <a:bodyPr wrap="square" anchor="t" lIns="0" rIns="0" tIns="0" bIns="0">
            <a:noAutofit/>
          </a:bodyPr>
          <a:lstStyle/>
          <a:p/>
          <a:p>
            <a:pPr algn="l" marL="182880" indent="-182880">
              <a:lnSpc>
                <a:spcPct val="116000"/>
              </a:lnSpc>
              <a:spcBef>
                <a:spcPts val="0"/>
              </a:spcBef>
              <a:spcAft>
                <a:spcPts val="800"/>
              </a:spcAft>
              <a:buFont typeface="Arial"/>
              <a:buChar char="•"/>
            </a:pPr>
            <a:r>
              <a:rPr sz="1100" b="0" i="0">
                <a:solidFill>
                  <a:srgbClr val="BDC9DB"/>
                </a:solidFill>
                <a:latin typeface="Segoe UI"/>
              </a:rPr>
              <a:t>Alguien ejecutó cordon o drain y no lo revirtió.</a:t>
            </a:r>
          </a:p>
          <a:p>
            <a:pPr algn="l" marL="182880" indent="-182880">
              <a:lnSpc>
                <a:spcPct val="116000"/>
              </a:lnSpc>
              <a:spcBef>
                <a:spcPts val="0"/>
              </a:spcBef>
              <a:spcAft>
                <a:spcPts val="800"/>
              </a:spcAft>
              <a:buFont typeface="Arial"/>
              <a:buChar char="•"/>
            </a:pPr>
            <a:r>
              <a:rPr sz="1100" b="0" i="0">
                <a:solidFill>
                  <a:srgbClr val="BDC9DB"/>
                </a:solidFill>
                <a:latin typeface="Segoe UI"/>
              </a:rPr>
              <a:t>El nodo está perfectamente sano.</a:t>
            </a:r>
          </a:p>
          <a:p>
            <a:pPr algn="l" marL="182880" indent="-182880">
              <a:lnSpc>
                <a:spcPct val="116000"/>
              </a:lnSpc>
              <a:spcBef>
                <a:spcPts val="0"/>
              </a:spcBef>
              <a:spcAft>
                <a:spcPts val="800"/>
              </a:spcAft>
              <a:buFont typeface="Arial"/>
              <a:buChar char="•"/>
            </a:pPr>
            <a:r>
              <a:rPr sz="1100" b="0" i="0">
                <a:solidFill>
                  <a:srgbClr val="BDC9DB"/>
                </a:solidFill>
                <a:latin typeface="Segoe UI"/>
              </a:rPr>
              <a:t>Los Pods existentes siguen corriendo con normalidad.</a:t>
            </a:r>
          </a:p>
          <a:p>
            <a:pPr algn="l" marL="182880" indent="-182880">
              <a:lnSpc>
                <a:spcPct val="116000"/>
              </a:lnSpc>
              <a:spcBef>
                <a:spcPts val="0"/>
              </a:spcBef>
              <a:spcAft>
                <a:spcPts val="800"/>
              </a:spcAft>
              <a:buFont typeface="Arial"/>
              <a:buChar char="•"/>
            </a:pPr>
            <a:r>
              <a:rPr sz="1100" b="0" i="0">
                <a:solidFill>
                  <a:srgbClr val="BDC9DB"/>
                </a:solidFill>
                <a:latin typeface="Segoe UI"/>
              </a:rPr>
              <a:t>Se arregla con un comando: kubectl uncordon.</a:t>
            </a:r>
          </a:p>
        </p:txBody>
      </p:sp>
      <p:sp>
        <p:nvSpPr>
          <p:cNvPr id="17" name="Rounded Rectangle 16"/>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8" name="Rectangle 17"/>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50" b="0" i="0">
                <a:solidFill>
                  <a:srgbClr val="BDC9DB"/>
                </a:solidFill>
                <a:latin typeface="Segoe UI"/>
              </a:rPr>
              <a:t>Un nodo puede aparecer «mal» por dos razones opuestas que se confunden constantemente. NotReady significa que el nodo está averiado: el kubelet ha dejado de reportar al API server. Las causas típicas son el kubelet parado, el container runtime caído, el disco lleno o un problema de red del nodo. Se diagnostica por SSH: systemctl status kubelet, journalctl -u kubelet, df -h. Pasado un tiempo, los Pods que había en ese nodo se marcan para desalojo.</a:t>
            </a:r>
          </a:p>
          <a:p>
            <a:pPr algn="l" marL="0" indent="0">
              <a:lnSpc>
                <a:spcPct val="128000"/>
              </a:lnSpc>
              <a:spcBef>
                <a:spcPts val="0"/>
              </a:spcBef>
              <a:spcAft>
                <a:spcPts val="400"/>
              </a:spcAft>
              <a:buNone/>
            </a:pPr>
            <a:r>
              <a:rPr sz="1050" b="0" i="0">
                <a:solidFill>
                  <a:srgbClr val="BDC9DB"/>
                </a:solidFill>
                <a:latin typeface="Segoe UI"/>
              </a:rPr>
              <a:t>SchedulingDisabled significa que el nodo está cerrado A PROPÓSITO: alguien ejecutó cordon o drain y no hizo uncordon. El nodo está perfectamente sano, los Pods que ya corren siguen funcionando con normalidad, y solo se rechazan Pods nuevos. Se arregla con un único comando: kubectl uncordon &lt;nodo&gt;.</a:t>
            </a:r>
          </a:p>
          <a:p>
            <a:pPr algn="l" marL="0" indent="0">
              <a:lnSpc>
                <a:spcPct val="128000"/>
              </a:lnSpc>
              <a:spcBef>
                <a:spcPts val="0"/>
              </a:spcBef>
              <a:spcAft>
                <a:spcPts val="400"/>
              </a:spcAft>
              <a:buNone/>
            </a:pPr>
            <a:r>
              <a:rPr sz="1050" b="0" i="0">
                <a:solidFill>
                  <a:srgbClr val="BDC9DB"/>
                </a:solidFill>
                <a:latin typeface="Segoe UI"/>
              </a:rPr>
              <a:t>Confundirlos cuesta diez minutos revisando el kubelet de un nodo que no tiene absolutamente nada. La pista está en las Conditions del kubectl describe node y en la columna STATUS: «Ready,SchedulingDisabled» no es lo mismo que «NotReady».</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CUANDO KUBECTL NO RESPONDE</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Deja de usar kubectl</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11</a:t>
            </a:r>
          </a:p>
        </p:txBody>
      </p:sp>
      <p:pic>
        <p:nvPicPr>
          <p:cNvPr id="8" name="Picture 7" descr="control-plane.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900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kubectl no responde</a:t>
            </a:r>
          </a:p>
        </p:txBody>
      </p:sp>
      <p:cxnSp>
        <p:nvCxnSpPr>
          <p:cNvPr id="11" name="Connector 10"/>
          <p:cNvCxnSpPr/>
          <p:nvPr/>
        </p:nvCxnSpPr>
        <p:spPr>
          <a:xfrm>
            <a:off x="26664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28524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3" name="TextBox 12"/>
          <p:cNvSpPr txBox="1"/>
          <p:nvPr/>
        </p:nvSpPr>
        <p:spPr>
          <a:xfrm>
            <a:off x="29224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systemctl status kubelet</a:t>
            </a:r>
          </a:p>
        </p:txBody>
      </p:sp>
      <p:cxnSp>
        <p:nvCxnSpPr>
          <p:cNvPr id="14" name="Connector 13"/>
          <p:cNvCxnSpPr/>
          <p:nvPr/>
        </p:nvCxnSpPr>
        <p:spPr>
          <a:xfrm>
            <a:off x="48988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50848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TextBox 15"/>
          <p:cNvSpPr txBox="1"/>
          <p:nvPr/>
        </p:nvSpPr>
        <p:spPr>
          <a:xfrm>
            <a:off x="51548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crictl ps -a</a:t>
            </a:r>
          </a:p>
        </p:txBody>
      </p:sp>
      <p:cxnSp>
        <p:nvCxnSpPr>
          <p:cNvPr id="17" name="Connector 16"/>
          <p:cNvCxnSpPr/>
          <p:nvPr/>
        </p:nvCxnSpPr>
        <p:spPr>
          <a:xfrm>
            <a:off x="71312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73172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73872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crictl logs / journalctl</a:t>
            </a:r>
          </a:p>
        </p:txBody>
      </p:sp>
      <p:cxnSp>
        <p:nvCxnSpPr>
          <p:cNvPr id="20" name="Connector 19"/>
          <p:cNvCxnSpPr/>
          <p:nvPr/>
        </p:nvCxnSpPr>
        <p:spPr>
          <a:xfrm>
            <a:off x="9363600" y="202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9549600" y="1670000"/>
            <a:ext cx="2022400" cy="70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2" name="TextBox 21"/>
          <p:cNvSpPr txBox="1"/>
          <p:nvPr/>
        </p:nvSpPr>
        <p:spPr>
          <a:xfrm>
            <a:off x="9619600" y="1670000"/>
            <a:ext cx="1882400" cy="70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/etc/kubernetes/manifests/</a:t>
            </a:r>
          </a:p>
        </p:txBody>
      </p:sp>
      <p:sp>
        <p:nvSpPr>
          <p:cNvPr id="23" name="Rounded Rectangle 22"/>
          <p:cNvSpPr/>
          <p:nvPr/>
        </p:nvSpPr>
        <p:spPr>
          <a:xfrm>
            <a:off x="620000" y="2670000"/>
            <a:ext cx="10952000" cy="361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4" name="Rectangle 23"/>
          <p:cNvSpPr/>
          <p:nvPr/>
        </p:nvSpPr>
        <p:spPr>
          <a:xfrm>
            <a:off x="646000" y="2692000"/>
            <a:ext cx="40000" cy="356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60000" y="2800000"/>
            <a:ext cx="10522000" cy="335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POR QUÉ FUNCIONA</a:t>
            </a:r>
          </a:p>
          <a:p>
            <a:pPr algn="l" marL="0" indent="0">
              <a:lnSpc>
                <a:spcPct val="128000"/>
              </a:lnSpc>
              <a:spcBef>
                <a:spcPts val="0"/>
              </a:spcBef>
              <a:spcAft>
                <a:spcPts val="400"/>
              </a:spcAft>
              <a:buNone/>
            </a:pPr>
            <a:r>
              <a:rPr sz="1100" b="0" i="0">
                <a:solidFill>
                  <a:srgbClr val="BDC9DB"/>
                </a:solidFill>
                <a:latin typeface="Segoe UI"/>
              </a:rPr>
              <a:t>Si kubectl no responde, el API server está caído, y como el API server es un static Pod que gestiona el kubelet, no hay ningún kubectl que pueda ayudarte. El diagnóstico se hace en el nodo maestro por SSH. El kubelet es un servicio de systemd, no un contenedor, así que sigue vivo: systemctl status kubelet y journalctl -u kubelet -n 80 te dicen por qué no consigue arrancar el static Pod (un error de sintaxis en el manifiesto, un flag mal, un certificado caducado).</a:t>
            </a:r>
          </a:p>
          <a:p>
            <a:pPr algn="l" marL="0" indent="0">
              <a:lnSpc>
                <a:spcPct val="128000"/>
              </a:lnSpc>
              <a:spcBef>
                <a:spcPts val="0"/>
              </a:spcBef>
              <a:spcAft>
                <a:spcPts val="400"/>
              </a:spcAft>
              <a:buNone/>
            </a:pPr>
            <a:r>
              <a:rPr sz="1100" b="0" i="0">
                <a:solidFill>
                  <a:srgbClr val="BDC9DB"/>
                </a:solidFill>
                <a:latin typeface="Segoe UI"/>
              </a:rPr>
              <a:t>crictl es el sustituto de kubectl a nivel de nodo: crictl ps -a lista los contenedores, crictl logs &lt;id&gt; muestra sus logs. Con eso ves si el contenedor de kube-apiserver está reiniciándose y por qué.</a:t>
            </a:r>
          </a:p>
          <a:p>
            <a:pPr algn="l" marL="0" indent="0">
              <a:lnSpc>
                <a:spcPct val="128000"/>
              </a:lnSpc>
              <a:spcBef>
                <a:spcPts val="0"/>
              </a:spcBef>
              <a:spcAft>
                <a:spcPts val="400"/>
              </a:spcAft>
              <a:buNone/>
            </a:pPr>
            <a:r>
              <a:rPr sz="1100" b="0" i="0">
                <a:solidFill>
                  <a:srgbClr val="BDC9DB"/>
                </a:solidFill>
                <a:latin typeface="Segoe UI"/>
              </a:rPr>
              <a:t>La corrección casi siempre es editar el manifiesto en /etc/kubernetes/manifests/: el kubelet detecta el cambio y recrea el componente en segundos. No existe systemctl restart kube-apiserver. Y kubeadm guarda copias de seguridad de los manifiestos en /etc/kubernetes/tmp/kubeadm-backup-manifests-* por si necesitas volver atrás.</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2500000" cy="360000"/>
          </a:xfrm>
          <a:prstGeom prst="roundRect">
            <a:avLst>
              <a:gd name="adj" fmla="val 50000"/>
            </a:avLst>
          </a:prstGeom>
          <a:noFill/>
          <a:ln w="1270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74A6FF"/>
                </a:solidFill>
                <a:latin typeface="Segoe UI"/>
              </a:rPr>
              <a:t>Nivel intermedio</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6.2 — Nodo y control plane</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Dos incidentes seguidos: un worker que no acepta Pods y un control plane que deja kubectl sin respuesta.</a:t>
            </a:r>
          </a:p>
        </p:txBody>
      </p:sp>
      <p:sp>
        <p:nvSpPr>
          <p:cNvPr id="6" name="Oval 5"/>
          <p:cNvSpPr/>
          <p:nvPr/>
        </p:nvSpPr>
        <p:spPr>
          <a:xfrm>
            <a:off x="640000" y="2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Distinguir NotReady de SchedulingDisabled leyendo las Conditions.</a:t>
            </a:r>
          </a:p>
        </p:txBody>
      </p:sp>
      <p:sp>
        <p:nvSpPr>
          <p:cNvPr id="8" name="Oval 7"/>
          <p:cNvSpPr/>
          <p:nvPr/>
        </p:nvSpPr>
        <p:spPr>
          <a:xfrm>
            <a:off x="640000" y="325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Orden de diagnóstico: kubelet → runtime → disco.</a:t>
            </a:r>
          </a:p>
        </p:txBody>
      </p:sp>
      <p:sp>
        <p:nvSpPr>
          <p:cNvPr id="10" name="Oval 9"/>
          <p:cNvSpPr/>
          <p:nvPr/>
        </p:nvSpPr>
        <p:spPr>
          <a:xfrm>
            <a:off x="640000" y="381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Diagnosticar el control plane SIN kubectl, con crictl y journalctl.</a:t>
            </a:r>
          </a:p>
        </p:txBody>
      </p:sp>
      <p:sp>
        <p:nvSpPr>
          <p:cNvPr id="12" name="Oval 11"/>
          <p:cNvSpPr/>
          <p:nvPr/>
        </p:nvSpPr>
        <p:spPr>
          <a:xfrm>
            <a:off x="640000" y="437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Localizar el error del static Pod y esperar a que el kubelet lo recree.</a:t>
            </a:r>
          </a:p>
        </p:txBody>
      </p:sp>
      <p:sp>
        <p:nvSpPr>
          <p:cNvPr id="14" name="Oval 13"/>
          <p:cNvSpPr/>
          <p:nvPr/>
        </p:nvSpPr>
        <p:spPr>
          <a:xfrm>
            <a:off x="640000" y="493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15" name="TextBox 14"/>
          <p:cNvSpPr txBox="1"/>
          <p:nvPr/>
        </p:nvSpPr>
        <p:spPr>
          <a:xfrm>
            <a:off x="1110000" y="480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Prohibido reiniciar nodos como primera medida: esconde la causa.</a:t>
            </a:r>
          </a:p>
        </p:txBody>
      </p:sp>
      <p:sp>
        <p:nvSpPr>
          <p:cNvPr id="16" name="Freeform 15"/>
          <p:cNvSpPr/>
          <p:nvPr/>
        </p:nvSpPr>
        <p:spPr>
          <a:xfrm>
            <a:off x="9590000" y="1418800"/>
            <a:ext cx="784000" cy="842800"/>
          </a:xfrm>
          <a:custGeom>
            <a:avLst/>
            <a:gdLst/>
            <a:ahLst/>
            <a:cxnLst/>
            <a:rect l="l" t="t" r="r" b="b"/>
            <a:pathLst>
              <a:path w="784000" h="842800">
                <a:moveTo>
                  <a:pt x="235200" y="0"/>
                </a:moveTo>
                <a:lnTo>
                  <a:pt x="235200" y="333200"/>
                </a:lnTo>
                <a:lnTo>
                  <a:pt x="0" y="842800"/>
                </a:lnTo>
                <a:lnTo>
                  <a:pt x="784000" y="842800"/>
                </a:lnTo>
                <a:lnTo>
                  <a:pt x="548800" y="333200"/>
                </a:lnTo>
                <a:lnTo>
                  <a:pt x="548800" y="0"/>
                </a:lnTo>
              </a:path>
            </a:pathLst>
          </a:custGeom>
          <a:noFill/>
          <a:ln w="3302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766400" y="1418800"/>
            <a:ext cx="4312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727200" y="2006800"/>
            <a:ext cx="5096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8392000" y="2560000"/>
            <a:ext cx="318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CLASE-06/LABORATORIOS/LAB-02-INTERMEDIO.md</a:t>
            </a:r>
          </a:p>
        </p:txBody>
      </p:sp>
      <p:sp>
        <p:nvSpPr>
          <p:cNvPr id="22" name="Rectangle 21"/>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28 min</a:t>
            </a:r>
          </a:p>
        </p:txBody>
      </p:sp>
      <p:sp>
        <p:nvSpPr>
          <p:cNvPr id="24" name="Rectangle 23"/>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k get nodes -o wide</a:t>
            </a:r>
          </a:p>
        </p:txBody>
      </p:sp>
      <p:sp>
        <p:nvSpPr>
          <p:cNvPr id="26" name="Rectangle 25"/>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28" name="TextBox 27"/>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1500000" y="4258000"/>
            <a:ext cx="4200000" cy="42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eploy.png"/>
          <p:cNvPicPr>
            <a:picLocks noChangeAspect="1"/>
          </p:cNvPicPr>
          <p:nvPr/>
        </p:nvPicPr>
        <p:blipFill>
          <a:blip r:embed="rId2"/>
          <a:stretch>
            <a:fillRect/>
          </a:stretch>
        </p:blipFill>
        <p:spPr>
          <a:xfrm>
            <a:off x="8842000" y="2150000"/>
            <a:ext cx="1800000" cy="1800000"/>
          </a:xfrm>
          <a:prstGeom prst="rect">
            <a:avLst/>
          </a:prstGeom>
        </p:spPr>
      </p:pic>
      <p:sp>
        <p:nvSpPr>
          <p:cNvPr id="4" name="TextBox 3"/>
          <p:cNvSpPr txBox="1"/>
          <p:nvPr/>
        </p:nvSpPr>
        <p:spPr>
          <a:xfrm>
            <a:off x="590000" y="1150000"/>
            <a:ext cx="4000000" cy="260000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000" b="0" i="0">
                <a:solidFill>
                  <a:srgbClr val="4C5B75"/>
                </a:solidFill>
                <a:latin typeface="Segoe UI Light"/>
              </a:rPr>
              <a:t>03</a:t>
            </a:r>
          </a:p>
        </p:txBody>
      </p:sp>
      <p:sp>
        <p:nvSpPr>
          <p:cNvPr id="5" name="TextBox 4"/>
          <p:cNvSpPr txBox="1"/>
          <p:nvPr/>
        </p:nvSpPr>
        <p:spPr>
          <a:xfrm>
            <a:off x="640000" y="3050000"/>
            <a:ext cx="9200000" cy="3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60">
                <a:solidFill>
                  <a:srgbClr val="74A6FF"/>
                </a:solidFill>
                <a:latin typeface="Segoe UI Semibold"/>
              </a:rPr>
              <a:t>BLOQUE 3</a:t>
            </a:r>
          </a:p>
        </p:txBody>
      </p:sp>
      <p:sp>
        <p:nvSpPr>
          <p:cNvPr id="6" name="TextBox 5"/>
          <p:cNvSpPr txBox="1"/>
          <p:nvPr/>
        </p:nvSpPr>
        <p:spPr>
          <a:xfrm>
            <a:off x="640000" y="3350000"/>
            <a:ext cx="10200000" cy="1000000"/>
          </a:xfrm>
          <a:prstGeom prst="rect">
            <a:avLst/>
          </a:prstGeom>
          <a:noFill/>
        </p:spPr>
        <p:txBody>
          <a:bodyPr wrap="square" anchor="t" lIns="0" rIns="0" tIns="0" bIns="0">
            <a:noAutofit/>
          </a:bodyPr>
          <a:lstStyle/>
          <a:p>
            <a:pPr algn="l" marL="0" indent="0">
              <a:lnSpc>
                <a:spcPct val="102000"/>
              </a:lnSpc>
              <a:spcBef>
                <a:spcPts val="0"/>
              </a:spcBef>
              <a:spcAft>
                <a:spcPts val="0"/>
              </a:spcAft>
              <a:buNone/>
            </a:pPr>
            <a:r>
              <a:rPr sz="5400" b="0" i="0">
                <a:solidFill>
                  <a:srgbClr val="F3F6FC"/>
                </a:solidFill>
                <a:latin typeface="Segoe UI Light"/>
              </a:rPr>
              <a:t>Los seis mental models</a:t>
            </a:r>
          </a:p>
        </p:txBody>
      </p:sp>
      <p:sp>
        <p:nvSpPr>
          <p:cNvPr id="7" name="Rectangle 6"/>
          <p:cNvSpPr/>
          <p:nvPr/>
        </p:nvSpPr>
        <p:spPr>
          <a:xfrm>
            <a:off x="644000" y="438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4560000"/>
            <a:ext cx="9600000" cy="6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Todo el curso condensado en seis rutas de diagnóstico</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REFERENCIA</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Cada capa tiene su ruta</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14</a:t>
            </a:r>
          </a:p>
        </p:txBody>
      </p:sp>
      <p:sp>
        <p:nvSpPr>
          <p:cNvPr id="8" name="Rounded Rectangle 7"/>
          <p:cNvSpPr/>
          <p:nvPr/>
        </p:nvSpPr>
        <p:spPr>
          <a:xfrm>
            <a:off x="620000" y="1470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9" name="Rectangle 8"/>
          <p:cNvSpPr/>
          <p:nvPr/>
        </p:nvSpPr>
        <p:spPr>
          <a:xfrm>
            <a:off x="644000" y="1470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Oval 9"/>
          <p:cNvSpPr/>
          <p:nvPr/>
        </p:nvSpPr>
        <p:spPr>
          <a:xfrm>
            <a:off x="820000" y="1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pic>
        <p:nvPicPr>
          <p:cNvPr id="11" name="Picture 10" descr="pod.png"/>
          <p:cNvPicPr>
            <a:picLocks noChangeAspect="1"/>
          </p:cNvPicPr>
          <p:nvPr/>
        </p:nvPicPr>
        <p:blipFill>
          <a:blip r:embed="rId2"/>
          <a:stretch>
            <a:fillRect/>
          </a:stretch>
        </p:blipFill>
        <p:spPr>
          <a:xfrm>
            <a:off x="3527333" y="1676000"/>
            <a:ext cx="330000" cy="330000"/>
          </a:xfrm>
          <a:prstGeom prst="rect">
            <a:avLst/>
          </a:prstGeom>
        </p:spPr>
      </p:pic>
      <p:sp>
        <p:nvSpPr>
          <p:cNvPr id="12" name="TextBox 11"/>
          <p:cNvSpPr txBox="1"/>
          <p:nvPr/>
        </p:nvSpPr>
        <p:spPr>
          <a:xfrm>
            <a:off x="1230000" y="1670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POD</a:t>
            </a:r>
          </a:p>
        </p:txBody>
      </p:sp>
      <p:sp>
        <p:nvSpPr>
          <p:cNvPr id="13" name="TextBox 12"/>
          <p:cNvSpPr txBox="1"/>
          <p:nvPr/>
        </p:nvSpPr>
        <p:spPr>
          <a:xfrm>
            <a:off x="820000" y="2030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get → describe → events → logs → logs --previous. El punto de partida de todo.</a:t>
            </a:r>
          </a:p>
        </p:txBody>
      </p:sp>
      <p:sp>
        <p:nvSpPr>
          <p:cNvPr id="14" name="Rounded Rectangle 13"/>
          <p:cNvSpPr/>
          <p:nvPr/>
        </p:nvSpPr>
        <p:spPr>
          <a:xfrm>
            <a:off x="4377333" y="1470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Rectangle 14"/>
          <p:cNvSpPr/>
          <p:nvPr/>
        </p:nvSpPr>
        <p:spPr>
          <a:xfrm>
            <a:off x="4401333" y="1470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Oval 15"/>
          <p:cNvSpPr/>
          <p:nvPr/>
        </p:nvSpPr>
        <p:spPr>
          <a:xfrm>
            <a:off x="4577333" y="1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pic>
        <p:nvPicPr>
          <p:cNvPr id="17" name="Picture 16" descr="cp-sched.png"/>
          <p:cNvPicPr>
            <a:picLocks noChangeAspect="1"/>
          </p:cNvPicPr>
          <p:nvPr/>
        </p:nvPicPr>
        <p:blipFill>
          <a:blip r:embed="rId3"/>
          <a:stretch>
            <a:fillRect/>
          </a:stretch>
        </p:blipFill>
        <p:spPr>
          <a:xfrm>
            <a:off x="7284666" y="1676000"/>
            <a:ext cx="330000" cy="330000"/>
          </a:xfrm>
          <a:prstGeom prst="rect">
            <a:avLst/>
          </a:prstGeom>
        </p:spPr>
      </p:pic>
      <p:sp>
        <p:nvSpPr>
          <p:cNvPr id="18" name="TextBox 17"/>
          <p:cNvSpPr txBox="1"/>
          <p:nvPr/>
        </p:nvSpPr>
        <p:spPr>
          <a:xfrm>
            <a:off x="4987333" y="1670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SCHEDULING</a:t>
            </a:r>
          </a:p>
        </p:txBody>
      </p:sp>
      <p:sp>
        <p:nvSpPr>
          <p:cNvPr id="19" name="TextBox 18"/>
          <p:cNvSpPr txBox="1"/>
          <p:nvPr/>
        </p:nvSpPr>
        <p:spPr>
          <a:xfrm>
            <a:off x="4577333" y="2030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Pending → Events → recursos → nodeSelector → affinity → taints.</a:t>
            </a:r>
          </a:p>
        </p:txBody>
      </p:sp>
      <p:sp>
        <p:nvSpPr>
          <p:cNvPr id="20" name="Rounded Rectangle 19"/>
          <p:cNvSpPr/>
          <p:nvPr/>
        </p:nvSpPr>
        <p:spPr>
          <a:xfrm>
            <a:off x="8134666" y="1470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Rectangle 20"/>
          <p:cNvSpPr/>
          <p:nvPr/>
        </p:nvSpPr>
        <p:spPr>
          <a:xfrm>
            <a:off x="8158666" y="1470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2" name="Oval 21"/>
          <p:cNvSpPr/>
          <p:nvPr/>
        </p:nvSpPr>
        <p:spPr>
          <a:xfrm>
            <a:off x="8334666" y="1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pic>
        <p:nvPicPr>
          <p:cNvPr id="23" name="Picture 22" descr="svc.png"/>
          <p:cNvPicPr>
            <a:picLocks noChangeAspect="1"/>
          </p:cNvPicPr>
          <p:nvPr/>
        </p:nvPicPr>
        <p:blipFill>
          <a:blip r:embed="rId4"/>
          <a:stretch>
            <a:fillRect/>
          </a:stretch>
        </p:blipFill>
        <p:spPr>
          <a:xfrm>
            <a:off x="11042000" y="1676000"/>
            <a:ext cx="330000" cy="330000"/>
          </a:xfrm>
          <a:prstGeom prst="rect">
            <a:avLst/>
          </a:prstGeom>
        </p:spPr>
      </p:pic>
      <p:sp>
        <p:nvSpPr>
          <p:cNvPr id="24" name="TextBox 23"/>
          <p:cNvSpPr txBox="1"/>
          <p:nvPr/>
        </p:nvSpPr>
        <p:spPr>
          <a:xfrm>
            <a:off x="8744666" y="1670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SERVICE</a:t>
            </a:r>
          </a:p>
        </p:txBody>
      </p:sp>
      <p:sp>
        <p:nvSpPr>
          <p:cNvPr id="25" name="TextBox 24"/>
          <p:cNvSpPr txBox="1"/>
          <p:nvPr/>
        </p:nvSpPr>
        <p:spPr>
          <a:xfrm>
            <a:off x="8334666" y="2030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Service → selector → EndpointSlice → labels del Pod → targetPort.</a:t>
            </a:r>
          </a:p>
        </p:txBody>
      </p:sp>
      <p:sp>
        <p:nvSpPr>
          <p:cNvPr id="26" name="Rounded Rectangle 25"/>
          <p:cNvSpPr/>
          <p:nvPr/>
        </p:nvSpPr>
        <p:spPr>
          <a:xfrm>
            <a:off x="620000" y="2925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Rectangle 26"/>
          <p:cNvSpPr/>
          <p:nvPr/>
        </p:nvSpPr>
        <p:spPr>
          <a:xfrm>
            <a:off x="644000" y="2925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Oval 27"/>
          <p:cNvSpPr/>
          <p:nvPr/>
        </p:nvSpPr>
        <p:spPr>
          <a:xfrm>
            <a:off x="820000" y="3145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pic>
        <p:nvPicPr>
          <p:cNvPr id="29" name="Picture 28" descr="pv.png"/>
          <p:cNvPicPr>
            <a:picLocks noChangeAspect="1"/>
          </p:cNvPicPr>
          <p:nvPr/>
        </p:nvPicPr>
        <p:blipFill>
          <a:blip r:embed="rId5"/>
          <a:stretch>
            <a:fillRect/>
          </a:stretch>
        </p:blipFill>
        <p:spPr>
          <a:xfrm>
            <a:off x="3527333" y="3131000"/>
            <a:ext cx="330000" cy="330000"/>
          </a:xfrm>
          <a:prstGeom prst="rect">
            <a:avLst/>
          </a:prstGeom>
        </p:spPr>
      </p:pic>
      <p:sp>
        <p:nvSpPr>
          <p:cNvPr id="30" name="TextBox 29"/>
          <p:cNvSpPr txBox="1"/>
          <p:nvPr/>
        </p:nvSpPr>
        <p:spPr>
          <a:xfrm>
            <a:off x="1230000" y="3125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STORAGE</a:t>
            </a:r>
          </a:p>
        </p:txBody>
      </p:sp>
      <p:sp>
        <p:nvSpPr>
          <p:cNvPr id="31" name="TextBox 30"/>
          <p:cNvSpPr txBox="1"/>
          <p:nvPr/>
        </p:nvSpPr>
        <p:spPr>
          <a:xfrm>
            <a:off x="820000" y="3485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PVC → StorageClass → PV → accessMode → capacity → Pod.</a:t>
            </a:r>
          </a:p>
        </p:txBody>
      </p:sp>
      <p:sp>
        <p:nvSpPr>
          <p:cNvPr id="32" name="Rounded Rectangle 31"/>
          <p:cNvSpPr/>
          <p:nvPr/>
        </p:nvSpPr>
        <p:spPr>
          <a:xfrm>
            <a:off x="4377333" y="2925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3" name="Rectangle 32"/>
          <p:cNvSpPr/>
          <p:nvPr/>
        </p:nvSpPr>
        <p:spPr>
          <a:xfrm>
            <a:off x="4401333" y="2925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4" name="Oval 33"/>
          <p:cNvSpPr/>
          <p:nvPr/>
        </p:nvSpPr>
        <p:spPr>
          <a:xfrm>
            <a:off x="4577333" y="3145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pic>
        <p:nvPicPr>
          <p:cNvPr id="35" name="Picture 34" descr="role.png"/>
          <p:cNvPicPr>
            <a:picLocks noChangeAspect="1"/>
          </p:cNvPicPr>
          <p:nvPr/>
        </p:nvPicPr>
        <p:blipFill>
          <a:blip r:embed="rId6"/>
          <a:stretch>
            <a:fillRect/>
          </a:stretch>
        </p:blipFill>
        <p:spPr>
          <a:xfrm>
            <a:off x="7284666" y="3131000"/>
            <a:ext cx="330000" cy="330000"/>
          </a:xfrm>
          <a:prstGeom prst="rect">
            <a:avLst/>
          </a:prstGeom>
        </p:spPr>
      </p:pic>
      <p:sp>
        <p:nvSpPr>
          <p:cNvPr id="36" name="TextBox 35"/>
          <p:cNvSpPr txBox="1"/>
          <p:nvPr/>
        </p:nvSpPr>
        <p:spPr>
          <a:xfrm>
            <a:off x="4987333" y="3125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RBAC</a:t>
            </a:r>
          </a:p>
        </p:txBody>
      </p:sp>
      <p:sp>
        <p:nvSpPr>
          <p:cNvPr id="37" name="TextBox 36"/>
          <p:cNvSpPr txBox="1"/>
          <p:nvPr/>
        </p:nvSpPr>
        <p:spPr>
          <a:xfrm>
            <a:off x="4577333" y="3485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identidad → Role/ClusterRole → binding → recurso → verbo → auth can-i.</a:t>
            </a:r>
          </a:p>
        </p:txBody>
      </p:sp>
      <p:sp>
        <p:nvSpPr>
          <p:cNvPr id="38" name="Rounded Rectangle 37"/>
          <p:cNvSpPr/>
          <p:nvPr/>
        </p:nvSpPr>
        <p:spPr>
          <a:xfrm>
            <a:off x="8134666" y="2925000"/>
            <a:ext cx="3437333" cy="1215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9" name="Rectangle 38"/>
          <p:cNvSpPr/>
          <p:nvPr/>
        </p:nvSpPr>
        <p:spPr>
          <a:xfrm>
            <a:off x="8158666" y="2925000"/>
            <a:ext cx="3389333"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0" name="Oval 39"/>
          <p:cNvSpPr/>
          <p:nvPr/>
        </p:nvSpPr>
        <p:spPr>
          <a:xfrm>
            <a:off x="8334666" y="3145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6</a:t>
            </a:r>
          </a:p>
        </p:txBody>
      </p:sp>
      <p:pic>
        <p:nvPicPr>
          <p:cNvPr id="41" name="Picture 40" descr="svc.png"/>
          <p:cNvPicPr>
            <a:picLocks noChangeAspect="1"/>
          </p:cNvPicPr>
          <p:nvPr/>
        </p:nvPicPr>
        <p:blipFill>
          <a:blip r:embed="rId4"/>
          <a:stretch>
            <a:fillRect/>
          </a:stretch>
        </p:blipFill>
        <p:spPr>
          <a:xfrm>
            <a:off x="11042000" y="3131000"/>
            <a:ext cx="330000" cy="330000"/>
          </a:xfrm>
          <a:prstGeom prst="rect">
            <a:avLst/>
          </a:prstGeom>
        </p:spPr>
      </p:pic>
      <p:sp>
        <p:nvSpPr>
          <p:cNvPr id="42" name="TextBox 41"/>
          <p:cNvSpPr txBox="1"/>
          <p:nvPr/>
        </p:nvSpPr>
        <p:spPr>
          <a:xfrm>
            <a:off x="8744666" y="3125000"/>
            <a:ext cx="2407333"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NETWORKING</a:t>
            </a:r>
          </a:p>
        </p:txBody>
      </p:sp>
      <p:sp>
        <p:nvSpPr>
          <p:cNvPr id="43" name="TextBox 42"/>
          <p:cNvSpPr txBox="1"/>
          <p:nvPr/>
        </p:nvSpPr>
        <p:spPr>
          <a:xfrm>
            <a:off x="8334666" y="3485000"/>
            <a:ext cx="3037333" cy="595000"/>
          </a:xfrm>
          <a:prstGeom prst="rect">
            <a:avLst/>
          </a:prstGeom>
          <a:noFill/>
        </p:spPr>
        <p:txBody>
          <a:bodyPr wrap="square" anchor="t" lIns="0" rIns="0" tIns="0" bIns="0">
            <a:noAutofit/>
          </a:bodyPr>
          <a:lstStyle/>
          <a:p>
            <a:pPr algn="l" marL="0" indent="0">
              <a:lnSpc>
                <a:spcPct val="112000"/>
              </a:lnSpc>
              <a:spcBef>
                <a:spcPts val="0"/>
              </a:spcBef>
              <a:spcAft>
                <a:spcPts val="0"/>
              </a:spcAft>
              <a:buNone/>
            </a:pPr>
            <a:r>
              <a:rPr sz="1000" b="0" i="0">
                <a:solidFill>
                  <a:srgbClr val="BDC9DB"/>
                </a:solidFill>
                <a:latin typeface="Segoe UI"/>
              </a:rPr>
              <a:t>Pod → Service → EndpointSlice → DNS → NetworkPolicy → Ingress.</a:t>
            </a:r>
          </a:p>
        </p:txBody>
      </p:sp>
      <p:sp>
        <p:nvSpPr>
          <p:cNvPr id="44" name="Rounded Rectangle 43"/>
          <p:cNvSpPr/>
          <p:nvPr/>
        </p:nvSpPr>
        <p:spPr>
          <a:xfrm>
            <a:off x="620000" y="4310000"/>
            <a:ext cx="10952000" cy="200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5" name="Rectangle 44"/>
          <p:cNvSpPr/>
          <p:nvPr/>
        </p:nvSpPr>
        <p:spPr>
          <a:xfrm>
            <a:off x="646000" y="4332000"/>
            <a:ext cx="40000" cy="195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46" name="TextBox 45"/>
          <p:cNvSpPr txBox="1"/>
          <p:nvPr/>
        </p:nvSpPr>
        <p:spPr>
          <a:xfrm>
            <a:off x="860000" y="4440000"/>
            <a:ext cx="10522000" cy="174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TEORÍA</a:t>
            </a:r>
          </a:p>
          <a:p>
            <a:pPr algn="l" marL="0" indent="0">
              <a:lnSpc>
                <a:spcPct val="128000"/>
              </a:lnSpc>
              <a:spcBef>
                <a:spcPts val="0"/>
              </a:spcBef>
              <a:spcAft>
                <a:spcPts val="400"/>
              </a:spcAft>
              <a:buNone/>
            </a:pPr>
            <a:r>
              <a:rPr sz="1000" b="0" i="0">
                <a:solidFill>
                  <a:srgbClr val="BDC9DB"/>
                </a:solidFill>
                <a:latin typeface="Segoe UI"/>
              </a:rPr>
              <a:t>Los seis mental models del curso no son mnemotecnias: son el ORDEN exacto en que hay que ir descartando causas dentro de cada capa. El de POD es el punto de partida de todo: get → describe → events → logs → logs --previous. El de SCHEDULING, para un Pod en Pending: Events → recursos → nodeSelector → affinity → taints.</a:t>
            </a:r>
          </a:p>
          <a:p>
            <a:pPr algn="l" marL="0" indent="0">
              <a:lnSpc>
                <a:spcPct val="128000"/>
              </a:lnSpc>
              <a:spcBef>
                <a:spcPts val="0"/>
              </a:spcBef>
              <a:spcAft>
                <a:spcPts val="400"/>
              </a:spcAft>
              <a:buNone/>
            </a:pPr>
            <a:r>
              <a:rPr sz="1000" b="0" i="0">
                <a:solidFill>
                  <a:srgbClr val="BDC9DB"/>
                </a:solidFill>
                <a:latin typeface="Segoe UI"/>
              </a:rPr>
              <a:t>El de SERVICE, para conectividad interna: Service → selector → EndpointSlice → labels del Pod → targetPort. El de STORAGE, para un PVC que no enlaza: PVC → StorageClass → PV → accessMode → capacity → Pod. El de RBAC, para un Forbidden: identidad → Role/ClusterRole → binding → recurso → verbo, confirmado con auth can-i.</a:t>
            </a:r>
          </a:p>
          <a:p>
            <a:pPr algn="l" marL="0" indent="0">
              <a:lnSpc>
                <a:spcPct val="128000"/>
              </a:lnSpc>
              <a:spcBef>
                <a:spcPts val="0"/>
              </a:spcBef>
              <a:spcAft>
                <a:spcPts val="400"/>
              </a:spcAft>
              <a:buNone/>
            </a:pPr>
            <a:r>
              <a:rPr sz="1000" b="0" i="0">
                <a:solidFill>
                  <a:srgbClr val="BDC9DB"/>
                </a:solidFill>
                <a:latin typeface="Segoe UI"/>
              </a:rPr>
              <a:t>El de NETWORKING junta todo lo externo: Pod → Service → EndpointSlice → DNS → NetworkPolicy → Ingress. Saltarse un escalón de cualquiera de estas rutas es lo que hace perder tiempo: se investiga algo de más arriba cuando el fallo estaba abajo.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CADENAS DE FALLOS</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Cuando todo parece roto, hay un orden</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15</a:t>
            </a:r>
          </a:p>
        </p:txBody>
      </p:sp>
      <p:pic>
        <p:nvPicPr>
          <p:cNvPr id="8" name="Picture 7" descr="svc.png"/>
          <p:cNvPicPr>
            <a:picLocks noChangeAspect="1"/>
          </p:cNvPicPr>
          <p:nvPr/>
        </p:nvPicPr>
        <p:blipFill>
          <a:blip r:embed="rId2"/>
          <a:stretch>
            <a:fillRect/>
          </a:stretch>
        </p:blipFill>
        <p:spPr>
          <a:xfrm>
            <a:off x="10932000" y="275000"/>
            <a:ext cx="640000" cy="640000"/>
          </a:xfrm>
          <a:prstGeom prst="rect">
            <a:avLst/>
          </a:prstGeom>
        </p:spPr>
      </p:pic>
      <p:sp>
        <p:nvSpPr>
          <p:cNvPr id="9" name="Rounded Rectangle 8"/>
          <p:cNvSpPr/>
          <p:nvPr/>
        </p:nvSpPr>
        <p:spPr>
          <a:xfrm>
            <a:off x="620000" y="1670000"/>
            <a:ext cx="3510666" cy="66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90000" y="1670000"/>
            <a:ext cx="3370666" cy="66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PERMISOS</a:t>
            </a:r>
          </a:p>
        </p:txBody>
      </p:sp>
      <p:cxnSp>
        <p:nvCxnSpPr>
          <p:cNvPr id="11" name="Connector 10"/>
          <p:cNvCxnSpPr/>
          <p:nvPr/>
        </p:nvCxnSpPr>
        <p:spPr>
          <a:xfrm>
            <a:off x="4154666" y="200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4340666" y="1670000"/>
            <a:ext cx="3510666" cy="66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3" name="TextBox 12"/>
          <p:cNvSpPr txBox="1"/>
          <p:nvPr/>
        </p:nvSpPr>
        <p:spPr>
          <a:xfrm>
            <a:off x="4410666" y="1670000"/>
            <a:ext cx="3370666" cy="66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SCHEDULING</a:t>
            </a:r>
          </a:p>
        </p:txBody>
      </p:sp>
      <p:cxnSp>
        <p:nvCxnSpPr>
          <p:cNvPr id="14" name="Connector 13"/>
          <p:cNvCxnSpPr/>
          <p:nvPr/>
        </p:nvCxnSpPr>
        <p:spPr>
          <a:xfrm>
            <a:off x="7875333" y="200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8061333" y="1670000"/>
            <a:ext cx="3510666" cy="66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TextBox 15"/>
          <p:cNvSpPr txBox="1"/>
          <p:nvPr/>
        </p:nvSpPr>
        <p:spPr>
          <a:xfrm>
            <a:off x="8131333" y="1670000"/>
            <a:ext cx="3370666" cy="66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STORAGE</a:t>
            </a:r>
          </a:p>
        </p:txBody>
      </p:sp>
      <p:cxnSp>
        <p:nvCxnSpPr>
          <p:cNvPr id="17" name="Connector 16"/>
          <p:cNvCxnSpPr/>
          <p:nvPr/>
        </p:nvCxnSpPr>
        <p:spPr>
          <a:xfrm>
            <a:off x="9816666" y="2356000"/>
            <a:ext cx="0" cy="16800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20000" y="2550000"/>
            <a:ext cx="3510666" cy="66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TextBox 18"/>
          <p:cNvSpPr txBox="1"/>
          <p:nvPr/>
        </p:nvSpPr>
        <p:spPr>
          <a:xfrm>
            <a:off x="690000" y="2550000"/>
            <a:ext cx="3370666" cy="66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CONFIGURACIÓN</a:t>
            </a:r>
          </a:p>
        </p:txBody>
      </p:sp>
      <p:cxnSp>
        <p:nvCxnSpPr>
          <p:cNvPr id="20" name="Connector 19"/>
          <p:cNvCxnSpPr/>
          <p:nvPr/>
        </p:nvCxnSpPr>
        <p:spPr>
          <a:xfrm>
            <a:off x="4154666" y="288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1" name="Rounded Rectangle 20"/>
          <p:cNvSpPr/>
          <p:nvPr/>
        </p:nvSpPr>
        <p:spPr>
          <a:xfrm>
            <a:off x="4340666" y="2550000"/>
            <a:ext cx="3510666" cy="66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2" name="TextBox 21"/>
          <p:cNvSpPr txBox="1"/>
          <p:nvPr/>
        </p:nvSpPr>
        <p:spPr>
          <a:xfrm>
            <a:off x="4410666" y="2550000"/>
            <a:ext cx="3370666" cy="66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APLICACIÓN</a:t>
            </a:r>
          </a:p>
        </p:txBody>
      </p:sp>
      <p:cxnSp>
        <p:nvCxnSpPr>
          <p:cNvPr id="23" name="Connector 22"/>
          <p:cNvCxnSpPr/>
          <p:nvPr/>
        </p:nvCxnSpPr>
        <p:spPr>
          <a:xfrm>
            <a:off x="7875333" y="2880000"/>
            <a:ext cx="162000" cy="0"/>
          </a:xfrm>
          <a:prstGeom prst="line">
            <a:avLst/>
          </a:prstGeom>
          <a:ln w="22225">
            <a:solidFill>
              <a:srgbClr val="74A6FF"/>
            </a:solidFill>
            <a:tailEnd type="triangle" w="med" len="med"/>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061333" y="2550000"/>
            <a:ext cx="3510666" cy="660000"/>
          </a:xfrm>
          <a:prstGeom prst="roundRect">
            <a:avLst>
              <a:gd name="adj" fmla="val 11000"/>
            </a:avLst>
          </a:prstGeom>
          <a:solidFill>
            <a:srgbClr val="141E33"/>
          </a:solidFill>
          <a:ln w="15875">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131333" y="2550000"/>
            <a:ext cx="3370666" cy="660000"/>
          </a:xfrm>
          <a:prstGeom prst="rect">
            <a:avLst/>
          </a:prstGeom>
          <a:noFill/>
        </p:spPr>
        <p:txBody>
          <a:bodyPr wrap="square" anchor="ctr" lIns="0" rIns="0" tIns="0" bIns="0">
            <a:noAutofit/>
          </a:bodyPr>
          <a:lstStyle/>
          <a:p>
            <a:pPr algn="ctr" marL="0" indent="0">
              <a:lnSpc>
                <a:spcPct val="112000"/>
              </a:lnSpc>
              <a:spcBef>
                <a:spcPts val="0"/>
              </a:spcBef>
              <a:spcAft>
                <a:spcPts val="0"/>
              </a:spcAft>
              <a:buNone/>
            </a:pPr>
            <a:r>
              <a:rPr sz="1100" b="1" i="0">
                <a:solidFill>
                  <a:srgbClr val="F3F6FC"/>
                </a:solidFill>
                <a:latin typeface="Segoe UI Semibold"/>
              </a:rPr>
              <a:t>RED</a:t>
            </a:r>
          </a:p>
        </p:txBody>
      </p:sp>
      <p:sp>
        <p:nvSpPr>
          <p:cNvPr id="26" name="Rounded Rectangle 25"/>
          <p:cNvSpPr/>
          <p:nvPr/>
        </p:nvSpPr>
        <p:spPr>
          <a:xfrm>
            <a:off x="620000" y="3510000"/>
            <a:ext cx="10952000" cy="2770000"/>
          </a:xfrm>
          <a:prstGeom prst="roundRect">
            <a:avLst>
              <a:gd name="adj" fmla="val 45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Rectangle 26"/>
          <p:cNvSpPr/>
          <p:nvPr/>
        </p:nvSpPr>
        <p:spPr>
          <a:xfrm>
            <a:off x="646000" y="3532000"/>
            <a:ext cx="40000" cy="272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TextBox 27"/>
          <p:cNvSpPr txBox="1"/>
          <p:nvPr/>
        </p:nvSpPr>
        <p:spPr>
          <a:xfrm>
            <a:off x="860000" y="3640000"/>
            <a:ext cx="10522000" cy="2510000"/>
          </a:xfrm>
          <a:prstGeom prst="rect">
            <a:avLst/>
          </a:prstGeom>
          <a:noFill/>
        </p:spPr>
        <p:txBody>
          <a:bodyPr wrap="square" anchor="t" lIns="0" rIns="0" tIns="0" bIns="0">
            <a:noAutofit/>
          </a:bodyPr>
          <a:lstStyle/>
          <a:p>
            <a:pPr algn="l" marL="0" indent="0">
              <a:lnSpc>
                <a:spcPct val="100000"/>
              </a:lnSpc>
              <a:spcBef>
                <a:spcPts val="0"/>
              </a:spcBef>
              <a:spcAft>
                <a:spcPts val="600"/>
              </a:spcAft>
              <a:buNone/>
            </a:pPr>
            <a:r>
              <a:rPr sz="900" b="1" i="0" spc="200">
                <a:solidFill>
                  <a:srgbClr val="326CE5"/>
                </a:solidFill>
                <a:latin typeface="Segoe UI Semibold"/>
              </a:rPr>
              <a:t>SE DIAGNOSTICA DE ABAJO HACIA ARRIBA</a:t>
            </a:r>
          </a:p>
          <a:p>
            <a:pPr algn="l" marL="0" indent="0">
              <a:lnSpc>
                <a:spcPct val="128000"/>
              </a:lnSpc>
              <a:spcBef>
                <a:spcPts val="0"/>
              </a:spcBef>
              <a:spcAft>
                <a:spcPts val="400"/>
              </a:spcAft>
              <a:buNone/>
            </a:pPr>
            <a:r>
              <a:rPr sz="1100" b="0" i="0">
                <a:solidFill>
                  <a:srgbClr val="BDC9DB"/>
                </a:solidFill>
                <a:latin typeface="Segoe UI"/>
              </a:rPr>
              <a:t>Cuando un escenario tiene varios fallos encadenados y todo parece roto a la vez, hay un orden fijo para atacarlos: de abajo hacia arriba, porque cada capa depende de que la anterior funcione.</a:t>
            </a:r>
          </a:p>
          <a:p>
            <a:pPr algn="l" marL="0" indent="0">
              <a:lnSpc>
                <a:spcPct val="128000"/>
              </a:lnSpc>
              <a:spcBef>
                <a:spcPts val="0"/>
              </a:spcBef>
              <a:spcAft>
                <a:spcPts val="400"/>
              </a:spcAft>
              <a:buNone/>
            </a:pPr>
            <a:r>
              <a:rPr sz="1100" b="0" i="0">
                <a:solidFill>
                  <a:srgbClr val="BDC9DB"/>
                </a:solidFill>
                <a:latin typeface="Segoe UI"/>
              </a:rPr>
              <a:t>Sin PERMISOS no puedes ni operar: auth can-i primero. Sin nodo asignado no hay Pod, así que un Pod en Pending no puede tener un problema de red — se resuelve el SCHEDULING antes. Sin volumen, el Pod no monta y se queda en ContainerCreating: STORAGE va antes que nada que pase dentro del contenedor. Sin ConfigMap ni Secret, el contenedor ni siquiera se crea: CONFIGURACIÓN antes que APLICACIÓN.</a:t>
            </a:r>
          </a:p>
          <a:p>
            <a:pPr algn="l" marL="0" indent="0">
              <a:lnSpc>
                <a:spcPct val="128000"/>
              </a:lnSpc>
              <a:spcBef>
                <a:spcPts val="0"/>
              </a:spcBef>
              <a:spcAft>
                <a:spcPts val="400"/>
              </a:spcAft>
              <a:buNone/>
            </a:pPr>
            <a:r>
              <a:rPr sz="1100" b="0" i="0">
                <a:solidFill>
                  <a:srgbClr val="BDC9DB"/>
                </a:solidFill>
                <a:latin typeface="Segoe UI"/>
              </a:rPr>
              <a:t>Solo cuando hay un contenedor corriendo y sano tiene sentido probar la RED: DNS, endpoints, NetworkPolicy e Ingress. Intentar depurar la red de un Pod que está en CrashLoopBackOff es tiempo perdido.</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2500000" cy="360000"/>
          </a:xfrm>
          <a:prstGeom prst="roundRect">
            <a:avLst>
              <a:gd name="adj" fmla="val 50000"/>
            </a:avLst>
          </a:prstGeom>
          <a:noFill/>
          <a:ln w="1270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74A6FF"/>
                </a:solidFill>
                <a:latin typeface="Segoe UI"/>
              </a:rPr>
              <a:t>Nivel avanzado</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6.3 — Cadena de fallos entre capas</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Seis fallos encadenados donde cada corrección destapa el siguiente. Obliga a recorrer todas las capas del curso.</a:t>
            </a:r>
          </a:p>
        </p:txBody>
      </p:sp>
      <p:sp>
        <p:nvSpPr>
          <p:cNvPr id="6" name="Oval 5"/>
          <p:cNvSpPr/>
          <p:nvPr/>
        </p:nvSpPr>
        <p:spPr>
          <a:xfrm>
            <a:off x="640000" y="2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Corregir los permisos de una ServiceAccount con mínimo privilegio.</a:t>
            </a:r>
          </a:p>
        </p:txBody>
      </p:sp>
      <p:sp>
        <p:nvSpPr>
          <p:cNvPr id="8" name="Oval 7"/>
          <p:cNvSpPr/>
          <p:nvPr/>
        </p:nvSpPr>
        <p:spPr>
          <a:xfrm>
            <a:off x="640000" y="325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Levantar un StatefulSet de 3 réplicas con volumen escribible.</a:t>
            </a:r>
          </a:p>
        </p:txBody>
      </p:sp>
      <p:sp>
        <p:nvSpPr>
          <p:cNvPr id="10" name="Oval 9"/>
          <p:cNvSpPr/>
          <p:nvPr/>
        </p:nvSpPr>
        <p:spPr>
          <a:xfrm>
            <a:off x="640000" y="381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Hacer llegar configuración y credenciales al contenedor.</a:t>
            </a:r>
          </a:p>
        </p:txBody>
      </p:sp>
      <p:sp>
        <p:nvSpPr>
          <p:cNvPr id="12" name="Oval 11"/>
          <p:cNvSpPr/>
          <p:nvPr/>
        </p:nvSpPr>
        <p:spPr>
          <a:xfrm>
            <a:off x="640000" y="437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Conseguir que el DNS por Pod resuelva.</a:t>
            </a:r>
          </a:p>
        </p:txBody>
      </p:sp>
      <p:sp>
        <p:nvSpPr>
          <p:cNvPr id="14" name="Oval 13"/>
          <p:cNvSpPr/>
          <p:nvPr/>
        </p:nvSpPr>
        <p:spPr>
          <a:xfrm>
            <a:off x="640000" y="493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15" name="TextBox 14"/>
          <p:cNvSpPr txBox="1"/>
          <p:nvPr/>
        </p:nvSpPr>
        <p:spPr>
          <a:xfrm>
            <a:off x="1110000" y="480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Justificar por escrito el orden en que atacaste los fallos.</a:t>
            </a:r>
          </a:p>
        </p:txBody>
      </p:sp>
      <p:sp>
        <p:nvSpPr>
          <p:cNvPr id="16" name="Freeform 15"/>
          <p:cNvSpPr/>
          <p:nvPr/>
        </p:nvSpPr>
        <p:spPr>
          <a:xfrm>
            <a:off x="9590000" y="1418800"/>
            <a:ext cx="784000" cy="842800"/>
          </a:xfrm>
          <a:custGeom>
            <a:avLst/>
            <a:gdLst/>
            <a:ahLst/>
            <a:cxnLst/>
            <a:rect l="l" t="t" r="r" b="b"/>
            <a:pathLst>
              <a:path w="784000" h="842800">
                <a:moveTo>
                  <a:pt x="235200" y="0"/>
                </a:moveTo>
                <a:lnTo>
                  <a:pt x="235200" y="333200"/>
                </a:lnTo>
                <a:lnTo>
                  <a:pt x="0" y="842800"/>
                </a:lnTo>
                <a:lnTo>
                  <a:pt x="784000" y="842800"/>
                </a:lnTo>
                <a:lnTo>
                  <a:pt x="548800" y="333200"/>
                </a:lnTo>
                <a:lnTo>
                  <a:pt x="548800" y="0"/>
                </a:lnTo>
              </a:path>
            </a:pathLst>
          </a:custGeom>
          <a:noFill/>
          <a:ln w="3302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766400" y="1418800"/>
            <a:ext cx="4312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727200" y="2006800"/>
            <a:ext cx="5096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8392000" y="2560000"/>
            <a:ext cx="318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CLASE-06/LABORATORIOS/LAB-03-AVANZADO.md</a:t>
            </a:r>
          </a:p>
        </p:txBody>
      </p:sp>
      <p:sp>
        <p:nvSpPr>
          <p:cNvPr id="22" name="Rectangle 21"/>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27 min</a:t>
            </a:r>
          </a:p>
        </p:txBody>
      </p:sp>
      <p:sp>
        <p:nvSpPr>
          <p:cNvPr id="24" name="Rectangle 23"/>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./validate-lab.sh cadena</a:t>
            </a:r>
          </a:p>
        </p:txBody>
      </p:sp>
      <p:sp>
        <p:nvSpPr>
          <p:cNvPr id="26" name="Rectangle 25"/>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28" name="TextBox 27"/>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16</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3148000" cy="360000"/>
          </a:xfrm>
          <a:prstGeom prst="roundRect">
            <a:avLst>
              <a:gd name="adj" fmla="val 50000"/>
            </a:avLst>
          </a:prstGeom>
          <a:noFill/>
          <a:ln w="12700">
            <a:solidFill>
              <a:srgbClr val="F85149"/>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FF7B72"/>
                </a:solidFill>
                <a:latin typeface="Segoe UI"/>
              </a:rPr>
              <a:t>Challenge — cronometrado</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6.4 — Challenge contrarreloj: 15 minutos</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Cinco tareas con peso distinto y tiempo insuficiente. Reproduce exactamente la presión del examen.</a:t>
            </a:r>
          </a:p>
        </p:txBody>
      </p:sp>
      <p:sp>
        <p:nvSpPr>
          <p:cNvPr id="6" name="Oval 5"/>
          <p:cNvSpPr/>
          <p:nvPr/>
        </p:nvSpPr>
        <p:spPr>
          <a:xfrm>
            <a:off x="640000" y="269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Minuto 0–1: lee las cinco tareas y ordénalas. No empieces por la primera.</a:t>
            </a:r>
          </a:p>
        </p:txBody>
      </p:sp>
      <p:sp>
        <p:nvSpPr>
          <p:cNvPr id="8" name="Oval 7"/>
          <p:cNvSpPr/>
          <p:nvPr/>
        </p:nvSpPr>
        <p:spPr>
          <a:xfrm>
            <a:off x="640000" y="325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Ataca lo de mayor peso que sepas resolver rápido.</a:t>
            </a:r>
          </a:p>
        </p:txBody>
      </p:sp>
      <p:sp>
        <p:nvSpPr>
          <p:cNvPr id="10" name="Oval 9"/>
          <p:cNvSpPr/>
          <p:nvPr/>
        </p:nvSpPr>
        <p:spPr>
          <a:xfrm>
            <a:off x="640000" y="381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Si una tarea pasa de 4 minutos, déjala y vuelve al final.</a:t>
            </a:r>
          </a:p>
        </p:txBody>
      </p:sp>
      <p:sp>
        <p:nvSpPr>
          <p:cNvPr id="12" name="Oval 11"/>
          <p:cNvSpPr/>
          <p:nvPr/>
        </p:nvSpPr>
        <p:spPr>
          <a:xfrm>
            <a:off x="640000" y="437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Valida cada tarea al terminarla: «casi hecha» puntúa cero.</a:t>
            </a:r>
          </a:p>
        </p:txBody>
      </p:sp>
      <p:sp>
        <p:nvSpPr>
          <p:cNvPr id="14" name="Oval 13"/>
          <p:cNvSpPr/>
          <p:nvPr/>
        </p:nvSpPr>
        <p:spPr>
          <a:xfrm>
            <a:off x="640000" y="4930000"/>
            <a:ext cx="300000" cy="300000"/>
          </a:xfrm>
          <a:prstGeom prst="ellipse">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15" name="TextBox 14"/>
          <p:cNvSpPr txBox="1"/>
          <p:nvPr/>
        </p:nvSpPr>
        <p:spPr>
          <a:xfrm>
            <a:off x="1110000" y="480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Objetivo: 24 de 35 puntos, el 66 % de aprobado del CKA.</a:t>
            </a:r>
          </a:p>
        </p:txBody>
      </p:sp>
      <p:sp>
        <p:nvSpPr>
          <p:cNvPr id="16" name="Oval 15"/>
          <p:cNvSpPr/>
          <p:nvPr/>
        </p:nvSpPr>
        <p:spPr>
          <a:xfrm>
            <a:off x="9825200" y="1497200"/>
            <a:ext cx="313600" cy="313600"/>
          </a:xfrm>
          <a:prstGeom prst="ellipse">
            <a:avLst/>
          </a:prstGeom>
          <a:noFill/>
          <a:ln w="33020">
            <a:solidFill>
              <a:srgbClr val="FF7B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Oval 16"/>
          <p:cNvSpPr/>
          <p:nvPr/>
        </p:nvSpPr>
        <p:spPr>
          <a:xfrm>
            <a:off x="9766400" y="1752000"/>
            <a:ext cx="431200" cy="490000"/>
          </a:xfrm>
          <a:prstGeom prst="ellipse">
            <a:avLst/>
          </a:prstGeom>
          <a:noFill/>
          <a:ln w="33020">
            <a:solidFill>
              <a:srgbClr val="FF7B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8" name="Connector 17"/>
          <p:cNvCxnSpPr/>
          <p:nvPr/>
        </p:nvCxnSpPr>
        <p:spPr>
          <a:xfrm flipH="1" flipV="1">
            <a:off x="9550800" y="17912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flipV="1">
            <a:off x="10178000" y="17912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flipH="1" flipV="1">
            <a:off x="9550800" y="19480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flipV="1">
            <a:off x="10178000" y="19480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flipH="1" flipV="1">
            <a:off x="9550800" y="21048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flipV="1">
            <a:off x="10178000" y="2104800"/>
            <a:ext cx="235200" cy="58800"/>
          </a:xfrm>
          <a:prstGeom prst="line">
            <a:avLst/>
          </a:prstGeom>
          <a:ln w="33020">
            <a:solidFill>
              <a:srgbClr val="FF7B72"/>
            </a:solidFill>
          </a:ln>
          <a:effectLst/>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Rectangle 24"/>
          <p:cNvSpPr/>
          <p:nvPr/>
        </p:nvSpPr>
        <p:spPr>
          <a:xfrm>
            <a:off x="8392000" y="2560000"/>
            <a:ext cx="3180000" cy="460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6" name="TextBox 25"/>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CLASE-06/LABORATORIOS/LAB-04-CHALLENGE.md</a:t>
            </a:r>
          </a:p>
        </p:txBody>
      </p:sp>
      <p:sp>
        <p:nvSpPr>
          <p:cNvPr id="27" name="Rectangle 26"/>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TextBox 27"/>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15 min</a:t>
            </a:r>
          </a:p>
        </p:txBody>
      </p:sp>
      <p:sp>
        <p:nvSpPr>
          <p:cNvPr id="29" name="Rectangle 28"/>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0" name="TextBox 29"/>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./validate-lab.sh sprint</a:t>
            </a:r>
          </a:p>
        </p:txBody>
      </p:sp>
      <p:sp>
        <p:nvSpPr>
          <p:cNvPr id="31" name="Rectangle 30"/>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2" name="TextBox 31"/>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33" name="TextBox 32"/>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1500000" y="4258000"/>
            <a:ext cx="4200000" cy="42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3" name="Picture 2" descr="deploy.png"/>
          <p:cNvPicPr>
            <a:picLocks noChangeAspect="1"/>
          </p:cNvPicPr>
          <p:nvPr/>
        </p:nvPicPr>
        <p:blipFill>
          <a:blip r:embed="rId2"/>
          <a:stretch>
            <a:fillRect/>
          </a:stretch>
        </p:blipFill>
        <p:spPr>
          <a:xfrm>
            <a:off x="8842000" y="2150000"/>
            <a:ext cx="1800000" cy="1800000"/>
          </a:xfrm>
          <a:prstGeom prst="rect">
            <a:avLst/>
          </a:prstGeom>
        </p:spPr>
      </p:pic>
      <p:sp>
        <p:nvSpPr>
          <p:cNvPr id="4" name="TextBox 3"/>
          <p:cNvSpPr txBox="1"/>
          <p:nvPr/>
        </p:nvSpPr>
        <p:spPr>
          <a:xfrm>
            <a:off x="590000" y="1150000"/>
            <a:ext cx="4000000" cy="2600000"/>
          </a:xfrm>
          <a:prstGeom prst="rect">
            <a:avLst/>
          </a:prstGeom>
          <a:noFill/>
        </p:spPr>
        <p:txBody>
          <a:bodyPr wrap="square" anchor="t" lIns="0" rIns="0" tIns="0" bIns="0">
            <a:noAutofit/>
          </a:bodyPr>
          <a:lstStyle/>
          <a:p>
            <a:pPr algn="l" marL="0" indent="0">
              <a:lnSpc>
                <a:spcPct val="90000"/>
              </a:lnSpc>
              <a:spcBef>
                <a:spcPts val="0"/>
              </a:spcBef>
              <a:spcAft>
                <a:spcPts val="0"/>
              </a:spcAft>
              <a:buNone/>
            </a:pPr>
            <a:r>
              <a:rPr sz="15000" b="0" i="0">
                <a:solidFill>
                  <a:srgbClr val="4C5B75"/>
                </a:solidFill>
                <a:latin typeface="Segoe UI Light"/>
              </a:rPr>
              <a:t>04</a:t>
            </a:r>
          </a:p>
        </p:txBody>
      </p:sp>
      <p:sp>
        <p:nvSpPr>
          <p:cNvPr id="5" name="TextBox 4"/>
          <p:cNvSpPr txBox="1"/>
          <p:nvPr/>
        </p:nvSpPr>
        <p:spPr>
          <a:xfrm>
            <a:off x="640000" y="3050000"/>
            <a:ext cx="9200000" cy="3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60">
                <a:solidFill>
                  <a:srgbClr val="74A6FF"/>
                </a:solidFill>
                <a:latin typeface="Segoe UI Semibold"/>
              </a:rPr>
              <a:t>BLOQUE 4</a:t>
            </a:r>
          </a:p>
        </p:txBody>
      </p:sp>
      <p:sp>
        <p:nvSpPr>
          <p:cNvPr id="6" name="TextBox 5"/>
          <p:cNvSpPr txBox="1"/>
          <p:nvPr/>
        </p:nvSpPr>
        <p:spPr>
          <a:xfrm>
            <a:off x="640000" y="3350000"/>
            <a:ext cx="10200000" cy="1000000"/>
          </a:xfrm>
          <a:prstGeom prst="rect">
            <a:avLst/>
          </a:prstGeom>
          <a:noFill/>
        </p:spPr>
        <p:txBody>
          <a:bodyPr wrap="square" anchor="t" lIns="0" rIns="0" tIns="0" bIns="0">
            <a:noAutofit/>
          </a:bodyPr>
          <a:lstStyle/>
          <a:p>
            <a:pPr algn="l" marL="0" indent="0">
              <a:lnSpc>
                <a:spcPct val="102000"/>
              </a:lnSpc>
              <a:spcBef>
                <a:spcPts val="0"/>
              </a:spcBef>
              <a:spcAft>
                <a:spcPts val="0"/>
              </a:spcAft>
              <a:buNone/>
            </a:pPr>
            <a:r>
              <a:rPr sz="5400" b="0" i="0">
                <a:solidFill>
                  <a:srgbClr val="F3F6FC"/>
                </a:solidFill>
                <a:latin typeface="Segoe UI Light"/>
              </a:rPr>
              <a:t>Laboratorio integrador final</a:t>
            </a:r>
          </a:p>
        </p:txBody>
      </p:sp>
      <p:sp>
        <p:nvSpPr>
          <p:cNvPr id="7" name="Rectangle 6"/>
          <p:cNvSpPr/>
          <p:nvPr/>
        </p:nvSpPr>
        <p:spPr>
          <a:xfrm>
            <a:off x="644000" y="438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4560000"/>
            <a:ext cx="9600000" cy="62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500" b="0" i="1">
                <a:solidFill>
                  <a:srgbClr val="BDC9DB"/>
                </a:solidFill>
                <a:latin typeface="Segoe UI"/>
              </a:rPr>
              <a:t>Construir la arquitectura completa y después repararla</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18</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ARQUITECTURA A CONSTRUIR</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Todo el curso en un solo despliegue</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19</a:t>
            </a:r>
          </a:p>
        </p:txBody>
      </p:sp>
      <p:sp>
        <p:nvSpPr>
          <p:cNvPr id="8" name="Rounded Rectangle 7"/>
          <p:cNvSpPr/>
          <p:nvPr/>
        </p:nvSpPr>
        <p:spPr>
          <a:xfrm>
            <a:off x="620000" y="2138000"/>
            <a:ext cx="5316000" cy="1332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9" name="Rectangle 8"/>
          <p:cNvSpPr/>
          <p:nvPr/>
        </p:nvSpPr>
        <p:spPr>
          <a:xfrm>
            <a:off x="644000" y="2138000"/>
            <a:ext cx="5268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Oval 9"/>
          <p:cNvSpPr/>
          <p:nvPr/>
        </p:nvSpPr>
        <p:spPr>
          <a:xfrm>
            <a:off x="850000" y="2388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pic>
        <p:nvPicPr>
          <p:cNvPr id="11" name="Picture 10" descr="ing.png"/>
          <p:cNvPicPr>
            <a:picLocks noChangeAspect="1"/>
          </p:cNvPicPr>
          <p:nvPr/>
        </p:nvPicPr>
        <p:blipFill>
          <a:blip r:embed="rId2"/>
          <a:stretch>
            <a:fillRect/>
          </a:stretch>
        </p:blipFill>
        <p:spPr>
          <a:xfrm>
            <a:off x="5376000" y="2374000"/>
            <a:ext cx="330000" cy="330000"/>
          </a:xfrm>
          <a:prstGeom prst="rect">
            <a:avLst/>
          </a:prstGeom>
        </p:spPr>
      </p:pic>
      <p:sp>
        <p:nvSpPr>
          <p:cNvPr id="12" name="TextBox 11"/>
          <p:cNvSpPr txBox="1"/>
          <p:nvPr/>
        </p:nvSpPr>
        <p:spPr>
          <a:xfrm>
            <a:off x="1260000" y="2368000"/>
            <a:ext cx="4256000"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INGRESS</a:t>
            </a:r>
          </a:p>
        </p:txBody>
      </p:sp>
      <p:sp>
        <p:nvSpPr>
          <p:cNvPr id="13" name="TextBox 12"/>
          <p:cNvSpPr txBox="1"/>
          <p:nvPr/>
        </p:nvSpPr>
        <p:spPr>
          <a:xfrm>
            <a:off x="850000" y="2788000"/>
            <a:ext cx="4856000" cy="622000"/>
          </a:xfrm>
          <a:prstGeom prst="rect">
            <a:avLst/>
          </a:prstGeom>
          <a:noFill/>
        </p:spPr>
        <p:txBody>
          <a:bodyPr wrap="square" anchor="t" lIns="0" rIns="0" tIns="0" bIns="0">
            <a:noAutofit/>
          </a:bodyPr>
          <a:lstStyle/>
          <a:p>
            <a:pPr algn="l" marL="0" indent="0">
              <a:lnSpc>
                <a:spcPct val="118000"/>
              </a:lnSpc>
              <a:spcBef>
                <a:spcPts val="0"/>
              </a:spcBef>
              <a:spcAft>
                <a:spcPts val="0"/>
              </a:spcAft>
              <a:buNone/>
            </a:pPr>
            <a:r>
              <a:rPr sz="1100" b="0" i="0">
                <a:solidFill>
                  <a:srgbClr val="BDC9DB"/>
                </a:solidFill>
                <a:latin typeface="Segoe UI"/>
              </a:rPr>
              <a:t>HTTPS con certificado propio, host tienda.local, dos paths.</a:t>
            </a:r>
          </a:p>
        </p:txBody>
      </p:sp>
      <p:sp>
        <p:nvSpPr>
          <p:cNvPr id="14" name="Rounded Rectangle 13"/>
          <p:cNvSpPr/>
          <p:nvPr/>
        </p:nvSpPr>
        <p:spPr>
          <a:xfrm>
            <a:off x="6256000" y="2138000"/>
            <a:ext cx="5316000" cy="1332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5" name="Rectangle 14"/>
          <p:cNvSpPr/>
          <p:nvPr/>
        </p:nvSpPr>
        <p:spPr>
          <a:xfrm>
            <a:off x="6280000" y="2138000"/>
            <a:ext cx="5268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Oval 15"/>
          <p:cNvSpPr/>
          <p:nvPr/>
        </p:nvSpPr>
        <p:spPr>
          <a:xfrm>
            <a:off x="6486000" y="2388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pic>
        <p:nvPicPr>
          <p:cNvPr id="17" name="Picture 16" descr="deploy.png"/>
          <p:cNvPicPr>
            <a:picLocks noChangeAspect="1"/>
          </p:cNvPicPr>
          <p:nvPr/>
        </p:nvPicPr>
        <p:blipFill>
          <a:blip r:embed="rId3"/>
          <a:stretch>
            <a:fillRect/>
          </a:stretch>
        </p:blipFill>
        <p:spPr>
          <a:xfrm>
            <a:off x="11012000" y="2374000"/>
            <a:ext cx="330000" cy="330000"/>
          </a:xfrm>
          <a:prstGeom prst="rect">
            <a:avLst/>
          </a:prstGeom>
        </p:spPr>
      </p:pic>
      <p:sp>
        <p:nvSpPr>
          <p:cNvPr id="18" name="TextBox 17"/>
          <p:cNvSpPr txBox="1"/>
          <p:nvPr/>
        </p:nvSpPr>
        <p:spPr>
          <a:xfrm>
            <a:off x="6896000" y="2368000"/>
            <a:ext cx="4256000"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FRONTEND</a:t>
            </a:r>
          </a:p>
        </p:txBody>
      </p:sp>
      <p:sp>
        <p:nvSpPr>
          <p:cNvPr id="19" name="TextBox 18"/>
          <p:cNvSpPr txBox="1"/>
          <p:nvPr/>
        </p:nvSpPr>
        <p:spPr>
          <a:xfrm>
            <a:off x="6486000" y="2788000"/>
            <a:ext cx="4856000" cy="622000"/>
          </a:xfrm>
          <a:prstGeom prst="rect">
            <a:avLst/>
          </a:prstGeom>
          <a:noFill/>
        </p:spPr>
        <p:txBody>
          <a:bodyPr wrap="square" anchor="t" lIns="0" rIns="0" tIns="0" bIns="0">
            <a:noAutofit/>
          </a:bodyPr>
          <a:lstStyle/>
          <a:p>
            <a:pPr algn="l" marL="0" indent="0">
              <a:lnSpc>
                <a:spcPct val="118000"/>
              </a:lnSpc>
              <a:spcBef>
                <a:spcPts val="0"/>
              </a:spcBef>
              <a:spcAft>
                <a:spcPts val="0"/>
              </a:spcAft>
              <a:buNone/>
            </a:pPr>
            <a:r>
              <a:rPr sz="1100" b="0" i="0">
                <a:solidFill>
                  <a:srgbClr val="BDC9DB"/>
                </a:solidFill>
                <a:latin typeface="Segoe UI"/>
              </a:rPr>
              <a:t>Deployment 2 réplicas, readiness, requests y limits.</a:t>
            </a:r>
          </a:p>
        </p:txBody>
      </p:sp>
      <p:sp>
        <p:nvSpPr>
          <p:cNvPr id="20" name="Rounded Rectangle 19"/>
          <p:cNvSpPr/>
          <p:nvPr/>
        </p:nvSpPr>
        <p:spPr>
          <a:xfrm>
            <a:off x="620000" y="3710000"/>
            <a:ext cx="5316000" cy="1332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Rectangle 20"/>
          <p:cNvSpPr/>
          <p:nvPr/>
        </p:nvSpPr>
        <p:spPr>
          <a:xfrm>
            <a:off x="644000" y="3710000"/>
            <a:ext cx="5268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2" name="Oval 21"/>
          <p:cNvSpPr/>
          <p:nvPr/>
        </p:nvSpPr>
        <p:spPr>
          <a:xfrm>
            <a:off x="850000" y="396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pic>
        <p:nvPicPr>
          <p:cNvPr id="23" name="Picture 22" descr="deploy.png"/>
          <p:cNvPicPr>
            <a:picLocks noChangeAspect="1"/>
          </p:cNvPicPr>
          <p:nvPr/>
        </p:nvPicPr>
        <p:blipFill>
          <a:blip r:embed="rId3"/>
          <a:stretch>
            <a:fillRect/>
          </a:stretch>
        </p:blipFill>
        <p:spPr>
          <a:xfrm>
            <a:off x="5376000" y="3946000"/>
            <a:ext cx="330000" cy="330000"/>
          </a:xfrm>
          <a:prstGeom prst="rect">
            <a:avLst/>
          </a:prstGeom>
        </p:spPr>
      </p:pic>
      <p:sp>
        <p:nvSpPr>
          <p:cNvPr id="24" name="TextBox 23"/>
          <p:cNvSpPr txBox="1"/>
          <p:nvPr/>
        </p:nvSpPr>
        <p:spPr>
          <a:xfrm>
            <a:off x="1260000" y="3940000"/>
            <a:ext cx="4256000"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BACKEND</a:t>
            </a:r>
          </a:p>
        </p:txBody>
      </p:sp>
      <p:sp>
        <p:nvSpPr>
          <p:cNvPr id="25" name="TextBox 24"/>
          <p:cNvSpPr txBox="1"/>
          <p:nvPr/>
        </p:nvSpPr>
        <p:spPr>
          <a:xfrm>
            <a:off x="850000" y="4360000"/>
            <a:ext cx="4856000" cy="622000"/>
          </a:xfrm>
          <a:prstGeom prst="rect">
            <a:avLst/>
          </a:prstGeom>
          <a:noFill/>
        </p:spPr>
        <p:txBody>
          <a:bodyPr wrap="square" anchor="t" lIns="0" rIns="0" tIns="0" bIns="0">
            <a:noAutofit/>
          </a:bodyPr>
          <a:lstStyle/>
          <a:p>
            <a:pPr algn="l" marL="0" indent="0">
              <a:lnSpc>
                <a:spcPct val="118000"/>
              </a:lnSpc>
              <a:spcBef>
                <a:spcPts val="0"/>
              </a:spcBef>
              <a:spcAft>
                <a:spcPts val="0"/>
              </a:spcAft>
              <a:buNone/>
            </a:pPr>
            <a:r>
              <a:rPr sz="1100" b="0" i="0">
                <a:solidFill>
                  <a:srgbClr val="BDC9DB"/>
                </a:solidFill>
                <a:latin typeface="Segoe UI"/>
              </a:rPr>
              <a:t>ConfigMap por envFrom, Secret por variable y como volumen.</a:t>
            </a:r>
          </a:p>
        </p:txBody>
      </p:sp>
      <p:sp>
        <p:nvSpPr>
          <p:cNvPr id="26" name="Rounded Rectangle 25"/>
          <p:cNvSpPr/>
          <p:nvPr/>
        </p:nvSpPr>
        <p:spPr>
          <a:xfrm>
            <a:off x="6256000" y="3710000"/>
            <a:ext cx="5316000" cy="1332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Rectangle 26"/>
          <p:cNvSpPr/>
          <p:nvPr/>
        </p:nvSpPr>
        <p:spPr>
          <a:xfrm>
            <a:off x="6280000" y="3710000"/>
            <a:ext cx="5268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8" name="Oval 27"/>
          <p:cNvSpPr/>
          <p:nvPr/>
        </p:nvSpPr>
        <p:spPr>
          <a:xfrm>
            <a:off x="6486000" y="396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pic>
        <p:nvPicPr>
          <p:cNvPr id="29" name="Picture 28" descr="sts.png"/>
          <p:cNvPicPr>
            <a:picLocks noChangeAspect="1"/>
          </p:cNvPicPr>
          <p:nvPr/>
        </p:nvPicPr>
        <p:blipFill>
          <a:blip r:embed="rId4"/>
          <a:stretch>
            <a:fillRect/>
          </a:stretch>
        </p:blipFill>
        <p:spPr>
          <a:xfrm>
            <a:off x="11012000" y="3946000"/>
            <a:ext cx="330000" cy="330000"/>
          </a:xfrm>
          <a:prstGeom prst="rect">
            <a:avLst/>
          </a:prstGeom>
        </p:spPr>
      </p:pic>
      <p:sp>
        <p:nvSpPr>
          <p:cNvPr id="30" name="TextBox 29"/>
          <p:cNvSpPr txBox="1"/>
          <p:nvPr/>
        </p:nvSpPr>
        <p:spPr>
          <a:xfrm>
            <a:off x="6896000" y="3940000"/>
            <a:ext cx="4256000" cy="340000"/>
          </a:xfrm>
          <a:prstGeom prst="rect">
            <a:avLst/>
          </a:prstGeom>
          <a:noFill/>
        </p:spPr>
        <p:txBody>
          <a:bodyPr wrap="square" anchor="ctr" lIns="0" rIns="0" tIns="0" bIns="0">
            <a:noAutofit/>
          </a:bodyPr>
          <a:lstStyle/>
          <a:p>
            <a:pPr algn="l" marL="0" indent="0">
              <a:lnSpc>
                <a:spcPct val="105000"/>
              </a:lnSpc>
              <a:spcBef>
                <a:spcPts val="0"/>
              </a:spcBef>
              <a:spcAft>
                <a:spcPts val="0"/>
              </a:spcAft>
              <a:buNone/>
            </a:pPr>
            <a:r>
              <a:rPr sz="1500" b="1" i="0">
                <a:solidFill>
                  <a:srgbClr val="F3F6FC"/>
                </a:solidFill>
                <a:latin typeface="Segoe UI Semibold"/>
              </a:rPr>
              <a:t>STATEFULSET</a:t>
            </a:r>
          </a:p>
        </p:txBody>
      </p:sp>
      <p:sp>
        <p:nvSpPr>
          <p:cNvPr id="31" name="TextBox 30"/>
          <p:cNvSpPr txBox="1"/>
          <p:nvPr/>
        </p:nvSpPr>
        <p:spPr>
          <a:xfrm>
            <a:off x="6486000" y="4360000"/>
            <a:ext cx="4856000" cy="622000"/>
          </a:xfrm>
          <a:prstGeom prst="rect">
            <a:avLst/>
          </a:prstGeom>
          <a:noFill/>
        </p:spPr>
        <p:txBody>
          <a:bodyPr wrap="square" anchor="t" lIns="0" rIns="0" tIns="0" bIns="0">
            <a:noAutofit/>
          </a:bodyPr>
          <a:lstStyle/>
          <a:p>
            <a:pPr algn="l" marL="0" indent="0">
              <a:lnSpc>
                <a:spcPct val="118000"/>
              </a:lnSpc>
              <a:spcBef>
                <a:spcPts val="0"/>
              </a:spcBef>
              <a:spcAft>
                <a:spcPts val="0"/>
              </a:spcAft>
              <a:buNone/>
            </a:pPr>
            <a:r>
              <a:rPr sz="1100" b="0" i="0">
                <a:solidFill>
                  <a:srgbClr val="BDC9DB"/>
                </a:solidFill>
                <a:latin typeface="Segoe UI"/>
              </a:rPr>
              <a:t>3 réplicas postgres, Headless Service, un PVC RWO por réplica.</a:t>
            </a:r>
          </a:p>
        </p:txBody>
      </p:sp>
      <p:sp>
        <p:nvSpPr>
          <p:cNvPr id="32" name="Rounded Rectangle 31"/>
          <p:cNvSpPr/>
          <p:nvPr/>
        </p:nvSpPr>
        <p:spPr>
          <a:xfrm>
            <a:off x="620000" y="5860000"/>
            <a:ext cx="10952000" cy="470000"/>
          </a:xfrm>
          <a:prstGeom prst="roundRect">
            <a:avLst>
              <a:gd name="adj" fmla="val 100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3" name="Rectangle 32"/>
          <p:cNvSpPr/>
          <p:nvPr/>
        </p:nvSpPr>
        <p:spPr>
          <a:xfrm>
            <a:off x="650000" y="5884000"/>
            <a:ext cx="40000" cy="422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34" name="TextBox 33"/>
          <p:cNvSpPr txBox="1"/>
          <p:nvPr/>
        </p:nvSpPr>
        <p:spPr>
          <a:xfrm>
            <a:off x="860000" y="5860000"/>
            <a:ext cx="10482000" cy="47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1">
                <a:solidFill>
                  <a:srgbClr val="BDC9DB"/>
                </a:solidFill>
                <a:latin typeface="Segoe UI"/>
              </a:rPr>
              <a:t>Más NetworkPolicies con default deny que solo permiten DNS, frontend→backend, backend→db y la entrada del Ingress Controller. Se construye SIN manifiestos dados: solo a partir de requerimientos.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FF7B72"/>
                </a:solidFill>
                <a:latin typeface="Segoe UI Semibold"/>
              </a:rPr>
              <a:t>ORDEN DE CONSTRUCCIÓN</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Las políticas de red, siempre al final</a:t>
            </a:r>
          </a:p>
        </p:txBody>
      </p:sp>
      <p:sp>
        <p:nvSpPr>
          <p:cNvPr id="4" name="Rectangle 3"/>
          <p:cNvSpPr/>
          <p:nvPr/>
        </p:nvSpPr>
        <p:spPr>
          <a:xfrm>
            <a:off x="620000" y="1230000"/>
            <a:ext cx="560000" cy="460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20</a:t>
            </a:r>
          </a:p>
        </p:txBody>
      </p:sp>
      <p:sp>
        <p:nvSpPr>
          <p:cNvPr id="8" name="Oval 7"/>
          <p:cNvSpPr/>
          <p:nvPr/>
        </p:nvSpPr>
        <p:spPr>
          <a:xfrm>
            <a:off x="10996000" y="390200"/>
            <a:ext cx="76800" cy="76800"/>
          </a:xfrm>
          <a:prstGeom prst="ellipse">
            <a:avLst/>
          </a:prstGeom>
          <a:solidFill>
            <a:srgbClr val="FF7B72"/>
          </a:solidFill>
          <a:ln w="6350">
            <a:solidFill>
              <a:srgbClr val="FF7B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1136800" y="428600"/>
            <a:ext cx="371200" cy="0"/>
          </a:xfrm>
          <a:prstGeom prst="line">
            <a:avLst/>
          </a:prstGeom>
          <a:ln w="38100">
            <a:solidFill>
              <a:srgbClr val="FF7B72"/>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996000" y="543800"/>
            <a:ext cx="76800" cy="76800"/>
          </a:xfrm>
          <a:prstGeom prst="ellipse">
            <a:avLst/>
          </a:prstGeom>
          <a:solidFill>
            <a:srgbClr val="FF7B72"/>
          </a:solidFill>
          <a:ln w="6350">
            <a:solidFill>
              <a:srgbClr val="FF7B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1136800" y="582200"/>
            <a:ext cx="371200" cy="0"/>
          </a:xfrm>
          <a:prstGeom prst="line">
            <a:avLst/>
          </a:prstGeom>
          <a:ln w="38100">
            <a:solidFill>
              <a:srgbClr val="FF7B72"/>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996000" y="697400"/>
            <a:ext cx="76800" cy="76800"/>
          </a:xfrm>
          <a:prstGeom prst="ellipse">
            <a:avLst/>
          </a:prstGeom>
          <a:solidFill>
            <a:srgbClr val="FF7B72"/>
          </a:solidFill>
          <a:ln w="6350">
            <a:solidFill>
              <a:srgbClr val="FF7B72"/>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1136800" y="735800"/>
            <a:ext cx="371200" cy="0"/>
          </a:xfrm>
          <a:prstGeom prst="line">
            <a:avLst/>
          </a:prstGeom>
          <a:ln w="38100">
            <a:solidFill>
              <a:srgbClr val="FF7B72"/>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20000" y="1470000"/>
            <a:ext cx="10952000" cy="520000"/>
          </a:xfrm>
          <a:prstGeom prst="rect">
            <a:avLst/>
          </a:prstGeom>
          <a:noFill/>
        </p:spPr>
        <p:txBody>
          <a:bodyPr wrap="square" anchor="t" lIns="0" rIns="0" tIns="0" bIns="0">
            <a:noAutofit/>
          </a:bodyPr>
          <a:lstStyle/>
          <a:p>
            <a:pPr algn="l" marL="0" indent="0">
              <a:lnSpc>
                <a:spcPct val="116000"/>
              </a:lnSpc>
              <a:spcBef>
                <a:spcPts val="0"/>
              </a:spcBef>
              <a:spcAft>
                <a:spcPts val="0"/>
              </a:spcAft>
              <a:buNone/>
            </a:pPr>
            <a:r>
              <a:rPr sz="1300" b="0" i="1">
                <a:solidFill>
                  <a:srgbClr val="BDC9DB"/>
                </a:solidFill>
                <a:latin typeface="Segoe UI"/>
              </a:rPr>
              <a:t>Si aplicas default-deny antes de que las aplicaciones funcionen, nada arranca y el diagnóstico se vuelve imposible: no sabrás si el problema es la red o el despliegue. Construye, valida, y solo entonces cierra la red.</a:t>
            </a:r>
          </a:p>
        </p:txBody>
      </p:sp>
      <p:sp>
        <p:nvSpPr>
          <p:cNvPr id="15" name="Rounded Rectangle 14"/>
          <p:cNvSpPr/>
          <p:nvPr/>
        </p:nvSpPr>
        <p:spPr>
          <a:xfrm>
            <a:off x="620000" y="2410000"/>
            <a:ext cx="10952000" cy="748000"/>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Rectangle 15"/>
          <p:cNvSpPr/>
          <p:nvPr/>
        </p:nvSpPr>
        <p:spPr>
          <a:xfrm>
            <a:off x="620000" y="2410000"/>
            <a:ext cx="46000" cy="7480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7" name="TextBox 16"/>
          <p:cNvSpPr txBox="1"/>
          <p:nvPr/>
        </p:nvSpPr>
        <p:spPr>
          <a:xfrm>
            <a:off x="890000" y="2560000"/>
            <a:ext cx="10412000" cy="488000"/>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Namespace -&gt; ConfigMap + Secret -&gt; Storage -&gt; StatefulSet -&gt; Deployments</a:t>
            </a:r>
          </a:p>
          <a:p>
            <a:pPr marL="0" indent="0">
              <a:lnSpc>
                <a:spcPct val="134000"/>
              </a:lnSpc>
              <a:spcAft>
                <a:spcPts val="0"/>
              </a:spcAft>
              <a:buNone/>
            </a:pPr>
            <a:r>
              <a:rPr sz="1100" b="0" i="0">
                <a:solidFill>
                  <a:srgbClr val="E6EDF3"/>
                </a:solidFill>
                <a:latin typeface="Consolas"/>
              </a:rPr>
              <a:t>   -&gt; Services -&gt; TLS -&gt; Ingress -&gt; NetworkPolicies -&gt; Validación</a:t>
            </a:r>
          </a:p>
        </p:txBody>
      </p:sp>
      <p:sp>
        <p:nvSpPr>
          <p:cNvPr id="18" name="Rounded Rectangle 17"/>
          <p:cNvSpPr/>
          <p:nvPr/>
        </p:nvSpPr>
        <p:spPr>
          <a:xfrm>
            <a:off x="620000" y="5840000"/>
            <a:ext cx="10952000" cy="470000"/>
          </a:xfrm>
          <a:prstGeom prst="roundRect">
            <a:avLst>
              <a:gd name="adj" fmla="val 100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Rectangle 18"/>
          <p:cNvSpPr/>
          <p:nvPr/>
        </p:nvSpPr>
        <p:spPr>
          <a:xfrm>
            <a:off x="650000" y="5864000"/>
            <a:ext cx="40000" cy="422000"/>
          </a:xfrm>
          <a:prstGeom prst="rect">
            <a:avLst/>
          </a:prstGeom>
          <a:solidFill>
            <a:srgbClr val="F85149"/>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TextBox 19"/>
          <p:cNvSpPr txBox="1"/>
          <p:nvPr/>
        </p:nvSpPr>
        <p:spPr>
          <a:xfrm>
            <a:off x="860000" y="5840000"/>
            <a:ext cx="10482000" cy="47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1">
                <a:solidFill>
                  <a:srgbClr val="BDC9DB"/>
                </a:solidFill>
                <a:latin typeface="Segoe UI"/>
              </a:rPr>
              <a:t>Otros puntos de fricción esperados: PGDATA en un subdirectorio, el namespace del Ingress Controller, y anti-affinity preferred en vez de required con solo dos nodos.</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992000" y="-1500000"/>
            <a:ext cx="3400000" cy="34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ounded Rectangle 2"/>
          <p:cNvSpPr/>
          <p:nvPr/>
        </p:nvSpPr>
        <p:spPr>
          <a:xfrm>
            <a:off x="640000" y="470000"/>
            <a:ext cx="5276000" cy="360000"/>
          </a:xfrm>
          <a:prstGeom prst="roundRect">
            <a:avLst>
              <a:gd name="adj" fmla="val 50000"/>
            </a:avLst>
          </a:prstGeom>
          <a:noFill/>
          <a:ln w="12700">
            <a:solidFill>
              <a:srgbClr val="326CE5"/>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000" b="1" i="0" spc="140">
                <a:solidFill>
                  <a:srgbClr val="74A6FF"/>
                </a:solidFill>
                <a:latin typeface="Segoe UI"/>
              </a:rPr>
              <a:t>Integrador — construcción y troubleshooting</a:t>
            </a:r>
          </a:p>
        </p:txBody>
      </p:sp>
      <p:sp>
        <p:nvSpPr>
          <p:cNvPr id="4" name="TextBox 3"/>
          <p:cNvSpPr txBox="1"/>
          <p:nvPr/>
        </p:nvSpPr>
        <p:spPr>
          <a:xfrm>
            <a:off x="640000" y="990000"/>
            <a:ext cx="10912000" cy="760000"/>
          </a:xfrm>
          <a:prstGeom prst="rect">
            <a:avLst/>
          </a:prstGeom>
          <a:noFill/>
        </p:spPr>
        <p:txBody>
          <a:bodyPr wrap="square" anchor="t" lIns="0" rIns="0" tIns="0" bIns="0">
            <a:noAutofit/>
          </a:bodyPr>
          <a:lstStyle/>
          <a:p>
            <a:pPr algn="l" marL="0" indent="0">
              <a:lnSpc>
                <a:spcPct val="106000"/>
              </a:lnSpc>
              <a:spcBef>
                <a:spcPts val="0"/>
              </a:spcBef>
              <a:spcAft>
                <a:spcPts val="0"/>
              </a:spcAft>
              <a:buNone/>
            </a:pPr>
            <a:r>
              <a:rPr sz="3100" b="0" i="0">
                <a:solidFill>
                  <a:srgbClr val="F3F6FC"/>
                </a:solidFill>
                <a:latin typeface="Segoe UI Light"/>
              </a:rPr>
              <a:t>LAB 6.5 — INTEGRADOR FINAL — Fase 1 y Fase 2</a:t>
            </a:r>
          </a:p>
        </p:txBody>
      </p:sp>
      <p:sp>
        <p:nvSpPr>
          <p:cNvPr id="5" name="TextBox 4"/>
          <p:cNvSpPr txBox="1"/>
          <p:nvPr/>
        </p:nvSpPr>
        <p:spPr>
          <a:xfrm>
            <a:off x="640000" y="1800000"/>
            <a:ext cx="7452000" cy="640000"/>
          </a:xfrm>
          <a:prstGeom prst="rect">
            <a:avLst/>
          </a:prstGeom>
          <a:noFill/>
        </p:spPr>
        <p:txBody>
          <a:bodyPr wrap="square" anchor="t" lIns="0" rIns="0" tIns="0" bIns="0">
            <a:noAutofit/>
          </a:bodyPr>
          <a:lstStyle/>
          <a:p>
            <a:pPr algn="l" marL="0" indent="0">
              <a:lnSpc>
                <a:spcPct val="120000"/>
              </a:lnSpc>
              <a:spcBef>
                <a:spcPts val="0"/>
              </a:spcBef>
              <a:spcAft>
                <a:spcPts val="0"/>
              </a:spcAft>
              <a:buNone/>
            </a:pPr>
            <a:r>
              <a:rPr sz="1300" b="0" i="1">
                <a:solidFill>
                  <a:srgbClr val="BDC9DB"/>
                </a:solidFill>
                <a:latin typeface="Segoe UI"/>
              </a:rPr>
              <a:t>30 minutos para construir la arquitectura desde requerimientos. Después el instructor inyecta fallas y tienes 20 para repararla.</a:t>
            </a:r>
          </a:p>
        </p:txBody>
      </p:sp>
      <p:sp>
        <p:nvSpPr>
          <p:cNvPr id="6" name="Oval 5"/>
          <p:cNvSpPr/>
          <p:nvPr/>
        </p:nvSpPr>
        <p:spPr>
          <a:xfrm>
            <a:off x="640000" y="269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7" name="TextBox 6"/>
          <p:cNvSpPr txBox="1"/>
          <p:nvPr/>
        </p:nvSpPr>
        <p:spPr>
          <a:xfrm>
            <a:off x="1110000" y="256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Fase 1: construir sin manifiestos dados y superar la validación completa.</a:t>
            </a:r>
          </a:p>
        </p:txBody>
      </p:sp>
      <p:sp>
        <p:nvSpPr>
          <p:cNvPr id="8" name="Oval 7"/>
          <p:cNvSpPr/>
          <p:nvPr/>
        </p:nvSpPr>
        <p:spPr>
          <a:xfrm>
            <a:off x="640000" y="325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9" name="TextBox 8"/>
          <p:cNvSpPr txBox="1"/>
          <p:nvPr/>
        </p:nvSpPr>
        <p:spPr>
          <a:xfrm>
            <a:off x="1110000" y="312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Fase 2: ./inject-failures.sh introduce entre 5 y 8 fallas. No se te dice cuáles.</a:t>
            </a:r>
          </a:p>
        </p:txBody>
      </p:sp>
      <p:sp>
        <p:nvSpPr>
          <p:cNvPr id="10" name="Oval 9"/>
          <p:cNvSpPr/>
          <p:nvPr/>
        </p:nvSpPr>
        <p:spPr>
          <a:xfrm>
            <a:off x="640000" y="381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1" name="TextBox 10"/>
          <p:cNvSpPr txBox="1"/>
          <p:nvPr/>
        </p:nvSpPr>
        <p:spPr>
          <a:xfrm>
            <a:off x="1110000" y="368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Documentar por cada falla: capa, síntoma, comando, causa raíz, corrección.</a:t>
            </a:r>
          </a:p>
        </p:txBody>
      </p:sp>
      <p:sp>
        <p:nvSpPr>
          <p:cNvPr id="12" name="Oval 11"/>
          <p:cNvSpPr/>
          <p:nvPr/>
        </p:nvSpPr>
        <p:spPr>
          <a:xfrm>
            <a:off x="640000" y="437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13" name="TextBox 12"/>
          <p:cNvSpPr txBox="1"/>
          <p:nvPr/>
        </p:nvSpPr>
        <p:spPr>
          <a:xfrm>
            <a:off x="1110000" y="424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Prohibido borrar el namespace, la política default-deny o los PVC.</a:t>
            </a:r>
          </a:p>
        </p:txBody>
      </p:sp>
      <p:sp>
        <p:nvSpPr>
          <p:cNvPr id="14" name="Oval 13"/>
          <p:cNvSpPr/>
          <p:nvPr/>
        </p:nvSpPr>
        <p:spPr>
          <a:xfrm>
            <a:off x="640000" y="493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15" name="TextBox 14"/>
          <p:cNvSpPr txBox="1"/>
          <p:nvPr/>
        </p:nvSpPr>
        <p:spPr>
          <a:xfrm>
            <a:off x="1110000" y="4800000"/>
            <a:ext cx="6982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0">
                <a:solidFill>
                  <a:srgbClr val="BDC9DB"/>
                </a:solidFill>
                <a:latin typeface="Segoe UI"/>
              </a:rPr>
              <a:t>Los datos de la base de datos deben conservarse.</a:t>
            </a:r>
          </a:p>
        </p:txBody>
      </p:sp>
      <p:sp>
        <p:nvSpPr>
          <p:cNvPr id="16" name="Freeform 15"/>
          <p:cNvSpPr/>
          <p:nvPr/>
        </p:nvSpPr>
        <p:spPr>
          <a:xfrm>
            <a:off x="9590000" y="1418800"/>
            <a:ext cx="784000" cy="842800"/>
          </a:xfrm>
          <a:custGeom>
            <a:avLst/>
            <a:gdLst/>
            <a:ahLst/>
            <a:cxnLst/>
            <a:rect l="l" t="t" r="r" b="b"/>
            <a:pathLst>
              <a:path w="784000" h="842800">
                <a:moveTo>
                  <a:pt x="235200" y="0"/>
                </a:moveTo>
                <a:lnTo>
                  <a:pt x="235200" y="333200"/>
                </a:lnTo>
                <a:lnTo>
                  <a:pt x="0" y="842800"/>
                </a:lnTo>
                <a:lnTo>
                  <a:pt x="784000" y="842800"/>
                </a:lnTo>
                <a:lnTo>
                  <a:pt x="548800" y="333200"/>
                </a:lnTo>
                <a:lnTo>
                  <a:pt x="548800" y="0"/>
                </a:lnTo>
              </a:path>
            </a:pathLst>
          </a:custGeom>
          <a:noFill/>
          <a:ln w="3302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7" name="Connector 16"/>
          <p:cNvCxnSpPr/>
          <p:nvPr/>
        </p:nvCxnSpPr>
        <p:spPr>
          <a:xfrm>
            <a:off x="9766400" y="1418800"/>
            <a:ext cx="4312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9727200" y="2006800"/>
            <a:ext cx="509600" cy="0"/>
          </a:xfrm>
          <a:prstGeom prst="line">
            <a:avLst/>
          </a:prstGeom>
          <a:ln w="3302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9" name="Rounded Rectangle 18"/>
          <p:cNvSpPr/>
          <p:nvPr/>
        </p:nvSpPr>
        <p:spPr>
          <a:xfrm>
            <a:off x="8392000" y="2560000"/>
            <a:ext cx="3180000" cy="3510000"/>
          </a:xfrm>
          <a:prstGeom prst="roundRect">
            <a:avLst>
              <a:gd name="adj" fmla="val 6000"/>
            </a:avLst>
          </a:prstGeom>
          <a:solidFill>
            <a:srgbClr val="141E33"/>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Rectangle 19"/>
          <p:cNvSpPr/>
          <p:nvPr/>
        </p:nvSpPr>
        <p:spPr>
          <a:xfrm>
            <a:off x="8392000" y="2560000"/>
            <a:ext cx="318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1" name="TextBox 20"/>
          <p:cNvSpPr txBox="1"/>
          <p:nvPr/>
        </p:nvSpPr>
        <p:spPr>
          <a:xfrm>
            <a:off x="8592000" y="274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ARCHIVO</a:t>
            </a:r>
          </a:p>
          <a:p>
            <a:pPr algn="l" marL="0" indent="0">
              <a:lnSpc>
                <a:spcPct val="112000"/>
              </a:lnSpc>
              <a:spcBef>
                <a:spcPts val="0"/>
              </a:spcBef>
              <a:spcAft>
                <a:spcPts val="0"/>
              </a:spcAft>
              <a:buNone/>
            </a:pPr>
            <a:r>
              <a:rPr sz="1100" b="0" i="0">
                <a:solidFill>
                  <a:srgbClr val="F3F6FC"/>
                </a:solidFill>
                <a:latin typeface="Consolas"/>
              </a:rPr>
              <a:t>CLASE-06/LABORATORIOS/LAB-05-INTEGRADOR-FINAL.md</a:t>
            </a:r>
          </a:p>
        </p:txBody>
      </p:sp>
      <p:sp>
        <p:nvSpPr>
          <p:cNvPr id="22" name="Rectangle 21"/>
          <p:cNvSpPr/>
          <p:nvPr/>
        </p:nvSpPr>
        <p:spPr>
          <a:xfrm>
            <a:off x="8592000" y="379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3" name="TextBox 22"/>
          <p:cNvSpPr txBox="1"/>
          <p:nvPr/>
        </p:nvSpPr>
        <p:spPr>
          <a:xfrm>
            <a:off x="8592000" y="383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DURACIÓN</a:t>
            </a:r>
          </a:p>
          <a:p>
            <a:pPr algn="l" marL="0" indent="0">
              <a:lnSpc>
                <a:spcPct val="112000"/>
              </a:lnSpc>
              <a:spcBef>
                <a:spcPts val="0"/>
              </a:spcBef>
              <a:spcAft>
                <a:spcPts val="0"/>
              </a:spcAft>
              <a:buNone/>
            </a:pPr>
            <a:r>
              <a:rPr sz="1100" b="1" i="0">
                <a:solidFill>
                  <a:srgbClr val="F3F6FC"/>
                </a:solidFill>
                <a:latin typeface="Segoe UI Semibold"/>
              </a:rPr>
              <a:t>50 min</a:t>
            </a:r>
          </a:p>
        </p:txBody>
      </p:sp>
      <p:sp>
        <p:nvSpPr>
          <p:cNvPr id="24" name="Rectangle 23"/>
          <p:cNvSpPr/>
          <p:nvPr/>
        </p:nvSpPr>
        <p:spPr>
          <a:xfrm>
            <a:off x="8592000" y="4880000"/>
            <a:ext cx="2780000" cy="8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5" name="TextBox 24"/>
          <p:cNvSpPr txBox="1"/>
          <p:nvPr/>
        </p:nvSpPr>
        <p:spPr>
          <a:xfrm>
            <a:off x="8592000" y="4920000"/>
            <a:ext cx="2780000" cy="1030000"/>
          </a:xfrm>
          <a:prstGeom prst="rect">
            <a:avLst/>
          </a:prstGeom>
          <a:noFill/>
        </p:spPr>
        <p:txBody>
          <a:bodyPr wrap="square" anchor="t" lIns="0" rIns="0" tIns="0" bIns="0">
            <a:noAutofit/>
          </a:bodyPr>
          <a:lstStyle/>
          <a:p>
            <a:pPr algn="l" marL="0" indent="0">
              <a:lnSpc>
                <a:spcPct val="100000"/>
              </a:lnSpc>
              <a:spcBef>
                <a:spcPts val="0"/>
              </a:spcBef>
              <a:spcAft>
                <a:spcPts val="500"/>
              </a:spcAft>
              <a:buNone/>
            </a:pPr>
            <a:r>
              <a:rPr sz="900" b="1" i="0" spc="180">
                <a:solidFill>
                  <a:srgbClr val="8493AD"/>
                </a:solidFill>
                <a:latin typeface="Segoe UI Semibold"/>
              </a:rPr>
              <a:t>VALIDACIÓN</a:t>
            </a:r>
          </a:p>
          <a:p>
            <a:pPr algn="l" marL="0" indent="0">
              <a:lnSpc>
                <a:spcPct val="112000"/>
              </a:lnSpc>
              <a:spcBef>
                <a:spcPts val="0"/>
              </a:spcBef>
              <a:spcAft>
                <a:spcPts val="0"/>
              </a:spcAft>
              <a:buNone/>
            </a:pPr>
            <a:r>
              <a:rPr sz="1100" b="0" i="0">
                <a:solidFill>
                  <a:srgbClr val="F3F6FC"/>
                </a:solidFill>
                <a:latin typeface="Consolas"/>
              </a:rPr>
              <a:t>./validate-lab.sh final</a:t>
            </a:r>
          </a:p>
        </p:txBody>
      </p:sp>
      <p:sp>
        <p:nvSpPr>
          <p:cNvPr id="26" name="Rectangle 25"/>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7" name="TextBox 26"/>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28" name="TextBox 27"/>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21</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CIERRE</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Los cinco comandos que resuelven la mayoría de los incidentes</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22</a:t>
            </a:r>
          </a:p>
        </p:txBody>
      </p:sp>
      <p:sp>
        <p:nvSpPr>
          <p:cNvPr id="8" name="Oval 7"/>
          <p:cNvSpPr/>
          <p:nvPr/>
        </p:nvSpPr>
        <p:spPr>
          <a:xfrm>
            <a:off x="10996000" y="390200"/>
            <a:ext cx="76800" cy="76800"/>
          </a:xfrm>
          <a:prstGeom prst="ellipse">
            <a:avLst/>
          </a:prstGeom>
          <a:solidFill>
            <a:srgbClr val="74A6FF"/>
          </a:solidFill>
          <a:ln w="635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1136800" y="428600"/>
            <a:ext cx="371200" cy="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996000" y="543800"/>
            <a:ext cx="76800" cy="76800"/>
          </a:xfrm>
          <a:prstGeom prst="ellipse">
            <a:avLst/>
          </a:prstGeom>
          <a:solidFill>
            <a:srgbClr val="74A6FF"/>
          </a:solidFill>
          <a:ln w="635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1136800" y="582200"/>
            <a:ext cx="371200" cy="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996000" y="697400"/>
            <a:ext cx="76800" cy="76800"/>
          </a:xfrm>
          <a:prstGeom prst="ellipse">
            <a:avLst/>
          </a:prstGeom>
          <a:solidFill>
            <a:srgbClr val="74A6FF"/>
          </a:solidFill>
          <a:ln w="635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1136800" y="735800"/>
            <a:ext cx="371200" cy="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620000" y="1470000"/>
            <a:ext cx="10952000" cy="520000"/>
          </a:xfrm>
          <a:prstGeom prst="rect">
            <a:avLst/>
          </a:prstGeom>
          <a:noFill/>
        </p:spPr>
        <p:txBody>
          <a:bodyPr wrap="square" anchor="t" lIns="0" rIns="0" tIns="0" bIns="0">
            <a:noAutofit/>
          </a:bodyPr>
          <a:lstStyle/>
          <a:p>
            <a:pPr algn="l" marL="0" indent="0">
              <a:lnSpc>
                <a:spcPct val="116000"/>
              </a:lnSpc>
              <a:spcBef>
                <a:spcPts val="0"/>
              </a:spcBef>
              <a:spcAft>
                <a:spcPts val="0"/>
              </a:spcAft>
              <a:buNone/>
            </a:pPr>
            <a:r>
              <a:rPr sz="1300" b="0" i="1">
                <a:solidFill>
                  <a:srgbClr val="BDC9DB"/>
                </a:solidFill>
                <a:latin typeface="Segoe UI"/>
              </a:rPr>
              <a:t>En este orden, sin saltarse ninguno.</a:t>
            </a:r>
          </a:p>
        </p:txBody>
      </p:sp>
      <p:sp>
        <p:nvSpPr>
          <p:cNvPr id="15" name="Rounded Rectangle 14"/>
          <p:cNvSpPr/>
          <p:nvPr/>
        </p:nvSpPr>
        <p:spPr>
          <a:xfrm>
            <a:off x="620000" y="2410000"/>
            <a:ext cx="10952000" cy="1420000"/>
          </a:xfrm>
          <a:prstGeom prst="roundRect">
            <a:avLst>
              <a:gd name="adj" fmla="val 5000"/>
            </a:avLst>
          </a:prstGeom>
          <a:solidFill>
            <a:srgbClr val="0A1120"/>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6" name="Rectangle 15"/>
          <p:cNvSpPr/>
          <p:nvPr/>
        </p:nvSpPr>
        <p:spPr>
          <a:xfrm>
            <a:off x="620000" y="2410000"/>
            <a:ext cx="46000" cy="1420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7" name="TextBox 16"/>
          <p:cNvSpPr txBox="1"/>
          <p:nvPr/>
        </p:nvSpPr>
        <p:spPr>
          <a:xfrm>
            <a:off x="890000" y="2560000"/>
            <a:ext cx="10412000" cy="1160000"/>
          </a:xfrm>
          <a:prstGeom prst="rect">
            <a:avLst/>
          </a:prstGeom>
          <a:noFill/>
        </p:spPr>
        <p:txBody>
          <a:bodyPr wrap="square" anchor="t" lIns="0" rIns="0" tIns="0" bIns="0">
            <a:noAutofit/>
          </a:bodyPr>
          <a:lstStyle/>
          <a:p>
            <a:pPr marL="0" indent="0">
              <a:lnSpc>
                <a:spcPct val="134000"/>
              </a:lnSpc>
              <a:spcAft>
                <a:spcPts val="0"/>
              </a:spcAft>
              <a:buNone/>
            </a:pPr>
            <a:r>
              <a:rPr sz="1100" b="0" i="0">
                <a:solidFill>
                  <a:srgbClr val="E6EDF3"/>
                </a:solidFill>
                <a:latin typeface="Consolas"/>
              </a:rPr>
              <a:t>k -n &lt;ns&gt; get all,pvc,ingress,networkpolicy    </a:t>
            </a:r>
            <a:r>
              <a:rPr sz="1100" b="0" i="1">
                <a:solidFill>
                  <a:srgbClr val="7C8AA5"/>
                </a:solidFill>
                <a:latin typeface="Consolas"/>
              </a:rPr>
              <a:t>  # ¿qué hay y en qué estado?</a:t>
            </a:r>
          </a:p>
          <a:p>
            <a:pPr marL="0" indent="0">
              <a:lnSpc>
                <a:spcPct val="134000"/>
              </a:lnSpc>
              <a:spcAft>
                <a:spcPts val="0"/>
              </a:spcAft>
              <a:buNone/>
            </a:pPr>
            <a:r>
              <a:rPr sz="1100" b="0" i="0">
                <a:solidFill>
                  <a:srgbClr val="E6EDF3"/>
                </a:solidFill>
                <a:latin typeface="Consolas"/>
              </a:rPr>
              <a:t>k -n &lt;ns&gt; get events --sort-by=.lastTimestamp | tail -30</a:t>
            </a:r>
          </a:p>
          <a:p>
            <a:pPr marL="0" indent="0">
              <a:lnSpc>
                <a:spcPct val="134000"/>
              </a:lnSpc>
              <a:spcAft>
                <a:spcPts val="0"/>
              </a:spcAft>
              <a:buNone/>
            </a:pPr>
            <a:r>
              <a:rPr sz="1100" b="0" i="0">
                <a:solidFill>
                  <a:srgbClr val="E6EDF3"/>
                </a:solidFill>
                <a:latin typeface="Consolas"/>
              </a:rPr>
              <a:t>k -n &lt;ns&gt; describe pod &lt;p&gt; | sed -n '/Events/,$p'</a:t>
            </a:r>
          </a:p>
          <a:p>
            <a:pPr marL="0" indent="0">
              <a:lnSpc>
                <a:spcPct val="134000"/>
              </a:lnSpc>
              <a:spcAft>
                <a:spcPts val="0"/>
              </a:spcAft>
              <a:buNone/>
            </a:pPr>
            <a:r>
              <a:rPr sz="1100" b="0" i="0">
                <a:solidFill>
                  <a:srgbClr val="E6EDF3"/>
                </a:solidFill>
                <a:latin typeface="Consolas"/>
              </a:rPr>
              <a:t>k -n &lt;ns&gt; get endpointslices</a:t>
            </a:r>
          </a:p>
          <a:p>
            <a:pPr marL="0" indent="0">
              <a:lnSpc>
                <a:spcPct val="134000"/>
              </a:lnSpc>
              <a:spcAft>
                <a:spcPts val="0"/>
              </a:spcAft>
              <a:buNone/>
            </a:pPr>
            <a:r>
              <a:rPr sz="1100" b="0" i="0">
                <a:solidFill>
                  <a:srgbClr val="E6EDF3"/>
                </a:solidFill>
                <a:latin typeface="Consolas"/>
              </a:rPr>
              <a:t>k logs &lt;p&gt; --previous</a:t>
            </a:r>
          </a:p>
        </p:txBody>
      </p:sp>
      <p:sp>
        <p:nvSpPr>
          <p:cNvPr id="18" name="Rounded Rectangle 17"/>
          <p:cNvSpPr/>
          <p:nvPr/>
        </p:nvSpPr>
        <p:spPr>
          <a:xfrm>
            <a:off x="620000" y="5840000"/>
            <a:ext cx="10952000" cy="470000"/>
          </a:xfrm>
          <a:prstGeom prst="roundRect">
            <a:avLst>
              <a:gd name="adj" fmla="val 10000"/>
            </a:avLst>
          </a:prstGeom>
          <a:solidFill>
            <a:srgbClr val="111A2C"/>
          </a:solidFill>
          <a:ln w="12700">
            <a:solidFill>
              <a:srgbClr val="26354E"/>
            </a:solid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9" name="Rectangle 18"/>
          <p:cNvSpPr/>
          <p:nvPr/>
        </p:nvSpPr>
        <p:spPr>
          <a:xfrm>
            <a:off x="650000" y="5864000"/>
            <a:ext cx="40000" cy="422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20" name="TextBox 19"/>
          <p:cNvSpPr txBox="1"/>
          <p:nvPr/>
        </p:nvSpPr>
        <p:spPr>
          <a:xfrm>
            <a:off x="860000" y="5840000"/>
            <a:ext cx="10482000" cy="47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100" b="0" i="1">
                <a:solidFill>
                  <a:srgbClr val="BDC9DB"/>
                </a:solidFill>
                <a:latin typeface="Segoe UI"/>
              </a:rPr>
              <a:t>El método vale más que los comandos. Acota la capa antes de tocar nada, corrige una cosa cada vez, y valida antes de seguir. Es igual en el examen que a las tres de la mañana en producción.</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0B1220"/>
        </a:solidFill>
        <a:effectLst/>
      </p:bgPr>
    </p:bg>
    <p:spTree>
      <p:nvGrpSpPr>
        <p:cNvPr id="1" name=""/>
        <p:cNvGrpSpPr/>
        <p:nvPr/>
      </p:nvGrpSpPr>
      <p:grpSpPr/>
      <p:sp>
        <p:nvSpPr>
          <p:cNvPr id="2" name="TextBox 1"/>
          <p:cNvSpPr txBox="1"/>
          <p:nvPr/>
        </p:nvSpPr>
        <p:spPr>
          <a:xfrm>
            <a:off x="620000" y="300000"/>
            <a:ext cx="10952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ESTRATEGIA DE EXAMEN</a:t>
            </a:r>
          </a:p>
        </p:txBody>
      </p:sp>
      <p:sp>
        <p:nvSpPr>
          <p:cNvPr id="3" name="TextBox 2"/>
          <p:cNvSpPr txBox="1"/>
          <p:nvPr/>
        </p:nvSpPr>
        <p:spPr>
          <a:xfrm>
            <a:off x="620000" y="560000"/>
            <a:ext cx="10052000" cy="620000"/>
          </a:xfrm>
          <a:prstGeom prst="rect">
            <a:avLst/>
          </a:prstGeom>
          <a:noFill/>
        </p:spPr>
        <p:txBody>
          <a:bodyPr wrap="square" anchor="t" lIns="0" rIns="0" tIns="0" bIns="0">
            <a:noAutofit/>
          </a:bodyPr>
          <a:lstStyle/>
          <a:p>
            <a:pPr algn="l" marL="0" indent="0">
              <a:lnSpc>
                <a:spcPct val="105000"/>
              </a:lnSpc>
              <a:spcBef>
                <a:spcPts val="0"/>
              </a:spcBef>
              <a:spcAft>
                <a:spcPts val="0"/>
              </a:spcAft>
              <a:buNone/>
            </a:pPr>
            <a:r>
              <a:rPr sz="3000" b="0" i="0">
                <a:solidFill>
                  <a:srgbClr val="F3F6FC"/>
                </a:solidFill>
                <a:latin typeface="Segoe UI Light"/>
              </a:rPr>
              <a:t>Lo que hay que hacer el día del CKA</a:t>
            </a:r>
          </a:p>
        </p:txBody>
      </p:sp>
      <p:sp>
        <p:nvSpPr>
          <p:cNvPr id="4" name="Rectangle 3"/>
          <p:cNvSpPr/>
          <p:nvPr/>
        </p:nvSpPr>
        <p:spPr>
          <a:xfrm>
            <a:off x="620000" y="1230000"/>
            <a:ext cx="56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5" name="Rectangle 4"/>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6" name="TextBox 5"/>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7" name="TextBox 6"/>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23</a:t>
            </a:r>
          </a:p>
        </p:txBody>
      </p:sp>
      <p:sp>
        <p:nvSpPr>
          <p:cNvPr id="8" name="Oval 7"/>
          <p:cNvSpPr/>
          <p:nvPr/>
        </p:nvSpPr>
        <p:spPr>
          <a:xfrm>
            <a:off x="10996000" y="390200"/>
            <a:ext cx="76800" cy="76800"/>
          </a:xfrm>
          <a:prstGeom prst="ellipse">
            <a:avLst/>
          </a:prstGeom>
          <a:solidFill>
            <a:srgbClr val="74A6FF"/>
          </a:solidFill>
          <a:ln w="635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9" name="Connector 8"/>
          <p:cNvCxnSpPr/>
          <p:nvPr/>
        </p:nvCxnSpPr>
        <p:spPr>
          <a:xfrm>
            <a:off x="11136800" y="428600"/>
            <a:ext cx="371200" cy="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0" name="Oval 9"/>
          <p:cNvSpPr/>
          <p:nvPr/>
        </p:nvSpPr>
        <p:spPr>
          <a:xfrm>
            <a:off x="10996000" y="543800"/>
            <a:ext cx="76800" cy="76800"/>
          </a:xfrm>
          <a:prstGeom prst="ellipse">
            <a:avLst/>
          </a:prstGeom>
          <a:solidFill>
            <a:srgbClr val="74A6FF"/>
          </a:solidFill>
          <a:ln w="635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1" name="Connector 10"/>
          <p:cNvCxnSpPr/>
          <p:nvPr/>
        </p:nvCxnSpPr>
        <p:spPr>
          <a:xfrm>
            <a:off x="11136800" y="582200"/>
            <a:ext cx="371200" cy="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2" name="Oval 11"/>
          <p:cNvSpPr/>
          <p:nvPr/>
        </p:nvSpPr>
        <p:spPr>
          <a:xfrm>
            <a:off x="10996000" y="697400"/>
            <a:ext cx="76800" cy="76800"/>
          </a:xfrm>
          <a:prstGeom prst="ellipse">
            <a:avLst/>
          </a:prstGeom>
          <a:solidFill>
            <a:srgbClr val="74A6FF"/>
          </a:solidFill>
          <a:ln w="6350">
            <a:solidFill>
              <a:srgbClr val="74A6F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 name="Connector 12"/>
          <p:cNvCxnSpPr/>
          <p:nvPr/>
        </p:nvCxnSpPr>
        <p:spPr>
          <a:xfrm>
            <a:off x="11136800" y="735800"/>
            <a:ext cx="371200" cy="0"/>
          </a:xfrm>
          <a:prstGeom prst="line">
            <a:avLst/>
          </a:prstGeom>
          <a:ln w="38100">
            <a:solidFill>
              <a:srgbClr val="74A6FF"/>
            </a:solidFill>
          </a:ln>
          <a:effectLst/>
        </p:spPr>
        <p:style>
          <a:lnRef idx="2">
            <a:schemeClr val="accent1"/>
          </a:lnRef>
          <a:fillRef idx="0">
            <a:schemeClr val="accent1"/>
          </a:fillRef>
          <a:effectRef idx="1">
            <a:schemeClr val="accent1"/>
          </a:effectRef>
          <a:fontRef idx="minor">
            <a:schemeClr val="tx1"/>
          </a:fontRef>
        </p:style>
      </p:cxnSp>
      <p:sp>
        <p:nvSpPr>
          <p:cNvPr id="14" name="Oval 13"/>
          <p:cNvSpPr/>
          <p:nvPr/>
        </p:nvSpPr>
        <p:spPr>
          <a:xfrm>
            <a:off x="620000" y="290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1</a:t>
            </a:r>
          </a:p>
        </p:txBody>
      </p:sp>
      <p:sp>
        <p:nvSpPr>
          <p:cNvPr id="15" name="TextBox 14"/>
          <p:cNvSpPr txBox="1"/>
          <p:nvPr/>
        </p:nvSpPr>
        <p:spPr>
          <a:xfrm>
            <a:off x="1120000" y="277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Primer minuto: lee todas las tareas y anota su peso.</a:t>
            </a:r>
          </a:p>
        </p:txBody>
      </p:sp>
      <p:sp>
        <p:nvSpPr>
          <p:cNvPr id="16" name="Oval 15"/>
          <p:cNvSpPr/>
          <p:nvPr/>
        </p:nvSpPr>
        <p:spPr>
          <a:xfrm>
            <a:off x="620000" y="346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2</a:t>
            </a:r>
          </a:p>
        </p:txBody>
      </p:sp>
      <p:sp>
        <p:nvSpPr>
          <p:cNvPr id="17" name="TextBox 16"/>
          <p:cNvSpPr txBox="1"/>
          <p:nvPr/>
        </p:nvSpPr>
        <p:spPr>
          <a:xfrm>
            <a:off x="1120000" y="333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Ordénalas: primero las que valen mucho y sabes hacer rápido.</a:t>
            </a:r>
          </a:p>
        </p:txBody>
      </p:sp>
      <p:sp>
        <p:nvSpPr>
          <p:cNvPr id="18" name="Oval 17"/>
          <p:cNvSpPr/>
          <p:nvPr/>
        </p:nvSpPr>
        <p:spPr>
          <a:xfrm>
            <a:off x="620000" y="402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3</a:t>
            </a:r>
          </a:p>
        </p:txBody>
      </p:sp>
      <p:sp>
        <p:nvSpPr>
          <p:cNvPr id="19" name="TextBox 18"/>
          <p:cNvSpPr txBox="1"/>
          <p:nvPr/>
        </p:nvSpPr>
        <p:spPr>
          <a:xfrm>
            <a:off x="1120000" y="389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Prepara alias k, export do y export now antes de la primera tarea.</a:t>
            </a:r>
          </a:p>
        </p:txBody>
      </p:sp>
      <p:sp>
        <p:nvSpPr>
          <p:cNvPr id="20" name="Oval 19"/>
          <p:cNvSpPr/>
          <p:nvPr/>
        </p:nvSpPr>
        <p:spPr>
          <a:xfrm>
            <a:off x="620000" y="458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4</a:t>
            </a:r>
          </a:p>
        </p:txBody>
      </p:sp>
      <p:sp>
        <p:nvSpPr>
          <p:cNvPr id="21" name="TextBox 20"/>
          <p:cNvSpPr txBox="1"/>
          <p:nvPr/>
        </p:nvSpPr>
        <p:spPr>
          <a:xfrm>
            <a:off x="1120000" y="445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Cambia el contexto y el namespace que indica cada enunciado.</a:t>
            </a:r>
          </a:p>
        </p:txBody>
      </p:sp>
      <p:sp>
        <p:nvSpPr>
          <p:cNvPr id="22" name="Oval 21"/>
          <p:cNvSpPr/>
          <p:nvPr/>
        </p:nvSpPr>
        <p:spPr>
          <a:xfrm>
            <a:off x="6256000" y="290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5</a:t>
            </a:r>
          </a:p>
        </p:txBody>
      </p:sp>
      <p:sp>
        <p:nvSpPr>
          <p:cNvPr id="23" name="TextBox 22"/>
          <p:cNvSpPr txBox="1"/>
          <p:nvPr/>
        </p:nvSpPr>
        <p:spPr>
          <a:xfrm>
            <a:off x="6756000" y="277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Marca y salta cualquier tarea que se pase de tu presupuesto de tiempo.</a:t>
            </a:r>
          </a:p>
        </p:txBody>
      </p:sp>
      <p:sp>
        <p:nvSpPr>
          <p:cNvPr id="24" name="Oval 23"/>
          <p:cNvSpPr/>
          <p:nvPr/>
        </p:nvSpPr>
        <p:spPr>
          <a:xfrm>
            <a:off x="6256000" y="346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6</a:t>
            </a:r>
          </a:p>
        </p:txBody>
      </p:sp>
      <p:sp>
        <p:nvSpPr>
          <p:cNvPr id="25" name="TextBox 24"/>
          <p:cNvSpPr txBox="1"/>
          <p:nvPr/>
        </p:nvSpPr>
        <p:spPr>
          <a:xfrm>
            <a:off x="6756000" y="333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Valida cada tarea nada más terminarla.</a:t>
            </a:r>
          </a:p>
        </p:txBody>
      </p:sp>
      <p:sp>
        <p:nvSpPr>
          <p:cNvPr id="26" name="Oval 25"/>
          <p:cNvSpPr/>
          <p:nvPr/>
        </p:nvSpPr>
        <p:spPr>
          <a:xfrm>
            <a:off x="6256000" y="402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7</a:t>
            </a:r>
          </a:p>
        </p:txBody>
      </p:sp>
      <p:sp>
        <p:nvSpPr>
          <p:cNvPr id="27" name="TextBox 26"/>
          <p:cNvSpPr txBox="1"/>
          <p:nvPr/>
        </p:nvSpPr>
        <p:spPr>
          <a:xfrm>
            <a:off x="6756000" y="389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Guarda los últimos 10 minutos para las tareas marcadas.</a:t>
            </a:r>
          </a:p>
        </p:txBody>
      </p:sp>
      <p:sp>
        <p:nvSpPr>
          <p:cNvPr id="28" name="Oval 27"/>
          <p:cNvSpPr/>
          <p:nvPr/>
        </p:nvSpPr>
        <p:spPr>
          <a:xfrm>
            <a:off x="6256000" y="4580000"/>
            <a:ext cx="300000" cy="300000"/>
          </a:xfrm>
          <a:prstGeom prst="ellipse">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marL="0" indent="0">
              <a:lnSpc>
                <a:spcPct val="100000"/>
              </a:lnSpc>
              <a:spcBef>
                <a:spcPts val="0"/>
              </a:spcBef>
              <a:spcAft>
                <a:spcPts val="0"/>
              </a:spcAft>
              <a:buNone/>
            </a:pPr>
            <a:r>
              <a:rPr sz="1200" b="1" i="0">
                <a:solidFill>
                  <a:srgbClr val="F3F6FC"/>
                </a:solidFill>
                <a:latin typeface="Segoe UI Semibold"/>
              </a:rPr>
              <a:t>8</a:t>
            </a:r>
          </a:p>
        </p:txBody>
      </p:sp>
      <p:sp>
        <p:nvSpPr>
          <p:cNvPr id="29" name="TextBox 28"/>
          <p:cNvSpPr txBox="1"/>
          <p:nvPr/>
        </p:nvSpPr>
        <p:spPr>
          <a:xfrm>
            <a:off x="6756000" y="4450000"/>
            <a:ext cx="4816000" cy="560000"/>
          </a:xfrm>
          <a:prstGeom prst="rect">
            <a:avLst/>
          </a:prstGeom>
          <a:noFill/>
        </p:spPr>
        <p:txBody>
          <a:bodyPr wrap="square" anchor="ctr" lIns="0" rIns="0" tIns="0" bIns="0">
            <a:noAutofit/>
          </a:bodyPr>
          <a:lstStyle/>
          <a:p>
            <a:pPr algn="l" marL="0" indent="0">
              <a:lnSpc>
                <a:spcPct val="116000"/>
              </a:lnSpc>
              <a:spcBef>
                <a:spcPts val="0"/>
              </a:spcBef>
              <a:spcAft>
                <a:spcPts val="0"/>
              </a:spcAft>
              <a:buNone/>
            </a:pPr>
            <a:r>
              <a:rPr sz="1300" b="0" i="0">
                <a:solidFill>
                  <a:srgbClr val="BDC9DB"/>
                </a:solidFill>
                <a:latin typeface="Segoe UI"/>
              </a:rPr>
              <a:t>Usa solo kubernetes.io/docs y kubectl explain. Practica así desde hoy.</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E172A"/>
        </a:solidFill>
        <a:effectLst/>
      </p:bgPr>
    </p:bg>
    <p:spTree>
      <p:nvGrpSpPr>
        <p:cNvPr id="1" name=""/>
        <p:cNvGrpSpPr/>
        <p:nvPr/>
      </p:nvGrpSpPr>
      <p:grpSpPr/>
      <p:sp>
        <p:nvSpPr>
          <p:cNvPr id="2" name="Oval 1"/>
          <p:cNvSpPr/>
          <p:nvPr/>
        </p:nvSpPr>
        <p:spPr>
          <a:xfrm>
            <a:off x="9592000" y="-1400000"/>
            <a:ext cx="4000000" cy="40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Oval 2"/>
          <p:cNvSpPr/>
          <p:nvPr/>
        </p:nvSpPr>
        <p:spPr>
          <a:xfrm>
            <a:off x="-1400000" y="4358000"/>
            <a:ext cx="3800000" cy="3800000"/>
          </a:xfrm>
          <a:prstGeom prst="ellipse">
            <a:avLst/>
          </a:prstGeom>
          <a:solidFill>
            <a:srgbClr val="0B122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kubernetes.png"/>
          <p:cNvPicPr>
            <a:picLocks noChangeAspect="1"/>
          </p:cNvPicPr>
          <p:nvPr/>
        </p:nvPicPr>
        <p:blipFill>
          <a:blip r:embed="rId2"/>
          <a:stretch>
            <a:fillRect/>
          </a:stretch>
        </p:blipFill>
        <p:spPr>
          <a:xfrm>
            <a:off x="9542000" y="900000"/>
            <a:ext cx="1650000" cy="1650000"/>
          </a:xfrm>
          <a:prstGeom prst="rect">
            <a:avLst/>
          </a:prstGeom>
        </p:spPr>
      </p:pic>
      <p:sp>
        <p:nvSpPr>
          <p:cNvPr id="5" name="TextBox 4"/>
          <p:cNvSpPr txBox="1"/>
          <p:nvPr/>
        </p:nvSpPr>
        <p:spPr>
          <a:xfrm>
            <a:off x="640000" y="300000"/>
            <a:ext cx="9000000" cy="24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1100" b="1" i="0" spc="240">
                <a:solidFill>
                  <a:srgbClr val="74A6FF"/>
                </a:solidFill>
                <a:latin typeface="Segoe UI Semibold"/>
              </a:rPr>
              <a:t>CIERRE DEL CURSO</a:t>
            </a:r>
          </a:p>
        </p:txBody>
      </p:sp>
      <p:sp>
        <p:nvSpPr>
          <p:cNvPr id="6" name="TextBox 5"/>
          <p:cNvSpPr txBox="1"/>
          <p:nvPr/>
        </p:nvSpPr>
        <p:spPr>
          <a:xfrm>
            <a:off x="640000" y="1560000"/>
            <a:ext cx="9200000" cy="900000"/>
          </a:xfrm>
          <a:prstGeom prst="rect">
            <a:avLst/>
          </a:prstGeom>
          <a:noFill/>
        </p:spPr>
        <p:txBody>
          <a:bodyPr wrap="square" anchor="t" lIns="0" rIns="0" tIns="0" bIns="0">
            <a:noAutofit/>
          </a:bodyPr>
          <a:lstStyle/>
          <a:p>
            <a:pPr algn="l" marL="0" indent="0">
              <a:lnSpc>
                <a:spcPct val="104000"/>
              </a:lnSpc>
              <a:spcBef>
                <a:spcPts val="0"/>
              </a:spcBef>
              <a:spcAft>
                <a:spcPts val="0"/>
              </a:spcAft>
              <a:buNone/>
            </a:pPr>
            <a:r>
              <a:rPr sz="4400" b="0" i="0">
                <a:solidFill>
                  <a:srgbClr val="F3F6FC"/>
                </a:solidFill>
                <a:latin typeface="Segoe UI Light"/>
              </a:rPr>
              <a:t>Curso completado — 18 horas</a:t>
            </a:r>
          </a:p>
        </p:txBody>
      </p:sp>
      <p:sp>
        <p:nvSpPr>
          <p:cNvPr id="7" name="Rectangle 6"/>
          <p:cNvSpPr/>
          <p:nvPr/>
        </p:nvSpPr>
        <p:spPr>
          <a:xfrm>
            <a:off x="644000" y="2560000"/>
            <a:ext cx="620000" cy="46000"/>
          </a:xfrm>
          <a:prstGeom prst="rect">
            <a:avLst/>
          </a:prstGeom>
          <a:solidFill>
            <a:srgbClr val="326CE5"/>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8" name="TextBox 7"/>
          <p:cNvSpPr txBox="1"/>
          <p:nvPr/>
        </p:nvSpPr>
        <p:spPr>
          <a:xfrm>
            <a:off x="640000" y="2820000"/>
            <a:ext cx="9752000" cy="2600000"/>
          </a:xfrm>
          <a:prstGeom prst="rect">
            <a:avLst/>
          </a:prstGeom>
          <a:noFill/>
        </p:spPr>
        <p:txBody>
          <a:bodyPr wrap="square" anchor="t" lIns="0" rIns="0" tIns="0" bIns="0">
            <a:noAutofit/>
          </a:bodyPr>
          <a:lstStyle/>
          <a:p>
            <a:pPr algn="l" marL="0" indent="0">
              <a:lnSpc>
                <a:spcPct val="132000"/>
              </a:lnSpc>
              <a:spcBef>
                <a:spcPts val="0"/>
              </a:spcBef>
              <a:spcAft>
                <a:spcPts val="1400"/>
              </a:spcAft>
              <a:buNone/>
            </a:pPr>
            <a:r>
              <a:rPr sz="1500" b="0" i="0">
                <a:solidFill>
                  <a:srgbClr val="BDC9DB"/>
                </a:solidFill>
                <a:latin typeface="Segoe UI"/>
              </a:rPr>
              <a:t>Has recorrido el camino completo: COMPRENDER → EJECUTAR → PRACTICAR → INTEGRAR → DIAGNOSTICAR → RESOLVER.</a:t>
            </a:r>
          </a:p>
          <a:p>
            <a:pPr algn="l" marL="0" indent="0">
              <a:lnSpc>
                <a:spcPct val="132000"/>
              </a:lnSpc>
              <a:spcBef>
                <a:spcPts val="0"/>
              </a:spcBef>
              <a:spcAft>
                <a:spcPts val="1400"/>
              </a:spcAft>
              <a:buNone/>
            </a:pPr>
            <a:r>
              <a:rPr sz="1500" b="0" i="0">
                <a:solidFill>
                  <a:srgbClr val="BDC9DB"/>
                </a:solidFill>
                <a:latin typeface="Segoe UI"/>
              </a:rPr>
              <a:t>Llévate dos documentos: 02-CHECKLIST-CKA.md para saber qué dominas de verdad, y 03-CHEATSHEET-CKA.md para repasar antes del examen.</a:t>
            </a:r>
          </a:p>
          <a:p>
            <a:pPr algn="l" marL="0" indent="0">
              <a:lnSpc>
                <a:spcPct val="132000"/>
              </a:lnSpc>
              <a:spcBef>
                <a:spcPts val="0"/>
              </a:spcBef>
              <a:spcAft>
                <a:spcPts val="1400"/>
              </a:spcAft>
              <a:buNone/>
            </a:pPr>
            <a:r>
              <a:rPr sz="1500" b="0" i="0">
                <a:solidFill>
                  <a:srgbClr val="BDC9DB"/>
                </a:solidFill>
                <a:latin typeface="Segoe UI"/>
              </a:rPr>
              <a:t>Y una recomendación: repite el LAB 6.5 completo una vez por semana hasta que te salga sin mirar. Es el mejor simulacro que tienes.</a:t>
            </a:r>
          </a:p>
        </p:txBody>
      </p:sp>
      <p:sp>
        <p:nvSpPr>
          <p:cNvPr id="9" name="Rectangle 8"/>
          <p:cNvSpPr/>
          <p:nvPr/>
        </p:nvSpPr>
        <p:spPr>
          <a:xfrm>
            <a:off x="620000" y="6404000"/>
            <a:ext cx="10952000" cy="12000"/>
          </a:xfrm>
          <a:prstGeom prst="rect">
            <a:avLst/>
          </a:prstGeom>
          <a:solidFill>
            <a:srgbClr val="26354E"/>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noAutofit/>
          </a:bodyPr>
          <a:lstStyle/>
          <a:p>
            <a:pPr algn="ctr"/>
          </a:p>
        </p:txBody>
      </p:sp>
      <p:sp>
        <p:nvSpPr>
          <p:cNvPr id="10" name="TextBox 9"/>
          <p:cNvSpPr txBox="1"/>
          <p:nvPr/>
        </p:nvSpPr>
        <p:spPr>
          <a:xfrm>
            <a:off x="620000" y="6430000"/>
            <a:ext cx="7666399" cy="220000"/>
          </a:xfrm>
          <a:prstGeom prst="rect">
            <a:avLst/>
          </a:prstGeom>
          <a:noFill/>
        </p:spPr>
        <p:txBody>
          <a:bodyPr wrap="square" anchor="ctr" lIns="0" rIns="0" tIns="0" bIns="0">
            <a:noAutofit/>
          </a:bodyPr>
          <a:lstStyle/>
          <a:p>
            <a:pPr algn="l" marL="0" indent="0">
              <a:lnSpc>
                <a:spcPct val="100000"/>
              </a:lnSpc>
              <a:spcBef>
                <a:spcPts val="0"/>
              </a:spcBef>
              <a:spcAft>
                <a:spcPts val="0"/>
              </a:spcAft>
              <a:buNone/>
            </a:pPr>
            <a:r>
              <a:rPr sz="900" b="0" i="0" spc="30">
                <a:solidFill>
                  <a:srgbClr val="8493AD"/>
                </a:solidFill>
                <a:latin typeface="Segoe UI"/>
              </a:rPr>
              <a:t>CKA Hands-On Training  ·  Clase 6</a:t>
            </a:r>
          </a:p>
        </p:txBody>
      </p:sp>
      <p:sp>
        <p:nvSpPr>
          <p:cNvPr id="11" name="TextBox 10"/>
          <p:cNvSpPr txBox="1"/>
          <p:nvPr/>
        </p:nvSpPr>
        <p:spPr>
          <a:xfrm>
            <a:off x="8286399" y="6430000"/>
            <a:ext cx="3285600" cy="220000"/>
          </a:xfrm>
          <a:prstGeom prst="rect">
            <a:avLst/>
          </a:prstGeom>
          <a:noFill/>
        </p:spPr>
        <p:txBody>
          <a:bodyPr wrap="square" anchor="ctr" lIns="0" rIns="0" tIns="0" bIns="0">
            <a:noAutofit/>
          </a:bodyPr>
          <a:lstStyle/>
          <a:p>
            <a:pPr algn="r" marL="0" indent="0">
              <a:lnSpc>
                <a:spcPct val="100000"/>
              </a:lnSpc>
              <a:spcBef>
                <a:spcPts val="0"/>
              </a:spcBef>
              <a:spcAft>
                <a:spcPts val="0"/>
              </a:spcAft>
              <a:buNone/>
            </a:pPr>
            <a:r>
              <a:rPr sz="900" b="1" i="0" spc="60">
                <a:solidFill>
                  <a:srgbClr val="8493AD"/>
                </a:solidFill>
                <a:latin typeface="Segoe UI Semibold"/>
              </a:rPr>
              <a:t>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Clase 6 — Troubleshooting e Integración</dc:title>
  <dc:subject>Clase 6 — Troubleshooting e Integración</dc:subject>
  <dc:creator>CKA Hands-On Training</dc:creator>
  <cp:keywords/>
  <dc:description>Generado con generador-diapositivas/</dc:description>
  <cp:lastModifiedBy>Steve Canny</cp:lastModifiedBy>
  <cp:revision>1</cp:revision>
  <dcterms:created xsi:type="dcterms:W3CDTF">2013-01-27T09:14:16Z</dcterms:created>
  <dcterms:modified xsi:type="dcterms:W3CDTF">2013-01-27T09:15:58Z</dcterms:modified>
  <cp:category/>
</cp:coreProperties>
</file>