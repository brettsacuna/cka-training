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Oval 1"/>
          <p:cNvSpPr/>
          <p:nvPr/>
        </p:nvSpPr>
        <p:spPr>
          <a:xfrm>
            <a:off x="9142000" y="-1350000"/>
            <a:ext cx="4500000" cy="4500000"/>
          </a:xfrm>
          <a:prstGeom prst="ellipse">
            <a:avLst/>
          </a:prstGeom>
          <a:solidFill>
            <a:srgbClr val="0E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342000" y="5308000"/>
            <a:ext cx="2900000" cy="2900000"/>
          </a:xfrm>
          <a:prstGeom prst="ellipse">
            <a:avLst/>
          </a:prstGeom>
          <a:solidFill>
            <a:srgbClr val="111A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kubernetes.png"/>
          <p:cNvPicPr>
            <a:picLocks noChangeAspect="1"/>
          </p:cNvPicPr>
          <p:nvPr/>
        </p:nvPicPr>
        <p:blipFill>
          <a:blip r:embed="rId2"/>
          <a:stretch>
            <a:fillRect/>
          </a:stretch>
        </p:blipFill>
        <p:spPr>
          <a:xfrm>
            <a:off x="9642000" y="1000000"/>
            <a:ext cx="1650000" cy="1650000"/>
          </a:xfrm>
          <a:prstGeom prst="rect">
            <a:avLst/>
          </a:prstGeom>
        </p:spPr>
      </p:pic>
      <p:sp>
        <p:nvSpPr>
          <p:cNvPr id="5" name="TextBox 4"/>
          <p:cNvSpPr txBox="1"/>
          <p:nvPr/>
        </p:nvSpPr>
        <p:spPr>
          <a:xfrm>
            <a:off x="660000" y="300000"/>
            <a:ext cx="8600000" cy="24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240">
                <a:solidFill>
                  <a:srgbClr val="74A6FF"/>
                </a:solidFill>
                <a:latin typeface="Segoe UI Semibold"/>
              </a:rPr>
              <a:t>CKA HANDS-ON TRAINING</a:t>
            </a:r>
          </a:p>
        </p:txBody>
      </p:sp>
      <p:sp>
        <p:nvSpPr>
          <p:cNvPr id="6" name="TextBox 5"/>
          <p:cNvSpPr txBox="1"/>
          <p:nvPr/>
        </p:nvSpPr>
        <p:spPr>
          <a:xfrm>
            <a:off x="660000" y="1620000"/>
            <a:ext cx="8600000" cy="520000"/>
          </a:xfrm>
          <a:prstGeom prst="rect">
            <a:avLst/>
          </a:prstGeom>
          <a:noFill/>
        </p:spPr>
        <p:txBody>
          <a:bodyPr wrap="square" anchor="t" lIns="0" rIns="0" tIns="0" bIns="0">
            <a:noAutofit/>
          </a:bodyPr>
          <a:lstStyle/>
          <a:p>
            <a:pPr algn="l" marL="0" indent="0">
              <a:lnSpc>
                <a:spcPct val="100000"/>
              </a:lnSpc>
              <a:spcBef>
                <a:spcPts val="0"/>
              </a:spcBef>
              <a:spcAft>
                <a:spcPts val="0"/>
              </a:spcAft>
              <a:buNone/>
            </a:pPr>
            <a:r>
              <a:rPr sz="1500" b="1" i="0" spc="200">
                <a:solidFill>
                  <a:srgbClr val="74A6FF"/>
                </a:solidFill>
                <a:latin typeface="Segoe UI Semibold"/>
              </a:rPr>
              <a:t>CLASE 5</a:t>
            </a:r>
          </a:p>
        </p:txBody>
      </p:sp>
      <p:sp>
        <p:nvSpPr>
          <p:cNvPr id="7" name="TextBox 6"/>
          <p:cNvSpPr txBox="1"/>
          <p:nvPr/>
        </p:nvSpPr>
        <p:spPr>
          <a:xfrm>
            <a:off x="660000" y="2040000"/>
            <a:ext cx="8900000" cy="1500000"/>
          </a:xfrm>
          <a:prstGeom prst="rect">
            <a:avLst/>
          </a:prstGeom>
          <a:noFill/>
        </p:spPr>
        <p:txBody>
          <a:bodyPr wrap="square" anchor="t" lIns="0" rIns="0" tIns="0" bIns="0">
            <a:noAutofit/>
          </a:bodyPr>
          <a:lstStyle/>
          <a:p>
            <a:pPr algn="l" marL="0" indent="0">
              <a:lnSpc>
                <a:spcPct val="106000"/>
              </a:lnSpc>
              <a:spcBef>
                <a:spcPts val="0"/>
              </a:spcBef>
              <a:spcAft>
                <a:spcPts val="0"/>
              </a:spcAft>
              <a:buNone/>
            </a:pPr>
            <a:r>
              <a:rPr sz="4400" b="0" i="0">
                <a:solidFill>
                  <a:srgbClr val="F3F6FC"/>
                </a:solidFill>
                <a:latin typeface="Segoe UI Light"/>
              </a:rPr>
              <a:t>Services, Ingress, CoreDNS y NetworkPolicy</a:t>
            </a:r>
          </a:p>
        </p:txBody>
      </p:sp>
      <p:sp>
        <p:nvSpPr>
          <p:cNvPr id="8" name="Rectangle 7"/>
          <p:cNvSpPr/>
          <p:nvPr/>
        </p:nvSpPr>
        <p:spPr>
          <a:xfrm>
            <a:off x="660000" y="3560000"/>
            <a:ext cx="620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9" name="TextBox 8"/>
          <p:cNvSpPr txBox="1"/>
          <p:nvPr/>
        </p:nvSpPr>
        <p:spPr>
          <a:xfrm>
            <a:off x="660000" y="3760000"/>
            <a:ext cx="8600000" cy="520000"/>
          </a:xfrm>
          <a:prstGeom prst="rect">
            <a:avLst/>
          </a:prstGeom>
          <a:noFill/>
        </p:spPr>
        <p:txBody>
          <a:bodyPr wrap="square" anchor="t" lIns="0" rIns="0" tIns="0" bIns="0">
            <a:noAutofit/>
          </a:bodyPr>
          <a:lstStyle/>
          <a:p>
            <a:pPr algn="l" marL="0" indent="0">
              <a:lnSpc>
                <a:spcPct val="120000"/>
              </a:lnSpc>
              <a:spcBef>
                <a:spcPts val="0"/>
              </a:spcBef>
              <a:spcAft>
                <a:spcPts val="0"/>
              </a:spcAft>
              <a:buNone/>
            </a:pPr>
            <a:r>
              <a:rPr sz="1500" b="0" i="1">
                <a:solidFill>
                  <a:srgbClr val="BDC9DB"/>
                </a:solidFill>
                <a:latin typeface="Segoe UI"/>
              </a:rPr>
              <a:t>Publicar aplicaciones y decidir exactamente quién puede hablar con quién</a:t>
            </a:r>
          </a:p>
        </p:txBody>
      </p:sp>
      <p:sp>
        <p:nvSpPr>
          <p:cNvPr id="10" name="Rounded Rectangle 9"/>
          <p:cNvSpPr/>
          <p:nvPr/>
        </p:nvSpPr>
        <p:spPr>
          <a:xfrm>
            <a:off x="660000" y="4650000"/>
            <a:ext cx="2645500" cy="900000"/>
          </a:xfrm>
          <a:prstGeom prst="roundRect">
            <a:avLst>
              <a:gd name="adj" fmla="val 10000"/>
            </a:avLst>
          </a:prstGeom>
          <a:solidFill>
            <a:srgbClr val="141E33"/>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1" name="Rectangle 10"/>
          <p:cNvSpPr/>
          <p:nvPr/>
        </p:nvSpPr>
        <p:spPr>
          <a:xfrm>
            <a:off x="660000" y="4650000"/>
            <a:ext cx="26455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2" name="TextBox 11"/>
          <p:cNvSpPr txBox="1"/>
          <p:nvPr/>
        </p:nvSpPr>
        <p:spPr>
          <a:xfrm>
            <a:off x="810000" y="4770000"/>
            <a:ext cx="2345500" cy="660000"/>
          </a:xfrm>
          <a:prstGeom prst="rect">
            <a:avLst/>
          </a:prstGeom>
          <a:noFill/>
        </p:spPr>
        <p:txBody>
          <a:bodyPr wrap="square" anchor="ctr" lIns="0" rIns="0" tIns="0" bIns="0">
            <a:noAutofit/>
          </a:bodyPr>
          <a:lstStyle/>
          <a:p>
            <a:pPr algn="l" marL="0" indent="0">
              <a:lnSpc>
                <a:spcPct val="100000"/>
              </a:lnSpc>
              <a:spcBef>
                <a:spcPts val="0"/>
              </a:spcBef>
              <a:spcAft>
                <a:spcPts val="200"/>
              </a:spcAft>
              <a:buNone/>
            </a:pPr>
            <a:r>
              <a:rPr sz="2200" b="0" i="0">
                <a:solidFill>
                  <a:srgbClr val="F3F6FC"/>
                </a:solidFill>
                <a:latin typeface="Segoe UI Light"/>
              </a:rPr>
              <a:t>180 min</a:t>
            </a:r>
          </a:p>
          <a:p>
            <a:pPr algn="l" marL="0" indent="0">
              <a:lnSpc>
                <a:spcPct val="100000"/>
              </a:lnSpc>
              <a:spcBef>
                <a:spcPts val="0"/>
              </a:spcBef>
              <a:spcAft>
                <a:spcPts val="0"/>
              </a:spcAft>
              <a:buNone/>
            </a:pPr>
            <a:r>
              <a:rPr sz="1000" b="1" i="0" spc="160">
                <a:solidFill>
                  <a:srgbClr val="8493AD"/>
                </a:solidFill>
                <a:latin typeface="Segoe UI Semibold"/>
              </a:rPr>
              <a:t>DURACIÓN</a:t>
            </a:r>
          </a:p>
        </p:txBody>
      </p:sp>
      <p:sp>
        <p:nvSpPr>
          <p:cNvPr id="13" name="Rounded Rectangle 12"/>
          <p:cNvSpPr/>
          <p:nvPr/>
        </p:nvSpPr>
        <p:spPr>
          <a:xfrm>
            <a:off x="3455500" y="4650000"/>
            <a:ext cx="2645500" cy="900000"/>
          </a:xfrm>
          <a:prstGeom prst="roundRect">
            <a:avLst>
              <a:gd name="adj" fmla="val 10000"/>
            </a:avLst>
          </a:prstGeom>
          <a:solidFill>
            <a:srgbClr val="141E33"/>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4" name="Rectangle 13"/>
          <p:cNvSpPr/>
          <p:nvPr/>
        </p:nvSpPr>
        <p:spPr>
          <a:xfrm>
            <a:off x="3455500" y="4650000"/>
            <a:ext cx="26455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5" name="TextBox 14"/>
          <p:cNvSpPr txBox="1"/>
          <p:nvPr/>
        </p:nvSpPr>
        <p:spPr>
          <a:xfrm>
            <a:off x="3605500" y="4770000"/>
            <a:ext cx="2345500" cy="660000"/>
          </a:xfrm>
          <a:prstGeom prst="rect">
            <a:avLst/>
          </a:prstGeom>
          <a:noFill/>
        </p:spPr>
        <p:txBody>
          <a:bodyPr wrap="square" anchor="ctr" lIns="0" rIns="0" tIns="0" bIns="0">
            <a:noAutofit/>
          </a:bodyPr>
          <a:lstStyle/>
          <a:p>
            <a:pPr algn="l" marL="0" indent="0">
              <a:lnSpc>
                <a:spcPct val="100000"/>
              </a:lnSpc>
              <a:spcBef>
                <a:spcPts val="0"/>
              </a:spcBef>
              <a:spcAft>
                <a:spcPts val="200"/>
              </a:spcAft>
              <a:buNone/>
            </a:pPr>
            <a:r>
              <a:rPr sz="2200" b="0" i="0">
                <a:solidFill>
                  <a:srgbClr val="F3F6FC"/>
                </a:solidFill>
                <a:latin typeface="Segoe UI Light"/>
              </a:rPr>
              <a:t>4</a:t>
            </a:r>
          </a:p>
          <a:p>
            <a:pPr algn="l" marL="0" indent="0">
              <a:lnSpc>
                <a:spcPct val="100000"/>
              </a:lnSpc>
              <a:spcBef>
                <a:spcPts val="0"/>
              </a:spcBef>
              <a:spcAft>
                <a:spcPts val="0"/>
              </a:spcAft>
              <a:buNone/>
            </a:pPr>
            <a:r>
              <a:rPr sz="1000" b="1" i="0" spc="160">
                <a:solidFill>
                  <a:srgbClr val="8493AD"/>
                </a:solidFill>
                <a:latin typeface="Segoe UI Semibold"/>
              </a:rPr>
              <a:t>LABORATORIOS</a:t>
            </a:r>
          </a:p>
        </p:txBody>
      </p:sp>
      <p:sp>
        <p:nvSpPr>
          <p:cNvPr id="16" name="Rounded Rectangle 15"/>
          <p:cNvSpPr/>
          <p:nvPr/>
        </p:nvSpPr>
        <p:spPr>
          <a:xfrm>
            <a:off x="6251000" y="4650000"/>
            <a:ext cx="2645500" cy="900000"/>
          </a:xfrm>
          <a:prstGeom prst="roundRect">
            <a:avLst>
              <a:gd name="adj" fmla="val 10000"/>
            </a:avLst>
          </a:prstGeom>
          <a:solidFill>
            <a:srgbClr val="141E33"/>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7" name="Rectangle 16"/>
          <p:cNvSpPr/>
          <p:nvPr/>
        </p:nvSpPr>
        <p:spPr>
          <a:xfrm>
            <a:off x="6251000" y="4650000"/>
            <a:ext cx="26455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8" name="TextBox 17"/>
          <p:cNvSpPr txBox="1"/>
          <p:nvPr/>
        </p:nvSpPr>
        <p:spPr>
          <a:xfrm>
            <a:off x="6401000" y="4770000"/>
            <a:ext cx="2345500" cy="660000"/>
          </a:xfrm>
          <a:prstGeom prst="rect">
            <a:avLst/>
          </a:prstGeom>
          <a:noFill/>
        </p:spPr>
        <p:txBody>
          <a:bodyPr wrap="square" anchor="ctr" lIns="0" rIns="0" tIns="0" bIns="0">
            <a:noAutofit/>
          </a:bodyPr>
          <a:lstStyle/>
          <a:p>
            <a:pPr algn="l" marL="0" indent="0">
              <a:lnSpc>
                <a:spcPct val="100000"/>
              </a:lnSpc>
              <a:spcBef>
                <a:spcPts val="0"/>
              </a:spcBef>
              <a:spcAft>
                <a:spcPts val="200"/>
              </a:spcAft>
              <a:buNone/>
            </a:pPr>
            <a:r>
              <a:rPr sz="2200" b="0" i="0">
                <a:solidFill>
                  <a:srgbClr val="F3F6FC"/>
                </a:solidFill>
                <a:latin typeface="Segoe UI Light"/>
              </a:rPr>
              <a:t>20 %</a:t>
            </a:r>
          </a:p>
          <a:p>
            <a:pPr algn="l" marL="0" indent="0">
              <a:lnSpc>
                <a:spcPct val="100000"/>
              </a:lnSpc>
              <a:spcBef>
                <a:spcPts val="0"/>
              </a:spcBef>
              <a:spcAft>
                <a:spcPts val="0"/>
              </a:spcAft>
              <a:buNone/>
            </a:pPr>
            <a:r>
              <a:rPr sz="1000" b="1" i="0" spc="160">
                <a:solidFill>
                  <a:srgbClr val="8493AD"/>
                </a:solidFill>
                <a:latin typeface="Segoe UI Semibold"/>
              </a:rPr>
              <a:t>PESO EN EL CKA</a:t>
            </a:r>
          </a:p>
        </p:txBody>
      </p:sp>
      <p:sp>
        <p:nvSpPr>
          <p:cNvPr id="19" name="Rounded Rectangle 18"/>
          <p:cNvSpPr/>
          <p:nvPr/>
        </p:nvSpPr>
        <p:spPr>
          <a:xfrm>
            <a:off x="9046500" y="4650000"/>
            <a:ext cx="2645500" cy="900000"/>
          </a:xfrm>
          <a:prstGeom prst="roundRect">
            <a:avLst>
              <a:gd name="adj" fmla="val 10000"/>
            </a:avLst>
          </a:prstGeom>
          <a:solidFill>
            <a:srgbClr val="141E33"/>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0" name="Rectangle 19"/>
          <p:cNvSpPr/>
          <p:nvPr/>
        </p:nvSpPr>
        <p:spPr>
          <a:xfrm>
            <a:off x="9046500" y="4650000"/>
            <a:ext cx="26455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1" name="TextBox 20"/>
          <p:cNvSpPr txBox="1"/>
          <p:nvPr/>
        </p:nvSpPr>
        <p:spPr>
          <a:xfrm>
            <a:off x="9196500" y="4770000"/>
            <a:ext cx="2345500" cy="660000"/>
          </a:xfrm>
          <a:prstGeom prst="rect">
            <a:avLst/>
          </a:prstGeom>
          <a:noFill/>
        </p:spPr>
        <p:txBody>
          <a:bodyPr wrap="square" anchor="ctr" lIns="0" rIns="0" tIns="0" bIns="0">
            <a:noAutofit/>
          </a:bodyPr>
          <a:lstStyle/>
          <a:p>
            <a:pPr algn="l" marL="0" indent="0">
              <a:lnSpc>
                <a:spcPct val="100000"/>
              </a:lnSpc>
              <a:spcBef>
                <a:spcPts val="0"/>
              </a:spcBef>
              <a:spcAft>
                <a:spcPts val="200"/>
              </a:spcAft>
              <a:buNone/>
            </a:pPr>
            <a:r>
              <a:rPr sz="2200" b="0" i="0">
                <a:solidFill>
                  <a:srgbClr val="F3F6FC"/>
                </a:solidFill>
                <a:latin typeface="Segoe UI Light"/>
              </a:rPr>
              <a:t>TLS</a:t>
            </a:r>
          </a:p>
          <a:p>
            <a:pPr algn="l" marL="0" indent="0">
              <a:lnSpc>
                <a:spcPct val="100000"/>
              </a:lnSpc>
              <a:spcBef>
                <a:spcPts val="0"/>
              </a:spcBef>
              <a:spcAft>
                <a:spcPts val="0"/>
              </a:spcAft>
              <a:buNone/>
            </a:pPr>
            <a:r>
              <a:rPr sz="1000" b="1" i="0" spc="160">
                <a:solidFill>
                  <a:srgbClr val="8493AD"/>
                </a:solidFill>
                <a:latin typeface="Segoe UI Semibold"/>
              </a:rPr>
              <a:t>HTTPS PROPIO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620000" y="300000"/>
            <a:ext cx="10952000" cy="24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240">
                <a:solidFill>
                  <a:srgbClr val="74A6FF"/>
                </a:solidFill>
                <a:latin typeface="Segoe UI Semibold"/>
              </a:rPr>
              <a:t>OBJETIVOS</a:t>
            </a:r>
          </a:p>
        </p:txBody>
      </p:sp>
      <p:sp>
        <p:nvSpPr>
          <p:cNvPr id="3" name="TextBox 2"/>
          <p:cNvSpPr txBox="1"/>
          <p:nvPr/>
        </p:nvSpPr>
        <p:spPr>
          <a:xfrm>
            <a:off x="620000" y="560000"/>
            <a:ext cx="10052000" cy="620000"/>
          </a:xfrm>
          <a:prstGeom prst="rect">
            <a:avLst/>
          </a:prstGeom>
          <a:noFill/>
        </p:spPr>
        <p:txBody>
          <a:bodyPr wrap="square" anchor="t" lIns="0" rIns="0" tIns="0" bIns="0">
            <a:noAutofit/>
          </a:bodyPr>
          <a:lstStyle/>
          <a:p>
            <a:pPr algn="l" marL="0" indent="0">
              <a:lnSpc>
                <a:spcPct val="105000"/>
              </a:lnSpc>
              <a:spcBef>
                <a:spcPts val="0"/>
              </a:spcBef>
              <a:spcAft>
                <a:spcPts val="0"/>
              </a:spcAft>
              <a:buNone/>
            </a:pPr>
            <a:r>
              <a:rPr sz="3000" b="0" i="0">
                <a:solidFill>
                  <a:srgbClr val="F3F6FC"/>
                </a:solidFill>
                <a:latin typeface="Segoe UI Light"/>
              </a:rPr>
              <a:t>Al terminar esta clase serás capaz de…</a:t>
            </a:r>
          </a:p>
        </p:txBody>
      </p:sp>
      <p:sp>
        <p:nvSpPr>
          <p:cNvPr id="4" name="Rectangle 3"/>
          <p:cNvSpPr/>
          <p:nvPr/>
        </p:nvSpPr>
        <p:spPr>
          <a:xfrm>
            <a:off x="620000" y="1230000"/>
            <a:ext cx="560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5" name="Rectangle 4"/>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6" name="TextBox 5"/>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5</a:t>
            </a:r>
          </a:p>
        </p:txBody>
      </p:sp>
      <p:sp>
        <p:nvSpPr>
          <p:cNvPr id="7" name="TextBox 6"/>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02</a:t>
            </a:r>
          </a:p>
        </p:txBody>
      </p:sp>
      <p:sp>
        <p:nvSpPr>
          <p:cNvPr id="8" name="Oval 7"/>
          <p:cNvSpPr/>
          <p:nvPr/>
        </p:nvSpPr>
        <p:spPr>
          <a:xfrm>
            <a:off x="10983200" y="326200"/>
            <a:ext cx="537600" cy="537600"/>
          </a:xfrm>
          <a:prstGeom prst="ellipse">
            <a:avLst/>
          </a:prstGeom>
          <a:noFill/>
          <a:ln w="38100">
            <a:solidFill>
              <a:srgbClr val="74A6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098400" y="441400"/>
            <a:ext cx="307200" cy="307200"/>
          </a:xfrm>
          <a:prstGeom prst="ellipse">
            <a:avLst/>
          </a:prstGeom>
          <a:noFill/>
          <a:ln w="38100">
            <a:solidFill>
              <a:srgbClr val="74A6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200800" y="543800"/>
            <a:ext cx="102400" cy="102400"/>
          </a:xfrm>
          <a:prstGeom prst="ellipse">
            <a:avLst/>
          </a:prstGeom>
          <a:solidFill>
            <a:srgbClr val="74A6FF"/>
          </a:solidFill>
          <a:ln w="6350">
            <a:solidFill>
              <a:srgbClr val="74A6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20000" y="206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1</a:t>
            </a:r>
          </a:p>
        </p:txBody>
      </p:sp>
      <p:sp>
        <p:nvSpPr>
          <p:cNvPr id="12" name="TextBox 11"/>
          <p:cNvSpPr txBox="1"/>
          <p:nvPr/>
        </p:nvSpPr>
        <p:spPr>
          <a:xfrm>
            <a:off x="1120000" y="1930000"/>
            <a:ext cx="1045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300" b="0" i="0">
                <a:solidFill>
                  <a:srgbClr val="BDC9DB"/>
                </a:solidFill>
                <a:latin typeface="Segoe UI"/>
              </a:rPr>
              <a:t>Elegir el tipo de Service correcto para cada necesidad de publicación.</a:t>
            </a:r>
          </a:p>
        </p:txBody>
      </p:sp>
      <p:sp>
        <p:nvSpPr>
          <p:cNvPr id="13" name="Oval 12"/>
          <p:cNvSpPr/>
          <p:nvPr/>
        </p:nvSpPr>
        <p:spPr>
          <a:xfrm>
            <a:off x="620000" y="262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2</a:t>
            </a:r>
          </a:p>
        </p:txBody>
      </p:sp>
      <p:sp>
        <p:nvSpPr>
          <p:cNvPr id="14" name="TextBox 13"/>
          <p:cNvSpPr txBox="1"/>
          <p:nvPr/>
        </p:nvSpPr>
        <p:spPr>
          <a:xfrm>
            <a:off x="1120000" y="2490000"/>
            <a:ext cx="1045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300" b="0" i="0">
                <a:solidFill>
                  <a:srgbClr val="BDC9DB"/>
                </a:solidFill>
                <a:latin typeface="Segoe UI"/>
              </a:rPr>
              <a:t>Explicar el modelo de red: Pod-to-Pod, Pod-to-Service y entrada desde fuera.</a:t>
            </a:r>
          </a:p>
        </p:txBody>
      </p:sp>
      <p:sp>
        <p:nvSpPr>
          <p:cNvPr id="15" name="Oval 14"/>
          <p:cNvSpPr/>
          <p:nvPr/>
        </p:nvSpPr>
        <p:spPr>
          <a:xfrm>
            <a:off x="620000" y="318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3</a:t>
            </a:r>
          </a:p>
        </p:txBody>
      </p:sp>
      <p:sp>
        <p:nvSpPr>
          <p:cNvPr id="16" name="TextBox 15"/>
          <p:cNvSpPr txBox="1"/>
          <p:nvPr/>
        </p:nvSpPr>
        <p:spPr>
          <a:xfrm>
            <a:off x="1120000" y="3050000"/>
            <a:ext cx="1045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300" b="0" i="0">
                <a:solidFill>
                  <a:srgbClr val="BDC9DB"/>
                </a:solidFill>
                <a:latin typeface="Segoe UI"/>
              </a:rPr>
              <a:t>Resolver nombres con CoreDNS y diagnosticar un fallo de resolución.</a:t>
            </a:r>
          </a:p>
        </p:txBody>
      </p:sp>
      <p:sp>
        <p:nvSpPr>
          <p:cNvPr id="17" name="Oval 16"/>
          <p:cNvSpPr/>
          <p:nvPr/>
        </p:nvSpPr>
        <p:spPr>
          <a:xfrm>
            <a:off x="620000" y="374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4</a:t>
            </a:r>
          </a:p>
        </p:txBody>
      </p:sp>
      <p:sp>
        <p:nvSpPr>
          <p:cNvPr id="18" name="TextBox 17"/>
          <p:cNvSpPr txBox="1"/>
          <p:nvPr/>
        </p:nvSpPr>
        <p:spPr>
          <a:xfrm>
            <a:off x="1120000" y="3610000"/>
            <a:ext cx="1045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300" b="0" i="0">
                <a:solidFill>
                  <a:srgbClr val="BDC9DB"/>
                </a:solidFill>
                <a:latin typeface="Segoe UI"/>
              </a:rPr>
              <a:t>Publicar varias aplicaciones tras una sola entrada, con HTTP y HTTPS.</a:t>
            </a:r>
          </a:p>
        </p:txBody>
      </p:sp>
      <p:sp>
        <p:nvSpPr>
          <p:cNvPr id="19" name="Oval 18"/>
          <p:cNvSpPr/>
          <p:nvPr/>
        </p:nvSpPr>
        <p:spPr>
          <a:xfrm>
            <a:off x="620000" y="430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5</a:t>
            </a:r>
          </a:p>
        </p:txBody>
      </p:sp>
      <p:sp>
        <p:nvSpPr>
          <p:cNvPr id="20" name="TextBox 19"/>
          <p:cNvSpPr txBox="1"/>
          <p:nvPr/>
        </p:nvSpPr>
        <p:spPr>
          <a:xfrm>
            <a:off x="1120000" y="4170000"/>
            <a:ext cx="1045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300" b="0" i="0">
                <a:solidFill>
                  <a:srgbClr val="BDC9DB"/>
                </a:solidFill>
                <a:latin typeface="Segoe UI"/>
              </a:rPr>
              <a:t>Situar Gateway API frente a Ingress y saber por qué existe.</a:t>
            </a:r>
          </a:p>
        </p:txBody>
      </p:sp>
      <p:sp>
        <p:nvSpPr>
          <p:cNvPr id="21" name="Oval 20"/>
          <p:cNvSpPr/>
          <p:nvPr/>
        </p:nvSpPr>
        <p:spPr>
          <a:xfrm>
            <a:off x="620000" y="486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6</a:t>
            </a:r>
          </a:p>
        </p:txBody>
      </p:sp>
      <p:sp>
        <p:nvSpPr>
          <p:cNvPr id="22" name="TextBox 21"/>
          <p:cNvSpPr txBox="1"/>
          <p:nvPr/>
        </p:nvSpPr>
        <p:spPr>
          <a:xfrm>
            <a:off x="1120000" y="4730000"/>
            <a:ext cx="1045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300" b="0" i="0">
                <a:solidFill>
                  <a:srgbClr val="BDC9DB"/>
                </a:solidFill>
                <a:latin typeface="Segoe UI"/>
              </a:rPr>
              <a:t>Escribir NetworkPolicies de Ingress y Egress, incluyendo default deny.</a:t>
            </a:r>
          </a:p>
        </p:txBody>
      </p:sp>
      <p:sp>
        <p:nvSpPr>
          <p:cNvPr id="23" name="Oval 22"/>
          <p:cNvSpPr/>
          <p:nvPr/>
        </p:nvSpPr>
        <p:spPr>
          <a:xfrm>
            <a:off x="620000" y="542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7</a:t>
            </a:r>
          </a:p>
        </p:txBody>
      </p:sp>
      <p:sp>
        <p:nvSpPr>
          <p:cNvPr id="24" name="TextBox 23"/>
          <p:cNvSpPr txBox="1"/>
          <p:nvPr/>
        </p:nvSpPr>
        <p:spPr>
          <a:xfrm>
            <a:off x="1120000" y="5290000"/>
            <a:ext cx="1045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300" b="0" i="0">
                <a:solidFill>
                  <a:srgbClr val="BDC9DB"/>
                </a:solidFill>
                <a:latin typeface="Segoe UI"/>
              </a:rPr>
              <a:t>Distinguir un fallo de DNS de uno de endpoints, de política o de Ingress.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620000" y="300000"/>
            <a:ext cx="10952000" cy="24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240">
                <a:solidFill>
                  <a:srgbClr val="74A6FF"/>
                </a:solidFill>
                <a:latin typeface="Segoe UI Semibold"/>
              </a:rPr>
              <a:t>180 MINUTOS</a:t>
            </a:r>
          </a:p>
        </p:txBody>
      </p:sp>
      <p:sp>
        <p:nvSpPr>
          <p:cNvPr id="3" name="TextBox 2"/>
          <p:cNvSpPr txBox="1"/>
          <p:nvPr/>
        </p:nvSpPr>
        <p:spPr>
          <a:xfrm>
            <a:off x="620000" y="560000"/>
            <a:ext cx="10052000" cy="620000"/>
          </a:xfrm>
          <a:prstGeom prst="rect">
            <a:avLst/>
          </a:prstGeom>
          <a:noFill/>
        </p:spPr>
        <p:txBody>
          <a:bodyPr wrap="square" anchor="t" lIns="0" rIns="0" tIns="0" bIns="0">
            <a:noAutofit/>
          </a:bodyPr>
          <a:lstStyle/>
          <a:p>
            <a:pPr algn="l" marL="0" indent="0">
              <a:lnSpc>
                <a:spcPct val="105000"/>
              </a:lnSpc>
              <a:spcBef>
                <a:spcPts val="0"/>
              </a:spcBef>
              <a:spcAft>
                <a:spcPts val="0"/>
              </a:spcAft>
              <a:buNone/>
            </a:pPr>
            <a:r>
              <a:rPr sz="3000" b="0" i="0">
                <a:solidFill>
                  <a:srgbClr val="F3F6FC"/>
                </a:solidFill>
                <a:latin typeface="Segoe UI Light"/>
              </a:rPr>
              <a:t>Agenda</a:t>
            </a:r>
          </a:p>
        </p:txBody>
      </p:sp>
      <p:sp>
        <p:nvSpPr>
          <p:cNvPr id="4" name="Rectangle 3"/>
          <p:cNvSpPr/>
          <p:nvPr/>
        </p:nvSpPr>
        <p:spPr>
          <a:xfrm>
            <a:off x="620000" y="1230000"/>
            <a:ext cx="560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5" name="Rectangle 4"/>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6" name="TextBox 5"/>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5</a:t>
            </a:r>
          </a:p>
        </p:txBody>
      </p:sp>
      <p:sp>
        <p:nvSpPr>
          <p:cNvPr id="7" name="TextBox 6"/>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03</a:t>
            </a:r>
          </a:p>
        </p:txBody>
      </p:sp>
      <p:sp>
        <p:nvSpPr>
          <p:cNvPr id="8" name="Oval 7"/>
          <p:cNvSpPr/>
          <p:nvPr/>
        </p:nvSpPr>
        <p:spPr>
          <a:xfrm>
            <a:off x="10983200" y="326200"/>
            <a:ext cx="537600" cy="537600"/>
          </a:xfrm>
          <a:prstGeom prst="ellipse">
            <a:avLst/>
          </a:prstGeom>
          <a:noFill/>
          <a:ln w="38100">
            <a:solidFill>
              <a:srgbClr val="74A6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Connector 8"/>
          <p:cNvCxnSpPr/>
          <p:nvPr/>
        </p:nvCxnSpPr>
        <p:spPr>
          <a:xfrm flipV="1">
            <a:off x="11252000" y="415800"/>
            <a:ext cx="0" cy="179200"/>
          </a:xfrm>
          <a:prstGeom prst="line">
            <a:avLst/>
          </a:prstGeom>
          <a:ln w="38100">
            <a:solidFill>
              <a:srgbClr val="74A6FF"/>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1252000" y="595000"/>
            <a:ext cx="128000" cy="51200"/>
          </a:xfrm>
          <a:prstGeom prst="line">
            <a:avLst/>
          </a:prstGeom>
          <a:ln w="38100">
            <a:solidFill>
              <a:srgbClr val="74A6FF"/>
            </a:solidFill>
          </a:ln>
          <a:effectLst/>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20000" y="1540000"/>
            <a:ext cx="1500000" cy="47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40">
                <a:solidFill>
                  <a:srgbClr val="8493AD"/>
                </a:solidFill>
                <a:latin typeface="Consolas"/>
              </a:rPr>
              <a:t>00–10</a:t>
            </a:r>
          </a:p>
        </p:txBody>
      </p:sp>
      <p:sp>
        <p:nvSpPr>
          <p:cNvPr id="12" name="Rectangle 11"/>
          <p:cNvSpPr/>
          <p:nvPr/>
        </p:nvSpPr>
        <p:spPr>
          <a:xfrm>
            <a:off x="2120000" y="1715000"/>
            <a:ext cx="8000" cy="120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3" name="TextBox 12"/>
          <p:cNvSpPr txBox="1"/>
          <p:nvPr/>
        </p:nvSpPr>
        <p:spPr>
          <a:xfrm>
            <a:off x="2320000" y="1540000"/>
            <a:ext cx="9252000" cy="47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300" b="0" i="0">
                <a:solidFill>
                  <a:srgbClr val="BDC9DB"/>
                </a:solidFill>
                <a:latin typeface="Segoe UI"/>
              </a:rPr>
              <a:t>Repaso de la Clase 4 y objetivos</a:t>
            </a:r>
          </a:p>
        </p:txBody>
      </p:sp>
      <p:sp>
        <p:nvSpPr>
          <p:cNvPr id="14" name="TextBox 13"/>
          <p:cNvSpPr txBox="1"/>
          <p:nvPr/>
        </p:nvSpPr>
        <p:spPr>
          <a:xfrm>
            <a:off x="620000" y="2010000"/>
            <a:ext cx="1500000" cy="47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40">
                <a:solidFill>
                  <a:srgbClr val="8493AD"/>
                </a:solidFill>
                <a:latin typeface="Consolas"/>
              </a:rPr>
              <a:t>10–30</a:t>
            </a:r>
          </a:p>
        </p:txBody>
      </p:sp>
      <p:sp>
        <p:nvSpPr>
          <p:cNvPr id="15" name="Rectangle 14"/>
          <p:cNvSpPr/>
          <p:nvPr/>
        </p:nvSpPr>
        <p:spPr>
          <a:xfrm>
            <a:off x="2120000" y="2185000"/>
            <a:ext cx="8000" cy="120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6" name="TextBox 15"/>
          <p:cNvSpPr txBox="1"/>
          <p:nvPr/>
        </p:nvSpPr>
        <p:spPr>
          <a:xfrm>
            <a:off x="2320000" y="2010000"/>
            <a:ext cx="9252000" cy="47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300" b="0" i="0">
                <a:solidFill>
                  <a:srgbClr val="BDC9DB"/>
                </a:solidFill>
                <a:latin typeface="Segoe UI"/>
              </a:rPr>
              <a:t>Conceptos: modelo de red, tipos de Service, EndpointSlice</a:t>
            </a:r>
          </a:p>
        </p:txBody>
      </p:sp>
      <p:sp>
        <p:nvSpPr>
          <p:cNvPr id="17" name="TextBox 16"/>
          <p:cNvSpPr txBox="1"/>
          <p:nvPr/>
        </p:nvSpPr>
        <p:spPr>
          <a:xfrm>
            <a:off x="620000" y="2480000"/>
            <a:ext cx="1500000" cy="47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40">
                <a:solidFill>
                  <a:srgbClr val="8493AD"/>
                </a:solidFill>
                <a:latin typeface="Consolas"/>
              </a:rPr>
              <a:t>30–45</a:t>
            </a:r>
          </a:p>
        </p:txBody>
      </p:sp>
      <p:sp>
        <p:nvSpPr>
          <p:cNvPr id="18" name="Rectangle 17"/>
          <p:cNvSpPr/>
          <p:nvPr/>
        </p:nvSpPr>
        <p:spPr>
          <a:xfrm>
            <a:off x="2120000" y="2655000"/>
            <a:ext cx="8000" cy="120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9" name="TextBox 18"/>
          <p:cNvSpPr txBox="1"/>
          <p:nvPr/>
        </p:nvSpPr>
        <p:spPr>
          <a:xfrm>
            <a:off x="2320000" y="2480000"/>
            <a:ext cx="9252000" cy="47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300" b="0" i="0">
                <a:solidFill>
                  <a:srgbClr val="BDC9DB"/>
                </a:solidFill>
                <a:latin typeface="Segoe UI"/>
              </a:rPr>
              <a:t>Conceptos: CoreDNS y resolución de nombres</a:t>
            </a:r>
          </a:p>
        </p:txBody>
      </p:sp>
      <p:sp>
        <p:nvSpPr>
          <p:cNvPr id="20" name="Rounded Rectangle 19"/>
          <p:cNvSpPr/>
          <p:nvPr/>
        </p:nvSpPr>
        <p:spPr>
          <a:xfrm>
            <a:off x="560000" y="2990000"/>
            <a:ext cx="11072000" cy="390000"/>
          </a:xfrm>
          <a:prstGeom prst="roundRect">
            <a:avLst>
              <a:gd name="adj" fmla="val 16000"/>
            </a:avLst>
          </a:prstGeom>
          <a:solidFill>
            <a:srgbClr val="111A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1" name="TextBox 20"/>
          <p:cNvSpPr txBox="1"/>
          <p:nvPr/>
        </p:nvSpPr>
        <p:spPr>
          <a:xfrm>
            <a:off x="620000" y="2950000"/>
            <a:ext cx="1500000" cy="47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40">
                <a:solidFill>
                  <a:srgbClr val="74A6FF"/>
                </a:solidFill>
                <a:latin typeface="Consolas"/>
              </a:rPr>
              <a:t>45–68</a:t>
            </a:r>
          </a:p>
        </p:txBody>
      </p:sp>
      <p:sp>
        <p:nvSpPr>
          <p:cNvPr id="22" name="Rectangle 21"/>
          <p:cNvSpPr/>
          <p:nvPr/>
        </p:nvSpPr>
        <p:spPr>
          <a:xfrm>
            <a:off x="2120000" y="3125000"/>
            <a:ext cx="8000" cy="120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3" name="TextBox 22"/>
          <p:cNvSpPr txBox="1"/>
          <p:nvPr/>
        </p:nvSpPr>
        <p:spPr>
          <a:xfrm>
            <a:off x="2320000" y="2950000"/>
            <a:ext cx="9252000" cy="47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300" b="1" i="0">
                <a:solidFill>
                  <a:srgbClr val="F3F6FC"/>
                </a:solidFill>
                <a:latin typeface="Segoe UI"/>
              </a:rPr>
              <a:t>LAB 5.1 — Básico: Services y DNS</a:t>
            </a:r>
          </a:p>
        </p:txBody>
      </p:sp>
      <p:sp>
        <p:nvSpPr>
          <p:cNvPr id="24" name="TextBox 23"/>
          <p:cNvSpPr txBox="1"/>
          <p:nvPr/>
        </p:nvSpPr>
        <p:spPr>
          <a:xfrm>
            <a:off x="620000" y="3420000"/>
            <a:ext cx="1500000" cy="47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40">
                <a:solidFill>
                  <a:srgbClr val="8493AD"/>
                </a:solidFill>
                <a:latin typeface="Consolas"/>
              </a:rPr>
              <a:t>68–85</a:t>
            </a:r>
          </a:p>
        </p:txBody>
      </p:sp>
      <p:sp>
        <p:nvSpPr>
          <p:cNvPr id="25" name="Rectangle 24"/>
          <p:cNvSpPr/>
          <p:nvPr/>
        </p:nvSpPr>
        <p:spPr>
          <a:xfrm>
            <a:off x="2120000" y="3595000"/>
            <a:ext cx="8000" cy="120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6" name="TextBox 25"/>
          <p:cNvSpPr txBox="1"/>
          <p:nvPr/>
        </p:nvSpPr>
        <p:spPr>
          <a:xfrm>
            <a:off x="2320000" y="3420000"/>
            <a:ext cx="9252000" cy="47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300" b="0" i="0">
                <a:solidFill>
                  <a:srgbClr val="BDC9DB"/>
                </a:solidFill>
                <a:latin typeface="Segoe UI"/>
              </a:rPr>
              <a:t>Conceptos: Ingress, controlador, TLS y Gateway API</a:t>
            </a:r>
          </a:p>
        </p:txBody>
      </p:sp>
      <p:sp>
        <p:nvSpPr>
          <p:cNvPr id="27" name="Rounded Rectangle 26"/>
          <p:cNvSpPr/>
          <p:nvPr/>
        </p:nvSpPr>
        <p:spPr>
          <a:xfrm>
            <a:off x="560000" y="3930000"/>
            <a:ext cx="11072000" cy="390000"/>
          </a:xfrm>
          <a:prstGeom prst="roundRect">
            <a:avLst>
              <a:gd name="adj" fmla="val 16000"/>
            </a:avLst>
          </a:prstGeom>
          <a:solidFill>
            <a:srgbClr val="111A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8" name="TextBox 27"/>
          <p:cNvSpPr txBox="1"/>
          <p:nvPr/>
        </p:nvSpPr>
        <p:spPr>
          <a:xfrm>
            <a:off x="620000" y="3890000"/>
            <a:ext cx="1500000" cy="47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40">
                <a:solidFill>
                  <a:srgbClr val="74A6FF"/>
                </a:solidFill>
                <a:latin typeface="Consolas"/>
              </a:rPr>
              <a:t>85–120</a:t>
            </a:r>
          </a:p>
        </p:txBody>
      </p:sp>
      <p:sp>
        <p:nvSpPr>
          <p:cNvPr id="29" name="Rectangle 28"/>
          <p:cNvSpPr/>
          <p:nvPr/>
        </p:nvSpPr>
        <p:spPr>
          <a:xfrm>
            <a:off x="2120000" y="4065000"/>
            <a:ext cx="8000" cy="120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30" name="TextBox 29"/>
          <p:cNvSpPr txBox="1"/>
          <p:nvPr/>
        </p:nvSpPr>
        <p:spPr>
          <a:xfrm>
            <a:off x="2320000" y="3890000"/>
            <a:ext cx="9252000" cy="47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300" b="1" i="0">
                <a:solidFill>
                  <a:srgbClr val="F3F6FC"/>
                </a:solidFill>
                <a:latin typeface="Segoe UI"/>
              </a:rPr>
              <a:t>LAB 5.2 — Intermedio: Ingress con HTTP y HTTPS</a:t>
            </a:r>
          </a:p>
        </p:txBody>
      </p:sp>
      <p:sp>
        <p:nvSpPr>
          <p:cNvPr id="31" name="TextBox 30"/>
          <p:cNvSpPr txBox="1"/>
          <p:nvPr/>
        </p:nvSpPr>
        <p:spPr>
          <a:xfrm>
            <a:off x="620000" y="4360000"/>
            <a:ext cx="1500000" cy="47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40">
                <a:solidFill>
                  <a:srgbClr val="8493AD"/>
                </a:solidFill>
                <a:latin typeface="Consolas"/>
              </a:rPr>
              <a:t>120–133</a:t>
            </a:r>
          </a:p>
        </p:txBody>
      </p:sp>
      <p:sp>
        <p:nvSpPr>
          <p:cNvPr id="32" name="Rectangle 31"/>
          <p:cNvSpPr/>
          <p:nvPr/>
        </p:nvSpPr>
        <p:spPr>
          <a:xfrm>
            <a:off x="2120000" y="4535000"/>
            <a:ext cx="8000" cy="120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33" name="TextBox 32"/>
          <p:cNvSpPr txBox="1"/>
          <p:nvPr/>
        </p:nvSpPr>
        <p:spPr>
          <a:xfrm>
            <a:off x="2320000" y="4360000"/>
            <a:ext cx="9252000" cy="47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300" b="0" i="0">
                <a:solidFill>
                  <a:srgbClr val="BDC9DB"/>
                </a:solidFill>
                <a:latin typeface="Segoe UI"/>
              </a:rPr>
              <a:t>Conceptos: NetworkPolicy</a:t>
            </a:r>
          </a:p>
        </p:txBody>
      </p:sp>
      <p:sp>
        <p:nvSpPr>
          <p:cNvPr id="34" name="Rounded Rectangle 33"/>
          <p:cNvSpPr/>
          <p:nvPr/>
        </p:nvSpPr>
        <p:spPr>
          <a:xfrm>
            <a:off x="560000" y="4870000"/>
            <a:ext cx="11072000" cy="390000"/>
          </a:xfrm>
          <a:prstGeom prst="roundRect">
            <a:avLst>
              <a:gd name="adj" fmla="val 16000"/>
            </a:avLst>
          </a:prstGeom>
          <a:solidFill>
            <a:srgbClr val="111A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35" name="TextBox 34"/>
          <p:cNvSpPr txBox="1"/>
          <p:nvPr/>
        </p:nvSpPr>
        <p:spPr>
          <a:xfrm>
            <a:off x="620000" y="4830000"/>
            <a:ext cx="1500000" cy="47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40">
                <a:solidFill>
                  <a:srgbClr val="74A6FF"/>
                </a:solidFill>
                <a:latin typeface="Consolas"/>
              </a:rPr>
              <a:t>133–160</a:t>
            </a:r>
          </a:p>
        </p:txBody>
      </p:sp>
      <p:sp>
        <p:nvSpPr>
          <p:cNvPr id="36" name="Rectangle 35"/>
          <p:cNvSpPr/>
          <p:nvPr/>
        </p:nvSpPr>
        <p:spPr>
          <a:xfrm>
            <a:off x="2120000" y="5005000"/>
            <a:ext cx="8000" cy="120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37" name="TextBox 36"/>
          <p:cNvSpPr txBox="1"/>
          <p:nvPr/>
        </p:nvSpPr>
        <p:spPr>
          <a:xfrm>
            <a:off x="2320000" y="4830000"/>
            <a:ext cx="9252000" cy="47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300" b="1" i="0">
                <a:solidFill>
                  <a:srgbClr val="F3F6FC"/>
                </a:solidFill>
                <a:latin typeface="Segoe UI"/>
              </a:rPr>
              <a:t>LAB 5.3 — Avanzado: aislar frontend y backend</a:t>
            </a:r>
          </a:p>
        </p:txBody>
      </p:sp>
      <p:sp>
        <p:nvSpPr>
          <p:cNvPr id="38" name="Rounded Rectangle 37"/>
          <p:cNvSpPr/>
          <p:nvPr/>
        </p:nvSpPr>
        <p:spPr>
          <a:xfrm>
            <a:off x="560000" y="5340000"/>
            <a:ext cx="11072000" cy="390000"/>
          </a:xfrm>
          <a:prstGeom prst="roundRect">
            <a:avLst>
              <a:gd name="adj" fmla="val 16000"/>
            </a:avLst>
          </a:prstGeom>
          <a:solidFill>
            <a:srgbClr val="111A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39" name="TextBox 38"/>
          <p:cNvSpPr txBox="1"/>
          <p:nvPr/>
        </p:nvSpPr>
        <p:spPr>
          <a:xfrm>
            <a:off x="620000" y="5300000"/>
            <a:ext cx="1500000" cy="47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40">
                <a:solidFill>
                  <a:srgbClr val="74A6FF"/>
                </a:solidFill>
                <a:latin typeface="Consolas"/>
              </a:rPr>
              <a:t>160–176</a:t>
            </a:r>
          </a:p>
        </p:txBody>
      </p:sp>
      <p:sp>
        <p:nvSpPr>
          <p:cNvPr id="40" name="Rectangle 39"/>
          <p:cNvSpPr/>
          <p:nvPr/>
        </p:nvSpPr>
        <p:spPr>
          <a:xfrm>
            <a:off x="2120000" y="5475000"/>
            <a:ext cx="8000" cy="120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41" name="TextBox 40"/>
          <p:cNvSpPr txBox="1"/>
          <p:nvPr/>
        </p:nvSpPr>
        <p:spPr>
          <a:xfrm>
            <a:off x="2320000" y="5300000"/>
            <a:ext cx="9252000" cy="47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300" b="1" i="0">
                <a:solidFill>
                  <a:srgbClr val="F3F6FC"/>
                </a:solidFill>
                <a:latin typeface="Segoe UI"/>
              </a:rPr>
              <a:t>LAB 5.4 — Challenge: «la red está rota»</a:t>
            </a:r>
          </a:p>
        </p:txBody>
      </p:sp>
      <p:sp>
        <p:nvSpPr>
          <p:cNvPr id="42" name="TextBox 41"/>
          <p:cNvSpPr txBox="1"/>
          <p:nvPr/>
        </p:nvSpPr>
        <p:spPr>
          <a:xfrm>
            <a:off x="620000" y="5770000"/>
            <a:ext cx="1500000" cy="47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40">
                <a:solidFill>
                  <a:srgbClr val="8493AD"/>
                </a:solidFill>
                <a:latin typeface="Consolas"/>
              </a:rPr>
              <a:t>176–180</a:t>
            </a:r>
          </a:p>
        </p:txBody>
      </p:sp>
      <p:sp>
        <p:nvSpPr>
          <p:cNvPr id="43" name="Rectangle 42"/>
          <p:cNvSpPr/>
          <p:nvPr/>
        </p:nvSpPr>
        <p:spPr>
          <a:xfrm>
            <a:off x="2120000" y="5945000"/>
            <a:ext cx="8000" cy="120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44" name="TextBox 43"/>
          <p:cNvSpPr txBox="1"/>
          <p:nvPr/>
        </p:nvSpPr>
        <p:spPr>
          <a:xfrm>
            <a:off x="2320000" y="5770000"/>
            <a:ext cx="9252000" cy="47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300" b="0" i="0">
                <a:solidFill>
                  <a:srgbClr val="BDC9DB"/>
                </a:solidFill>
                <a:latin typeface="Segoe UI"/>
              </a:rPr>
              <a:t>Cierre y CKA Tips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E172A"/>
        </a:solidFill>
        <a:effectLst/>
      </p:bgPr>
    </p:bg>
    <p:spTree>
      <p:nvGrpSpPr>
        <p:cNvPr id="1" name=""/>
        <p:cNvGrpSpPr/>
        <p:nvPr/>
      </p:nvGrpSpPr>
      <p:grpSpPr/>
      <p:sp>
        <p:nvSpPr>
          <p:cNvPr id="2" name="Oval 1"/>
          <p:cNvSpPr/>
          <p:nvPr/>
        </p:nvSpPr>
        <p:spPr>
          <a:xfrm>
            <a:off x="-1500000" y="4258000"/>
            <a:ext cx="4200000" cy="4200000"/>
          </a:xfrm>
          <a:prstGeom prst="ellipse">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svc.png"/>
          <p:cNvPicPr>
            <a:picLocks noChangeAspect="1"/>
          </p:cNvPicPr>
          <p:nvPr/>
        </p:nvPicPr>
        <p:blipFill>
          <a:blip r:embed="rId2"/>
          <a:stretch>
            <a:fillRect/>
          </a:stretch>
        </p:blipFill>
        <p:spPr>
          <a:xfrm>
            <a:off x="8842000" y="2150000"/>
            <a:ext cx="1800000" cy="1800000"/>
          </a:xfrm>
          <a:prstGeom prst="rect">
            <a:avLst/>
          </a:prstGeom>
        </p:spPr>
      </p:pic>
      <p:sp>
        <p:nvSpPr>
          <p:cNvPr id="4" name="TextBox 3"/>
          <p:cNvSpPr txBox="1"/>
          <p:nvPr/>
        </p:nvSpPr>
        <p:spPr>
          <a:xfrm>
            <a:off x="590000" y="1150000"/>
            <a:ext cx="4000000" cy="2600000"/>
          </a:xfrm>
          <a:prstGeom prst="rect">
            <a:avLst/>
          </a:prstGeom>
          <a:noFill/>
        </p:spPr>
        <p:txBody>
          <a:bodyPr wrap="square" anchor="t" lIns="0" rIns="0" tIns="0" bIns="0">
            <a:noAutofit/>
          </a:bodyPr>
          <a:lstStyle/>
          <a:p>
            <a:pPr algn="l" marL="0" indent="0">
              <a:lnSpc>
                <a:spcPct val="90000"/>
              </a:lnSpc>
              <a:spcBef>
                <a:spcPts val="0"/>
              </a:spcBef>
              <a:spcAft>
                <a:spcPts val="0"/>
              </a:spcAft>
              <a:buNone/>
            </a:pPr>
            <a:r>
              <a:rPr sz="15000" b="0" i="0">
                <a:solidFill>
                  <a:srgbClr val="4C5B75"/>
                </a:solidFill>
                <a:latin typeface="Segoe UI Light"/>
              </a:rPr>
              <a:t>01</a:t>
            </a:r>
          </a:p>
        </p:txBody>
      </p:sp>
      <p:sp>
        <p:nvSpPr>
          <p:cNvPr id="5" name="TextBox 4"/>
          <p:cNvSpPr txBox="1"/>
          <p:nvPr/>
        </p:nvSpPr>
        <p:spPr>
          <a:xfrm>
            <a:off x="640000" y="3050000"/>
            <a:ext cx="9200000" cy="3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260">
                <a:solidFill>
                  <a:srgbClr val="74A6FF"/>
                </a:solidFill>
                <a:latin typeface="Segoe UI Semibold"/>
              </a:rPr>
              <a:t>BLOQUE 1</a:t>
            </a:r>
          </a:p>
        </p:txBody>
      </p:sp>
      <p:sp>
        <p:nvSpPr>
          <p:cNvPr id="6" name="TextBox 5"/>
          <p:cNvSpPr txBox="1"/>
          <p:nvPr/>
        </p:nvSpPr>
        <p:spPr>
          <a:xfrm>
            <a:off x="640000" y="3350000"/>
            <a:ext cx="10200000" cy="1000000"/>
          </a:xfrm>
          <a:prstGeom prst="rect">
            <a:avLst/>
          </a:prstGeom>
          <a:noFill/>
        </p:spPr>
        <p:txBody>
          <a:bodyPr wrap="square" anchor="t" lIns="0" rIns="0" tIns="0" bIns="0">
            <a:noAutofit/>
          </a:bodyPr>
          <a:lstStyle/>
          <a:p>
            <a:pPr algn="l" marL="0" indent="0">
              <a:lnSpc>
                <a:spcPct val="102000"/>
              </a:lnSpc>
              <a:spcBef>
                <a:spcPts val="0"/>
              </a:spcBef>
              <a:spcAft>
                <a:spcPts val="0"/>
              </a:spcAft>
              <a:buNone/>
            </a:pPr>
            <a:r>
              <a:rPr sz="5400" b="0" i="0">
                <a:solidFill>
                  <a:srgbClr val="F3F6FC"/>
                </a:solidFill>
                <a:latin typeface="Segoe UI Light"/>
              </a:rPr>
              <a:t>Services y DNS</a:t>
            </a:r>
          </a:p>
        </p:txBody>
      </p:sp>
      <p:sp>
        <p:nvSpPr>
          <p:cNvPr id="7" name="Rectangle 6"/>
          <p:cNvSpPr/>
          <p:nvPr/>
        </p:nvSpPr>
        <p:spPr>
          <a:xfrm>
            <a:off x="644000" y="4380000"/>
            <a:ext cx="620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8" name="TextBox 7"/>
          <p:cNvSpPr txBox="1"/>
          <p:nvPr/>
        </p:nvSpPr>
        <p:spPr>
          <a:xfrm>
            <a:off x="640000" y="4560000"/>
            <a:ext cx="9600000" cy="620000"/>
          </a:xfrm>
          <a:prstGeom prst="rect">
            <a:avLst/>
          </a:prstGeom>
          <a:noFill/>
        </p:spPr>
        <p:txBody>
          <a:bodyPr wrap="square" anchor="t" lIns="0" rIns="0" tIns="0" bIns="0">
            <a:noAutofit/>
          </a:bodyPr>
          <a:lstStyle/>
          <a:p>
            <a:pPr algn="l" marL="0" indent="0">
              <a:lnSpc>
                <a:spcPct val="120000"/>
              </a:lnSpc>
              <a:spcBef>
                <a:spcPts val="0"/>
              </a:spcBef>
              <a:spcAft>
                <a:spcPts val="0"/>
              </a:spcAft>
              <a:buNone/>
            </a:pPr>
            <a:r>
              <a:rPr sz="1500" b="0" i="1">
                <a:solidFill>
                  <a:srgbClr val="BDC9DB"/>
                </a:solidFill>
                <a:latin typeface="Segoe UI"/>
              </a:rPr>
              <a:t>Lo que hay debajo de cualquier problema de red</a:t>
            </a:r>
          </a:p>
        </p:txBody>
      </p:sp>
      <p:sp>
        <p:nvSpPr>
          <p:cNvPr id="9" name="Rectangle 8"/>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0" name="TextBox 9"/>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5</a:t>
            </a:r>
          </a:p>
        </p:txBody>
      </p:sp>
      <p:sp>
        <p:nvSpPr>
          <p:cNvPr id="11" name="TextBox 10"/>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620000" y="300000"/>
            <a:ext cx="10952000" cy="24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240">
                <a:solidFill>
                  <a:srgbClr val="74A6FF"/>
                </a:solidFill>
                <a:latin typeface="Segoe UI Semibold"/>
              </a:rPr>
              <a:t>RUTA DEL TRÁFICO</a:t>
            </a:r>
          </a:p>
        </p:txBody>
      </p:sp>
      <p:sp>
        <p:nvSpPr>
          <p:cNvPr id="3" name="TextBox 2"/>
          <p:cNvSpPr txBox="1"/>
          <p:nvPr/>
        </p:nvSpPr>
        <p:spPr>
          <a:xfrm>
            <a:off x="620000" y="560000"/>
            <a:ext cx="10052000" cy="620000"/>
          </a:xfrm>
          <a:prstGeom prst="rect">
            <a:avLst/>
          </a:prstGeom>
          <a:noFill/>
        </p:spPr>
        <p:txBody>
          <a:bodyPr wrap="square" anchor="t" lIns="0" rIns="0" tIns="0" bIns="0">
            <a:noAutofit/>
          </a:bodyPr>
          <a:lstStyle/>
          <a:p>
            <a:pPr algn="l" marL="0" indent="0">
              <a:lnSpc>
                <a:spcPct val="105000"/>
              </a:lnSpc>
              <a:spcBef>
                <a:spcPts val="0"/>
              </a:spcBef>
              <a:spcAft>
                <a:spcPts val="0"/>
              </a:spcAft>
              <a:buNone/>
            </a:pPr>
            <a:r>
              <a:rPr sz="3000" b="0" i="0">
                <a:solidFill>
                  <a:srgbClr val="F3F6FC"/>
                </a:solidFill>
                <a:latin typeface="Segoe UI Light"/>
              </a:rPr>
              <a:t>Cómo llega un paquete a un Pod</a:t>
            </a:r>
          </a:p>
        </p:txBody>
      </p:sp>
      <p:sp>
        <p:nvSpPr>
          <p:cNvPr id="4" name="Rectangle 3"/>
          <p:cNvSpPr/>
          <p:nvPr/>
        </p:nvSpPr>
        <p:spPr>
          <a:xfrm>
            <a:off x="620000" y="1230000"/>
            <a:ext cx="560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5" name="Rectangle 4"/>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6" name="TextBox 5"/>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5</a:t>
            </a:r>
          </a:p>
        </p:txBody>
      </p:sp>
      <p:sp>
        <p:nvSpPr>
          <p:cNvPr id="7" name="TextBox 6"/>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05</a:t>
            </a:r>
          </a:p>
        </p:txBody>
      </p:sp>
      <p:pic>
        <p:nvPicPr>
          <p:cNvPr id="8" name="Picture 7" descr="svc.png"/>
          <p:cNvPicPr>
            <a:picLocks noChangeAspect="1"/>
          </p:cNvPicPr>
          <p:nvPr/>
        </p:nvPicPr>
        <p:blipFill>
          <a:blip r:embed="rId2"/>
          <a:stretch>
            <a:fillRect/>
          </a:stretch>
        </p:blipFill>
        <p:spPr>
          <a:xfrm>
            <a:off x="10932000" y="275000"/>
            <a:ext cx="640000" cy="640000"/>
          </a:xfrm>
          <a:prstGeom prst="rect">
            <a:avLst/>
          </a:prstGeom>
        </p:spPr>
      </p:pic>
      <p:sp>
        <p:nvSpPr>
          <p:cNvPr id="9" name="Rounded Rectangle 8"/>
          <p:cNvSpPr/>
          <p:nvPr/>
        </p:nvSpPr>
        <p:spPr>
          <a:xfrm>
            <a:off x="620000" y="1670000"/>
            <a:ext cx="2022400" cy="700000"/>
          </a:xfrm>
          <a:prstGeom prst="roundRect">
            <a:avLst>
              <a:gd name="adj" fmla="val 11000"/>
            </a:avLst>
          </a:prstGeom>
          <a:solidFill>
            <a:srgbClr val="141E33"/>
          </a:solidFill>
          <a:ln w="15875">
            <a:solidFill>
              <a:srgbClr val="326CE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0" name="TextBox 9"/>
          <p:cNvSpPr txBox="1"/>
          <p:nvPr/>
        </p:nvSpPr>
        <p:spPr>
          <a:xfrm>
            <a:off x="690000" y="1670000"/>
            <a:ext cx="1882400" cy="700000"/>
          </a:xfrm>
          <a:prstGeom prst="rect">
            <a:avLst/>
          </a:prstGeom>
          <a:noFill/>
        </p:spPr>
        <p:txBody>
          <a:bodyPr wrap="square" anchor="ctr" lIns="0" rIns="0" tIns="0" bIns="0">
            <a:noAutofit/>
          </a:bodyPr>
          <a:lstStyle/>
          <a:p>
            <a:pPr algn="ctr" marL="0" indent="0">
              <a:lnSpc>
                <a:spcPct val="112000"/>
              </a:lnSpc>
              <a:spcBef>
                <a:spcPts val="0"/>
              </a:spcBef>
              <a:spcAft>
                <a:spcPts val="0"/>
              </a:spcAft>
              <a:buNone/>
            </a:pPr>
            <a:r>
              <a:rPr sz="1100" b="1" i="0">
                <a:solidFill>
                  <a:srgbClr val="F3F6FC"/>
                </a:solidFill>
                <a:latin typeface="Segoe UI Semibold"/>
              </a:rPr>
              <a:t>Cliente</a:t>
            </a:r>
          </a:p>
        </p:txBody>
      </p:sp>
      <p:cxnSp>
        <p:nvCxnSpPr>
          <p:cNvPr id="11" name="Connector 10"/>
          <p:cNvCxnSpPr/>
          <p:nvPr/>
        </p:nvCxnSpPr>
        <p:spPr>
          <a:xfrm>
            <a:off x="2666400" y="2020000"/>
            <a:ext cx="162000" cy="0"/>
          </a:xfrm>
          <a:prstGeom prst="line">
            <a:avLst/>
          </a:prstGeom>
          <a:ln w="22225">
            <a:solidFill>
              <a:srgbClr val="74A6F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852400" y="1670000"/>
            <a:ext cx="2022400" cy="700000"/>
          </a:xfrm>
          <a:prstGeom prst="roundRect">
            <a:avLst>
              <a:gd name="adj" fmla="val 11000"/>
            </a:avLst>
          </a:prstGeom>
          <a:solidFill>
            <a:srgbClr val="141E33"/>
          </a:solidFill>
          <a:ln w="15875">
            <a:solidFill>
              <a:srgbClr val="326CE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3" name="TextBox 12"/>
          <p:cNvSpPr txBox="1"/>
          <p:nvPr/>
        </p:nvSpPr>
        <p:spPr>
          <a:xfrm>
            <a:off x="2922400" y="1670000"/>
            <a:ext cx="1882400" cy="700000"/>
          </a:xfrm>
          <a:prstGeom prst="rect">
            <a:avLst/>
          </a:prstGeom>
          <a:noFill/>
        </p:spPr>
        <p:txBody>
          <a:bodyPr wrap="square" anchor="ctr" lIns="0" rIns="0" tIns="0" bIns="0">
            <a:noAutofit/>
          </a:bodyPr>
          <a:lstStyle/>
          <a:p>
            <a:pPr algn="ctr" marL="0" indent="0">
              <a:lnSpc>
                <a:spcPct val="112000"/>
              </a:lnSpc>
              <a:spcBef>
                <a:spcPts val="0"/>
              </a:spcBef>
              <a:spcAft>
                <a:spcPts val="0"/>
              </a:spcAft>
              <a:buNone/>
            </a:pPr>
            <a:r>
              <a:rPr sz="1100" b="1" i="0">
                <a:solidFill>
                  <a:srgbClr val="F3F6FC"/>
                </a:solidFill>
                <a:latin typeface="Segoe UI Semibold"/>
              </a:rPr>
              <a:t>ClusterIP (virtual)</a:t>
            </a:r>
          </a:p>
        </p:txBody>
      </p:sp>
      <p:cxnSp>
        <p:nvCxnSpPr>
          <p:cNvPr id="14" name="Connector 13"/>
          <p:cNvCxnSpPr/>
          <p:nvPr/>
        </p:nvCxnSpPr>
        <p:spPr>
          <a:xfrm>
            <a:off x="4898800" y="2020000"/>
            <a:ext cx="162000" cy="0"/>
          </a:xfrm>
          <a:prstGeom prst="line">
            <a:avLst/>
          </a:prstGeom>
          <a:ln w="22225">
            <a:solidFill>
              <a:srgbClr val="74A6F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084800" y="1670000"/>
            <a:ext cx="2022400" cy="700000"/>
          </a:xfrm>
          <a:prstGeom prst="roundRect">
            <a:avLst>
              <a:gd name="adj" fmla="val 11000"/>
            </a:avLst>
          </a:prstGeom>
          <a:solidFill>
            <a:srgbClr val="141E33"/>
          </a:solidFill>
          <a:ln w="15875">
            <a:solidFill>
              <a:srgbClr val="326CE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6" name="TextBox 15"/>
          <p:cNvSpPr txBox="1"/>
          <p:nvPr/>
        </p:nvSpPr>
        <p:spPr>
          <a:xfrm>
            <a:off x="5154800" y="1670000"/>
            <a:ext cx="1882400" cy="700000"/>
          </a:xfrm>
          <a:prstGeom prst="rect">
            <a:avLst/>
          </a:prstGeom>
          <a:noFill/>
        </p:spPr>
        <p:txBody>
          <a:bodyPr wrap="square" anchor="ctr" lIns="0" rIns="0" tIns="0" bIns="0">
            <a:noAutofit/>
          </a:bodyPr>
          <a:lstStyle/>
          <a:p>
            <a:pPr algn="ctr" marL="0" indent="0">
              <a:lnSpc>
                <a:spcPct val="112000"/>
              </a:lnSpc>
              <a:spcBef>
                <a:spcPts val="0"/>
              </a:spcBef>
              <a:spcAft>
                <a:spcPts val="0"/>
              </a:spcAft>
              <a:buNone/>
            </a:pPr>
            <a:r>
              <a:rPr sz="1100" b="1" i="0">
                <a:solidFill>
                  <a:srgbClr val="F3F6FC"/>
                </a:solidFill>
                <a:latin typeface="Segoe UI Semibold"/>
              </a:rPr>
              <a:t>kube-proxy · iptables/IPVS</a:t>
            </a:r>
          </a:p>
        </p:txBody>
      </p:sp>
      <p:cxnSp>
        <p:nvCxnSpPr>
          <p:cNvPr id="17" name="Connector 16"/>
          <p:cNvCxnSpPr/>
          <p:nvPr/>
        </p:nvCxnSpPr>
        <p:spPr>
          <a:xfrm>
            <a:off x="7131200" y="2020000"/>
            <a:ext cx="162000" cy="0"/>
          </a:xfrm>
          <a:prstGeom prst="line">
            <a:avLst/>
          </a:prstGeom>
          <a:ln w="22225">
            <a:solidFill>
              <a:srgbClr val="74A6F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7317200" y="1670000"/>
            <a:ext cx="2022400" cy="700000"/>
          </a:xfrm>
          <a:prstGeom prst="roundRect">
            <a:avLst>
              <a:gd name="adj" fmla="val 11000"/>
            </a:avLst>
          </a:prstGeom>
          <a:solidFill>
            <a:srgbClr val="141E33"/>
          </a:solidFill>
          <a:ln w="15875">
            <a:solidFill>
              <a:srgbClr val="326CE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9" name="TextBox 18"/>
          <p:cNvSpPr txBox="1"/>
          <p:nvPr/>
        </p:nvSpPr>
        <p:spPr>
          <a:xfrm>
            <a:off x="7387200" y="1670000"/>
            <a:ext cx="1882400" cy="700000"/>
          </a:xfrm>
          <a:prstGeom prst="rect">
            <a:avLst/>
          </a:prstGeom>
          <a:noFill/>
        </p:spPr>
        <p:txBody>
          <a:bodyPr wrap="square" anchor="ctr" lIns="0" rIns="0" tIns="0" bIns="0">
            <a:noAutofit/>
          </a:bodyPr>
          <a:lstStyle/>
          <a:p>
            <a:pPr algn="ctr" marL="0" indent="0">
              <a:lnSpc>
                <a:spcPct val="112000"/>
              </a:lnSpc>
              <a:spcBef>
                <a:spcPts val="0"/>
              </a:spcBef>
              <a:spcAft>
                <a:spcPts val="0"/>
              </a:spcAft>
              <a:buNone/>
            </a:pPr>
            <a:r>
              <a:rPr sz="1100" b="1" i="0">
                <a:solidFill>
                  <a:srgbClr val="F3F6FC"/>
                </a:solidFill>
                <a:latin typeface="Segoe UI Semibold"/>
              </a:rPr>
              <a:t>EndpointSlice</a:t>
            </a:r>
          </a:p>
        </p:txBody>
      </p:sp>
      <p:cxnSp>
        <p:nvCxnSpPr>
          <p:cNvPr id="20" name="Connector 19"/>
          <p:cNvCxnSpPr/>
          <p:nvPr/>
        </p:nvCxnSpPr>
        <p:spPr>
          <a:xfrm>
            <a:off x="9363600" y="2020000"/>
            <a:ext cx="162000" cy="0"/>
          </a:xfrm>
          <a:prstGeom prst="line">
            <a:avLst/>
          </a:prstGeom>
          <a:ln w="22225">
            <a:solidFill>
              <a:srgbClr val="74A6F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9549600" y="1670000"/>
            <a:ext cx="2022400" cy="700000"/>
          </a:xfrm>
          <a:prstGeom prst="roundRect">
            <a:avLst>
              <a:gd name="adj" fmla="val 11000"/>
            </a:avLst>
          </a:prstGeom>
          <a:solidFill>
            <a:srgbClr val="141E33"/>
          </a:solidFill>
          <a:ln w="15875">
            <a:solidFill>
              <a:srgbClr val="326CE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2" name="TextBox 21"/>
          <p:cNvSpPr txBox="1"/>
          <p:nvPr/>
        </p:nvSpPr>
        <p:spPr>
          <a:xfrm>
            <a:off x="9619600" y="1670000"/>
            <a:ext cx="1882400" cy="700000"/>
          </a:xfrm>
          <a:prstGeom prst="rect">
            <a:avLst/>
          </a:prstGeom>
          <a:noFill/>
        </p:spPr>
        <p:txBody>
          <a:bodyPr wrap="square" anchor="ctr" lIns="0" rIns="0" tIns="0" bIns="0">
            <a:noAutofit/>
          </a:bodyPr>
          <a:lstStyle/>
          <a:p>
            <a:pPr algn="ctr" marL="0" indent="0">
              <a:lnSpc>
                <a:spcPct val="112000"/>
              </a:lnSpc>
              <a:spcBef>
                <a:spcPts val="0"/>
              </a:spcBef>
              <a:spcAft>
                <a:spcPts val="0"/>
              </a:spcAft>
              <a:buNone/>
            </a:pPr>
            <a:r>
              <a:rPr sz="1100" b="1" i="0">
                <a:solidFill>
                  <a:srgbClr val="F3F6FC"/>
                </a:solidFill>
                <a:latin typeface="Segoe UI Semibold"/>
              </a:rPr>
              <a:t>IP del Pod : targetPort</a:t>
            </a:r>
          </a:p>
        </p:txBody>
      </p:sp>
      <p:sp>
        <p:nvSpPr>
          <p:cNvPr id="23" name="Rounded Rectangle 22"/>
          <p:cNvSpPr/>
          <p:nvPr/>
        </p:nvSpPr>
        <p:spPr>
          <a:xfrm>
            <a:off x="620000" y="2670000"/>
            <a:ext cx="10952000" cy="3610000"/>
          </a:xfrm>
          <a:prstGeom prst="roundRect">
            <a:avLst>
              <a:gd name="adj" fmla="val 4500"/>
            </a:avLst>
          </a:prstGeom>
          <a:solidFill>
            <a:srgbClr val="111A2C"/>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4" name="Rectangle 23"/>
          <p:cNvSpPr/>
          <p:nvPr/>
        </p:nvSpPr>
        <p:spPr>
          <a:xfrm>
            <a:off x="646000" y="2692000"/>
            <a:ext cx="40000" cy="356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5" name="TextBox 24"/>
          <p:cNvSpPr txBox="1"/>
          <p:nvPr/>
        </p:nvSpPr>
        <p:spPr>
          <a:xfrm>
            <a:off x="860000" y="2800000"/>
            <a:ext cx="10522000" cy="3350000"/>
          </a:xfrm>
          <a:prstGeom prst="rect">
            <a:avLst/>
          </a:prstGeom>
          <a:noFill/>
        </p:spPr>
        <p:txBody>
          <a:bodyPr wrap="square" anchor="t" lIns="0" rIns="0" tIns="0" bIns="0">
            <a:noAutofit/>
          </a:bodyPr>
          <a:lstStyle/>
          <a:p>
            <a:pPr algn="l" marL="0" indent="0">
              <a:lnSpc>
                <a:spcPct val="100000"/>
              </a:lnSpc>
              <a:spcBef>
                <a:spcPts val="0"/>
              </a:spcBef>
              <a:spcAft>
                <a:spcPts val="600"/>
              </a:spcAft>
              <a:buNone/>
            </a:pPr>
            <a:r>
              <a:rPr sz="900" b="1" i="0" spc="200">
                <a:solidFill>
                  <a:srgbClr val="326CE5"/>
                </a:solidFill>
                <a:latin typeface="Segoe UI Semibold"/>
              </a:rPr>
              <a:t>TRES CONSECUENCIAS PRÁCTICAS</a:t>
            </a:r>
          </a:p>
          <a:p>
            <a:pPr algn="l" marL="0" indent="0">
              <a:lnSpc>
                <a:spcPct val="128000"/>
              </a:lnSpc>
              <a:spcBef>
                <a:spcPts val="0"/>
              </a:spcBef>
              <a:spcAft>
                <a:spcPts val="400"/>
              </a:spcAft>
              <a:buNone/>
            </a:pPr>
            <a:r>
              <a:rPr sz="1100" b="0" i="0">
                <a:solidFill>
                  <a:srgbClr val="BDC9DB"/>
                </a:solidFill>
                <a:latin typeface="Segoe UI"/>
              </a:rPr>
              <a:t>Cuando un cliente dentro del cluster contacta con un Service, no habla con ningún proceso: la ClusterIP es una IP virtual que no existe en ninguna interfaz de red. Es una regla que kube-proxy programa en todos los nodos (con iptables o IPVS) y que, en cuanto sale un paquete hacia esa IP, reescribe el destino hacia la IP real de uno de los Pods backend y su targetPort.</a:t>
            </a:r>
          </a:p>
          <a:p>
            <a:pPr algn="l" marL="0" indent="0">
              <a:lnSpc>
                <a:spcPct val="128000"/>
              </a:lnSpc>
              <a:spcBef>
                <a:spcPts val="0"/>
              </a:spcBef>
              <a:spcAft>
                <a:spcPts val="400"/>
              </a:spcAft>
              <a:buNone/>
            </a:pPr>
            <a:r>
              <a:rPr sz="1100" b="0" i="0">
                <a:solidFill>
                  <a:srgbClr val="BDC9DB"/>
                </a:solidFill>
                <a:latin typeface="Segoe UI"/>
              </a:rPr>
              <a:t>El DNS no interviene en el balanceo: resuelve el nombre del Service SIEMPRE a la misma ClusterIP. Quien reparte entre los Pods es kube-proxy, eligiendo un endpoint distinto por conexión. La lista de endpoints candidatos sale de los objetos EndpointSlice, que solo contienen Pods que están Ready.</a:t>
            </a:r>
          </a:p>
          <a:p>
            <a:pPr algn="l" marL="0" indent="0">
              <a:lnSpc>
                <a:spcPct val="128000"/>
              </a:lnSpc>
              <a:spcBef>
                <a:spcPts val="0"/>
              </a:spcBef>
              <a:spcAft>
                <a:spcPts val="400"/>
              </a:spcAft>
              <a:buNone/>
            </a:pPr>
            <a:r>
              <a:rPr sz="1100" b="0" i="0">
                <a:solidFill>
                  <a:srgbClr val="BDC9DB"/>
                </a:solidFill>
                <a:latin typeface="Segoe UI"/>
              </a:rPr>
              <a:t>De aquí salen tres conclusiones para depurar: un Pod que deja de estar Ready desaparece del EndpointSlice y deja de recibir tráfico (esto es lo que hace que un rollout roto no rompa el servicio); si nslookup del nombre funciona pero curl a la ClusterIP da timeout, el problema es de endpoints o de NetworkPolicy, no de DNS; y si el EndpointSlice está vacío, hay que mirar el selector del Service frente a los labels de los Pods.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620000" y="300000"/>
            <a:ext cx="10952000" cy="24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240">
                <a:solidFill>
                  <a:srgbClr val="74A6FF"/>
                </a:solidFill>
                <a:latin typeface="Segoe UI Semibold"/>
              </a:rPr>
              <a:t>TIPOS</a:t>
            </a:r>
          </a:p>
        </p:txBody>
      </p:sp>
      <p:sp>
        <p:nvSpPr>
          <p:cNvPr id="3" name="TextBox 2"/>
          <p:cNvSpPr txBox="1"/>
          <p:nvPr/>
        </p:nvSpPr>
        <p:spPr>
          <a:xfrm>
            <a:off x="620000" y="560000"/>
            <a:ext cx="10052000" cy="620000"/>
          </a:xfrm>
          <a:prstGeom prst="rect">
            <a:avLst/>
          </a:prstGeom>
          <a:noFill/>
        </p:spPr>
        <p:txBody>
          <a:bodyPr wrap="square" anchor="t" lIns="0" rIns="0" tIns="0" bIns="0">
            <a:noAutofit/>
          </a:bodyPr>
          <a:lstStyle/>
          <a:p>
            <a:pPr algn="l" marL="0" indent="0">
              <a:lnSpc>
                <a:spcPct val="105000"/>
              </a:lnSpc>
              <a:spcBef>
                <a:spcPts val="0"/>
              </a:spcBef>
              <a:spcAft>
                <a:spcPts val="0"/>
              </a:spcAft>
              <a:buNone/>
            </a:pPr>
            <a:r>
              <a:rPr sz="3000" b="0" i="0">
                <a:solidFill>
                  <a:srgbClr val="F3F6FC"/>
                </a:solidFill>
                <a:latin typeface="Segoe UI Light"/>
              </a:rPr>
              <a:t>Cuatro tipos y un caso especial</a:t>
            </a:r>
          </a:p>
        </p:txBody>
      </p:sp>
      <p:sp>
        <p:nvSpPr>
          <p:cNvPr id="4" name="Rectangle 3"/>
          <p:cNvSpPr/>
          <p:nvPr/>
        </p:nvSpPr>
        <p:spPr>
          <a:xfrm>
            <a:off x="620000" y="1230000"/>
            <a:ext cx="560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5" name="Rectangle 4"/>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6" name="TextBox 5"/>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5</a:t>
            </a:r>
          </a:p>
        </p:txBody>
      </p:sp>
      <p:sp>
        <p:nvSpPr>
          <p:cNvPr id="7" name="TextBox 6"/>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06</a:t>
            </a:r>
          </a:p>
        </p:txBody>
      </p:sp>
      <p:sp>
        <p:nvSpPr>
          <p:cNvPr id="8" name="Rounded Rectangle 7"/>
          <p:cNvSpPr/>
          <p:nvPr/>
        </p:nvSpPr>
        <p:spPr>
          <a:xfrm>
            <a:off x="620000" y="1470000"/>
            <a:ext cx="3437333" cy="1215000"/>
          </a:xfrm>
          <a:prstGeom prst="roundRect">
            <a:avLst>
              <a:gd name="adj" fmla="val 6000"/>
            </a:avLst>
          </a:prstGeom>
          <a:solidFill>
            <a:srgbClr val="141E33"/>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9" name="Rectangle 8"/>
          <p:cNvSpPr/>
          <p:nvPr/>
        </p:nvSpPr>
        <p:spPr>
          <a:xfrm>
            <a:off x="644000" y="1470000"/>
            <a:ext cx="3389333"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0" name="Oval 9"/>
          <p:cNvSpPr/>
          <p:nvPr/>
        </p:nvSpPr>
        <p:spPr>
          <a:xfrm>
            <a:off x="820000" y="169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1</a:t>
            </a:r>
          </a:p>
        </p:txBody>
      </p:sp>
      <p:pic>
        <p:nvPicPr>
          <p:cNvPr id="11" name="Picture 10" descr="svc.png"/>
          <p:cNvPicPr>
            <a:picLocks noChangeAspect="1"/>
          </p:cNvPicPr>
          <p:nvPr/>
        </p:nvPicPr>
        <p:blipFill>
          <a:blip r:embed="rId2"/>
          <a:stretch>
            <a:fillRect/>
          </a:stretch>
        </p:blipFill>
        <p:spPr>
          <a:xfrm>
            <a:off x="3527333" y="1676000"/>
            <a:ext cx="330000" cy="330000"/>
          </a:xfrm>
          <a:prstGeom prst="rect">
            <a:avLst/>
          </a:prstGeom>
        </p:spPr>
      </p:pic>
      <p:sp>
        <p:nvSpPr>
          <p:cNvPr id="12" name="TextBox 11"/>
          <p:cNvSpPr txBox="1"/>
          <p:nvPr/>
        </p:nvSpPr>
        <p:spPr>
          <a:xfrm>
            <a:off x="1230000" y="1670000"/>
            <a:ext cx="2407333" cy="340000"/>
          </a:xfrm>
          <a:prstGeom prst="rect">
            <a:avLst/>
          </a:prstGeom>
          <a:noFill/>
        </p:spPr>
        <p:txBody>
          <a:bodyPr wrap="square" anchor="ctr" lIns="0" rIns="0" tIns="0" bIns="0">
            <a:noAutofit/>
          </a:bodyPr>
          <a:lstStyle/>
          <a:p>
            <a:pPr algn="l" marL="0" indent="0">
              <a:lnSpc>
                <a:spcPct val="105000"/>
              </a:lnSpc>
              <a:spcBef>
                <a:spcPts val="0"/>
              </a:spcBef>
              <a:spcAft>
                <a:spcPts val="0"/>
              </a:spcAft>
              <a:buNone/>
            </a:pPr>
            <a:r>
              <a:rPr sz="1500" b="1" i="0">
                <a:solidFill>
                  <a:srgbClr val="F3F6FC"/>
                </a:solidFill>
                <a:latin typeface="Segoe UI Semibold"/>
              </a:rPr>
              <a:t>ClusterIP</a:t>
            </a:r>
          </a:p>
        </p:txBody>
      </p:sp>
      <p:sp>
        <p:nvSpPr>
          <p:cNvPr id="13" name="TextBox 12"/>
          <p:cNvSpPr txBox="1"/>
          <p:nvPr/>
        </p:nvSpPr>
        <p:spPr>
          <a:xfrm>
            <a:off x="820000" y="2030000"/>
            <a:ext cx="3037333" cy="595000"/>
          </a:xfrm>
          <a:prstGeom prst="rect">
            <a:avLst/>
          </a:prstGeom>
          <a:noFill/>
        </p:spPr>
        <p:txBody>
          <a:bodyPr wrap="square" anchor="t" lIns="0" rIns="0" tIns="0" bIns="0">
            <a:noAutofit/>
          </a:bodyPr>
          <a:lstStyle/>
          <a:p>
            <a:pPr algn="l" marL="0" indent="0">
              <a:lnSpc>
                <a:spcPct val="112000"/>
              </a:lnSpc>
              <a:spcBef>
                <a:spcPts val="0"/>
              </a:spcBef>
              <a:spcAft>
                <a:spcPts val="0"/>
              </a:spcAft>
              <a:buNone/>
            </a:pPr>
            <a:r>
              <a:rPr sz="1000" b="0" i="0">
                <a:solidFill>
                  <a:srgbClr val="BDC9DB"/>
                </a:solidFill>
                <a:latin typeface="Segoe UI"/>
              </a:rPr>
              <a:t>Por defecto. Solo dentro del cluster. Para que un componente hable con otro.</a:t>
            </a:r>
          </a:p>
        </p:txBody>
      </p:sp>
      <p:sp>
        <p:nvSpPr>
          <p:cNvPr id="14" name="Rounded Rectangle 13"/>
          <p:cNvSpPr/>
          <p:nvPr/>
        </p:nvSpPr>
        <p:spPr>
          <a:xfrm>
            <a:off x="4377333" y="1470000"/>
            <a:ext cx="3437333" cy="1215000"/>
          </a:xfrm>
          <a:prstGeom prst="roundRect">
            <a:avLst>
              <a:gd name="adj" fmla="val 6000"/>
            </a:avLst>
          </a:prstGeom>
          <a:solidFill>
            <a:srgbClr val="141E33"/>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5" name="Rectangle 14"/>
          <p:cNvSpPr/>
          <p:nvPr/>
        </p:nvSpPr>
        <p:spPr>
          <a:xfrm>
            <a:off x="4401333" y="1470000"/>
            <a:ext cx="3389333"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6" name="Oval 15"/>
          <p:cNvSpPr/>
          <p:nvPr/>
        </p:nvSpPr>
        <p:spPr>
          <a:xfrm>
            <a:off x="4577333" y="169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2</a:t>
            </a:r>
          </a:p>
        </p:txBody>
      </p:sp>
      <p:pic>
        <p:nvPicPr>
          <p:cNvPr id="17" name="Picture 16" descr="svc.png"/>
          <p:cNvPicPr>
            <a:picLocks noChangeAspect="1"/>
          </p:cNvPicPr>
          <p:nvPr/>
        </p:nvPicPr>
        <p:blipFill>
          <a:blip r:embed="rId2"/>
          <a:stretch>
            <a:fillRect/>
          </a:stretch>
        </p:blipFill>
        <p:spPr>
          <a:xfrm>
            <a:off x="7284666" y="1676000"/>
            <a:ext cx="330000" cy="330000"/>
          </a:xfrm>
          <a:prstGeom prst="rect">
            <a:avLst/>
          </a:prstGeom>
        </p:spPr>
      </p:pic>
      <p:sp>
        <p:nvSpPr>
          <p:cNvPr id="18" name="TextBox 17"/>
          <p:cNvSpPr txBox="1"/>
          <p:nvPr/>
        </p:nvSpPr>
        <p:spPr>
          <a:xfrm>
            <a:off x="4987333" y="1670000"/>
            <a:ext cx="2407333" cy="340000"/>
          </a:xfrm>
          <a:prstGeom prst="rect">
            <a:avLst/>
          </a:prstGeom>
          <a:noFill/>
        </p:spPr>
        <p:txBody>
          <a:bodyPr wrap="square" anchor="ctr" lIns="0" rIns="0" tIns="0" bIns="0">
            <a:noAutofit/>
          </a:bodyPr>
          <a:lstStyle/>
          <a:p>
            <a:pPr algn="l" marL="0" indent="0">
              <a:lnSpc>
                <a:spcPct val="105000"/>
              </a:lnSpc>
              <a:spcBef>
                <a:spcPts val="0"/>
              </a:spcBef>
              <a:spcAft>
                <a:spcPts val="0"/>
              </a:spcAft>
              <a:buNone/>
            </a:pPr>
            <a:r>
              <a:rPr sz="1500" b="1" i="0">
                <a:solidFill>
                  <a:srgbClr val="F3F6FC"/>
                </a:solidFill>
                <a:latin typeface="Segoe UI Semibold"/>
              </a:rPr>
              <a:t>NodePort</a:t>
            </a:r>
          </a:p>
        </p:txBody>
      </p:sp>
      <p:sp>
        <p:nvSpPr>
          <p:cNvPr id="19" name="TextBox 18"/>
          <p:cNvSpPr txBox="1"/>
          <p:nvPr/>
        </p:nvSpPr>
        <p:spPr>
          <a:xfrm>
            <a:off x="4577333" y="2030000"/>
            <a:ext cx="3037333" cy="595000"/>
          </a:xfrm>
          <a:prstGeom prst="rect">
            <a:avLst/>
          </a:prstGeom>
          <a:noFill/>
        </p:spPr>
        <p:txBody>
          <a:bodyPr wrap="square" anchor="t" lIns="0" rIns="0" tIns="0" bIns="0">
            <a:noAutofit/>
          </a:bodyPr>
          <a:lstStyle/>
          <a:p>
            <a:pPr algn="l" marL="0" indent="0">
              <a:lnSpc>
                <a:spcPct val="112000"/>
              </a:lnSpc>
              <a:spcBef>
                <a:spcPts val="0"/>
              </a:spcBef>
              <a:spcAft>
                <a:spcPts val="0"/>
              </a:spcAft>
              <a:buNone/>
            </a:pPr>
            <a:r>
              <a:rPr sz="1000" b="0" i="0">
                <a:solidFill>
                  <a:srgbClr val="BDC9DB"/>
                </a:solidFill>
                <a:latin typeface="Segoe UI"/>
              </a:rPr>
              <a:t>Mismo puerto en todos los nodos, rango 30000–32767. Laboratorio y balanceadores propios.</a:t>
            </a:r>
          </a:p>
        </p:txBody>
      </p:sp>
      <p:sp>
        <p:nvSpPr>
          <p:cNvPr id="20" name="Rounded Rectangle 19"/>
          <p:cNvSpPr/>
          <p:nvPr/>
        </p:nvSpPr>
        <p:spPr>
          <a:xfrm>
            <a:off x="8134666" y="1470000"/>
            <a:ext cx="3437333" cy="1215000"/>
          </a:xfrm>
          <a:prstGeom prst="roundRect">
            <a:avLst>
              <a:gd name="adj" fmla="val 6000"/>
            </a:avLst>
          </a:prstGeom>
          <a:solidFill>
            <a:srgbClr val="141E33"/>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1" name="Rectangle 20"/>
          <p:cNvSpPr/>
          <p:nvPr/>
        </p:nvSpPr>
        <p:spPr>
          <a:xfrm>
            <a:off x="8158666" y="1470000"/>
            <a:ext cx="3389333"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2" name="Oval 21"/>
          <p:cNvSpPr/>
          <p:nvPr/>
        </p:nvSpPr>
        <p:spPr>
          <a:xfrm>
            <a:off x="8334666" y="169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3</a:t>
            </a:r>
          </a:p>
        </p:txBody>
      </p:sp>
      <p:pic>
        <p:nvPicPr>
          <p:cNvPr id="23" name="Picture 22" descr="svc.png"/>
          <p:cNvPicPr>
            <a:picLocks noChangeAspect="1"/>
          </p:cNvPicPr>
          <p:nvPr/>
        </p:nvPicPr>
        <p:blipFill>
          <a:blip r:embed="rId2"/>
          <a:stretch>
            <a:fillRect/>
          </a:stretch>
        </p:blipFill>
        <p:spPr>
          <a:xfrm>
            <a:off x="11042000" y="1676000"/>
            <a:ext cx="330000" cy="330000"/>
          </a:xfrm>
          <a:prstGeom prst="rect">
            <a:avLst/>
          </a:prstGeom>
        </p:spPr>
      </p:pic>
      <p:sp>
        <p:nvSpPr>
          <p:cNvPr id="24" name="TextBox 23"/>
          <p:cNvSpPr txBox="1"/>
          <p:nvPr/>
        </p:nvSpPr>
        <p:spPr>
          <a:xfrm>
            <a:off x="8744666" y="1670000"/>
            <a:ext cx="2407333" cy="340000"/>
          </a:xfrm>
          <a:prstGeom prst="rect">
            <a:avLst/>
          </a:prstGeom>
          <a:noFill/>
        </p:spPr>
        <p:txBody>
          <a:bodyPr wrap="square" anchor="ctr" lIns="0" rIns="0" tIns="0" bIns="0">
            <a:noAutofit/>
          </a:bodyPr>
          <a:lstStyle/>
          <a:p>
            <a:pPr algn="l" marL="0" indent="0">
              <a:lnSpc>
                <a:spcPct val="105000"/>
              </a:lnSpc>
              <a:spcBef>
                <a:spcPts val="0"/>
              </a:spcBef>
              <a:spcAft>
                <a:spcPts val="0"/>
              </a:spcAft>
              <a:buNone/>
            </a:pPr>
            <a:r>
              <a:rPr sz="1500" b="1" i="0">
                <a:solidFill>
                  <a:srgbClr val="F3F6FC"/>
                </a:solidFill>
                <a:latin typeface="Segoe UI Semibold"/>
              </a:rPr>
              <a:t>LoadBalancer</a:t>
            </a:r>
          </a:p>
        </p:txBody>
      </p:sp>
      <p:sp>
        <p:nvSpPr>
          <p:cNvPr id="25" name="TextBox 24"/>
          <p:cNvSpPr txBox="1"/>
          <p:nvPr/>
        </p:nvSpPr>
        <p:spPr>
          <a:xfrm>
            <a:off x="8334666" y="2030000"/>
            <a:ext cx="3037333" cy="595000"/>
          </a:xfrm>
          <a:prstGeom prst="rect">
            <a:avLst/>
          </a:prstGeom>
          <a:noFill/>
        </p:spPr>
        <p:txBody>
          <a:bodyPr wrap="square" anchor="t" lIns="0" rIns="0" tIns="0" bIns="0">
            <a:noAutofit/>
          </a:bodyPr>
          <a:lstStyle/>
          <a:p>
            <a:pPr algn="l" marL="0" indent="0">
              <a:lnSpc>
                <a:spcPct val="112000"/>
              </a:lnSpc>
              <a:spcBef>
                <a:spcPts val="0"/>
              </a:spcBef>
              <a:spcAft>
                <a:spcPts val="0"/>
              </a:spcAft>
              <a:buNone/>
            </a:pPr>
            <a:r>
              <a:rPr sz="1000" b="0" i="0">
                <a:solidFill>
                  <a:srgbClr val="BDC9DB"/>
                </a:solidFill>
                <a:latin typeface="Segoe UI"/>
              </a:rPr>
              <a:t>IP pública del proveedor de nube. Una por Service: caro cuando hay muchos.</a:t>
            </a:r>
          </a:p>
        </p:txBody>
      </p:sp>
      <p:sp>
        <p:nvSpPr>
          <p:cNvPr id="26" name="Rounded Rectangle 25"/>
          <p:cNvSpPr/>
          <p:nvPr/>
        </p:nvSpPr>
        <p:spPr>
          <a:xfrm>
            <a:off x="620000" y="2925000"/>
            <a:ext cx="3437333" cy="1215000"/>
          </a:xfrm>
          <a:prstGeom prst="roundRect">
            <a:avLst>
              <a:gd name="adj" fmla="val 6000"/>
            </a:avLst>
          </a:prstGeom>
          <a:solidFill>
            <a:srgbClr val="141E33"/>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7" name="Rectangle 26"/>
          <p:cNvSpPr/>
          <p:nvPr/>
        </p:nvSpPr>
        <p:spPr>
          <a:xfrm>
            <a:off x="644000" y="2925000"/>
            <a:ext cx="3389333"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8" name="Oval 27"/>
          <p:cNvSpPr/>
          <p:nvPr/>
        </p:nvSpPr>
        <p:spPr>
          <a:xfrm>
            <a:off x="820000" y="3145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4</a:t>
            </a:r>
          </a:p>
        </p:txBody>
      </p:sp>
      <p:pic>
        <p:nvPicPr>
          <p:cNvPr id="29" name="Picture 28" descr="svc.png"/>
          <p:cNvPicPr>
            <a:picLocks noChangeAspect="1"/>
          </p:cNvPicPr>
          <p:nvPr/>
        </p:nvPicPr>
        <p:blipFill>
          <a:blip r:embed="rId2"/>
          <a:stretch>
            <a:fillRect/>
          </a:stretch>
        </p:blipFill>
        <p:spPr>
          <a:xfrm>
            <a:off x="3527333" y="3131000"/>
            <a:ext cx="330000" cy="330000"/>
          </a:xfrm>
          <a:prstGeom prst="rect">
            <a:avLst/>
          </a:prstGeom>
        </p:spPr>
      </p:pic>
      <p:sp>
        <p:nvSpPr>
          <p:cNvPr id="30" name="TextBox 29"/>
          <p:cNvSpPr txBox="1"/>
          <p:nvPr/>
        </p:nvSpPr>
        <p:spPr>
          <a:xfrm>
            <a:off x="1230000" y="3125000"/>
            <a:ext cx="2407333" cy="340000"/>
          </a:xfrm>
          <a:prstGeom prst="rect">
            <a:avLst/>
          </a:prstGeom>
          <a:noFill/>
        </p:spPr>
        <p:txBody>
          <a:bodyPr wrap="square" anchor="ctr" lIns="0" rIns="0" tIns="0" bIns="0">
            <a:noAutofit/>
          </a:bodyPr>
          <a:lstStyle/>
          <a:p>
            <a:pPr algn="l" marL="0" indent="0">
              <a:lnSpc>
                <a:spcPct val="105000"/>
              </a:lnSpc>
              <a:spcBef>
                <a:spcPts val="0"/>
              </a:spcBef>
              <a:spcAft>
                <a:spcPts val="0"/>
              </a:spcAft>
              <a:buNone/>
            </a:pPr>
            <a:r>
              <a:rPr sz="1500" b="1" i="0">
                <a:solidFill>
                  <a:srgbClr val="F3F6FC"/>
                </a:solidFill>
                <a:latin typeface="Segoe UI Semibold"/>
              </a:rPr>
              <a:t>ExternalName</a:t>
            </a:r>
          </a:p>
        </p:txBody>
      </p:sp>
      <p:sp>
        <p:nvSpPr>
          <p:cNvPr id="31" name="TextBox 30"/>
          <p:cNvSpPr txBox="1"/>
          <p:nvPr/>
        </p:nvSpPr>
        <p:spPr>
          <a:xfrm>
            <a:off x="820000" y="3485000"/>
            <a:ext cx="3037333" cy="595000"/>
          </a:xfrm>
          <a:prstGeom prst="rect">
            <a:avLst/>
          </a:prstGeom>
          <a:noFill/>
        </p:spPr>
        <p:txBody>
          <a:bodyPr wrap="square" anchor="t" lIns="0" rIns="0" tIns="0" bIns="0">
            <a:noAutofit/>
          </a:bodyPr>
          <a:lstStyle/>
          <a:p>
            <a:pPr algn="l" marL="0" indent="0">
              <a:lnSpc>
                <a:spcPct val="112000"/>
              </a:lnSpc>
              <a:spcBef>
                <a:spcPts val="0"/>
              </a:spcBef>
              <a:spcAft>
                <a:spcPts val="0"/>
              </a:spcAft>
              <a:buNone/>
            </a:pPr>
            <a:r>
              <a:rPr sz="1000" b="0" i="0">
                <a:solidFill>
                  <a:srgbClr val="BDC9DB"/>
                </a:solidFill>
                <a:latin typeface="Segoe UI"/>
              </a:rPr>
              <a:t>Ni IP ni endpoints. CoreDNS devuelve un CNAME a un nombre externo. No hay proxy.</a:t>
            </a:r>
          </a:p>
        </p:txBody>
      </p:sp>
      <p:sp>
        <p:nvSpPr>
          <p:cNvPr id="32" name="Rounded Rectangle 31"/>
          <p:cNvSpPr/>
          <p:nvPr/>
        </p:nvSpPr>
        <p:spPr>
          <a:xfrm>
            <a:off x="4377333" y="2925000"/>
            <a:ext cx="3437333" cy="1215000"/>
          </a:xfrm>
          <a:prstGeom prst="roundRect">
            <a:avLst>
              <a:gd name="adj" fmla="val 6000"/>
            </a:avLst>
          </a:prstGeom>
          <a:solidFill>
            <a:srgbClr val="141E33"/>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33" name="Rectangle 32"/>
          <p:cNvSpPr/>
          <p:nvPr/>
        </p:nvSpPr>
        <p:spPr>
          <a:xfrm>
            <a:off x="4401333" y="2925000"/>
            <a:ext cx="3389333"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34" name="Oval 33"/>
          <p:cNvSpPr/>
          <p:nvPr/>
        </p:nvSpPr>
        <p:spPr>
          <a:xfrm>
            <a:off x="4577333" y="3145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5</a:t>
            </a:r>
          </a:p>
        </p:txBody>
      </p:sp>
      <p:pic>
        <p:nvPicPr>
          <p:cNvPr id="35" name="Picture 34" descr="svc.png"/>
          <p:cNvPicPr>
            <a:picLocks noChangeAspect="1"/>
          </p:cNvPicPr>
          <p:nvPr/>
        </p:nvPicPr>
        <p:blipFill>
          <a:blip r:embed="rId2"/>
          <a:stretch>
            <a:fillRect/>
          </a:stretch>
        </p:blipFill>
        <p:spPr>
          <a:xfrm>
            <a:off x="7284666" y="3131000"/>
            <a:ext cx="330000" cy="330000"/>
          </a:xfrm>
          <a:prstGeom prst="rect">
            <a:avLst/>
          </a:prstGeom>
        </p:spPr>
      </p:pic>
      <p:sp>
        <p:nvSpPr>
          <p:cNvPr id="36" name="TextBox 35"/>
          <p:cNvSpPr txBox="1"/>
          <p:nvPr/>
        </p:nvSpPr>
        <p:spPr>
          <a:xfrm>
            <a:off x="4987333" y="3125000"/>
            <a:ext cx="2407333" cy="340000"/>
          </a:xfrm>
          <a:prstGeom prst="rect">
            <a:avLst/>
          </a:prstGeom>
          <a:noFill/>
        </p:spPr>
        <p:txBody>
          <a:bodyPr wrap="square" anchor="ctr" lIns="0" rIns="0" tIns="0" bIns="0">
            <a:noAutofit/>
          </a:bodyPr>
          <a:lstStyle/>
          <a:p>
            <a:pPr algn="l" marL="0" indent="0">
              <a:lnSpc>
                <a:spcPct val="105000"/>
              </a:lnSpc>
              <a:spcBef>
                <a:spcPts val="0"/>
              </a:spcBef>
              <a:spcAft>
                <a:spcPts val="0"/>
              </a:spcAft>
              <a:buNone/>
            </a:pPr>
            <a:r>
              <a:rPr sz="1500" b="1" i="0">
                <a:solidFill>
                  <a:srgbClr val="F3F6FC"/>
                </a:solidFill>
                <a:latin typeface="Segoe UI Semibold"/>
              </a:rPr>
              <a:t>Headless</a:t>
            </a:r>
          </a:p>
        </p:txBody>
      </p:sp>
      <p:sp>
        <p:nvSpPr>
          <p:cNvPr id="37" name="TextBox 36"/>
          <p:cNvSpPr txBox="1"/>
          <p:nvPr/>
        </p:nvSpPr>
        <p:spPr>
          <a:xfrm>
            <a:off x="4577333" y="3485000"/>
            <a:ext cx="3037333" cy="595000"/>
          </a:xfrm>
          <a:prstGeom prst="rect">
            <a:avLst/>
          </a:prstGeom>
          <a:noFill/>
        </p:spPr>
        <p:txBody>
          <a:bodyPr wrap="square" anchor="t" lIns="0" rIns="0" tIns="0" bIns="0">
            <a:noAutofit/>
          </a:bodyPr>
          <a:lstStyle/>
          <a:p>
            <a:pPr algn="l" marL="0" indent="0">
              <a:lnSpc>
                <a:spcPct val="112000"/>
              </a:lnSpc>
              <a:spcBef>
                <a:spcPts val="0"/>
              </a:spcBef>
              <a:spcAft>
                <a:spcPts val="0"/>
              </a:spcAft>
              <a:buNone/>
            </a:pPr>
            <a:r>
              <a:rPr sz="1000" b="0" i="0">
                <a:solidFill>
                  <a:srgbClr val="BDC9DB"/>
                </a:solidFill>
                <a:latin typeface="Segoe UI"/>
              </a:rPr>
              <a:t>clusterIP: None. El DNS devuelve las IP de los Pods, no una VIP. Base del StatefulSet.</a:t>
            </a:r>
          </a:p>
        </p:txBody>
      </p:sp>
      <p:sp>
        <p:nvSpPr>
          <p:cNvPr id="38" name="Rounded Rectangle 37"/>
          <p:cNvSpPr/>
          <p:nvPr/>
        </p:nvSpPr>
        <p:spPr>
          <a:xfrm>
            <a:off x="8134666" y="2925000"/>
            <a:ext cx="3437333" cy="1215000"/>
          </a:xfrm>
          <a:prstGeom prst="roundRect">
            <a:avLst>
              <a:gd name="adj" fmla="val 6000"/>
            </a:avLst>
          </a:prstGeom>
          <a:solidFill>
            <a:srgbClr val="141E33"/>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39" name="Rectangle 38"/>
          <p:cNvSpPr/>
          <p:nvPr/>
        </p:nvSpPr>
        <p:spPr>
          <a:xfrm>
            <a:off x="8158666" y="2925000"/>
            <a:ext cx="3389333"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40" name="Oval 39"/>
          <p:cNvSpPr/>
          <p:nvPr/>
        </p:nvSpPr>
        <p:spPr>
          <a:xfrm>
            <a:off x="8334666" y="3145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6</a:t>
            </a:r>
          </a:p>
        </p:txBody>
      </p:sp>
      <p:sp>
        <p:nvSpPr>
          <p:cNvPr id="41" name="Oval 40"/>
          <p:cNvSpPr/>
          <p:nvPr/>
        </p:nvSpPr>
        <p:spPr>
          <a:xfrm>
            <a:off x="11108000" y="3164000"/>
            <a:ext cx="198000" cy="198000"/>
          </a:xfrm>
          <a:prstGeom prst="ellipse">
            <a:avLst/>
          </a:prstGeom>
          <a:noFill/>
          <a:ln w="24130">
            <a:solidFill>
              <a:srgbClr val="74A6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2" name="Connector 41"/>
          <p:cNvCxnSpPr/>
          <p:nvPr/>
        </p:nvCxnSpPr>
        <p:spPr>
          <a:xfrm>
            <a:off x="11174000" y="3375200"/>
            <a:ext cx="66000" cy="0"/>
          </a:xfrm>
          <a:prstGeom prst="line">
            <a:avLst/>
          </a:prstGeom>
          <a:ln w="24130">
            <a:solidFill>
              <a:srgbClr val="74A6FF"/>
            </a:solidFill>
          </a:ln>
          <a:effectLst/>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11180600" y="3414800"/>
            <a:ext cx="52800" cy="0"/>
          </a:xfrm>
          <a:prstGeom prst="line">
            <a:avLst/>
          </a:prstGeom>
          <a:ln w="24130">
            <a:solidFill>
              <a:srgbClr val="74A6FF"/>
            </a:solidFill>
          </a:ln>
          <a:effectLst/>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8744666" y="3125000"/>
            <a:ext cx="2407333" cy="340000"/>
          </a:xfrm>
          <a:prstGeom prst="rect">
            <a:avLst/>
          </a:prstGeom>
          <a:noFill/>
        </p:spPr>
        <p:txBody>
          <a:bodyPr wrap="square" anchor="ctr" lIns="0" rIns="0" tIns="0" bIns="0">
            <a:noAutofit/>
          </a:bodyPr>
          <a:lstStyle/>
          <a:p>
            <a:pPr algn="l" marL="0" indent="0">
              <a:lnSpc>
                <a:spcPct val="105000"/>
              </a:lnSpc>
              <a:spcBef>
                <a:spcPts val="0"/>
              </a:spcBef>
              <a:spcAft>
                <a:spcPts val="0"/>
              </a:spcAft>
              <a:buNone/>
            </a:pPr>
            <a:r>
              <a:rPr sz="1500" b="1" i="0">
                <a:solidFill>
                  <a:srgbClr val="F3F6FC"/>
                </a:solidFill>
                <a:latin typeface="Segoe UI Semibold"/>
              </a:rPr>
              <a:t>El error de siempre</a:t>
            </a:r>
          </a:p>
        </p:txBody>
      </p:sp>
      <p:sp>
        <p:nvSpPr>
          <p:cNvPr id="45" name="TextBox 44"/>
          <p:cNvSpPr txBox="1"/>
          <p:nvPr/>
        </p:nvSpPr>
        <p:spPr>
          <a:xfrm>
            <a:off x="8334666" y="3485000"/>
            <a:ext cx="3037333" cy="595000"/>
          </a:xfrm>
          <a:prstGeom prst="rect">
            <a:avLst/>
          </a:prstGeom>
          <a:noFill/>
        </p:spPr>
        <p:txBody>
          <a:bodyPr wrap="square" anchor="t" lIns="0" rIns="0" tIns="0" bIns="0">
            <a:noAutofit/>
          </a:bodyPr>
          <a:lstStyle/>
          <a:p>
            <a:pPr algn="l" marL="0" indent="0">
              <a:lnSpc>
                <a:spcPct val="112000"/>
              </a:lnSpc>
              <a:spcBef>
                <a:spcPts val="0"/>
              </a:spcBef>
              <a:spcAft>
                <a:spcPts val="0"/>
              </a:spcAft>
              <a:buNone/>
            </a:pPr>
            <a:r>
              <a:rPr sz="1000" b="0" i="0">
                <a:solidFill>
                  <a:srgbClr val="BDC9DB"/>
                </a:solidFill>
                <a:latin typeface="Segoe UI"/>
              </a:rPr>
              <a:t>port es el puerto del Service; targetPort el del contenedor; nodePort el del nodo.</a:t>
            </a:r>
          </a:p>
        </p:txBody>
      </p:sp>
      <p:sp>
        <p:nvSpPr>
          <p:cNvPr id="46" name="Rounded Rectangle 45"/>
          <p:cNvSpPr/>
          <p:nvPr/>
        </p:nvSpPr>
        <p:spPr>
          <a:xfrm>
            <a:off x="620000" y="4310000"/>
            <a:ext cx="10952000" cy="2000000"/>
          </a:xfrm>
          <a:prstGeom prst="roundRect">
            <a:avLst>
              <a:gd name="adj" fmla="val 4500"/>
            </a:avLst>
          </a:prstGeom>
          <a:solidFill>
            <a:srgbClr val="111A2C"/>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47" name="Rectangle 46"/>
          <p:cNvSpPr/>
          <p:nvPr/>
        </p:nvSpPr>
        <p:spPr>
          <a:xfrm>
            <a:off x="646000" y="4332000"/>
            <a:ext cx="40000" cy="195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48" name="TextBox 47"/>
          <p:cNvSpPr txBox="1"/>
          <p:nvPr/>
        </p:nvSpPr>
        <p:spPr>
          <a:xfrm>
            <a:off x="860000" y="4440000"/>
            <a:ext cx="10522000" cy="1740000"/>
          </a:xfrm>
          <a:prstGeom prst="rect">
            <a:avLst/>
          </a:prstGeom>
          <a:noFill/>
        </p:spPr>
        <p:txBody>
          <a:bodyPr wrap="square" anchor="t" lIns="0" rIns="0" tIns="0" bIns="0">
            <a:noAutofit/>
          </a:bodyPr>
          <a:lstStyle/>
          <a:p>
            <a:pPr algn="l" marL="0" indent="0">
              <a:lnSpc>
                <a:spcPct val="100000"/>
              </a:lnSpc>
              <a:spcBef>
                <a:spcPts val="0"/>
              </a:spcBef>
              <a:spcAft>
                <a:spcPts val="600"/>
              </a:spcAft>
              <a:buNone/>
            </a:pPr>
            <a:r>
              <a:rPr sz="900" b="1" i="0" spc="200">
                <a:solidFill>
                  <a:srgbClr val="326CE5"/>
                </a:solidFill>
                <a:latin typeface="Segoe UI Semibold"/>
              </a:rPr>
              <a:t>TEORÍA</a:t>
            </a:r>
          </a:p>
          <a:p>
            <a:pPr algn="l" marL="0" indent="0">
              <a:lnSpc>
                <a:spcPct val="128000"/>
              </a:lnSpc>
              <a:spcBef>
                <a:spcPts val="0"/>
              </a:spcBef>
              <a:spcAft>
                <a:spcPts val="400"/>
              </a:spcAft>
              <a:buNone/>
            </a:pPr>
            <a:r>
              <a:rPr sz="1000" b="0" i="0">
                <a:solidFill>
                  <a:srgbClr val="BDC9DB"/>
                </a:solidFill>
                <a:latin typeface="Segoe UI"/>
              </a:rPr>
              <a:t>Los tipos de Service se apilan. ClusterIP es la base: una IP virtual accesible solo dentro del cluster, para que los componentes hablen entre sí. NodePort añade a un ClusterIP la apertura del mismo puerto (30000–32767) en todos los nodos; sirve en laboratorio y detrás de un balanceador propio. LoadBalancer añade a un NodePort una IP externa que aprovisiona el proveedor de nube, una por Service.</a:t>
            </a:r>
          </a:p>
          <a:p>
            <a:pPr algn="l" marL="0" indent="0">
              <a:lnSpc>
                <a:spcPct val="128000"/>
              </a:lnSpc>
              <a:spcBef>
                <a:spcPts val="0"/>
              </a:spcBef>
              <a:spcAft>
                <a:spcPts val="400"/>
              </a:spcAft>
              <a:buNone/>
            </a:pPr>
            <a:r>
              <a:rPr sz="1000" b="0" i="0">
                <a:solidFill>
                  <a:srgbClr val="BDC9DB"/>
                </a:solidFill>
                <a:latin typeface="Segoe UI"/>
              </a:rPr>
              <a:t>ExternalName es la excepción: no crea ClusterIP, ni endpoints, ni proxy. CoreDNS simplemente devuelve un registro CNAME hacia un nombre DNS externo. Es un alias interno estable para un servicio de fuera del cluster.</a:t>
            </a:r>
          </a:p>
          <a:p>
            <a:pPr algn="l" marL="0" indent="0">
              <a:lnSpc>
                <a:spcPct val="128000"/>
              </a:lnSpc>
              <a:spcBef>
                <a:spcPts val="0"/>
              </a:spcBef>
              <a:spcAft>
                <a:spcPts val="400"/>
              </a:spcAft>
              <a:buNone/>
            </a:pPr>
            <a:r>
              <a:rPr sz="1000" b="0" i="0">
                <a:solidFill>
                  <a:srgbClr val="BDC9DB"/>
                </a:solidFill>
                <a:latin typeface="Segoe UI"/>
              </a:rPr>
              <a:t>El caso especial es headless (clusterIP: None): en vez de una VIP, el DNS del Service devuelve directamente las IP de todos los Pods del selector. Es la base del StatefulSet, porque permite direccionar réplicas concretas por nombre. Y el error de siempre: port es el puerto del Service, targetPort el del contenedor, nodePort el del nodo.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620000" y="300000"/>
            <a:ext cx="10952000" cy="24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240">
                <a:solidFill>
                  <a:srgbClr val="74A6FF"/>
                </a:solidFill>
                <a:latin typeface="Segoe UI Semibold"/>
              </a:rPr>
              <a:t>COREDNS</a:t>
            </a:r>
          </a:p>
        </p:txBody>
      </p:sp>
      <p:sp>
        <p:nvSpPr>
          <p:cNvPr id="3" name="TextBox 2"/>
          <p:cNvSpPr txBox="1"/>
          <p:nvPr/>
        </p:nvSpPr>
        <p:spPr>
          <a:xfrm>
            <a:off x="620000" y="560000"/>
            <a:ext cx="10052000" cy="620000"/>
          </a:xfrm>
          <a:prstGeom prst="rect">
            <a:avLst/>
          </a:prstGeom>
          <a:noFill/>
        </p:spPr>
        <p:txBody>
          <a:bodyPr wrap="square" anchor="t" lIns="0" rIns="0" tIns="0" bIns="0">
            <a:noAutofit/>
          </a:bodyPr>
          <a:lstStyle/>
          <a:p>
            <a:pPr algn="l" marL="0" indent="0">
              <a:lnSpc>
                <a:spcPct val="105000"/>
              </a:lnSpc>
              <a:spcBef>
                <a:spcPts val="0"/>
              </a:spcBef>
              <a:spcAft>
                <a:spcPts val="0"/>
              </a:spcAft>
              <a:buNone/>
            </a:pPr>
            <a:r>
              <a:rPr sz="3000" b="0" i="0">
                <a:solidFill>
                  <a:srgbClr val="F3F6FC"/>
                </a:solidFill>
                <a:latin typeface="Segoe UI Light"/>
              </a:rPr>
              <a:t>Cómo encuentra un Pod a otro por nombre</a:t>
            </a:r>
          </a:p>
        </p:txBody>
      </p:sp>
      <p:sp>
        <p:nvSpPr>
          <p:cNvPr id="4" name="Rectangle 3"/>
          <p:cNvSpPr/>
          <p:nvPr/>
        </p:nvSpPr>
        <p:spPr>
          <a:xfrm>
            <a:off x="620000" y="1230000"/>
            <a:ext cx="560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5" name="Rectangle 4"/>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6" name="TextBox 5"/>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5</a:t>
            </a:r>
          </a:p>
        </p:txBody>
      </p:sp>
      <p:sp>
        <p:nvSpPr>
          <p:cNvPr id="7" name="TextBox 6"/>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07</a:t>
            </a:r>
          </a:p>
        </p:txBody>
      </p:sp>
      <p:pic>
        <p:nvPicPr>
          <p:cNvPr id="8" name="Picture 7" descr="svc.png"/>
          <p:cNvPicPr>
            <a:picLocks noChangeAspect="1"/>
          </p:cNvPicPr>
          <p:nvPr/>
        </p:nvPicPr>
        <p:blipFill>
          <a:blip r:embed="rId2"/>
          <a:stretch>
            <a:fillRect/>
          </a:stretch>
        </p:blipFill>
        <p:spPr>
          <a:xfrm>
            <a:off x="10932000" y="275000"/>
            <a:ext cx="640000" cy="640000"/>
          </a:xfrm>
          <a:prstGeom prst="rect">
            <a:avLst/>
          </a:prstGeom>
        </p:spPr>
      </p:pic>
      <p:sp>
        <p:nvSpPr>
          <p:cNvPr id="9" name="Oval 8"/>
          <p:cNvSpPr/>
          <p:nvPr/>
        </p:nvSpPr>
        <p:spPr>
          <a:xfrm>
            <a:off x="636000" y="1751750"/>
            <a:ext cx="104000" cy="104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80000" y="1470000"/>
            <a:ext cx="5435040" cy="667500"/>
          </a:xfrm>
          <a:prstGeom prst="rect">
            <a:avLst/>
          </a:prstGeom>
          <a:noFill/>
        </p:spPr>
        <p:txBody>
          <a:bodyPr wrap="square" anchor="ctr" lIns="0" rIns="0" tIns="0" bIns="0">
            <a:noAutofit/>
          </a:bodyPr>
          <a:lstStyle/>
          <a:p>
            <a:pPr algn="l" marL="0" indent="0">
              <a:lnSpc>
                <a:spcPct val="118000"/>
              </a:lnSpc>
              <a:spcBef>
                <a:spcPts val="0"/>
              </a:spcBef>
              <a:spcAft>
                <a:spcPts val="0"/>
              </a:spcAft>
              <a:buNone/>
            </a:pPr>
            <a:r>
              <a:rPr sz="1300" b="0" i="0">
                <a:solidFill>
                  <a:srgbClr val="BDC9DB"/>
                </a:solidFill>
                <a:latin typeface="Segoe UI"/>
              </a:rPr>
              <a:t>CoreDNS vive en kube-system. Su Service se sigue llamando kube-dns por motivos históricos.</a:t>
            </a:r>
          </a:p>
        </p:txBody>
      </p:sp>
      <p:sp>
        <p:nvSpPr>
          <p:cNvPr id="11" name="Oval 10"/>
          <p:cNvSpPr/>
          <p:nvPr/>
        </p:nvSpPr>
        <p:spPr>
          <a:xfrm>
            <a:off x="636000" y="2419250"/>
            <a:ext cx="104000" cy="104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80000" y="2137500"/>
            <a:ext cx="5435040" cy="667500"/>
          </a:xfrm>
          <a:prstGeom prst="rect">
            <a:avLst/>
          </a:prstGeom>
          <a:noFill/>
        </p:spPr>
        <p:txBody>
          <a:bodyPr wrap="square" anchor="ctr" lIns="0" rIns="0" tIns="0" bIns="0">
            <a:noAutofit/>
          </a:bodyPr>
          <a:lstStyle/>
          <a:p>
            <a:pPr algn="l" marL="0" indent="0">
              <a:lnSpc>
                <a:spcPct val="118000"/>
              </a:lnSpc>
              <a:spcBef>
                <a:spcPts val="0"/>
              </a:spcBef>
              <a:spcAft>
                <a:spcPts val="0"/>
              </a:spcAft>
              <a:buNone/>
            </a:pPr>
            <a:r>
              <a:rPr sz="1300" b="0" i="0">
                <a:solidFill>
                  <a:srgbClr val="BDC9DB"/>
                </a:solidFill>
                <a:latin typeface="Segoe UI"/>
              </a:rPr>
              <a:t>El FQDN de un Service es &lt;svc&gt;.&lt;ns&gt;.svc.cluster.local; el de un Pod de StatefulSet añade el nombre del Pod delante.</a:t>
            </a:r>
          </a:p>
        </p:txBody>
      </p:sp>
      <p:sp>
        <p:nvSpPr>
          <p:cNvPr id="13" name="Oval 12"/>
          <p:cNvSpPr/>
          <p:nvPr/>
        </p:nvSpPr>
        <p:spPr>
          <a:xfrm>
            <a:off x="636000" y="3086750"/>
            <a:ext cx="104000" cy="104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0000" y="2805000"/>
            <a:ext cx="5435040" cy="667500"/>
          </a:xfrm>
          <a:prstGeom prst="rect">
            <a:avLst/>
          </a:prstGeom>
          <a:noFill/>
        </p:spPr>
        <p:txBody>
          <a:bodyPr wrap="square" anchor="ctr" lIns="0" rIns="0" tIns="0" bIns="0">
            <a:noAutofit/>
          </a:bodyPr>
          <a:lstStyle/>
          <a:p>
            <a:pPr algn="l" marL="0" indent="0">
              <a:lnSpc>
                <a:spcPct val="118000"/>
              </a:lnSpc>
              <a:spcBef>
                <a:spcPts val="0"/>
              </a:spcBef>
              <a:spcAft>
                <a:spcPts val="0"/>
              </a:spcAft>
              <a:buNone/>
            </a:pPr>
            <a:r>
              <a:rPr sz="1300" b="0" i="0">
                <a:solidFill>
                  <a:srgbClr val="BDC9DB"/>
                </a:solidFill>
                <a:latin typeface="Segoe UI"/>
              </a:rPr>
              <a:t>search hace que dentro del namespace baste con escribir el nombre corto del Service.</a:t>
            </a:r>
          </a:p>
        </p:txBody>
      </p:sp>
      <p:sp>
        <p:nvSpPr>
          <p:cNvPr id="15" name="Oval 14"/>
          <p:cNvSpPr/>
          <p:nvPr/>
        </p:nvSpPr>
        <p:spPr>
          <a:xfrm>
            <a:off x="636000" y="3754250"/>
            <a:ext cx="104000" cy="104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0000" y="3472500"/>
            <a:ext cx="5435040" cy="667500"/>
          </a:xfrm>
          <a:prstGeom prst="rect">
            <a:avLst/>
          </a:prstGeom>
          <a:noFill/>
        </p:spPr>
        <p:txBody>
          <a:bodyPr wrap="square" anchor="ctr" lIns="0" rIns="0" tIns="0" bIns="0">
            <a:noAutofit/>
          </a:bodyPr>
          <a:lstStyle/>
          <a:p>
            <a:pPr algn="l" marL="0" indent="0">
              <a:lnSpc>
                <a:spcPct val="118000"/>
              </a:lnSpc>
              <a:spcBef>
                <a:spcPts val="0"/>
              </a:spcBef>
              <a:spcAft>
                <a:spcPts val="0"/>
              </a:spcAft>
              <a:buNone/>
            </a:pPr>
            <a:r>
              <a:rPr sz="1300" b="0" i="0">
                <a:solidFill>
                  <a:srgbClr val="BDC9DB"/>
                </a:solidFill>
                <a:latin typeface="Segoe UI"/>
              </a:rPr>
              <a:t>ndots:5 significa que un nombre con menos de 5 puntos prueba primero los sufijos de search.</a:t>
            </a:r>
          </a:p>
        </p:txBody>
      </p:sp>
      <p:sp>
        <p:nvSpPr>
          <p:cNvPr id="17" name="Rounded Rectangle 16"/>
          <p:cNvSpPr/>
          <p:nvPr/>
        </p:nvSpPr>
        <p:spPr>
          <a:xfrm>
            <a:off x="6635040" y="1470000"/>
            <a:ext cx="4936960" cy="2670000"/>
          </a:xfrm>
          <a:prstGeom prst="roundRect">
            <a:avLst>
              <a:gd name="adj" fmla="val 3000"/>
            </a:avLst>
          </a:prstGeom>
          <a:solidFill>
            <a:srgbClr val="0A1120"/>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8" name="Rectangle 17"/>
          <p:cNvSpPr/>
          <p:nvPr/>
        </p:nvSpPr>
        <p:spPr>
          <a:xfrm>
            <a:off x="6635040" y="1770000"/>
            <a:ext cx="46000" cy="2370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9" name="TextBox 18"/>
          <p:cNvSpPr txBox="1"/>
          <p:nvPr/>
        </p:nvSpPr>
        <p:spPr>
          <a:xfrm>
            <a:off x="6825040" y="1530000"/>
            <a:ext cx="4556960" cy="26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000" b="1" i="0" spc="180">
                <a:solidFill>
                  <a:srgbClr val="8493AD"/>
                </a:solidFill>
                <a:latin typeface="Segoe UI Semibold"/>
              </a:rPr>
              <a:t>/ETC/RESOLV.CONF DE UN POD</a:t>
            </a:r>
          </a:p>
        </p:txBody>
      </p:sp>
      <p:sp>
        <p:nvSpPr>
          <p:cNvPr id="20" name="Rectangle 19"/>
          <p:cNvSpPr/>
          <p:nvPr/>
        </p:nvSpPr>
        <p:spPr>
          <a:xfrm>
            <a:off x="6825040" y="1764000"/>
            <a:ext cx="4556960" cy="10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1" name="TextBox 20"/>
          <p:cNvSpPr txBox="1"/>
          <p:nvPr/>
        </p:nvSpPr>
        <p:spPr>
          <a:xfrm>
            <a:off x="6865040" y="1960000"/>
            <a:ext cx="4516960" cy="1983740"/>
          </a:xfrm>
          <a:prstGeom prst="rect">
            <a:avLst/>
          </a:prstGeom>
          <a:noFill/>
        </p:spPr>
        <p:txBody>
          <a:bodyPr wrap="square" anchor="t" lIns="0" rIns="0" tIns="0" bIns="0">
            <a:noAutofit/>
          </a:bodyPr>
          <a:lstStyle/>
          <a:p>
            <a:pPr marL="0" indent="0">
              <a:lnSpc>
                <a:spcPct val="134000"/>
              </a:lnSpc>
              <a:spcAft>
                <a:spcPts val="0"/>
              </a:spcAft>
              <a:buNone/>
            </a:pPr>
            <a:r>
              <a:rPr sz="1000" b="0" i="0">
                <a:solidFill>
                  <a:srgbClr val="E6EDF3"/>
                </a:solidFill>
                <a:latin typeface="Consolas"/>
              </a:rPr>
              <a:t>nameserver 10.96.0.10</a:t>
            </a:r>
          </a:p>
          <a:p>
            <a:pPr marL="0" indent="0">
              <a:lnSpc>
                <a:spcPct val="134000"/>
              </a:lnSpc>
              <a:spcAft>
                <a:spcPts val="0"/>
              </a:spcAft>
              <a:buNone/>
            </a:pPr>
            <a:r>
              <a:rPr sz="1000" b="0" i="0">
                <a:solidFill>
                  <a:srgbClr val="E6EDF3"/>
                </a:solidFill>
                <a:latin typeface="Consolas"/>
              </a:rPr>
              <a:t>search c5-basico.svc.cluster.local</a:t>
            </a:r>
          </a:p>
          <a:p>
            <a:pPr marL="0" indent="0">
              <a:lnSpc>
                <a:spcPct val="134000"/>
              </a:lnSpc>
              <a:spcAft>
                <a:spcPts val="0"/>
              </a:spcAft>
              <a:buNone/>
            </a:pPr>
            <a:r>
              <a:rPr sz="1000" b="0" i="0">
                <a:solidFill>
                  <a:srgbClr val="E6EDF3"/>
                </a:solidFill>
                <a:latin typeface="Consolas"/>
              </a:rPr>
              <a:t>       svc.cluster.local</a:t>
            </a:r>
          </a:p>
          <a:p>
            <a:pPr marL="0" indent="0">
              <a:lnSpc>
                <a:spcPct val="134000"/>
              </a:lnSpc>
              <a:spcAft>
                <a:spcPts val="0"/>
              </a:spcAft>
              <a:buNone/>
            </a:pPr>
            <a:r>
              <a:rPr sz="1000" b="0" i="0">
                <a:solidFill>
                  <a:srgbClr val="E6EDF3"/>
                </a:solidFill>
                <a:latin typeface="Consolas"/>
              </a:rPr>
              <a:t>       cluster.local</a:t>
            </a:r>
          </a:p>
          <a:p>
            <a:pPr marL="0" indent="0">
              <a:lnSpc>
                <a:spcPct val="134000"/>
              </a:lnSpc>
              <a:spcAft>
                <a:spcPts val="0"/>
              </a:spcAft>
              <a:buNone/>
            </a:pPr>
            <a:r>
              <a:rPr sz="1000" b="0" i="0">
                <a:solidFill>
                  <a:srgbClr val="E6EDF3"/>
                </a:solidFill>
                <a:latin typeface="Consolas"/>
              </a:rPr>
              <a:t>options ndots:5</a:t>
            </a:r>
          </a:p>
          <a:p>
            <a:pPr marL="0" indent="0">
              <a:lnSpc>
                <a:spcPct val="134000"/>
              </a:lnSpc>
              <a:spcAft>
                <a:spcPts val="0"/>
              </a:spcAft>
              <a:buNone/>
            </a:pPr>
            <a:r>
              <a:rPr sz="1000" b="0" i="0">
                <a:solidFill>
                  <a:srgbClr val="E6EDF3"/>
                </a:solidFill>
                <a:latin typeface="Consolas"/>
              </a:rPr>
              <a:t/>
            </a:r>
          </a:p>
          <a:p>
            <a:pPr marL="0" indent="0">
              <a:lnSpc>
                <a:spcPct val="134000"/>
              </a:lnSpc>
              <a:spcAft>
                <a:spcPts val="0"/>
              </a:spcAft>
              <a:buNone/>
            </a:pPr>
            <a:r>
              <a:rPr sz="1000" b="0" i="1">
                <a:solidFill>
                  <a:srgbClr val="7C8AA5"/>
                </a:solidFill>
                <a:latin typeface="Consolas"/>
              </a:rPr>
              <a:t># Diagnóstico rápido:</a:t>
            </a:r>
          </a:p>
          <a:p>
            <a:pPr marL="0" indent="0">
              <a:lnSpc>
                <a:spcPct val="134000"/>
              </a:lnSpc>
              <a:spcAft>
                <a:spcPts val="0"/>
              </a:spcAft>
              <a:buNone/>
            </a:pPr>
            <a:r>
              <a:rPr sz="1000" b="0" i="0">
                <a:solidFill>
                  <a:srgbClr val="E6EDF3"/>
                </a:solidFill>
                <a:latin typeface="Consolas"/>
              </a:rPr>
              <a:t>k run tmp --rm -it \</a:t>
            </a:r>
          </a:p>
          <a:p>
            <a:pPr marL="0" indent="0">
              <a:lnSpc>
                <a:spcPct val="134000"/>
              </a:lnSpc>
              <a:spcAft>
                <a:spcPts val="0"/>
              </a:spcAft>
              <a:buNone/>
            </a:pPr>
            <a:r>
              <a:rPr sz="1000" b="0" i="0">
                <a:solidFill>
                  <a:srgbClr val="E6EDF3"/>
                </a:solidFill>
                <a:latin typeface="Consolas"/>
              </a:rPr>
              <a:t>  --image=busybox:1.36 \</a:t>
            </a:r>
          </a:p>
          <a:p>
            <a:pPr marL="0" indent="0">
              <a:lnSpc>
                <a:spcPct val="134000"/>
              </a:lnSpc>
              <a:spcAft>
                <a:spcPts val="0"/>
              </a:spcAft>
              <a:buNone/>
            </a:pPr>
            <a:r>
              <a:rPr sz="1000" b="0" i="0">
                <a:solidFill>
                  <a:srgbClr val="E6EDF3"/>
                </a:solidFill>
                <a:latin typeface="Consolas"/>
              </a:rPr>
              <a:t>  --restart=Never -- \</a:t>
            </a:r>
          </a:p>
          <a:p>
            <a:pPr marL="0" indent="0">
              <a:lnSpc>
                <a:spcPct val="134000"/>
              </a:lnSpc>
              <a:spcAft>
                <a:spcPts val="0"/>
              </a:spcAft>
              <a:buNone/>
            </a:pPr>
            <a:r>
              <a:rPr sz="1000" b="0" i="0">
                <a:solidFill>
                  <a:srgbClr val="E6EDF3"/>
                </a:solidFill>
                <a:latin typeface="Consolas"/>
              </a:rPr>
              <a:t>  nslookup &lt;svc&gt;.&lt;ns&gt;</a:t>
            </a:r>
          </a:p>
        </p:txBody>
      </p:sp>
      <p:sp>
        <p:nvSpPr>
          <p:cNvPr id="22" name="Rounded Rectangle 21"/>
          <p:cNvSpPr/>
          <p:nvPr/>
        </p:nvSpPr>
        <p:spPr>
          <a:xfrm>
            <a:off x="620000" y="4310000"/>
            <a:ext cx="10952000" cy="2000000"/>
          </a:xfrm>
          <a:prstGeom prst="roundRect">
            <a:avLst>
              <a:gd name="adj" fmla="val 4500"/>
            </a:avLst>
          </a:prstGeom>
          <a:solidFill>
            <a:srgbClr val="111A2C"/>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3" name="Rectangle 22"/>
          <p:cNvSpPr/>
          <p:nvPr/>
        </p:nvSpPr>
        <p:spPr>
          <a:xfrm>
            <a:off x="646000" y="4332000"/>
            <a:ext cx="40000" cy="195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4" name="TextBox 23"/>
          <p:cNvSpPr txBox="1"/>
          <p:nvPr/>
        </p:nvSpPr>
        <p:spPr>
          <a:xfrm>
            <a:off x="860000" y="4440000"/>
            <a:ext cx="10522000" cy="1740000"/>
          </a:xfrm>
          <a:prstGeom prst="rect">
            <a:avLst/>
          </a:prstGeom>
          <a:noFill/>
        </p:spPr>
        <p:txBody>
          <a:bodyPr wrap="square" anchor="t" lIns="0" rIns="0" tIns="0" bIns="0">
            <a:noAutofit/>
          </a:bodyPr>
          <a:lstStyle/>
          <a:p>
            <a:pPr algn="l" marL="0" indent="0">
              <a:lnSpc>
                <a:spcPct val="100000"/>
              </a:lnSpc>
              <a:spcBef>
                <a:spcPts val="0"/>
              </a:spcBef>
              <a:spcAft>
                <a:spcPts val="600"/>
              </a:spcAft>
              <a:buNone/>
            </a:pPr>
            <a:r>
              <a:rPr sz="900" b="1" i="0" spc="200">
                <a:solidFill>
                  <a:srgbClr val="326CE5"/>
                </a:solidFill>
                <a:latin typeface="Segoe UI Semibold"/>
              </a:rPr>
              <a:t>TEORÍA</a:t>
            </a:r>
          </a:p>
          <a:p>
            <a:pPr algn="l" marL="0" indent="0">
              <a:lnSpc>
                <a:spcPct val="128000"/>
              </a:lnSpc>
              <a:spcBef>
                <a:spcPts val="0"/>
              </a:spcBef>
              <a:spcAft>
                <a:spcPts val="400"/>
              </a:spcAft>
              <a:buNone/>
            </a:pPr>
            <a:r>
              <a:rPr sz="1050" b="0" i="0">
                <a:solidFill>
                  <a:srgbClr val="BDC9DB"/>
                </a:solidFill>
                <a:latin typeface="Segoe UI"/>
              </a:rPr>
              <a:t>CoreDNS es el servidor DNS interno del cluster. Corre como Deployment en el namespace kube-system y se expone con un Service que, por motivos históricos, se sigue llamando kube-dns. El kubelet inyecta su ClusterIP en el /etc/resolv.conf de cada Pod.</a:t>
            </a:r>
          </a:p>
          <a:p>
            <a:pPr algn="l" marL="0" indent="0">
              <a:lnSpc>
                <a:spcPct val="128000"/>
              </a:lnSpc>
              <a:spcBef>
                <a:spcPts val="0"/>
              </a:spcBef>
              <a:spcAft>
                <a:spcPts val="400"/>
              </a:spcAft>
              <a:buNone/>
            </a:pPr>
            <a:r>
              <a:rPr sz="1050" b="0" i="0">
                <a:solidFill>
                  <a:srgbClr val="BDC9DB"/>
                </a:solidFill>
                <a:latin typeface="Segoe UI"/>
              </a:rPr>
              <a:t>El FQDN de un Service es &lt;svc&gt;.&lt;ns&gt;.svc.cluster.local; el de un Pod de StatefulSet añade el nombre del Pod delante. Casi nunca hace falta escribirlo entero: la línea search del resolv.conf añade sufijos automáticamente, de modo que desde dentro de un namespace basta con el nombre corto del Service.</a:t>
            </a:r>
          </a:p>
          <a:p>
            <a:pPr algn="l" marL="0" indent="0">
              <a:lnSpc>
                <a:spcPct val="128000"/>
              </a:lnSpc>
              <a:spcBef>
                <a:spcPts val="0"/>
              </a:spcBef>
              <a:spcAft>
                <a:spcPts val="400"/>
              </a:spcAft>
              <a:buNone/>
            </a:pPr>
            <a:r>
              <a:rPr sz="1050" b="0" i="0">
                <a:solidFill>
                  <a:srgbClr val="BDC9DB"/>
                </a:solidFill>
                <a:latin typeface="Segoe UI"/>
              </a:rPr>
              <a:t>La opción ndots:5 significa que un nombre con menos de cinco puntos se prueba primero concatenándole cada sufijo de search antes de intentarlo como nombre absoluto. Esto explica por qué a veces una resolución tarda o falla de forma rara. Para diagnosticar rápido: kubectl run tmp --rm -it --image=busybox:1.36 --restart=Never -- nslookup &lt;svc&gt;.&lt;ns&gt;.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E172A"/>
        </a:solidFill>
        <a:effectLst/>
      </p:bgPr>
    </p:bg>
    <p:spTree>
      <p:nvGrpSpPr>
        <p:cNvPr id="1" name=""/>
        <p:cNvGrpSpPr/>
        <p:nvPr/>
      </p:nvGrpSpPr>
      <p:grpSpPr/>
      <p:sp>
        <p:nvSpPr>
          <p:cNvPr id="2" name="Oval 1"/>
          <p:cNvSpPr/>
          <p:nvPr/>
        </p:nvSpPr>
        <p:spPr>
          <a:xfrm>
            <a:off x="9992000" y="-1500000"/>
            <a:ext cx="3400000" cy="3400000"/>
          </a:xfrm>
          <a:prstGeom prst="ellipse">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40000" y="470000"/>
            <a:ext cx="2500000" cy="360000"/>
          </a:xfrm>
          <a:prstGeom prst="roundRect">
            <a:avLst>
              <a:gd name="adj" fmla="val 50000"/>
            </a:avLst>
          </a:prstGeom>
          <a:noFill/>
          <a:ln w="12700">
            <a:solidFill>
              <a:srgbClr val="326CE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000" b="1" i="0" spc="140">
                <a:solidFill>
                  <a:srgbClr val="74A6FF"/>
                </a:solidFill>
                <a:latin typeface="Segoe UI"/>
              </a:rPr>
              <a:t>Nivel básico</a:t>
            </a:r>
          </a:p>
        </p:txBody>
      </p:sp>
      <p:sp>
        <p:nvSpPr>
          <p:cNvPr id="4" name="TextBox 3"/>
          <p:cNvSpPr txBox="1"/>
          <p:nvPr/>
        </p:nvSpPr>
        <p:spPr>
          <a:xfrm>
            <a:off x="640000" y="990000"/>
            <a:ext cx="10912000" cy="760000"/>
          </a:xfrm>
          <a:prstGeom prst="rect">
            <a:avLst/>
          </a:prstGeom>
          <a:noFill/>
        </p:spPr>
        <p:txBody>
          <a:bodyPr wrap="square" anchor="t" lIns="0" rIns="0" tIns="0" bIns="0">
            <a:noAutofit/>
          </a:bodyPr>
          <a:lstStyle/>
          <a:p>
            <a:pPr algn="l" marL="0" indent="0">
              <a:lnSpc>
                <a:spcPct val="106000"/>
              </a:lnSpc>
              <a:spcBef>
                <a:spcPts val="0"/>
              </a:spcBef>
              <a:spcAft>
                <a:spcPts val="0"/>
              </a:spcAft>
              <a:buNone/>
            </a:pPr>
            <a:r>
              <a:rPr sz="3100" b="0" i="0">
                <a:solidFill>
                  <a:srgbClr val="F3F6FC"/>
                </a:solidFill>
                <a:latin typeface="Segoe UI Light"/>
              </a:rPr>
              <a:t>LAB 5.1 — Services, EndpointSlice y CoreDNS</a:t>
            </a:r>
          </a:p>
        </p:txBody>
      </p:sp>
      <p:sp>
        <p:nvSpPr>
          <p:cNvPr id="5" name="TextBox 4"/>
          <p:cNvSpPr txBox="1"/>
          <p:nvPr/>
        </p:nvSpPr>
        <p:spPr>
          <a:xfrm>
            <a:off x="640000" y="1800000"/>
            <a:ext cx="7452000" cy="640000"/>
          </a:xfrm>
          <a:prstGeom prst="rect">
            <a:avLst/>
          </a:prstGeom>
          <a:noFill/>
        </p:spPr>
        <p:txBody>
          <a:bodyPr wrap="square" anchor="t" lIns="0" rIns="0" tIns="0" bIns="0">
            <a:noAutofit/>
          </a:bodyPr>
          <a:lstStyle/>
          <a:p>
            <a:pPr algn="l" marL="0" indent="0">
              <a:lnSpc>
                <a:spcPct val="120000"/>
              </a:lnSpc>
              <a:spcBef>
                <a:spcPts val="0"/>
              </a:spcBef>
              <a:spcAft>
                <a:spcPts val="0"/>
              </a:spcAft>
              <a:buNone/>
            </a:pPr>
            <a:r>
              <a:rPr sz="1300" b="0" i="1">
                <a:solidFill>
                  <a:srgbClr val="BDC9DB"/>
                </a:solidFill>
                <a:latin typeface="Segoe UI"/>
              </a:rPr>
              <a:t>Publicar la misma aplicación con distintos tipos de Service y entender exactamente cómo un Pod encuentra a otro.</a:t>
            </a:r>
          </a:p>
        </p:txBody>
      </p:sp>
      <p:sp>
        <p:nvSpPr>
          <p:cNvPr id="6" name="Oval 5"/>
          <p:cNvSpPr/>
          <p:nvPr/>
        </p:nvSpPr>
        <p:spPr>
          <a:xfrm>
            <a:off x="640000" y="269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1</a:t>
            </a:r>
          </a:p>
        </p:txBody>
      </p:sp>
      <p:sp>
        <p:nvSpPr>
          <p:cNvPr id="7" name="TextBox 6"/>
          <p:cNvSpPr txBox="1"/>
          <p:nvPr/>
        </p:nvSpPr>
        <p:spPr>
          <a:xfrm>
            <a:off x="1110000" y="2560000"/>
            <a:ext cx="698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0">
                <a:solidFill>
                  <a:srgbClr val="BDC9DB"/>
                </a:solidFill>
                <a:latin typeface="Segoe UI"/>
              </a:rPr>
              <a:t>ClusterIP, NodePort con nodePort 31500 y ExternalName. Averiguar qué hace el último.</a:t>
            </a:r>
          </a:p>
        </p:txBody>
      </p:sp>
      <p:sp>
        <p:nvSpPr>
          <p:cNvPr id="8" name="Oval 7"/>
          <p:cNvSpPr/>
          <p:nvPr/>
        </p:nvSpPr>
        <p:spPr>
          <a:xfrm>
            <a:off x="640000" y="325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2</a:t>
            </a:r>
          </a:p>
        </p:txBody>
      </p:sp>
      <p:sp>
        <p:nvSpPr>
          <p:cNvPr id="9" name="TextBox 8"/>
          <p:cNvSpPr txBox="1"/>
          <p:nvPr/>
        </p:nvSpPr>
        <p:spPr>
          <a:xfrm>
            <a:off x="1110000" y="3120000"/>
            <a:ext cx="698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0">
                <a:solidFill>
                  <a:srgbClr val="BDC9DB"/>
                </a:solidFill>
                <a:latin typeface="Segoe UI"/>
              </a:rPr>
              <a:t>Comprobar que dos Services distintos comparten los mismos endpoints.</a:t>
            </a:r>
          </a:p>
        </p:txBody>
      </p:sp>
      <p:sp>
        <p:nvSpPr>
          <p:cNvPr id="10" name="Oval 9"/>
          <p:cNvSpPr/>
          <p:nvPr/>
        </p:nvSpPr>
        <p:spPr>
          <a:xfrm>
            <a:off x="640000" y="381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3</a:t>
            </a:r>
          </a:p>
        </p:txBody>
      </p:sp>
      <p:sp>
        <p:nvSpPr>
          <p:cNvPr id="11" name="TextBox 10"/>
          <p:cNvSpPr txBox="1"/>
          <p:nvPr/>
        </p:nvSpPr>
        <p:spPr>
          <a:xfrm>
            <a:off x="1110000" y="3680000"/>
            <a:ext cx="698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0">
                <a:solidFill>
                  <a:srgbClr val="BDC9DB"/>
                </a:solidFill>
                <a:latin typeface="Segoe UI"/>
              </a:rPr>
              <a:t>Provocar que una réplica deje de estar Ready y ver desaparecer su dirección.</a:t>
            </a:r>
          </a:p>
        </p:txBody>
      </p:sp>
      <p:sp>
        <p:nvSpPr>
          <p:cNvPr id="12" name="Oval 11"/>
          <p:cNvSpPr/>
          <p:nvPr/>
        </p:nvSpPr>
        <p:spPr>
          <a:xfrm>
            <a:off x="640000" y="437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4</a:t>
            </a:r>
          </a:p>
        </p:txBody>
      </p:sp>
      <p:sp>
        <p:nvSpPr>
          <p:cNvPr id="13" name="TextBox 12"/>
          <p:cNvSpPr txBox="1"/>
          <p:nvPr/>
        </p:nvSpPr>
        <p:spPr>
          <a:xfrm>
            <a:off x="1110000" y="4240000"/>
            <a:ext cx="698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0">
                <a:solidFill>
                  <a:srgbClr val="BDC9DB"/>
                </a:solidFill>
                <a:latin typeface="Segoe UI"/>
              </a:rPr>
              <a:t>Leer /etc/resolv.conf, explicar search y ndots, y comprobar quién balancea.</a:t>
            </a:r>
          </a:p>
        </p:txBody>
      </p:sp>
      <p:sp>
        <p:nvSpPr>
          <p:cNvPr id="14" name="Oval 13"/>
          <p:cNvSpPr/>
          <p:nvPr/>
        </p:nvSpPr>
        <p:spPr>
          <a:xfrm>
            <a:off x="640000" y="493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5</a:t>
            </a:r>
          </a:p>
        </p:txBody>
      </p:sp>
      <p:sp>
        <p:nvSpPr>
          <p:cNvPr id="15" name="TextBox 14"/>
          <p:cNvSpPr txBox="1"/>
          <p:nvPr/>
        </p:nvSpPr>
        <p:spPr>
          <a:xfrm>
            <a:off x="1110000" y="4800000"/>
            <a:ext cx="698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0">
                <a:solidFill>
                  <a:srgbClr val="BDC9DB"/>
                </a:solidFill>
                <a:latin typeface="Segoe UI"/>
              </a:rPr>
              <a:t>Activar y revertir el log de consultas de CoreDNS.</a:t>
            </a:r>
          </a:p>
        </p:txBody>
      </p:sp>
      <p:sp>
        <p:nvSpPr>
          <p:cNvPr id="16" name="Freeform 15"/>
          <p:cNvSpPr/>
          <p:nvPr/>
        </p:nvSpPr>
        <p:spPr>
          <a:xfrm>
            <a:off x="9590000" y="1418800"/>
            <a:ext cx="784000" cy="842800"/>
          </a:xfrm>
          <a:custGeom>
            <a:avLst/>
            <a:gdLst/>
            <a:ahLst/>
            <a:cxnLst/>
            <a:rect l="l" t="t" r="r" b="b"/>
            <a:pathLst>
              <a:path w="784000" h="842800">
                <a:moveTo>
                  <a:pt x="235200" y="0"/>
                </a:moveTo>
                <a:lnTo>
                  <a:pt x="235200" y="333200"/>
                </a:lnTo>
                <a:lnTo>
                  <a:pt x="0" y="842800"/>
                </a:lnTo>
                <a:lnTo>
                  <a:pt x="784000" y="842800"/>
                </a:lnTo>
                <a:lnTo>
                  <a:pt x="548800" y="333200"/>
                </a:lnTo>
                <a:lnTo>
                  <a:pt x="548800" y="0"/>
                </a:lnTo>
              </a:path>
            </a:pathLst>
          </a:custGeom>
          <a:noFill/>
          <a:ln w="33020">
            <a:solidFill>
              <a:srgbClr val="74A6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a:off x="9766400" y="1418800"/>
            <a:ext cx="431200" cy="0"/>
          </a:xfrm>
          <a:prstGeom prst="line">
            <a:avLst/>
          </a:prstGeom>
          <a:ln w="33020">
            <a:solidFill>
              <a:srgbClr val="74A6FF"/>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9727200" y="2006800"/>
            <a:ext cx="509600" cy="0"/>
          </a:xfrm>
          <a:prstGeom prst="line">
            <a:avLst/>
          </a:prstGeom>
          <a:ln w="33020">
            <a:solidFill>
              <a:srgbClr val="74A6FF"/>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8392000" y="2560000"/>
            <a:ext cx="3180000" cy="3510000"/>
          </a:xfrm>
          <a:prstGeom prst="roundRect">
            <a:avLst>
              <a:gd name="adj" fmla="val 6000"/>
            </a:avLst>
          </a:prstGeom>
          <a:solidFill>
            <a:srgbClr val="141E33"/>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0" name="Rectangle 19"/>
          <p:cNvSpPr/>
          <p:nvPr/>
        </p:nvSpPr>
        <p:spPr>
          <a:xfrm>
            <a:off x="8392000" y="2560000"/>
            <a:ext cx="3180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1" name="TextBox 20"/>
          <p:cNvSpPr txBox="1"/>
          <p:nvPr/>
        </p:nvSpPr>
        <p:spPr>
          <a:xfrm>
            <a:off x="8592000" y="2740000"/>
            <a:ext cx="2780000" cy="1030000"/>
          </a:xfrm>
          <a:prstGeom prst="rect">
            <a:avLst/>
          </a:prstGeom>
          <a:noFill/>
        </p:spPr>
        <p:txBody>
          <a:bodyPr wrap="square" anchor="t" lIns="0" rIns="0" tIns="0" bIns="0">
            <a:noAutofit/>
          </a:bodyPr>
          <a:lstStyle/>
          <a:p>
            <a:pPr algn="l" marL="0" indent="0">
              <a:lnSpc>
                <a:spcPct val="100000"/>
              </a:lnSpc>
              <a:spcBef>
                <a:spcPts val="0"/>
              </a:spcBef>
              <a:spcAft>
                <a:spcPts val="500"/>
              </a:spcAft>
              <a:buNone/>
            </a:pPr>
            <a:r>
              <a:rPr sz="900" b="1" i="0" spc="180">
                <a:solidFill>
                  <a:srgbClr val="8493AD"/>
                </a:solidFill>
                <a:latin typeface="Segoe UI Semibold"/>
              </a:rPr>
              <a:t>ARCHIVO</a:t>
            </a:r>
          </a:p>
          <a:p>
            <a:pPr algn="l" marL="0" indent="0">
              <a:lnSpc>
                <a:spcPct val="112000"/>
              </a:lnSpc>
              <a:spcBef>
                <a:spcPts val="0"/>
              </a:spcBef>
              <a:spcAft>
                <a:spcPts val="0"/>
              </a:spcAft>
              <a:buNone/>
            </a:pPr>
            <a:r>
              <a:rPr sz="1100" b="0" i="0">
                <a:solidFill>
                  <a:srgbClr val="F3F6FC"/>
                </a:solidFill>
                <a:latin typeface="Consolas"/>
              </a:rPr>
              <a:t>CLASE-05/LABORATORIOS/LAB-01-BASICO.md</a:t>
            </a:r>
          </a:p>
        </p:txBody>
      </p:sp>
      <p:sp>
        <p:nvSpPr>
          <p:cNvPr id="22" name="Rectangle 21"/>
          <p:cNvSpPr/>
          <p:nvPr/>
        </p:nvSpPr>
        <p:spPr>
          <a:xfrm>
            <a:off x="8592000" y="3790000"/>
            <a:ext cx="2780000" cy="8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3" name="TextBox 22"/>
          <p:cNvSpPr txBox="1"/>
          <p:nvPr/>
        </p:nvSpPr>
        <p:spPr>
          <a:xfrm>
            <a:off x="8592000" y="3830000"/>
            <a:ext cx="2780000" cy="1030000"/>
          </a:xfrm>
          <a:prstGeom prst="rect">
            <a:avLst/>
          </a:prstGeom>
          <a:noFill/>
        </p:spPr>
        <p:txBody>
          <a:bodyPr wrap="square" anchor="t" lIns="0" rIns="0" tIns="0" bIns="0">
            <a:noAutofit/>
          </a:bodyPr>
          <a:lstStyle/>
          <a:p>
            <a:pPr algn="l" marL="0" indent="0">
              <a:lnSpc>
                <a:spcPct val="100000"/>
              </a:lnSpc>
              <a:spcBef>
                <a:spcPts val="0"/>
              </a:spcBef>
              <a:spcAft>
                <a:spcPts val="500"/>
              </a:spcAft>
              <a:buNone/>
            </a:pPr>
            <a:r>
              <a:rPr sz="900" b="1" i="0" spc="180">
                <a:solidFill>
                  <a:srgbClr val="8493AD"/>
                </a:solidFill>
                <a:latin typeface="Segoe UI Semibold"/>
              </a:rPr>
              <a:t>DURACIÓN</a:t>
            </a:r>
          </a:p>
          <a:p>
            <a:pPr algn="l" marL="0" indent="0">
              <a:lnSpc>
                <a:spcPct val="112000"/>
              </a:lnSpc>
              <a:spcBef>
                <a:spcPts val="0"/>
              </a:spcBef>
              <a:spcAft>
                <a:spcPts val="0"/>
              </a:spcAft>
              <a:buNone/>
            </a:pPr>
            <a:r>
              <a:rPr sz="1100" b="1" i="0">
                <a:solidFill>
                  <a:srgbClr val="F3F6FC"/>
                </a:solidFill>
                <a:latin typeface="Segoe UI Semibold"/>
              </a:rPr>
              <a:t>23 min</a:t>
            </a:r>
          </a:p>
        </p:txBody>
      </p:sp>
      <p:sp>
        <p:nvSpPr>
          <p:cNvPr id="24" name="Rectangle 23"/>
          <p:cNvSpPr/>
          <p:nvPr/>
        </p:nvSpPr>
        <p:spPr>
          <a:xfrm>
            <a:off x="8592000" y="4880000"/>
            <a:ext cx="2780000" cy="8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5" name="TextBox 24"/>
          <p:cNvSpPr txBox="1"/>
          <p:nvPr/>
        </p:nvSpPr>
        <p:spPr>
          <a:xfrm>
            <a:off x="8592000" y="4920000"/>
            <a:ext cx="2780000" cy="1030000"/>
          </a:xfrm>
          <a:prstGeom prst="rect">
            <a:avLst/>
          </a:prstGeom>
          <a:noFill/>
        </p:spPr>
        <p:txBody>
          <a:bodyPr wrap="square" anchor="t" lIns="0" rIns="0" tIns="0" bIns="0">
            <a:noAutofit/>
          </a:bodyPr>
          <a:lstStyle/>
          <a:p>
            <a:pPr algn="l" marL="0" indent="0">
              <a:lnSpc>
                <a:spcPct val="100000"/>
              </a:lnSpc>
              <a:spcBef>
                <a:spcPts val="0"/>
              </a:spcBef>
              <a:spcAft>
                <a:spcPts val="500"/>
              </a:spcAft>
              <a:buNone/>
            </a:pPr>
            <a:r>
              <a:rPr sz="900" b="1" i="0" spc="180">
                <a:solidFill>
                  <a:srgbClr val="8493AD"/>
                </a:solidFill>
                <a:latin typeface="Segoe UI Semibold"/>
              </a:rPr>
              <a:t>VALIDACIÓN</a:t>
            </a:r>
          </a:p>
          <a:p>
            <a:pPr algn="l" marL="0" indent="0">
              <a:lnSpc>
                <a:spcPct val="112000"/>
              </a:lnSpc>
              <a:spcBef>
                <a:spcPts val="0"/>
              </a:spcBef>
              <a:spcAft>
                <a:spcPts val="0"/>
              </a:spcAft>
              <a:buNone/>
            </a:pPr>
            <a:r>
              <a:rPr sz="1100" b="0" i="0">
                <a:solidFill>
                  <a:srgbClr val="F3F6FC"/>
                </a:solidFill>
                <a:latin typeface="Consolas"/>
              </a:rPr>
              <a:t>k get endpointslices</a:t>
            </a:r>
          </a:p>
        </p:txBody>
      </p:sp>
      <p:sp>
        <p:nvSpPr>
          <p:cNvPr id="26" name="Rectangle 25"/>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7" name="TextBox 26"/>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5</a:t>
            </a:r>
          </a:p>
        </p:txBody>
      </p:sp>
      <p:sp>
        <p:nvSpPr>
          <p:cNvPr id="28" name="TextBox 27"/>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E172A"/>
        </a:solidFill>
        <a:effectLst/>
      </p:bgPr>
    </p:bg>
    <p:spTree>
      <p:nvGrpSpPr>
        <p:cNvPr id="1" name=""/>
        <p:cNvGrpSpPr/>
        <p:nvPr/>
      </p:nvGrpSpPr>
      <p:grpSpPr/>
      <p:sp>
        <p:nvSpPr>
          <p:cNvPr id="2" name="Oval 1"/>
          <p:cNvSpPr/>
          <p:nvPr/>
        </p:nvSpPr>
        <p:spPr>
          <a:xfrm>
            <a:off x="-1500000" y="4258000"/>
            <a:ext cx="4200000" cy="4200000"/>
          </a:xfrm>
          <a:prstGeom prst="ellipse">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ng.png"/>
          <p:cNvPicPr>
            <a:picLocks noChangeAspect="1"/>
          </p:cNvPicPr>
          <p:nvPr/>
        </p:nvPicPr>
        <p:blipFill>
          <a:blip r:embed="rId2"/>
          <a:stretch>
            <a:fillRect/>
          </a:stretch>
        </p:blipFill>
        <p:spPr>
          <a:xfrm>
            <a:off x="8842000" y="2150000"/>
            <a:ext cx="1800000" cy="1800000"/>
          </a:xfrm>
          <a:prstGeom prst="rect">
            <a:avLst/>
          </a:prstGeom>
        </p:spPr>
      </p:pic>
      <p:sp>
        <p:nvSpPr>
          <p:cNvPr id="4" name="TextBox 3"/>
          <p:cNvSpPr txBox="1"/>
          <p:nvPr/>
        </p:nvSpPr>
        <p:spPr>
          <a:xfrm>
            <a:off x="590000" y="1150000"/>
            <a:ext cx="4000000" cy="2600000"/>
          </a:xfrm>
          <a:prstGeom prst="rect">
            <a:avLst/>
          </a:prstGeom>
          <a:noFill/>
        </p:spPr>
        <p:txBody>
          <a:bodyPr wrap="square" anchor="t" lIns="0" rIns="0" tIns="0" bIns="0">
            <a:noAutofit/>
          </a:bodyPr>
          <a:lstStyle/>
          <a:p>
            <a:pPr algn="l" marL="0" indent="0">
              <a:lnSpc>
                <a:spcPct val="90000"/>
              </a:lnSpc>
              <a:spcBef>
                <a:spcPts val="0"/>
              </a:spcBef>
              <a:spcAft>
                <a:spcPts val="0"/>
              </a:spcAft>
              <a:buNone/>
            </a:pPr>
            <a:r>
              <a:rPr sz="15000" b="0" i="0">
                <a:solidFill>
                  <a:srgbClr val="4C5B75"/>
                </a:solidFill>
                <a:latin typeface="Segoe UI Light"/>
              </a:rPr>
              <a:t>02</a:t>
            </a:r>
          </a:p>
        </p:txBody>
      </p:sp>
      <p:sp>
        <p:nvSpPr>
          <p:cNvPr id="5" name="TextBox 4"/>
          <p:cNvSpPr txBox="1"/>
          <p:nvPr/>
        </p:nvSpPr>
        <p:spPr>
          <a:xfrm>
            <a:off x="640000" y="3050000"/>
            <a:ext cx="9200000" cy="3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260">
                <a:solidFill>
                  <a:srgbClr val="74A6FF"/>
                </a:solidFill>
                <a:latin typeface="Segoe UI Semibold"/>
              </a:rPr>
              <a:t>BLOQUE 2</a:t>
            </a:r>
          </a:p>
        </p:txBody>
      </p:sp>
      <p:sp>
        <p:nvSpPr>
          <p:cNvPr id="6" name="TextBox 5"/>
          <p:cNvSpPr txBox="1"/>
          <p:nvPr/>
        </p:nvSpPr>
        <p:spPr>
          <a:xfrm>
            <a:off x="640000" y="3350000"/>
            <a:ext cx="10200000" cy="1000000"/>
          </a:xfrm>
          <a:prstGeom prst="rect">
            <a:avLst/>
          </a:prstGeom>
          <a:noFill/>
        </p:spPr>
        <p:txBody>
          <a:bodyPr wrap="square" anchor="t" lIns="0" rIns="0" tIns="0" bIns="0">
            <a:noAutofit/>
          </a:bodyPr>
          <a:lstStyle/>
          <a:p>
            <a:pPr algn="l" marL="0" indent="0">
              <a:lnSpc>
                <a:spcPct val="102000"/>
              </a:lnSpc>
              <a:spcBef>
                <a:spcPts val="0"/>
              </a:spcBef>
              <a:spcAft>
                <a:spcPts val="0"/>
              </a:spcAft>
              <a:buNone/>
            </a:pPr>
            <a:r>
              <a:rPr sz="5400" b="0" i="0">
                <a:solidFill>
                  <a:srgbClr val="F3F6FC"/>
                </a:solidFill>
                <a:latin typeface="Segoe UI Light"/>
              </a:rPr>
              <a:t>Ingress y Gateway API</a:t>
            </a:r>
          </a:p>
        </p:txBody>
      </p:sp>
      <p:sp>
        <p:nvSpPr>
          <p:cNvPr id="7" name="Rectangle 6"/>
          <p:cNvSpPr/>
          <p:nvPr/>
        </p:nvSpPr>
        <p:spPr>
          <a:xfrm>
            <a:off x="644000" y="4380000"/>
            <a:ext cx="620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8" name="TextBox 7"/>
          <p:cNvSpPr txBox="1"/>
          <p:nvPr/>
        </p:nvSpPr>
        <p:spPr>
          <a:xfrm>
            <a:off x="640000" y="4560000"/>
            <a:ext cx="9600000" cy="620000"/>
          </a:xfrm>
          <a:prstGeom prst="rect">
            <a:avLst/>
          </a:prstGeom>
          <a:noFill/>
        </p:spPr>
        <p:txBody>
          <a:bodyPr wrap="square" anchor="t" lIns="0" rIns="0" tIns="0" bIns="0">
            <a:noAutofit/>
          </a:bodyPr>
          <a:lstStyle/>
          <a:p>
            <a:pPr algn="l" marL="0" indent="0">
              <a:lnSpc>
                <a:spcPct val="120000"/>
              </a:lnSpc>
              <a:spcBef>
                <a:spcPts val="0"/>
              </a:spcBef>
              <a:spcAft>
                <a:spcPts val="0"/>
              </a:spcAft>
              <a:buNone/>
            </a:pPr>
            <a:r>
              <a:rPr sz="1500" b="0" i="1">
                <a:solidFill>
                  <a:srgbClr val="BDC9DB"/>
                </a:solidFill>
                <a:latin typeface="Segoe UI"/>
              </a:rPr>
              <a:t>Una sola puerta de entrada para muchas aplicaciones</a:t>
            </a:r>
          </a:p>
        </p:txBody>
      </p:sp>
      <p:sp>
        <p:nvSpPr>
          <p:cNvPr id="9" name="Rectangle 8"/>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0" name="TextBox 9"/>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5</a:t>
            </a:r>
          </a:p>
        </p:txBody>
      </p:sp>
      <p:sp>
        <p:nvSpPr>
          <p:cNvPr id="11" name="TextBox 10"/>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620000" y="300000"/>
            <a:ext cx="10952000" cy="24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240">
                <a:solidFill>
                  <a:srgbClr val="74A6FF"/>
                </a:solidFill>
                <a:latin typeface="Segoe UI Semibold"/>
              </a:rPr>
              <a:t>ARQUITECTURA</a:t>
            </a:r>
          </a:p>
        </p:txBody>
      </p:sp>
      <p:sp>
        <p:nvSpPr>
          <p:cNvPr id="3" name="TextBox 2"/>
          <p:cNvSpPr txBox="1"/>
          <p:nvPr/>
        </p:nvSpPr>
        <p:spPr>
          <a:xfrm>
            <a:off x="620000" y="560000"/>
            <a:ext cx="10052000" cy="620000"/>
          </a:xfrm>
          <a:prstGeom prst="rect">
            <a:avLst/>
          </a:prstGeom>
          <a:noFill/>
        </p:spPr>
        <p:txBody>
          <a:bodyPr wrap="square" anchor="t" lIns="0" rIns="0" tIns="0" bIns="0">
            <a:noAutofit/>
          </a:bodyPr>
          <a:lstStyle/>
          <a:p>
            <a:pPr algn="l" marL="0" indent="0">
              <a:lnSpc>
                <a:spcPct val="105000"/>
              </a:lnSpc>
              <a:spcBef>
                <a:spcPts val="0"/>
              </a:spcBef>
              <a:spcAft>
                <a:spcPts val="0"/>
              </a:spcAft>
              <a:buNone/>
            </a:pPr>
            <a:r>
              <a:rPr sz="3000" b="0" i="0">
                <a:solidFill>
                  <a:srgbClr val="F3F6FC"/>
                </a:solidFill>
                <a:latin typeface="Segoe UI Light"/>
              </a:rPr>
              <a:t>Del cliente al contenedor</a:t>
            </a:r>
          </a:p>
        </p:txBody>
      </p:sp>
      <p:sp>
        <p:nvSpPr>
          <p:cNvPr id="4" name="Rectangle 3"/>
          <p:cNvSpPr/>
          <p:nvPr/>
        </p:nvSpPr>
        <p:spPr>
          <a:xfrm>
            <a:off x="620000" y="1230000"/>
            <a:ext cx="560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5" name="Rectangle 4"/>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6" name="TextBox 5"/>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5</a:t>
            </a:r>
          </a:p>
        </p:txBody>
      </p:sp>
      <p:sp>
        <p:nvSpPr>
          <p:cNvPr id="7" name="TextBox 6"/>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10</a:t>
            </a:r>
          </a:p>
        </p:txBody>
      </p:sp>
      <p:pic>
        <p:nvPicPr>
          <p:cNvPr id="8" name="Picture 7" descr="svc.png"/>
          <p:cNvPicPr>
            <a:picLocks noChangeAspect="1"/>
          </p:cNvPicPr>
          <p:nvPr/>
        </p:nvPicPr>
        <p:blipFill>
          <a:blip r:embed="rId2"/>
          <a:stretch>
            <a:fillRect/>
          </a:stretch>
        </p:blipFill>
        <p:spPr>
          <a:xfrm>
            <a:off x="10932000" y="275000"/>
            <a:ext cx="640000" cy="640000"/>
          </a:xfrm>
          <a:prstGeom prst="rect">
            <a:avLst/>
          </a:prstGeom>
        </p:spPr>
      </p:pic>
      <p:sp>
        <p:nvSpPr>
          <p:cNvPr id="9" name="Rounded Rectangle 8"/>
          <p:cNvSpPr/>
          <p:nvPr/>
        </p:nvSpPr>
        <p:spPr>
          <a:xfrm>
            <a:off x="620000" y="1670000"/>
            <a:ext cx="2022400" cy="700000"/>
          </a:xfrm>
          <a:prstGeom prst="roundRect">
            <a:avLst>
              <a:gd name="adj" fmla="val 11000"/>
            </a:avLst>
          </a:prstGeom>
          <a:solidFill>
            <a:srgbClr val="141E33"/>
          </a:solidFill>
          <a:ln w="15875">
            <a:solidFill>
              <a:srgbClr val="326CE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0" name="TextBox 9"/>
          <p:cNvSpPr txBox="1"/>
          <p:nvPr/>
        </p:nvSpPr>
        <p:spPr>
          <a:xfrm>
            <a:off x="690000" y="1670000"/>
            <a:ext cx="1882400" cy="700000"/>
          </a:xfrm>
          <a:prstGeom prst="rect">
            <a:avLst/>
          </a:prstGeom>
          <a:noFill/>
        </p:spPr>
        <p:txBody>
          <a:bodyPr wrap="square" anchor="ctr" lIns="0" rIns="0" tIns="0" bIns="0">
            <a:noAutofit/>
          </a:bodyPr>
          <a:lstStyle/>
          <a:p>
            <a:pPr algn="ctr" marL="0" indent="0">
              <a:lnSpc>
                <a:spcPct val="112000"/>
              </a:lnSpc>
              <a:spcBef>
                <a:spcPts val="0"/>
              </a:spcBef>
              <a:spcAft>
                <a:spcPts val="0"/>
              </a:spcAft>
              <a:buNone/>
            </a:pPr>
            <a:r>
              <a:rPr sz="1100" b="1" i="0">
                <a:solidFill>
                  <a:srgbClr val="F3F6FC"/>
                </a:solidFill>
                <a:latin typeface="Segoe UI Semibold"/>
              </a:rPr>
              <a:t>CLIENTE</a:t>
            </a:r>
          </a:p>
        </p:txBody>
      </p:sp>
      <p:cxnSp>
        <p:nvCxnSpPr>
          <p:cNvPr id="11" name="Connector 10"/>
          <p:cNvCxnSpPr/>
          <p:nvPr/>
        </p:nvCxnSpPr>
        <p:spPr>
          <a:xfrm>
            <a:off x="2666400" y="2020000"/>
            <a:ext cx="162000" cy="0"/>
          </a:xfrm>
          <a:prstGeom prst="line">
            <a:avLst/>
          </a:prstGeom>
          <a:ln w="22225">
            <a:solidFill>
              <a:srgbClr val="74A6F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852400" y="1670000"/>
            <a:ext cx="2022400" cy="700000"/>
          </a:xfrm>
          <a:prstGeom prst="roundRect">
            <a:avLst>
              <a:gd name="adj" fmla="val 11000"/>
            </a:avLst>
          </a:prstGeom>
          <a:solidFill>
            <a:srgbClr val="141E33"/>
          </a:solidFill>
          <a:ln w="15875">
            <a:solidFill>
              <a:srgbClr val="326CE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3" name="TextBox 12"/>
          <p:cNvSpPr txBox="1"/>
          <p:nvPr/>
        </p:nvSpPr>
        <p:spPr>
          <a:xfrm>
            <a:off x="2922400" y="1670000"/>
            <a:ext cx="1882400" cy="700000"/>
          </a:xfrm>
          <a:prstGeom prst="rect">
            <a:avLst/>
          </a:prstGeom>
          <a:noFill/>
        </p:spPr>
        <p:txBody>
          <a:bodyPr wrap="square" anchor="ctr" lIns="0" rIns="0" tIns="0" bIns="0">
            <a:noAutofit/>
          </a:bodyPr>
          <a:lstStyle/>
          <a:p>
            <a:pPr algn="ctr" marL="0" indent="0">
              <a:lnSpc>
                <a:spcPct val="112000"/>
              </a:lnSpc>
              <a:spcBef>
                <a:spcPts val="0"/>
              </a:spcBef>
              <a:spcAft>
                <a:spcPts val="0"/>
              </a:spcAft>
              <a:buNone/>
            </a:pPr>
            <a:r>
              <a:rPr sz="1100" b="1" i="0">
                <a:solidFill>
                  <a:srgbClr val="F3F6FC"/>
                </a:solidFill>
                <a:latin typeface="Segoe UI Semibold"/>
              </a:rPr>
              <a:t>INGRESS CONTROLLER (proxy L7)</a:t>
            </a:r>
          </a:p>
        </p:txBody>
      </p:sp>
      <p:cxnSp>
        <p:nvCxnSpPr>
          <p:cNvPr id="14" name="Connector 13"/>
          <p:cNvCxnSpPr/>
          <p:nvPr/>
        </p:nvCxnSpPr>
        <p:spPr>
          <a:xfrm>
            <a:off x="4898800" y="2020000"/>
            <a:ext cx="162000" cy="0"/>
          </a:xfrm>
          <a:prstGeom prst="line">
            <a:avLst/>
          </a:prstGeom>
          <a:ln w="22225">
            <a:solidFill>
              <a:srgbClr val="74A6F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084800" y="1670000"/>
            <a:ext cx="2022400" cy="700000"/>
          </a:xfrm>
          <a:prstGeom prst="roundRect">
            <a:avLst>
              <a:gd name="adj" fmla="val 11000"/>
            </a:avLst>
          </a:prstGeom>
          <a:solidFill>
            <a:srgbClr val="141E33"/>
          </a:solidFill>
          <a:ln w="15875">
            <a:solidFill>
              <a:srgbClr val="326CE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6" name="TextBox 15"/>
          <p:cNvSpPr txBox="1"/>
          <p:nvPr/>
        </p:nvSpPr>
        <p:spPr>
          <a:xfrm>
            <a:off x="5154800" y="1670000"/>
            <a:ext cx="1882400" cy="700000"/>
          </a:xfrm>
          <a:prstGeom prst="rect">
            <a:avLst/>
          </a:prstGeom>
          <a:noFill/>
        </p:spPr>
        <p:txBody>
          <a:bodyPr wrap="square" anchor="ctr" lIns="0" rIns="0" tIns="0" bIns="0">
            <a:noAutofit/>
          </a:bodyPr>
          <a:lstStyle/>
          <a:p>
            <a:pPr algn="ctr" marL="0" indent="0">
              <a:lnSpc>
                <a:spcPct val="112000"/>
              </a:lnSpc>
              <a:spcBef>
                <a:spcPts val="0"/>
              </a:spcBef>
              <a:spcAft>
                <a:spcPts val="0"/>
              </a:spcAft>
              <a:buNone/>
            </a:pPr>
            <a:r>
              <a:rPr sz="1100" b="1" i="0">
                <a:solidFill>
                  <a:srgbClr val="F3F6FC"/>
                </a:solidFill>
                <a:latin typeface="Segoe UI Semibold"/>
              </a:rPr>
              <a:t>SERVICE</a:t>
            </a:r>
          </a:p>
        </p:txBody>
      </p:sp>
      <p:cxnSp>
        <p:nvCxnSpPr>
          <p:cNvPr id="17" name="Connector 16"/>
          <p:cNvCxnSpPr/>
          <p:nvPr/>
        </p:nvCxnSpPr>
        <p:spPr>
          <a:xfrm>
            <a:off x="7131200" y="2020000"/>
            <a:ext cx="162000" cy="0"/>
          </a:xfrm>
          <a:prstGeom prst="line">
            <a:avLst/>
          </a:prstGeom>
          <a:ln w="22225">
            <a:solidFill>
              <a:srgbClr val="74A6F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7317200" y="1670000"/>
            <a:ext cx="2022400" cy="700000"/>
          </a:xfrm>
          <a:prstGeom prst="roundRect">
            <a:avLst>
              <a:gd name="adj" fmla="val 11000"/>
            </a:avLst>
          </a:prstGeom>
          <a:solidFill>
            <a:srgbClr val="141E33"/>
          </a:solidFill>
          <a:ln w="15875">
            <a:solidFill>
              <a:srgbClr val="326CE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9" name="TextBox 18"/>
          <p:cNvSpPr txBox="1"/>
          <p:nvPr/>
        </p:nvSpPr>
        <p:spPr>
          <a:xfrm>
            <a:off x="7387200" y="1670000"/>
            <a:ext cx="1882400" cy="700000"/>
          </a:xfrm>
          <a:prstGeom prst="rect">
            <a:avLst/>
          </a:prstGeom>
          <a:noFill/>
        </p:spPr>
        <p:txBody>
          <a:bodyPr wrap="square" anchor="ctr" lIns="0" rIns="0" tIns="0" bIns="0">
            <a:noAutofit/>
          </a:bodyPr>
          <a:lstStyle/>
          <a:p>
            <a:pPr algn="ctr" marL="0" indent="0">
              <a:lnSpc>
                <a:spcPct val="112000"/>
              </a:lnSpc>
              <a:spcBef>
                <a:spcPts val="0"/>
              </a:spcBef>
              <a:spcAft>
                <a:spcPts val="0"/>
              </a:spcAft>
              <a:buNone/>
            </a:pPr>
            <a:r>
              <a:rPr sz="1100" b="1" i="0">
                <a:solidFill>
                  <a:srgbClr val="F3F6FC"/>
                </a:solidFill>
                <a:latin typeface="Segoe UI Semibold"/>
              </a:rPr>
              <a:t>ENDPOINTSLICE</a:t>
            </a:r>
          </a:p>
        </p:txBody>
      </p:sp>
      <p:cxnSp>
        <p:nvCxnSpPr>
          <p:cNvPr id="20" name="Connector 19"/>
          <p:cNvCxnSpPr/>
          <p:nvPr/>
        </p:nvCxnSpPr>
        <p:spPr>
          <a:xfrm>
            <a:off x="9363600" y="2020000"/>
            <a:ext cx="162000" cy="0"/>
          </a:xfrm>
          <a:prstGeom prst="line">
            <a:avLst/>
          </a:prstGeom>
          <a:ln w="22225">
            <a:solidFill>
              <a:srgbClr val="74A6F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9549600" y="1670000"/>
            <a:ext cx="2022400" cy="700000"/>
          </a:xfrm>
          <a:prstGeom prst="roundRect">
            <a:avLst>
              <a:gd name="adj" fmla="val 11000"/>
            </a:avLst>
          </a:prstGeom>
          <a:solidFill>
            <a:srgbClr val="141E33"/>
          </a:solidFill>
          <a:ln w="15875">
            <a:solidFill>
              <a:srgbClr val="326CE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2" name="TextBox 21"/>
          <p:cNvSpPr txBox="1"/>
          <p:nvPr/>
        </p:nvSpPr>
        <p:spPr>
          <a:xfrm>
            <a:off x="9619600" y="1670000"/>
            <a:ext cx="1882400" cy="700000"/>
          </a:xfrm>
          <a:prstGeom prst="rect">
            <a:avLst/>
          </a:prstGeom>
          <a:noFill/>
        </p:spPr>
        <p:txBody>
          <a:bodyPr wrap="square" anchor="ctr" lIns="0" rIns="0" tIns="0" bIns="0">
            <a:noAutofit/>
          </a:bodyPr>
          <a:lstStyle/>
          <a:p>
            <a:pPr algn="ctr" marL="0" indent="0">
              <a:lnSpc>
                <a:spcPct val="112000"/>
              </a:lnSpc>
              <a:spcBef>
                <a:spcPts val="0"/>
              </a:spcBef>
              <a:spcAft>
                <a:spcPts val="0"/>
              </a:spcAft>
              <a:buNone/>
            </a:pPr>
            <a:r>
              <a:rPr sz="1100" b="1" i="0">
                <a:solidFill>
                  <a:srgbClr val="F3F6FC"/>
                </a:solidFill>
                <a:latin typeface="Segoe UI Semibold"/>
              </a:rPr>
              <a:t>POD</a:t>
            </a:r>
          </a:p>
        </p:txBody>
      </p:sp>
      <p:sp>
        <p:nvSpPr>
          <p:cNvPr id="23" name="Rounded Rectangle 22"/>
          <p:cNvSpPr/>
          <p:nvPr/>
        </p:nvSpPr>
        <p:spPr>
          <a:xfrm>
            <a:off x="620000" y="2670000"/>
            <a:ext cx="10952000" cy="3610000"/>
          </a:xfrm>
          <a:prstGeom prst="roundRect">
            <a:avLst>
              <a:gd name="adj" fmla="val 4500"/>
            </a:avLst>
          </a:prstGeom>
          <a:solidFill>
            <a:srgbClr val="111A2C"/>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4" name="Rectangle 23"/>
          <p:cNvSpPr/>
          <p:nvPr/>
        </p:nvSpPr>
        <p:spPr>
          <a:xfrm>
            <a:off x="646000" y="2692000"/>
            <a:ext cx="40000" cy="356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5" name="TextBox 24"/>
          <p:cNvSpPr txBox="1"/>
          <p:nvPr/>
        </p:nvSpPr>
        <p:spPr>
          <a:xfrm>
            <a:off x="860000" y="2800000"/>
            <a:ext cx="10522000" cy="3350000"/>
          </a:xfrm>
          <a:prstGeom prst="rect">
            <a:avLst/>
          </a:prstGeom>
          <a:noFill/>
        </p:spPr>
        <p:txBody>
          <a:bodyPr wrap="square" anchor="t" lIns="0" rIns="0" tIns="0" bIns="0">
            <a:noAutofit/>
          </a:bodyPr>
          <a:lstStyle/>
          <a:p>
            <a:pPr algn="l" marL="0" indent="0">
              <a:lnSpc>
                <a:spcPct val="100000"/>
              </a:lnSpc>
              <a:spcBef>
                <a:spcPts val="0"/>
              </a:spcBef>
              <a:spcAft>
                <a:spcPts val="600"/>
              </a:spcAft>
              <a:buNone/>
            </a:pPr>
            <a:r>
              <a:rPr sz="900" b="1" i="0" spc="200">
                <a:solidFill>
                  <a:srgbClr val="326CE5"/>
                </a:solidFill>
                <a:latin typeface="Segoe UI Semibold"/>
              </a:rPr>
              <a:t>LO QUE HAY QUE ENTENDER</a:t>
            </a:r>
          </a:p>
          <a:p>
            <a:pPr algn="l" marL="0" indent="0">
              <a:lnSpc>
                <a:spcPct val="128000"/>
              </a:lnSpc>
              <a:spcBef>
                <a:spcPts val="0"/>
              </a:spcBef>
              <a:spcAft>
                <a:spcPts val="400"/>
              </a:spcAft>
              <a:buNone/>
            </a:pPr>
            <a:r>
              <a:rPr sz="1100" b="0" i="0">
                <a:solidFill>
                  <a:srgbClr val="BDC9DB"/>
                </a:solidFill>
                <a:latin typeface="Segoe UI"/>
              </a:rPr>
              <a:t>El objeto Ingress es SOLO una declaración de reglas de routing HTTP (por host y por path) y de qué Secret TLS usar. Por sí mismo no hace nada: necesita un Ingress Controller —un proxy de nivel 7 como Traefik, HAProxy o Contour— que lea esos objetos y configure el reenvío real. Si no hay controlador, el Ingress se queda sin ADDRESS y no pasa nada.</a:t>
            </a:r>
          </a:p>
          <a:p>
            <a:pPr algn="l" marL="0" indent="0">
              <a:lnSpc>
                <a:spcPct val="128000"/>
              </a:lnSpc>
              <a:spcBef>
                <a:spcPts val="0"/>
              </a:spcBef>
              <a:spcAft>
                <a:spcPts val="400"/>
              </a:spcAft>
              <a:buNone/>
            </a:pPr>
            <a:r>
              <a:rPr sz="1100" b="0" i="0">
                <a:solidFill>
                  <a:srgbClr val="BDC9DB"/>
                </a:solidFill>
                <a:latin typeface="Segoe UI"/>
              </a:rPr>
              <a:t>El controlador termina el TLS en el borde: descifra la conexión del cliente y, del controlador al Pod, el tráfico va en claro dentro del cluster. El Secret de tipo kubernetes.io/tls debe estar en el MISMO namespace que el objeto Ingress.</a:t>
            </a:r>
          </a:p>
          <a:p>
            <a:pPr algn="l" marL="0" indent="0">
              <a:lnSpc>
                <a:spcPct val="128000"/>
              </a:lnSpc>
              <a:spcBef>
                <a:spcPts val="0"/>
              </a:spcBef>
              <a:spcAft>
                <a:spcPts val="400"/>
              </a:spcAft>
              <a:buNone/>
            </a:pPr>
            <a:r>
              <a:rPr sz="1100" b="0" i="0">
                <a:solidFill>
                  <a:srgbClr val="BDC9DB"/>
                </a:solidFill>
                <a:latin typeface="Segoe UI"/>
              </a:rPr>
              <a:t>Dos fallos silenciosos habituales. Si ingressClassName no coincide con ninguna IngressClass registrada, ningún controlador adopta el Ingress y no hay ningún error. Y si los Services de backend no tienen endpoints, verás errores 503 y buscarás el problema en el Ingress cuando está en los Pods: por eso se verifican los Services ANTES de crear el Ingress.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620000" y="300000"/>
            <a:ext cx="10952000" cy="24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240">
                <a:solidFill>
                  <a:srgbClr val="F0C96B"/>
                </a:solidFill>
                <a:latin typeface="Segoe UI Semibold"/>
              </a:rPr>
              <a:t>ACTUALIZACIÓN TÉCNICA · MARZO 2026</a:t>
            </a:r>
          </a:p>
        </p:txBody>
      </p:sp>
      <p:sp>
        <p:nvSpPr>
          <p:cNvPr id="3" name="TextBox 2"/>
          <p:cNvSpPr txBox="1"/>
          <p:nvPr/>
        </p:nvSpPr>
        <p:spPr>
          <a:xfrm>
            <a:off x="620000" y="560000"/>
            <a:ext cx="10052000" cy="620000"/>
          </a:xfrm>
          <a:prstGeom prst="rect">
            <a:avLst/>
          </a:prstGeom>
          <a:noFill/>
        </p:spPr>
        <p:txBody>
          <a:bodyPr wrap="square" anchor="t" lIns="0" rIns="0" tIns="0" bIns="0">
            <a:noAutofit/>
          </a:bodyPr>
          <a:lstStyle/>
          <a:p>
            <a:pPr algn="l" marL="0" indent="0">
              <a:lnSpc>
                <a:spcPct val="105000"/>
              </a:lnSpc>
              <a:spcBef>
                <a:spcPts val="0"/>
              </a:spcBef>
              <a:spcAft>
                <a:spcPts val="0"/>
              </a:spcAft>
              <a:buNone/>
            </a:pPr>
            <a:r>
              <a:rPr sz="3000" b="0" i="0">
                <a:solidFill>
                  <a:srgbClr val="F3F6FC"/>
                </a:solidFill>
                <a:latin typeface="Segoe UI Light"/>
              </a:rPr>
              <a:t>ingress-nginx de la comunidad fue retirado</a:t>
            </a:r>
          </a:p>
        </p:txBody>
      </p:sp>
      <p:sp>
        <p:nvSpPr>
          <p:cNvPr id="4" name="Rectangle 3"/>
          <p:cNvSpPr/>
          <p:nvPr/>
        </p:nvSpPr>
        <p:spPr>
          <a:xfrm>
            <a:off x="620000" y="1230000"/>
            <a:ext cx="560000" cy="46000"/>
          </a:xfrm>
          <a:prstGeom prst="rect">
            <a:avLst/>
          </a:prstGeom>
          <a:solidFill>
            <a:srgbClr val="E3B34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5" name="Rectangle 4"/>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6" name="TextBox 5"/>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5</a:t>
            </a:r>
          </a:p>
        </p:txBody>
      </p:sp>
      <p:sp>
        <p:nvSpPr>
          <p:cNvPr id="7" name="TextBox 6"/>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11</a:t>
            </a:r>
          </a:p>
        </p:txBody>
      </p:sp>
      <p:pic>
        <p:nvPicPr>
          <p:cNvPr id="8" name="Picture 7" descr="ing.png"/>
          <p:cNvPicPr>
            <a:picLocks noChangeAspect="1"/>
          </p:cNvPicPr>
          <p:nvPr/>
        </p:nvPicPr>
        <p:blipFill>
          <a:blip r:embed="rId2"/>
          <a:stretch>
            <a:fillRect/>
          </a:stretch>
        </p:blipFill>
        <p:spPr>
          <a:xfrm>
            <a:off x="10932000" y="275000"/>
            <a:ext cx="640000" cy="640000"/>
          </a:xfrm>
          <a:prstGeom prst="rect">
            <a:avLst/>
          </a:prstGeom>
        </p:spPr>
      </p:pic>
      <p:sp>
        <p:nvSpPr>
          <p:cNvPr id="9" name="TextBox 8"/>
          <p:cNvSpPr txBox="1"/>
          <p:nvPr/>
        </p:nvSpPr>
        <p:spPr>
          <a:xfrm>
            <a:off x="620000" y="1470000"/>
            <a:ext cx="10952000" cy="520000"/>
          </a:xfrm>
          <a:prstGeom prst="rect">
            <a:avLst/>
          </a:prstGeom>
          <a:noFill/>
        </p:spPr>
        <p:txBody>
          <a:bodyPr wrap="square" anchor="t" lIns="0" rIns="0" tIns="0" bIns="0">
            <a:noAutofit/>
          </a:bodyPr>
          <a:lstStyle/>
          <a:p>
            <a:pPr algn="l" marL="0" indent="0">
              <a:lnSpc>
                <a:spcPct val="116000"/>
              </a:lnSpc>
              <a:spcBef>
                <a:spcPts val="0"/>
              </a:spcBef>
              <a:spcAft>
                <a:spcPts val="0"/>
              </a:spcAft>
              <a:buNone/>
            </a:pPr>
            <a:r>
              <a:rPr sz="1300" b="0" i="1">
                <a:solidFill>
                  <a:srgbClr val="BDC9DB"/>
                </a:solidFill>
                <a:latin typeface="Segoe UI"/>
              </a:rPr>
              <a:t>El proyecto kubernetes/ingress-nginx está archivado desde marzo de 2026: no hay más releases, ni correcciones, ni parches de seguridad. Lo usaba alrededor de la mitad de los clusters del ecosistema, y el sucesor previsto (InGate) nunca maduró y también se retiró.</a:t>
            </a:r>
          </a:p>
        </p:txBody>
      </p:sp>
      <p:sp>
        <p:nvSpPr>
          <p:cNvPr id="10" name="Rounded Rectangle 9"/>
          <p:cNvSpPr/>
          <p:nvPr/>
        </p:nvSpPr>
        <p:spPr>
          <a:xfrm>
            <a:off x="620000" y="2410000"/>
            <a:ext cx="10952000" cy="1644000"/>
          </a:xfrm>
          <a:prstGeom prst="roundRect">
            <a:avLst>
              <a:gd name="adj" fmla="val 5000"/>
            </a:avLst>
          </a:prstGeom>
          <a:solidFill>
            <a:srgbClr val="0A1120"/>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1" name="Rectangle 10"/>
          <p:cNvSpPr/>
          <p:nvPr/>
        </p:nvSpPr>
        <p:spPr>
          <a:xfrm>
            <a:off x="620000" y="2410000"/>
            <a:ext cx="46000" cy="1644000"/>
          </a:xfrm>
          <a:prstGeom prst="rect">
            <a:avLst/>
          </a:prstGeom>
          <a:solidFill>
            <a:srgbClr val="E3B34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2" name="TextBox 11"/>
          <p:cNvSpPr txBox="1"/>
          <p:nvPr/>
        </p:nvSpPr>
        <p:spPr>
          <a:xfrm>
            <a:off x="890000" y="2560000"/>
            <a:ext cx="10412000" cy="1384000"/>
          </a:xfrm>
          <a:prstGeom prst="rect">
            <a:avLst/>
          </a:prstGeom>
          <a:noFill/>
        </p:spPr>
        <p:txBody>
          <a:bodyPr wrap="square" anchor="t" lIns="0" rIns="0" tIns="0" bIns="0">
            <a:noAutofit/>
          </a:bodyPr>
          <a:lstStyle/>
          <a:p>
            <a:pPr marL="0" indent="0">
              <a:lnSpc>
                <a:spcPct val="134000"/>
              </a:lnSpc>
              <a:spcAft>
                <a:spcPts val="0"/>
              </a:spcAft>
              <a:buNone/>
            </a:pPr>
            <a:r>
              <a:rPr sz="1100" b="0" i="1">
                <a:solidFill>
                  <a:srgbClr val="7C8AA5"/>
                </a:solidFill>
                <a:latin typeface="Consolas"/>
              </a:rPr>
              <a:t># La API Ingress NO está deprecada: sigue vigente y sigue en el examen.</a:t>
            </a:r>
          </a:p>
          <a:p>
            <a:pPr marL="0" indent="0">
              <a:lnSpc>
                <a:spcPct val="134000"/>
              </a:lnSpc>
              <a:spcAft>
                <a:spcPts val="0"/>
              </a:spcAft>
              <a:buNone/>
            </a:pPr>
            <a:r>
              <a:rPr sz="1100" b="0" i="1">
                <a:solidFill>
                  <a:srgbClr val="7C8AA5"/>
                </a:solidFill>
                <a:latin typeface="Consolas"/>
              </a:rPr>
              <a:t># Lo retirado es UNA implementación concreta.</a:t>
            </a:r>
          </a:p>
          <a:p>
            <a:pPr marL="0" indent="0">
              <a:lnSpc>
                <a:spcPct val="134000"/>
              </a:lnSpc>
              <a:spcAft>
                <a:spcPts val="0"/>
              </a:spcAft>
              <a:buNone/>
            </a:pPr>
            <a:r>
              <a:rPr sz="1100" b="0" i="1">
                <a:solidFill>
                  <a:srgbClr val="7C8AA5"/>
                </a:solidFill>
                <a:latin typeface="Consolas"/>
              </a:rPr>
              <a:t>#</a:t>
            </a:r>
          </a:p>
          <a:p>
            <a:pPr marL="0" indent="0">
              <a:lnSpc>
                <a:spcPct val="134000"/>
              </a:lnSpc>
              <a:spcAft>
                <a:spcPts val="0"/>
              </a:spcAft>
              <a:buNone/>
            </a:pPr>
            <a:r>
              <a:rPr sz="1100" b="0" i="1">
                <a:solidFill>
                  <a:srgbClr val="7C8AA5"/>
                </a:solidFill>
                <a:latin typeface="Consolas"/>
              </a:rPr>
              <a:t># En este curso usamos un controlador mantenido (Traefik).</a:t>
            </a:r>
          </a:p>
          <a:p>
            <a:pPr marL="0" indent="0">
              <a:lnSpc>
                <a:spcPct val="134000"/>
              </a:lnSpc>
              <a:spcAft>
                <a:spcPts val="0"/>
              </a:spcAft>
              <a:buNone/>
            </a:pPr>
            <a:r>
              <a:rPr sz="1100" b="0" i="1">
                <a:solidFill>
                  <a:srgbClr val="7C8AA5"/>
                </a:solidFill>
                <a:latin typeface="Consolas"/>
              </a:rPr>
              <a:t># Los manifiestos Ingress que escribes son los mismos:</a:t>
            </a:r>
          </a:p>
          <a:p>
            <a:pPr marL="0" indent="0">
              <a:lnSpc>
                <a:spcPct val="134000"/>
              </a:lnSpc>
              <a:spcAft>
                <a:spcPts val="0"/>
              </a:spcAft>
              <a:buNone/>
            </a:pPr>
            <a:r>
              <a:rPr sz="1100" b="0" i="1">
                <a:solidFill>
                  <a:srgbClr val="7C8AA5"/>
                </a:solidFill>
                <a:latin typeface="Consolas"/>
              </a:rPr>
              <a:t># solo cambia el ingressClassName.</a:t>
            </a:r>
          </a:p>
        </p:txBody>
      </p:sp>
      <p:sp>
        <p:nvSpPr>
          <p:cNvPr id="13" name="Rounded Rectangle 12"/>
          <p:cNvSpPr/>
          <p:nvPr/>
        </p:nvSpPr>
        <p:spPr>
          <a:xfrm>
            <a:off x="620000" y="5840000"/>
            <a:ext cx="10952000" cy="470000"/>
          </a:xfrm>
          <a:prstGeom prst="roundRect">
            <a:avLst>
              <a:gd name="adj" fmla="val 10000"/>
            </a:avLst>
          </a:prstGeom>
          <a:solidFill>
            <a:srgbClr val="111A2C"/>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4" name="Rectangle 13"/>
          <p:cNvSpPr/>
          <p:nvPr/>
        </p:nvSpPr>
        <p:spPr>
          <a:xfrm>
            <a:off x="650000" y="5864000"/>
            <a:ext cx="40000" cy="422000"/>
          </a:xfrm>
          <a:prstGeom prst="rect">
            <a:avLst/>
          </a:prstGeom>
          <a:solidFill>
            <a:srgbClr val="E3B34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5" name="TextBox 14"/>
          <p:cNvSpPr txBox="1"/>
          <p:nvPr/>
        </p:nvSpPr>
        <p:spPr>
          <a:xfrm>
            <a:off x="860000" y="5840000"/>
            <a:ext cx="10482000" cy="47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1">
                <a:solidFill>
                  <a:srgbClr val="BDC9DB"/>
                </a:solidFill>
                <a:latin typeface="Segoe UI"/>
              </a:rPr>
              <a:t>Consecuencia práctica: las anotaciones NO son portables entre controladores. Fue una de las causas del problema.</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620000" y="300000"/>
            <a:ext cx="10952000" cy="24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240">
                <a:solidFill>
                  <a:srgbClr val="74A6FF"/>
                </a:solidFill>
                <a:latin typeface="Segoe UI Semibold"/>
              </a:rPr>
              <a:t>PRESENTE Y FUTURO</a:t>
            </a:r>
          </a:p>
        </p:txBody>
      </p:sp>
      <p:sp>
        <p:nvSpPr>
          <p:cNvPr id="3" name="TextBox 2"/>
          <p:cNvSpPr txBox="1"/>
          <p:nvPr/>
        </p:nvSpPr>
        <p:spPr>
          <a:xfrm>
            <a:off x="620000" y="560000"/>
            <a:ext cx="10052000" cy="620000"/>
          </a:xfrm>
          <a:prstGeom prst="rect">
            <a:avLst/>
          </a:prstGeom>
          <a:noFill/>
        </p:spPr>
        <p:txBody>
          <a:bodyPr wrap="square" anchor="t" lIns="0" rIns="0" tIns="0" bIns="0">
            <a:noAutofit/>
          </a:bodyPr>
          <a:lstStyle/>
          <a:p>
            <a:pPr algn="l" marL="0" indent="0">
              <a:lnSpc>
                <a:spcPct val="105000"/>
              </a:lnSpc>
              <a:spcBef>
                <a:spcPts val="0"/>
              </a:spcBef>
              <a:spcAft>
                <a:spcPts val="0"/>
              </a:spcAft>
              <a:buNone/>
            </a:pPr>
            <a:r>
              <a:rPr sz="3000" b="0" i="0">
                <a:solidFill>
                  <a:srgbClr val="F3F6FC"/>
                </a:solidFill>
                <a:latin typeface="Segoe UI Light"/>
              </a:rPr>
              <a:t>Ingress frente a Gateway API</a:t>
            </a:r>
          </a:p>
        </p:txBody>
      </p:sp>
      <p:sp>
        <p:nvSpPr>
          <p:cNvPr id="4" name="Rectangle 3"/>
          <p:cNvSpPr/>
          <p:nvPr/>
        </p:nvSpPr>
        <p:spPr>
          <a:xfrm>
            <a:off x="620000" y="1230000"/>
            <a:ext cx="560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5" name="Rectangle 4"/>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6" name="TextBox 5"/>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5</a:t>
            </a:r>
          </a:p>
        </p:txBody>
      </p:sp>
      <p:sp>
        <p:nvSpPr>
          <p:cNvPr id="7" name="TextBox 6"/>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12</a:t>
            </a:r>
          </a:p>
        </p:txBody>
      </p:sp>
      <p:pic>
        <p:nvPicPr>
          <p:cNvPr id="8" name="Picture 7" descr="ing.png"/>
          <p:cNvPicPr>
            <a:picLocks noChangeAspect="1"/>
          </p:cNvPicPr>
          <p:nvPr/>
        </p:nvPicPr>
        <p:blipFill>
          <a:blip r:embed="rId2"/>
          <a:stretch>
            <a:fillRect/>
          </a:stretch>
        </p:blipFill>
        <p:spPr>
          <a:xfrm>
            <a:off x="10932000" y="275000"/>
            <a:ext cx="640000" cy="640000"/>
          </a:xfrm>
          <a:prstGeom prst="rect">
            <a:avLst/>
          </a:prstGeom>
        </p:spPr>
      </p:pic>
      <p:sp>
        <p:nvSpPr>
          <p:cNvPr id="9" name="Rounded Rectangle 8"/>
          <p:cNvSpPr/>
          <p:nvPr/>
        </p:nvSpPr>
        <p:spPr>
          <a:xfrm>
            <a:off x="620000" y="1470000"/>
            <a:ext cx="5316000" cy="2670000"/>
          </a:xfrm>
          <a:prstGeom prst="roundRect">
            <a:avLst>
              <a:gd name="adj" fmla="val 5000"/>
            </a:avLst>
          </a:prstGeom>
          <a:solidFill>
            <a:srgbClr val="141E33"/>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0" name="Rectangle 9"/>
          <p:cNvSpPr/>
          <p:nvPr/>
        </p:nvSpPr>
        <p:spPr>
          <a:xfrm>
            <a:off x="644000" y="1470000"/>
            <a:ext cx="5268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1" name="TextBox 10"/>
          <p:cNvSpPr txBox="1"/>
          <p:nvPr/>
        </p:nvSpPr>
        <p:spPr>
          <a:xfrm>
            <a:off x="880000" y="1730000"/>
            <a:ext cx="4796000" cy="570000"/>
          </a:xfrm>
          <a:prstGeom prst="rect">
            <a:avLst/>
          </a:prstGeom>
          <a:noFill/>
        </p:spPr>
        <p:txBody>
          <a:bodyPr wrap="square" anchor="t" lIns="0" rIns="0" tIns="0" bIns="0">
            <a:noAutofit/>
          </a:bodyPr>
          <a:lstStyle/>
          <a:p>
            <a:pPr algn="l" marL="0" indent="0">
              <a:lnSpc>
                <a:spcPct val="105000"/>
              </a:lnSpc>
              <a:spcBef>
                <a:spcPts val="0"/>
              </a:spcBef>
              <a:spcAft>
                <a:spcPts val="400"/>
              </a:spcAft>
              <a:buNone/>
            </a:pPr>
            <a:r>
              <a:rPr sz="1600" b="1" i="0">
                <a:solidFill>
                  <a:srgbClr val="F3F6FC"/>
                </a:solidFill>
                <a:latin typeface="Segoe UI Semibold"/>
              </a:rPr>
              <a:t>Ingress</a:t>
            </a:r>
          </a:p>
          <a:p>
            <a:pPr algn="l" marL="0" indent="0">
              <a:lnSpc>
                <a:spcPct val="112000"/>
              </a:lnSpc>
              <a:spcBef>
                <a:spcPts val="0"/>
              </a:spcBef>
              <a:spcAft>
                <a:spcPts val="0"/>
              </a:spcAft>
              <a:buNone/>
            </a:pPr>
            <a:r>
              <a:rPr sz="1100" b="0" i="1">
                <a:solidFill>
                  <a:srgbClr val="8493AD"/>
                </a:solidFill>
                <a:latin typeface="Segoe UI"/>
              </a:rPr>
              <a:t>Lo que se pide hoy en el examen</a:t>
            </a:r>
          </a:p>
        </p:txBody>
      </p:sp>
      <p:sp>
        <p:nvSpPr>
          <p:cNvPr id="12" name="TextBox 11"/>
          <p:cNvSpPr txBox="1"/>
          <p:nvPr/>
        </p:nvSpPr>
        <p:spPr>
          <a:xfrm>
            <a:off x="880000" y="2300000"/>
            <a:ext cx="4796000" cy="1660000"/>
          </a:xfrm>
          <a:prstGeom prst="rect">
            <a:avLst/>
          </a:prstGeom>
          <a:noFill/>
        </p:spPr>
        <p:txBody>
          <a:bodyPr wrap="square" anchor="t" lIns="0" rIns="0" tIns="0" bIns="0">
            <a:noAutofit/>
          </a:bodyPr>
          <a:lstStyle/>
          <a:p/>
          <a:p>
            <a:pPr algn="l" marL="182880" indent="-182880">
              <a:lnSpc>
                <a:spcPct val="116000"/>
              </a:lnSpc>
              <a:spcBef>
                <a:spcPts val="0"/>
              </a:spcBef>
              <a:spcAft>
                <a:spcPts val="800"/>
              </a:spcAft>
              <a:buFont typeface="Arial"/>
              <a:buChar char="•"/>
            </a:pPr>
            <a:r>
              <a:rPr sz="1100" b="0" i="0">
                <a:solidFill>
                  <a:srgbClr val="BDC9DB"/>
                </a:solidFill>
                <a:latin typeface="Segoe UI"/>
              </a:rPr>
              <a:t>Un solo objeto para todo: reglas, TLS y configuración.</a:t>
            </a:r>
          </a:p>
          <a:p>
            <a:pPr algn="l" marL="182880" indent="-182880">
              <a:lnSpc>
                <a:spcPct val="116000"/>
              </a:lnSpc>
              <a:spcBef>
                <a:spcPts val="0"/>
              </a:spcBef>
              <a:spcAft>
                <a:spcPts val="800"/>
              </a:spcAft>
              <a:buFont typeface="Arial"/>
              <a:buChar char="•"/>
            </a:pPr>
            <a:r>
              <a:rPr sz="1100" b="0" i="0">
                <a:solidFill>
                  <a:srgbClr val="BDC9DB"/>
                </a:solidFill>
                <a:latin typeface="Segoe UI"/>
              </a:rPr>
              <a:t>Todo lo que no encaja se resuelve con anotaciones propietarias.</a:t>
            </a:r>
          </a:p>
          <a:p>
            <a:pPr algn="l" marL="182880" indent="-182880">
              <a:lnSpc>
                <a:spcPct val="116000"/>
              </a:lnSpc>
              <a:spcBef>
                <a:spcPts val="0"/>
              </a:spcBef>
              <a:spcAft>
                <a:spcPts val="800"/>
              </a:spcAft>
              <a:buFont typeface="Arial"/>
              <a:buChar char="•"/>
            </a:pPr>
            <a:r>
              <a:rPr sz="1100" b="0" i="0">
                <a:solidFill>
                  <a:srgbClr val="BDC9DB"/>
                </a:solidFill>
                <a:latin typeface="Segoe UI"/>
              </a:rPr>
              <a:t>Esa flexibilidad se volvió una carga de mantenimiento y un riesgo de seguridad.</a:t>
            </a:r>
          </a:p>
          <a:p>
            <a:pPr algn="l" marL="182880" indent="-182880">
              <a:lnSpc>
                <a:spcPct val="116000"/>
              </a:lnSpc>
              <a:spcBef>
                <a:spcPts val="0"/>
              </a:spcBef>
              <a:spcAft>
                <a:spcPts val="800"/>
              </a:spcAft>
              <a:buFont typeface="Arial"/>
              <a:buChar char="•"/>
            </a:pPr>
            <a:r>
              <a:rPr sz="1100" b="0" i="0">
                <a:solidFill>
                  <a:srgbClr val="BDC9DB"/>
                </a:solidFill>
                <a:latin typeface="Segoe UI"/>
              </a:rPr>
              <a:t>Sigue siendo estándar y ampliamente desplegado.</a:t>
            </a:r>
          </a:p>
        </p:txBody>
      </p:sp>
      <p:sp>
        <p:nvSpPr>
          <p:cNvPr id="13" name="Rounded Rectangle 12"/>
          <p:cNvSpPr/>
          <p:nvPr/>
        </p:nvSpPr>
        <p:spPr>
          <a:xfrm>
            <a:off x="6256000" y="1470000"/>
            <a:ext cx="5316000" cy="2670000"/>
          </a:xfrm>
          <a:prstGeom prst="roundRect">
            <a:avLst>
              <a:gd name="adj" fmla="val 5000"/>
            </a:avLst>
          </a:prstGeom>
          <a:solidFill>
            <a:srgbClr val="141E33"/>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4" name="Rectangle 13"/>
          <p:cNvSpPr/>
          <p:nvPr/>
        </p:nvSpPr>
        <p:spPr>
          <a:xfrm>
            <a:off x="6280000" y="1470000"/>
            <a:ext cx="5268000" cy="46000"/>
          </a:xfrm>
          <a:prstGeom prst="rect">
            <a:avLst/>
          </a:prstGeom>
          <a:solidFill>
            <a:srgbClr val="3FB95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5" name="TextBox 14"/>
          <p:cNvSpPr txBox="1"/>
          <p:nvPr/>
        </p:nvSpPr>
        <p:spPr>
          <a:xfrm>
            <a:off x="6516000" y="1730000"/>
            <a:ext cx="4796000" cy="570000"/>
          </a:xfrm>
          <a:prstGeom prst="rect">
            <a:avLst/>
          </a:prstGeom>
          <a:noFill/>
        </p:spPr>
        <p:txBody>
          <a:bodyPr wrap="square" anchor="t" lIns="0" rIns="0" tIns="0" bIns="0">
            <a:noAutofit/>
          </a:bodyPr>
          <a:lstStyle/>
          <a:p>
            <a:pPr algn="l" marL="0" indent="0">
              <a:lnSpc>
                <a:spcPct val="105000"/>
              </a:lnSpc>
              <a:spcBef>
                <a:spcPts val="0"/>
              </a:spcBef>
              <a:spcAft>
                <a:spcPts val="400"/>
              </a:spcAft>
              <a:buNone/>
            </a:pPr>
            <a:r>
              <a:rPr sz="1600" b="1" i="0">
                <a:solidFill>
                  <a:srgbClr val="F3F6FC"/>
                </a:solidFill>
                <a:latin typeface="Segoe UI Semibold"/>
              </a:rPr>
              <a:t>Gateway API</a:t>
            </a:r>
          </a:p>
          <a:p>
            <a:pPr algn="l" marL="0" indent="0">
              <a:lnSpc>
                <a:spcPct val="112000"/>
              </a:lnSpc>
              <a:spcBef>
                <a:spcPts val="0"/>
              </a:spcBef>
              <a:spcAft>
                <a:spcPts val="0"/>
              </a:spcAft>
              <a:buNone/>
            </a:pPr>
            <a:r>
              <a:rPr sz="1100" b="0" i="1">
                <a:solidFill>
                  <a:srgbClr val="8493AD"/>
                </a:solidFill>
                <a:latin typeface="Segoe UI"/>
              </a:rPr>
              <a:t>Hacia donde va el ecosistema</a:t>
            </a:r>
          </a:p>
        </p:txBody>
      </p:sp>
      <p:sp>
        <p:nvSpPr>
          <p:cNvPr id="16" name="TextBox 15"/>
          <p:cNvSpPr txBox="1"/>
          <p:nvPr/>
        </p:nvSpPr>
        <p:spPr>
          <a:xfrm>
            <a:off x="6516000" y="2300000"/>
            <a:ext cx="4796000" cy="1660000"/>
          </a:xfrm>
          <a:prstGeom prst="rect">
            <a:avLst/>
          </a:prstGeom>
          <a:noFill/>
        </p:spPr>
        <p:txBody>
          <a:bodyPr wrap="square" anchor="t" lIns="0" rIns="0" tIns="0" bIns="0">
            <a:noAutofit/>
          </a:bodyPr>
          <a:lstStyle/>
          <a:p/>
          <a:p>
            <a:pPr algn="l" marL="182880" indent="-182880">
              <a:lnSpc>
                <a:spcPct val="116000"/>
              </a:lnSpc>
              <a:spcBef>
                <a:spcPts val="0"/>
              </a:spcBef>
              <a:spcAft>
                <a:spcPts val="800"/>
              </a:spcAft>
              <a:buFont typeface="Arial"/>
              <a:buChar char="•"/>
            </a:pPr>
            <a:r>
              <a:rPr sz="1100" b="0" i="0">
                <a:solidFill>
                  <a:srgbClr val="BDC9DB"/>
                </a:solidFill>
                <a:latin typeface="Segoe UI"/>
              </a:rPr>
              <a:t>GatewayClass, Gateway y HTTPRoute: tres objetos, tres responsables.</a:t>
            </a:r>
          </a:p>
          <a:p>
            <a:pPr algn="l" marL="182880" indent="-182880">
              <a:lnSpc>
                <a:spcPct val="116000"/>
              </a:lnSpc>
              <a:spcBef>
                <a:spcPts val="0"/>
              </a:spcBef>
              <a:spcAft>
                <a:spcPts val="800"/>
              </a:spcAft>
              <a:buFont typeface="Arial"/>
              <a:buChar char="•"/>
            </a:pPr>
            <a:r>
              <a:rPr sz="1100" b="0" i="0">
                <a:solidFill>
                  <a:srgbClr val="BDC9DB"/>
                </a:solidFill>
                <a:latin typeface="Segoe UI"/>
              </a:rPr>
              <a:t>Filtros tipados en lugar de anotaciones: URLRewrite, RequestHeaderModifier.</a:t>
            </a:r>
          </a:p>
          <a:p>
            <a:pPr algn="l" marL="182880" indent="-182880">
              <a:lnSpc>
                <a:spcPct val="116000"/>
              </a:lnSpc>
              <a:spcBef>
                <a:spcPts val="0"/>
              </a:spcBef>
              <a:spcAft>
                <a:spcPts val="800"/>
              </a:spcAft>
              <a:buFont typeface="Arial"/>
              <a:buChar char="•"/>
            </a:pPr>
            <a:r>
              <a:rPr sz="1100" b="0" i="0">
                <a:solidFill>
                  <a:srgbClr val="BDC9DB"/>
                </a:solidFill>
                <a:latin typeface="Segoe UI"/>
              </a:rPr>
              <a:t>Rutas entre namespaces controladas con ReferenceGrant.</a:t>
            </a:r>
          </a:p>
          <a:p>
            <a:pPr algn="l" marL="182880" indent="-182880">
              <a:lnSpc>
                <a:spcPct val="116000"/>
              </a:lnSpc>
              <a:spcBef>
                <a:spcPts val="0"/>
              </a:spcBef>
              <a:spcAft>
                <a:spcPts val="800"/>
              </a:spcAft>
              <a:buFont typeface="Arial"/>
              <a:buChar char="•"/>
            </a:pPr>
            <a:r>
              <a:rPr sz="1100" b="0" i="0">
                <a:solidFill>
                  <a:srgbClr val="BDC9DB"/>
                </a:solidFill>
                <a:latin typeface="Segoe UI"/>
              </a:rPr>
              <a:t>Ya figura en el currículum CKA vigente.</a:t>
            </a:r>
          </a:p>
        </p:txBody>
      </p:sp>
      <p:sp>
        <p:nvSpPr>
          <p:cNvPr id="17" name="Rounded Rectangle 16"/>
          <p:cNvSpPr/>
          <p:nvPr/>
        </p:nvSpPr>
        <p:spPr>
          <a:xfrm>
            <a:off x="620000" y="4310000"/>
            <a:ext cx="10952000" cy="2000000"/>
          </a:xfrm>
          <a:prstGeom prst="roundRect">
            <a:avLst>
              <a:gd name="adj" fmla="val 4500"/>
            </a:avLst>
          </a:prstGeom>
          <a:solidFill>
            <a:srgbClr val="111A2C"/>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8" name="Rectangle 17"/>
          <p:cNvSpPr/>
          <p:nvPr/>
        </p:nvSpPr>
        <p:spPr>
          <a:xfrm>
            <a:off x="646000" y="4332000"/>
            <a:ext cx="40000" cy="195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9" name="TextBox 18"/>
          <p:cNvSpPr txBox="1"/>
          <p:nvPr/>
        </p:nvSpPr>
        <p:spPr>
          <a:xfrm>
            <a:off x="860000" y="4440000"/>
            <a:ext cx="10522000" cy="1740000"/>
          </a:xfrm>
          <a:prstGeom prst="rect">
            <a:avLst/>
          </a:prstGeom>
          <a:noFill/>
        </p:spPr>
        <p:txBody>
          <a:bodyPr wrap="square" anchor="t" lIns="0" rIns="0" tIns="0" bIns="0">
            <a:noAutofit/>
          </a:bodyPr>
          <a:lstStyle/>
          <a:p>
            <a:pPr algn="l" marL="0" indent="0">
              <a:lnSpc>
                <a:spcPct val="100000"/>
              </a:lnSpc>
              <a:spcBef>
                <a:spcPts val="0"/>
              </a:spcBef>
              <a:spcAft>
                <a:spcPts val="600"/>
              </a:spcAft>
              <a:buNone/>
            </a:pPr>
            <a:r>
              <a:rPr sz="900" b="1" i="0" spc="200">
                <a:solidFill>
                  <a:srgbClr val="326CE5"/>
                </a:solidFill>
                <a:latin typeface="Segoe UI Semibold"/>
              </a:rPr>
              <a:t>TEORÍA</a:t>
            </a:r>
          </a:p>
          <a:p>
            <a:pPr algn="l" marL="0" indent="0">
              <a:lnSpc>
                <a:spcPct val="128000"/>
              </a:lnSpc>
              <a:spcBef>
                <a:spcPts val="0"/>
              </a:spcBef>
              <a:spcAft>
                <a:spcPts val="400"/>
              </a:spcAft>
              <a:buNone/>
            </a:pPr>
            <a:r>
              <a:rPr sz="1000" b="0" i="0">
                <a:solidFill>
                  <a:srgbClr val="BDC9DB"/>
                </a:solidFill>
                <a:latin typeface="Segoe UI"/>
              </a:rPr>
              <a:t>Ingress resuelve todo con un único objeto: reglas, TLS y cualquier ajuste avanzado. El problema es que la API base es muy limitada, así que cada controlador añadió sus propias anotaciones propietarias para reescrituras, timeouts, autenticación, etc. Esas anotaciones NO son portables entre controladores, y esa fragmentación se volvió una carga de mantenimiento y un riesgo de seguridad. Aun así, Ingress sigue siendo estándar, está ampliamente desplegado y es lo que se pide hoy en el examen.</a:t>
            </a:r>
          </a:p>
          <a:p>
            <a:pPr algn="l" marL="0" indent="0">
              <a:lnSpc>
                <a:spcPct val="128000"/>
              </a:lnSpc>
              <a:spcBef>
                <a:spcPts val="0"/>
              </a:spcBef>
              <a:spcAft>
                <a:spcPts val="400"/>
              </a:spcAft>
              <a:buNone/>
            </a:pPr>
            <a:r>
              <a:rPr sz="1000" b="0" i="0">
                <a:solidFill>
                  <a:srgbClr val="BDC9DB"/>
                </a:solidFill>
                <a:latin typeface="Segoe UI"/>
              </a:rPr>
              <a:t>Gateway API es el sucesor. Reparte la responsabilidad en tres objetos con dueños distintos: GatewayClass (lo define el proveedor de la infraestructura), Gateway (lo gestiona el equipo de plataforma: puertos, TLS) y HTTPRoute (lo gestiona cada equipo de aplicación: sus rutas). Sustituye las anotaciones por filtros tipados y estándar —URLRewrite, RequestHeaderModifier—, y controla las referencias entre namespaces con ReferenceGrant.</a:t>
            </a:r>
          </a:p>
          <a:p>
            <a:pPr algn="l" marL="0" indent="0">
              <a:lnSpc>
                <a:spcPct val="128000"/>
              </a:lnSpc>
              <a:spcBef>
                <a:spcPts val="0"/>
              </a:spcBef>
              <a:spcAft>
                <a:spcPts val="400"/>
              </a:spcAft>
              <a:buNone/>
            </a:pPr>
            <a:r>
              <a:rPr sz="1000" b="0" i="0">
                <a:solidFill>
                  <a:srgbClr val="BDC9DB"/>
                </a:solidFill>
                <a:latin typeface="Segoe UI"/>
              </a:rPr>
              <a:t>Gateway API ya figura en el currículum CKA vigente y es la dirección recomendada por el proyecto, sobre todo tras la retirada de ingress-nginx. En este curso se practica Ingress y se presenta Gateway API con un manifiesto de referencia equivalente.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620000" y="300000"/>
            <a:ext cx="10952000" cy="24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240">
                <a:solidFill>
                  <a:srgbClr val="74A6FF"/>
                </a:solidFill>
                <a:latin typeface="Segoe UI Semibold"/>
              </a:rPr>
              <a:t>SINTAXIS</a:t>
            </a:r>
          </a:p>
        </p:txBody>
      </p:sp>
      <p:sp>
        <p:nvSpPr>
          <p:cNvPr id="3" name="TextBox 2"/>
          <p:cNvSpPr txBox="1"/>
          <p:nvPr/>
        </p:nvSpPr>
        <p:spPr>
          <a:xfrm>
            <a:off x="620000" y="560000"/>
            <a:ext cx="10052000" cy="620000"/>
          </a:xfrm>
          <a:prstGeom prst="rect">
            <a:avLst/>
          </a:prstGeom>
          <a:noFill/>
        </p:spPr>
        <p:txBody>
          <a:bodyPr wrap="square" anchor="t" lIns="0" rIns="0" tIns="0" bIns="0">
            <a:noAutofit/>
          </a:bodyPr>
          <a:lstStyle/>
          <a:p>
            <a:pPr algn="l" marL="0" indent="0">
              <a:lnSpc>
                <a:spcPct val="105000"/>
              </a:lnSpc>
              <a:spcBef>
                <a:spcPts val="0"/>
              </a:spcBef>
              <a:spcAft>
                <a:spcPts val="0"/>
              </a:spcAft>
              <a:buNone/>
            </a:pPr>
            <a:r>
              <a:rPr sz="3000" b="0" i="0">
                <a:solidFill>
                  <a:srgbClr val="F3F6FC"/>
                </a:solidFill>
                <a:latin typeface="Segoe UI Light"/>
              </a:rPr>
              <a:t>Ingress con routing por path y TLS</a:t>
            </a:r>
          </a:p>
        </p:txBody>
      </p:sp>
      <p:sp>
        <p:nvSpPr>
          <p:cNvPr id="4" name="Rectangle 3"/>
          <p:cNvSpPr/>
          <p:nvPr/>
        </p:nvSpPr>
        <p:spPr>
          <a:xfrm>
            <a:off x="620000" y="1230000"/>
            <a:ext cx="560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5" name="Rectangle 4"/>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6" name="TextBox 5"/>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5</a:t>
            </a:r>
          </a:p>
        </p:txBody>
      </p:sp>
      <p:sp>
        <p:nvSpPr>
          <p:cNvPr id="7" name="TextBox 6"/>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13</a:t>
            </a:r>
          </a:p>
        </p:txBody>
      </p:sp>
      <p:pic>
        <p:nvPicPr>
          <p:cNvPr id="8" name="Picture 7" descr="ing.png"/>
          <p:cNvPicPr>
            <a:picLocks noChangeAspect="1"/>
          </p:cNvPicPr>
          <p:nvPr/>
        </p:nvPicPr>
        <p:blipFill>
          <a:blip r:embed="rId2"/>
          <a:stretch>
            <a:fillRect/>
          </a:stretch>
        </p:blipFill>
        <p:spPr>
          <a:xfrm>
            <a:off x="10932000" y="275000"/>
            <a:ext cx="640000" cy="640000"/>
          </a:xfrm>
          <a:prstGeom prst="rect">
            <a:avLst/>
          </a:prstGeom>
        </p:spPr>
      </p:pic>
      <p:sp>
        <p:nvSpPr>
          <p:cNvPr id="9" name="Rounded Rectangle 8"/>
          <p:cNvSpPr/>
          <p:nvPr/>
        </p:nvSpPr>
        <p:spPr>
          <a:xfrm>
            <a:off x="620000" y="1479456"/>
            <a:ext cx="10952000" cy="3593452"/>
          </a:xfrm>
          <a:prstGeom prst="roundRect">
            <a:avLst>
              <a:gd name="adj" fmla="val 5000"/>
            </a:avLst>
          </a:prstGeom>
          <a:solidFill>
            <a:srgbClr val="0A1120"/>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0" name="Rectangle 9"/>
          <p:cNvSpPr/>
          <p:nvPr/>
        </p:nvSpPr>
        <p:spPr>
          <a:xfrm>
            <a:off x="620000" y="1479456"/>
            <a:ext cx="46000" cy="3593452"/>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1" name="TextBox 10"/>
          <p:cNvSpPr txBox="1"/>
          <p:nvPr/>
        </p:nvSpPr>
        <p:spPr>
          <a:xfrm>
            <a:off x="850000" y="1599456"/>
            <a:ext cx="10492000" cy="260000"/>
          </a:xfrm>
          <a:prstGeom prst="rect">
            <a:avLst/>
          </a:prstGeom>
          <a:noFill/>
        </p:spPr>
        <p:txBody>
          <a:bodyPr wrap="square" anchor="t" lIns="0" rIns="0" tIns="0" bIns="0">
            <a:noAutofit/>
          </a:bodyPr>
          <a:lstStyle/>
          <a:p>
            <a:pPr algn="l" marL="0" indent="0">
              <a:lnSpc>
                <a:spcPct val="100000"/>
              </a:lnSpc>
              <a:spcBef>
                <a:spcPts val="0"/>
              </a:spcBef>
              <a:spcAft>
                <a:spcPts val="0"/>
              </a:spcAft>
              <a:buNone/>
            </a:pPr>
            <a:r>
              <a:rPr sz="1000" b="1" i="0" spc="180">
                <a:solidFill>
                  <a:srgbClr val="8493AD"/>
                </a:solidFill>
                <a:latin typeface="Segoe UI Semibold"/>
              </a:rPr>
              <a:t>EL MANIFIESTO</a:t>
            </a:r>
          </a:p>
        </p:txBody>
      </p:sp>
      <p:sp>
        <p:nvSpPr>
          <p:cNvPr id="12" name="TextBox 11"/>
          <p:cNvSpPr txBox="1"/>
          <p:nvPr/>
        </p:nvSpPr>
        <p:spPr>
          <a:xfrm>
            <a:off x="890000" y="1879456"/>
            <a:ext cx="10412000" cy="3133452"/>
          </a:xfrm>
          <a:prstGeom prst="rect">
            <a:avLst/>
          </a:prstGeom>
          <a:noFill/>
        </p:spPr>
        <p:txBody>
          <a:bodyPr wrap="square" anchor="t" lIns="0" rIns="0" tIns="0" bIns="0">
            <a:noAutofit/>
          </a:bodyPr>
          <a:lstStyle/>
          <a:p>
            <a:pPr marL="0" indent="0">
              <a:lnSpc>
                <a:spcPct val="134000"/>
              </a:lnSpc>
              <a:spcAft>
                <a:spcPts val="0"/>
              </a:spcAft>
              <a:buNone/>
            </a:pPr>
            <a:r>
              <a:rPr sz="1050" b="0" i="0">
                <a:solidFill>
                  <a:srgbClr val="E6EDF3"/>
                </a:solidFill>
                <a:latin typeface="Consolas"/>
              </a:rPr>
              <a:t>apiVersion: networking.k8s.io/v1</a:t>
            </a:r>
          </a:p>
          <a:p>
            <a:pPr marL="0" indent="0">
              <a:lnSpc>
                <a:spcPct val="134000"/>
              </a:lnSpc>
              <a:spcAft>
                <a:spcPts val="0"/>
              </a:spcAft>
              <a:buNone/>
            </a:pPr>
            <a:r>
              <a:rPr sz="1050" b="0" i="0">
                <a:solidFill>
                  <a:srgbClr val="E6EDF3"/>
                </a:solidFill>
                <a:latin typeface="Consolas"/>
              </a:rPr>
              <a:t>kind: Ingress</a:t>
            </a:r>
          </a:p>
          <a:p>
            <a:pPr marL="0" indent="0">
              <a:lnSpc>
                <a:spcPct val="134000"/>
              </a:lnSpc>
              <a:spcAft>
                <a:spcPts val="0"/>
              </a:spcAft>
              <a:buNone/>
            </a:pPr>
            <a:r>
              <a:rPr sz="1050" b="0" i="0">
                <a:solidFill>
                  <a:srgbClr val="E6EDF3"/>
                </a:solidFill>
                <a:latin typeface="Consolas"/>
              </a:rPr>
              <a:t>metadata: {name: app-ingress, namespace: c5-ingress}</a:t>
            </a:r>
          </a:p>
          <a:p>
            <a:pPr marL="0" indent="0">
              <a:lnSpc>
                <a:spcPct val="134000"/>
              </a:lnSpc>
              <a:spcAft>
                <a:spcPts val="0"/>
              </a:spcAft>
              <a:buNone/>
            </a:pPr>
            <a:r>
              <a:rPr sz="1050" b="0" i="0">
                <a:solidFill>
                  <a:srgbClr val="E6EDF3"/>
                </a:solidFill>
                <a:latin typeface="Consolas"/>
              </a:rPr>
              <a:t>spec:</a:t>
            </a:r>
          </a:p>
          <a:p>
            <a:pPr marL="0" indent="0">
              <a:lnSpc>
                <a:spcPct val="134000"/>
              </a:lnSpc>
              <a:spcAft>
                <a:spcPts val="0"/>
              </a:spcAft>
              <a:buNone/>
            </a:pPr>
            <a:r>
              <a:rPr sz="1050" b="0" i="0">
                <a:solidFill>
                  <a:srgbClr val="E6EDF3"/>
                </a:solidFill>
                <a:latin typeface="Consolas"/>
              </a:rPr>
              <a:t>  ingressClassName: traefik      </a:t>
            </a:r>
            <a:r>
              <a:rPr sz="1050" b="0" i="1">
                <a:solidFill>
                  <a:srgbClr val="7C8AA5"/>
                </a:solidFill>
                <a:latin typeface="Consolas"/>
              </a:rPr>
              <a:t>  # &lt;- k get ingressclass</a:t>
            </a:r>
          </a:p>
          <a:p>
            <a:pPr marL="0" indent="0">
              <a:lnSpc>
                <a:spcPct val="134000"/>
              </a:lnSpc>
              <a:spcAft>
                <a:spcPts val="0"/>
              </a:spcAft>
              <a:buNone/>
            </a:pPr>
            <a:r>
              <a:rPr sz="1050" b="0" i="0">
                <a:solidFill>
                  <a:srgbClr val="E6EDF3"/>
                </a:solidFill>
                <a:latin typeface="Consolas"/>
              </a:rPr>
              <a:t>  tls:</a:t>
            </a:r>
          </a:p>
          <a:p>
            <a:pPr marL="0" indent="0">
              <a:lnSpc>
                <a:spcPct val="134000"/>
              </a:lnSpc>
              <a:spcAft>
                <a:spcPts val="0"/>
              </a:spcAft>
              <a:buNone/>
            </a:pPr>
            <a:r>
              <a:rPr sz="1050" b="0" i="0">
                <a:solidFill>
                  <a:srgbClr val="E6EDF3"/>
                </a:solidFill>
                <a:latin typeface="Consolas"/>
              </a:rPr>
              <a:t>    - hosts: ["secure-ingress.com"]</a:t>
            </a:r>
          </a:p>
          <a:p>
            <a:pPr marL="0" indent="0">
              <a:lnSpc>
                <a:spcPct val="134000"/>
              </a:lnSpc>
              <a:spcAft>
                <a:spcPts val="0"/>
              </a:spcAft>
              <a:buNone/>
            </a:pPr>
            <a:r>
              <a:rPr sz="1050" b="0" i="0">
                <a:solidFill>
                  <a:srgbClr val="E6EDF3"/>
                </a:solidFill>
                <a:latin typeface="Consolas"/>
              </a:rPr>
              <a:t>      secretName: secure-ingress </a:t>
            </a:r>
            <a:r>
              <a:rPr sz="1050" b="0" i="1">
                <a:solidFill>
                  <a:srgbClr val="7C8AA5"/>
                </a:solidFill>
                <a:latin typeface="Consolas"/>
              </a:rPr>
              <a:t>  # &lt;- Secret kubernetes.io/tls, MISMO namespace</a:t>
            </a:r>
          </a:p>
          <a:p>
            <a:pPr marL="0" indent="0">
              <a:lnSpc>
                <a:spcPct val="134000"/>
              </a:lnSpc>
              <a:spcAft>
                <a:spcPts val="0"/>
              </a:spcAft>
              <a:buNone/>
            </a:pPr>
            <a:r>
              <a:rPr sz="1050" b="0" i="0">
                <a:solidFill>
                  <a:srgbClr val="E6EDF3"/>
                </a:solidFill>
                <a:latin typeface="Consolas"/>
              </a:rPr>
              <a:t>  rules:</a:t>
            </a:r>
          </a:p>
          <a:p>
            <a:pPr marL="0" indent="0">
              <a:lnSpc>
                <a:spcPct val="134000"/>
              </a:lnSpc>
              <a:spcAft>
                <a:spcPts val="0"/>
              </a:spcAft>
              <a:buNone/>
            </a:pPr>
            <a:r>
              <a:rPr sz="1050" b="0" i="0">
                <a:solidFill>
                  <a:srgbClr val="E6EDF3"/>
                </a:solidFill>
                <a:latin typeface="Consolas"/>
              </a:rPr>
              <a:t>    - host: secure-ingress.com</a:t>
            </a:r>
          </a:p>
          <a:p>
            <a:pPr marL="0" indent="0">
              <a:lnSpc>
                <a:spcPct val="134000"/>
              </a:lnSpc>
              <a:spcAft>
                <a:spcPts val="0"/>
              </a:spcAft>
              <a:buNone/>
            </a:pPr>
            <a:r>
              <a:rPr sz="1050" b="0" i="0">
                <a:solidFill>
                  <a:srgbClr val="E6EDF3"/>
                </a:solidFill>
                <a:latin typeface="Consolas"/>
              </a:rPr>
              <a:t>      http:</a:t>
            </a:r>
          </a:p>
          <a:p>
            <a:pPr marL="0" indent="0">
              <a:lnSpc>
                <a:spcPct val="134000"/>
              </a:lnSpc>
              <a:spcAft>
                <a:spcPts val="0"/>
              </a:spcAft>
              <a:buNone/>
            </a:pPr>
            <a:r>
              <a:rPr sz="1050" b="0" i="0">
                <a:solidFill>
                  <a:srgbClr val="E6EDF3"/>
                </a:solidFill>
                <a:latin typeface="Consolas"/>
              </a:rPr>
              <a:t>        paths:</a:t>
            </a:r>
          </a:p>
          <a:p>
            <a:pPr marL="0" indent="0">
              <a:lnSpc>
                <a:spcPct val="134000"/>
              </a:lnSpc>
              <a:spcAft>
                <a:spcPts val="0"/>
              </a:spcAft>
              <a:buNone/>
            </a:pPr>
            <a:r>
              <a:rPr sz="1050" b="0" i="0">
                <a:solidFill>
                  <a:srgbClr val="E6EDF3"/>
                </a:solidFill>
                <a:latin typeface="Consolas"/>
              </a:rPr>
              <a:t>          - {path: /service1, pathType: Prefix,</a:t>
            </a:r>
          </a:p>
          <a:p>
            <a:pPr marL="0" indent="0">
              <a:lnSpc>
                <a:spcPct val="134000"/>
              </a:lnSpc>
              <a:spcAft>
                <a:spcPts val="0"/>
              </a:spcAft>
              <a:buNone/>
            </a:pPr>
            <a:r>
              <a:rPr sz="1050" b="0" i="0">
                <a:solidFill>
                  <a:srgbClr val="E6EDF3"/>
                </a:solidFill>
                <a:latin typeface="Consolas"/>
              </a:rPr>
              <a:t>             backend: {service: {name: service1, port: {number: 80}}}}</a:t>
            </a:r>
          </a:p>
        </p:txBody>
      </p:sp>
      <p:sp>
        <p:nvSpPr>
          <p:cNvPr id="13" name="Rounded Rectangle 12"/>
          <p:cNvSpPr/>
          <p:nvPr/>
        </p:nvSpPr>
        <p:spPr>
          <a:xfrm>
            <a:off x="620000" y="5272908"/>
            <a:ext cx="10952000" cy="1027636"/>
          </a:xfrm>
          <a:prstGeom prst="roundRect">
            <a:avLst>
              <a:gd name="adj" fmla="val 5000"/>
            </a:avLst>
          </a:prstGeom>
          <a:solidFill>
            <a:srgbClr val="0A1120"/>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4" name="Rectangle 13"/>
          <p:cNvSpPr/>
          <p:nvPr/>
        </p:nvSpPr>
        <p:spPr>
          <a:xfrm>
            <a:off x="620000" y="5272908"/>
            <a:ext cx="46000" cy="1027636"/>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5" name="TextBox 14"/>
          <p:cNvSpPr txBox="1"/>
          <p:nvPr/>
        </p:nvSpPr>
        <p:spPr>
          <a:xfrm>
            <a:off x="850000" y="5392908"/>
            <a:ext cx="10492000" cy="260000"/>
          </a:xfrm>
          <a:prstGeom prst="rect">
            <a:avLst/>
          </a:prstGeom>
          <a:noFill/>
        </p:spPr>
        <p:txBody>
          <a:bodyPr wrap="square" anchor="t" lIns="0" rIns="0" tIns="0" bIns="0">
            <a:noAutofit/>
          </a:bodyPr>
          <a:lstStyle/>
          <a:p>
            <a:pPr algn="l" marL="0" indent="0">
              <a:lnSpc>
                <a:spcPct val="100000"/>
              </a:lnSpc>
              <a:spcBef>
                <a:spcPts val="0"/>
              </a:spcBef>
              <a:spcAft>
                <a:spcPts val="0"/>
              </a:spcAft>
              <a:buNone/>
            </a:pPr>
            <a:r>
              <a:rPr sz="1000" b="1" i="0" spc="180">
                <a:solidFill>
                  <a:srgbClr val="8493AD"/>
                </a:solidFill>
                <a:latin typeface="Segoe UI Semibold"/>
              </a:rPr>
              <a:t>PROBAR SIN TOCAR /ETC/HOSTS</a:t>
            </a:r>
          </a:p>
        </p:txBody>
      </p:sp>
      <p:sp>
        <p:nvSpPr>
          <p:cNvPr id="16" name="TextBox 15"/>
          <p:cNvSpPr txBox="1"/>
          <p:nvPr/>
        </p:nvSpPr>
        <p:spPr>
          <a:xfrm>
            <a:off x="890000" y="5672908"/>
            <a:ext cx="10412000" cy="567636"/>
          </a:xfrm>
          <a:prstGeom prst="rect">
            <a:avLst/>
          </a:prstGeom>
          <a:noFill/>
        </p:spPr>
        <p:txBody>
          <a:bodyPr wrap="square" anchor="t" lIns="0" rIns="0" tIns="0" bIns="0">
            <a:noAutofit/>
          </a:bodyPr>
          <a:lstStyle/>
          <a:p>
            <a:pPr marL="0" indent="0">
              <a:lnSpc>
                <a:spcPct val="134000"/>
              </a:lnSpc>
              <a:spcAft>
                <a:spcPts val="0"/>
              </a:spcAft>
              <a:buNone/>
            </a:pPr>
            <a:r>
              <a:rPr sz="1050" b="0" i="0">
                <a:solidFill>
                  <a:srgbClr val="E6EDF3"/>
                </a:solidFill>
                <a:latin typeface="Consolas"/>
              </a:rPr>
              <a:t>curl -kv https://secure-ingress.com:32443/service2 \</a:t>
            </a:r>
          </a:p>
          <a:p>
            <a:pPr marL="0" indent="0">
              <a:lnSpc>
                <a:spcPct val="134000"/>
              </a:lnSpc>
              <a:spcAft>
                <a:spcPts val="0"/>
              </a:spcAft>
              <a:buNone/>
            </a:pPr>
            <a:r>
              <a:rPr sz="1050" b="0" i="0">
                <a:solidFill>
                  <a:srgbClr val="E6EDF3"/>
                </a:solidFill>
                <a:latin typeface="Consolas"/>
              </a:rPr>
              <a:t>  --resolve secure-ingress.com:32443:&lt;IP-NODO&gt;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E172A"/>
        </a:solidFill>
        <a:effectLst/>
      </p:bgPr>
    </p:bg>
    <p:spTree>
      <p:nvGrpSpPr>
        <p:cNvPr id="1" name=""/>
        <p:cNvGrpSpPr/>
        <p:nvPr/>
      </p:nvGrpSpPr>
      <p:grpSpPr/>
      <p:sp>
        <p:nvSpPr>
          <p:cNvPr id="2" name="Oval 1"/>
          <p:cNvSpPr/>
          <p:nvPr/>
        </p:nvSpPr>
        <p:spPr>
          <a:xfrm>
            <a:off x="9992000" y="-1500000"/>
            <a:ext cx="3400000" cy="3400000"/>
          </a:xfrm>
          <a:prstGeom prst="ellipse">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40000" y="470000"/>
            <a:ext cx="2500000" cy="360000"/>
          </a:xfrm>
          <a:prstGeom prst="roundRect">
            <a:avLst>
              <a:gd name="adj" fmla="val 50000"/>
            </a:avLst>
          </a:prstGeom>
          <a:noFill/>
          <a:ln w="12700">
            <a:solidFill>
              <a:srgbClr val="326CE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000" b="1" i="0" spc="140">
                <a:solidFill>
                  <a:srgbClr val="74A6FF"/>
                </a:solidFill>
                <a:latin typeface="Segoe UI"/>
              </a:rPr>
              <a:t>Nivel intermedio</a:t>
            </a:r>
          </a:p>
        </p:txBody>
      </p:sp>
      <p:sp>
        <p:nvSpPr>
          <p:cNvPr id="4" name="TextBox 3"/>
          <p:cNvSpPr txBox="1"/>
          <p:nvPr/>
        </p:nvSpPr>
        <p:spPr>
          <a:xfrm>
            <a:off x="640000" y="990000"/>
            <a:ext cx="10912000" cy="760000"/>
          </a:xfrm>
          <a:prstGeom prst="rect">
            <a:avLst/>
          </a:prstGeom>
          <a:noFill/>
        </p:spPr>
        <p:txBody>
          <a:bodyPr wrap="square" anchor="t" lIns="0" rIns="0" tIns="0" bIns="0">
            <a:noAutofit/>
          </a:bodyPr>
          <a:lstStyle/>
          <a:p>
            <a:pPr algn="l" marL="0" indent="0">
              <a:lnSpc>
                <a:spcPct val="106000"/>
              </a:lnSpc>
              <a:spcBef>
                <a:spcPts val="0"/>
              </a:spcBef>
              <a:spcAft>
                <a:spcPts val="0"/>
              </a:spcAft>
              <a:buNone/>
            </a:pPr>
            <a:r>
              <a:rPr sz="3100" b="0" i="0">
                <a:solidFill>
                  <a:srgbClr val="F3F6FC"/>
                </a:solidFill>
                <a:latin typeface="Segoe UI Light"/>
              </a:rPr>
              <a:t>LAB 5.2 — Ingress con HTTP, HTTPS y routing por path</a:t>
            </a:r>
          </a:p>
        </p:txBody>
      </p:sp>
      <p:sp>
        <p:nvSpPr>
          <p:cNvPr id="5" name="TextBox 4"/>
          <p:cNvSpPr txBox="1"/>
          <p:nvPr/>
        </p:nvSpPr>
        <p:spPr>
          <a:xfrm>
            <a:off x="640000" y="1800000"/>
            <a:ext cx="7452000" cy="640000"/>
          </a:xfrm>
          <a:prstGeom prst="rect">
            <a:avLst/>
          </a:prstGeom>
          <a:noFill/>
        </p:spPr>
        <p:txBody>
          <a:bodyPr wrap="square" anchor="t" lIns="0" rIns="0" tIns="0" bIns="0">
            <a:noAutofit/>
          </a:bodyPr>
          <a:lstStyle/>
          <a:p>
            <a:pPr algn="l" marL="0" indent="0">
              <a:lnSpc>
                <a:spcPct val="120000"/>
              </a:lnSpc>
              <a:spcBef>
                <a:spcPts val="0"/>
              </a:spcBef>
              <a:spcAft>
                <a:spcPts val="0"/>
              </a:spcAft>
              <a:buNone/>
            </a:pPr>
            <a:r>
              <a:rPr sz="1300" b="0" i="1">
                <a:solidFill>
                  <a:srgbClr val="BDC9DB"/>
                </a:solidFill>
                <a:latin typeface="Segoe UI"/>
              </a:rPr>
              <a:t>Publicar dos aplicaciones tras una sola entrada, primero en HTTP y después con un certificado propio.</a:t>
            </a:r>
          </a:p>
        </p:txBody>
      </p:sp>
      <p:sp>
        <p:nvSpPr>
          <p:cNvPr id="6" name="Oval 5"/>
          <p:cNvSpPr/>
          <p:nvPr/>
        </p:nvSpPr>
        <p:spPr>
          <a:xfrm>
            <a:off x="640000" y="269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1</a:t>
            </a:r>
          </a:p>
        </p:txBody>
      </p:sp>
      <p:sp>
        <p:nvSpPr>
          <p:cNvPr id="7" name="TextBox 6"/>
          <p:cNvSpPr txBox="1"/>
          <p:nvPr/>
        </p:nvSpPr>
        <p:spPr>
          <a:xfrm>
            <a:off x="1110000" y="2560000"/>
            <a:ext cx="698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0">
                <a:solidFill>
                  <a:srgbClr val="BDC9DB"/>
                </a:solidFill>
                <a:latin typeface="Segoe UI"/>
              </a:rPr>
              <a:t>Instalar un controlador mantenido y anotar su IngressClass y sus nodePort.</a:t>
            </a:r>
          </a:p>
        </p:txBody>
      </p:sp>
      <p:sp>
        <p:nvSpPr>
          <p:cNvPr id="8" name="Oval 7"/>
          <p:cNvSpPr/>
          <p:nvPr/>
        </p:nvSpPr>
        <p:spPr>
          <a:xfrm>
            <a:off x="640000" y="325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2</a:t>
            </a:r>
          </a:p>
        </p:txBody>
      </p:sp>
      <p:sp>
        <p:nvSpPr>
          <p:cNvPr id="9" name="TextBox 8"/>
          <p:cNvSpPr txBox="1"/>
          <p:nvPr/>
        </p:nvSpPr>
        <p:spPr>
          <a:xfrm>
            <a:off x="1110000" y="3120000"/>
            <a:ext cx="698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0">
                <a:solidFill>
                  <a:srgbClr val="BDC9DB"/>
                </a:solidFill>
                <a:latin typeface="Segoe UI"/>
              </a:rPr>
              <a:t>VERIFICAR los Services antes de tocar el Ingress. Si esto falla, el Ingress también.</a:t>
            </a:r>
          </a:p>
        </p:txBody>
      </p:sp>
      <p:sp>
        <p:nvSpPr>
          <p:cNvPr id="10" name="Oval 9"/>
          <p:cNvSpPr/>
          <p:nvPr/>
        </p:nvSpPr>
        <p:spPr>
          <a:xfrm>
            <a:off x="640000" y="381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3</a:t>
            </a:r>
          </a:p>
        </p:txBody>
      </p:sp>
      <p:sp>
        <p:nvSpPr>
          <p:cNvPr id="11" name="TextBox 10"/>
          <p:cNvSpPr txBox="1"/>
          <p:nvPr/>
        </p:nvSpPr>
        <p:spPr>
          <a:xfrm>
            <a:off x="1110000" y="3680000"/>
            <a:ext cx="698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0">
                <a:solidFill>
                  <a:srgbClr val="BDC9DB"/>
                </a:solidFill>
                <a:latin typeface="Segoe UI"/>
              </a:rPr>
              <a:t>Dos reglas de path con pathType: Prefix. Investigar la reescritura de path.</a:t>
            </a:r>
          </a:p>
        </p:txBody>
      </p:sp>
      <p:sp>
        <p:nvSpPr>
          <p:cNvPr id="12" name="Oval 11"/>
          <p:cNvSpPr/>
          <p:nvPr/>
        </p:nvSpPr>
        <p:spPr>
          <a:xfrm>
            <a:off x="640000" y="437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4</a:t>
            </a:r>
          </a:p>
        </p:txBody>
      </p:sp>
      <p:sp>
        <p:nvSpPr>
          <p:cNvPr id="13" name="TextBox 12"/>
          <p:cNvSpPr txBox="1"/>
          <p:nvPr/>
        </p:nvSpPr>
        <p:spPr>
          <a:xfrm>
            <a:off x="1110000" y="4240000"/>
            <a:ext cx="698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0">
                <a:solidFill>
                  <a:srgbClr val="BDC9DB"/>
                </a:solidFill>
                <a:latin typeface="Segoe UI"/>
              </a:rPr>
              <a:t>Certificado con CN=secure-ingress.com y Secret kubernetes.io/tls.</a:t>
            </a:r>
          </a:p>
        </p:txBody>
      </p:sp>
      <p:sp>
        <p:nvSpPr>
          <p:cNvPr id="14" name="Oval 13"/>
          <p:cNvSpPr/>
          <p:nvPr/>
        </p:nvSpPr>
        <p:spPr>
          <a:xfrm>
            <a:off x="640000" y="493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5</a:t>
            </a:r>
          </a:p>
        </p:txBody>
      </p:sp>
      <p:sp>
        <p:nvSpPr>
          <p:cNvPr id="15" name="TextBox 14"/>
          <p:cNvSpPr txBox="1"/>
          <p:nvPr/>
        </p:nvSpPr>
        <p:spPr>
          <a:xfrm>
            <a:off x="1110000" y="4800000"/>
            <a:ext cx="698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0">
                <a:solidFill>
                  <a:srgbClr val="BDC9DB"/>
                </a:solidFill>
                <a:latin typeface="Segoe UI"/>
              </a:rPr>
              <a:t>Anotar subject, issuer, versión TLS y código HTTP de la salida verbose.</a:t>
            </a:r>
          </a:p>
        </p:txBody>
      </p:sp>
      <p:sp>
        <p:nvSpPr>
          <p:cNvPr id="16" name="Freeform 15"/>
          <p:cNvSpPr/>
          <p:nvPr/>
        </p:nvSpPr>
        <p:spPr>
          <a:xfrm>
            <a:off x="9590000" y="1418800"/>
            <a:ext cx="784000" cy="842800"/>
          </a:xfrm>
          <a:custGeom>
            <a:avLst/>
            <a:gdLst/>
            <a:ahLst/>
            <a:cxnLst/>
            <a:rect l="l" t="t" r="r" b="b"/>
            <a:pathLst>
              <a:path w="784000" h="842800">
                <a:moveTo>
                  <a:pt x="235200" y="0"/>
                </a:moveTo>
                <a:lnTo>
                  <a:pt x="235200" y="333200"/>
                </a:lnTo>
                <a:lnTo>
                  <a:pt x="0" y="842800"/>
                </a:lnTo>
                <a:lnTo>
                  <a:pt x="784000" y="842800"/>
                </a:lnTo>
                <a:lnTo>
                  <a:pt x="548800" y="333200"/>
                </a:lnTo>
                <a:lnTo>
                  <a:pt x="548800" y="0"/>
                </a:lnTo>
              </a:path>
            </a:pathLst>
          </a:custGeom>
          <a:noFill/>
          <a:ln w="33020">
            <a:solidFill>
              <a:srgbClr val="74A6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a:off x="9766400" y="1418800"/>
            <a:ext cx="431200" cy="0"/>
          </a:xfrm>
          <a:prstGeom prst="line">
            <a:avLst/>
          </a:prstGeom>
          <a:ln w="33020">
            <a:solidFill>
              <a:srgbClr val="74A6FF"/>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9727200" y="2006800"/>
            <a:ext cx="509600" cy="0"/>
          </a:xfrm>
          <a:prstGeom prst="line">
            <a:avLst/>
          </a:prstGeom>
          <a:ln w="33020">
            <a:solidFill>
              <a:srgbClr val="74A6FF"/>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8392000" y="2560000"/>
            <a:ext cx="3180000" cy="3510000"/>
          </a:xfrm>
          <a:prstGeom prst="roundRect">
            <a:avLst>
              <a:gd name="adj" fmla="val 6000"/>
            </a:avLst>
          </a:prstGeom>
          <a:solidFill>
            <a:srgbClr val="141E33"/>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0" name="Rectangle 19"/>
          <p:cNvSpPr/>
          <p:nvPr/>
        </p:nvSpPr>
        <p:spPr>
          <a:xfrm>
            <a:off x="8392000" y="2560000"/>
            <a:ext cx="3180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1" name="TextBox 20"/>
          <p:cNvSpPr txBox="1"/>
          <p:nvPr/>
        </p:nvSpPr>
        <p:spPr>
          <a:xfrm>
            <a:off x="8592000" y="2740000"/>
            <a:ext cx="2780000" cy="1030000"/>
          </a:xfrm>
          <a:prstGeom prst="rect">
            <a:avLst/>
          </a:prstGeom>
          <a:noFill/>
        </p:spPr>
        <p:txBody>
          <a:bodyPr wrap="square" anchor="t" lIns="0" rIns="0" tIns="0" bIns="0">
            <a:noAutofit/>
          </a:bodyPr>
          <a:lstStyle/>
          <a:p>
            <a:pPr algn="l" marL="0" indent="0">
              <a:lnSpc>
                <a:spcPct val="100000"/>
              </a:lnSpc>
              <a:spcBef>
                <a:spcPts val="0"/>
              </a:spcBef>
              <a:spcAft>
                <a:spcPts val="500"/>
              </a:spcAft>
              <a:buNone/>
            </a:pPr>
            <a:r>
              <a:rPr sz="900" b="1" i="0" spc="180">
                <a:solidFill>
                  <a:srgbClr val="8493AD"/>
                </a:solidFill>
                <a:latin typeface="Segoe UI Semibold"/>
              </a:rPr>
              <a:t>ARCHIVO</a:t>
            </a:r>
          </a:p>
          <a:p>
            <a:pPr algn="l" marL="0" indent="0">
              <a:lnSpc>
                <a:spcPct val="112000"/>
              </a:lnSpc>
              <a:spcBef>
                <a:spcPts val="0"/>
              </a:spcBef>
              <a:spcAft>
                <a:spcPts val="0"/>
              </a:spcAft>
              <a:buNone/>
            </a:pPr>
            <a:r>
              <a:rPr sz="1100" b="0" i="0">
                <a:solidFill>
                  <a:srgbClr val="F3F6FC"/>
                </a:solidFill>
                <a:latin typeface="Consolas"/>
              </a:rPr>
              <a:t>CLASE-05/LABORATORIOS/LAB-02-INTERMEDIO.md</a:t>
            </a:r>
          </a:p>
        </p:txBody>
      </p:sp>
      <p:sp>
        <p:nvSpPr>
          <p:cNvPr id="22" name="Rectangle 21"/>
          <p:cNvSpPr/>
          <p:nvPr/>
        </p:nvSpPr>
        <p:spPr>
          <a:xfrm>
            <a:off x="8592000" y="3790000"/>
            <a:ext cx="2780000" cy="8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3" name="TextBox 22"/>
          <p:cNvSpPr txBox="1"/>
          <p:nvPr/>
        </p:nvSpPr>
        <p:spPr>
          <a:xfrm>
            <a:off x="8592000" y="3830000"/>
            <a:ext cx="2780000" cy="1030000"/>
          </a:xfrm>
          <a:prstGeom prst="rect">
            <a:avLst/>
          </a:prstGeom>
          <a:noFill/>
        </p:spPr>
        <p:txBody>
          <a:bodyPr wrap="square" anchor="t" lIns="0" rIns="0" tIns="0" bIns="0">
            <a:noAutofit/>
          </a:bodyPr>
          <a:lstStyle/>
          <a:p>
            <a:pPr algn="l" marL="0" indent="0">
              <a:lnSpc>
                <a:spcPct val="100000"/>
              </a:lnSpc>
              <a:spcBef>
                <a:spcPts val="0"/>
              </a:spcBef>
              <a:spcAft>
                <a:spcPts val="500"/>
              </a:spcAft>
              <a:buNone/>
            </a:pPr>
            <a:r>
              <a:rPr sz="900" b="1" i="0" spc="180">
                <a:solidFill>
                  <a:srgbClr val="8493AD"/>
                </a:solidFill>
                <a:latin typeface="Segoe UI Semibold"/>
              </a:rPr>
              <a:t>DURACIÓN</a:t>
            </a:r>
          </a:p>
          <a:p>
            <a:pPr algn="l" marL="0" indent="0">
              <a:lnSpc>
                <a:spcPct val="112000"/>
              </a:lnSpc>
              <a:spcBef>
                <a:spcPts val="0"/>
              </a:spcBef>
              <a:spcAft>
                <a:spcPts val="0"/>
              </a:spcAft>
              <a:buNone/>
            </a:pPr>
            <a:r>
              <a:rPr sz="1100" b="1" i="0">
                <a:solidFill>
                  <a:srgbClr val="F3F6FC"/>
                </a:solidFill>
                <a:latin typeface="Segoe UI Semibold"/>
              </a:rPr>
              <a:t>35 min</a:t>
            </a:r>
          </a:p>
        </p:txBody>
      </p:sp>
      <p:sp>
        <p:nvSpPr>
          <p:cNvPr id="24" name="Rectangle 23"/>
          <p:cNvSpPr/>
          <p:nvPr/>
        </p:nvSpPr>
        <p:spPr>
          <a:xfrm>
            <a:off x="8592000" y="4880000"/>
            <a:ext cx="2780000" cy="8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5" name="TextBox 24"/>
          <p:cNvSpPr txBox="1"/>
          <p:nvPr/>
        </p:nvSpPr>
        <p:spPr>
          <a:xfrm>
            <a:off x="8592000" y="4920000"/>
            <a:ext cx="2780000" cy="1030000"/>
          </a:xfrm>
          <a:prstGeom prst="rect">
            <a:avLst/>
          </a:prstGeom>
          <a:noFill/>
        </p:spPr>
        <p:txBody>
          <a:bodyPr wrap="square" anchor="t" lIns="0" rIns="0" tIns="0" bIns="0">
            <a:noAutofit/>
          </a:bodyPr>
          <a:lstStyle/>
          <a:p>
            <a:pPr algn="l" marL="0" indent="0">
              <a:lnSpc>
                <a:spcPct val="100000"/>
              </a:lnSpc>
              <a:spcBef>
                <a:spcPts val="0"/>
              </a:spcBef>
              <a:spcAft>
                <a:spcPts val="500"/>
              </a:spcAft>
              <a:buNone/>
            </a:pPr>
            <a:r>
              <a:rPr sz="900" b="1" i="0" spc="180">
                <a:solidFill>
                  <a:srgbClr val="8493AD"/>
                </a:solidFill>
                <a:latin typeface="Segoe UI Semibold"/>
              </a:rPr>
              <a:t>VALIDACIÓN</a:t>
            </a:r>
          </a:p>
          <a:p>
            <a:pPr algn="l" marL="0" indent="0">
              <a:lnSpc>
                <a:spcPct val="112000"/>
              </a:lnSpc>
              <a:spcBef>
                <a:spcPts val="0"/>
              </a:spcBef>
              <a:spcAft>
                <a:spcPts val="0"/>
              </a:spcAft>
              <a:buNone/>
            </a:pPr>
            <a:r>
              <a:rPr sz="1100" b="0" i="0">
                <a:solidFill>
                  <a:srgbClr val="F3F6FC"/>
                </a:solidFill>
                <a:latin typeface="Consolas"/>
              </a:rPr>
              <a:t>k get ingressclass</a:t>
            </a:r>
          </a:p>
        </p:txBody>
      </p:sp>
      <p:sp>
        <p:nvSpPr>
          <p:cNvPr id="26" name="Rectangle 25"/>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7" name="TextBox 26"/>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5</a:t>
            </a:r>
          </a:p>
        </p:txBody>
      </p:sp>
      <p:sp>
        <p:nvSpPr>
          <p:cNvPr id="28" name="TextBox 27"/>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E172A"/>
        </a:solidFill>
        <a:effectLst/>
      </p:bgPr>
    </p:bg>
    <p:spTree>
      <p:nvGrpSpPr>
        <p:cNvPr id="1" name=""/>
        <p:cNvGrpSpPr/>
        <p:nvPr/>
      </p:nvGrpSpPr>
      <p:grpSpPr/>
      <p:sp>
        <p:nvSpPr>
          <p:cNvPr id="2" name="Oval 1"/>
          <p:cNvSpPr/>
          <p:nvPr/>
        </p:nvSpPr>
        <p:spPr>
          <a:xfrm>
            <a:off x="-1500000" y="4258000"/>
            <a:ext cx="4200000" cy="4200000"/>
          </a:xfrm>
          <a:prstGeom prst="ellipse">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netpol.png"/>
          <p:cNvPicPr>
            <a:picLocks noChangeAspect="1"/>
          </p:cNvPicPr>
          <p:nvPr/>
        </p:nvPicPr>
        <p:blipFill>
          <a:blip r:embed="rId2"/>
          <a:stretch>
            <a:fillRect/>
          </a:stretch>
        </p:blipFill>
        <p:spPr>
          <a:xfrm>
            <a:off x="8842000" y="2150000"/>
            <a:ext cx="1800000" cy="1800000"/>
          </a:xfrm>
          <a:prstGeom prst="rect">
            <a:avLst/>
          </a:prstGeom>
        </p:spPr>
      </p:pic>
      <p:sp>
        <p:nvSpPr>
          <p:cNvPr id="4" name="TextBox 3"/>
          <p:cNvSpPr txBox="1"/>
          <p:nvPr/>
        </p:nvSpPr>
        <p:spPr>
          <a:xfrm>
            <a:off x="590000" y="1150000"/>
            <a:ext cx="4000000" cy="2600000"/>
          </a:xfrm>
          <a:prstGeom prst="rect">
            <a:avLst/>
          </a:prstGeom>
          <a:noFill/>
        </p:spPr>
        <p:txBody>
          <a:bodyPr wrap="square" anchor="t" lIns="0" rIns="0" tIns="0" bIns="0">
            <a:noAutofit/>
          </a:bodyPr>
          <a:lstStyle/>
          <a:p>
            <a:pPr algn="l" marL="0" indent="0">
              <a:lnSpc>
                <a:spcPct val="90000"/>
              </a:lnSpc>
              <a:spcBef>
                <a:spcPts val="0"/>
              </a:spcBef>
              <a:spcAft>
                <a:spcPts val="0"/>
              </a:spcAft>
              <a:buNone/>
            </a:pPr>
            <a:r>
              <a:rPr sz="15000" b="0" i="0">
                <a:solidFill>
                  <a:srgbClr val="4C5B75"/>
                </a:solidFill>
                <a:latin typeface="Segoe UI Light"/>
              </a:rPr>
              <a:t>03</a:t>
            </a:r>
          </a:p>
        </p:txBody>
      </p:sp>
      <p:sp>
        <p:nvSpPr>
          <p:cNvPr id="5" name="TextBox 4"/>
          <p:cNvSpPr txBox="1"/>
          <p:nvPr/>
        </p:nvSpPr>
        <p:spPr>
          <a:xfrm>
            <a:off x="640000" y="3050000"/>
            <a:ext cx="9200000" cy="3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260">
                <a:solidFill>
                  <a:srgbClr val="74A6FF"/>
                </a:solidFill>
                <a:latin typeface="Segoe UI Semibold"/>
              </a:rPr>
              <a:t>BLOQUE 3</a:t>
            </a:r>
          </a:p>
        </p:txBody>
      </p:sp>
      <p:sp>
        <p:nvSpPr>
          <p:cNvPr id="6" name="TextBox 5"/>
          <p:cNvSpPr txBox="1"/>
          <p:nvPr/>
        </p:nvSpPr>
        <p:spPr>
          <a:xfrm>
            <a:off x="640000" y="3350000"/>
            <a:ext cx="10200000" cy="1000000"/>
          </a:xfrm>
          <a:prstGeom prst="rect">
            <a:avLst/>
          </a:prstGeom>
          <a:noFill/>
        </p:spPr>
        <p:txBody>
          <a:bodyPr wrap="square" anchor="t" lIns="0" rIns="0" tIns="0" bIns="0">
            <a:noAutofit/>
          </a:bodyPr>
          <a:lstStyle/>
          <a:p>
            <a:pPr algn="l" marL="0" indent="0">
              <a:lnSpc>
                <a:spcPct val="102000"/>
              </a:lnSpc>
              <a:spcBef>
                <a:spcPts val="0"/>
              </a:spcBef>
              <a:spcAft>
                <a:spcPts val="0"/>
              </a:spcAft>
              <a:buNone/>
            </a:pPr>
            <a:r>
              <a:rPr sz="5400" b="0" i="0">
                <a:solidFill>
                  <a:srgbClr val="F3F6FC"/>
                </a:solidFill>
                <a:latin typeface="Segoe UI Light"/>
              </a:rPr>
              <a:t>NetworkPolicy</a:t>
            </a:r>
          </a:p>
        </p:txBody>
      </p:sp>
      <p:sp>
        <p:nvSpPr>
          <p:cNvPr id="7" name="Rectangle 6"/>
          <p:cNvSpPr/>
          <p:nvPr/>
        </p:nvSpPr>
        <p:spPr>
          <a:xfrm>
            <a:off x="644000" y="4380000"/>
            <a:ext cx="620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8" name="TextBox 7"/>
          <p:cNvSpPr txBox="1"/>
          <p:nvPr/>
        </p:nvSpPr>
        <p:spPr>
          <a:xfrm>
            <a:off x="640000" y="4560000"/>
            <a:ext cx="9600000" cy="620000"/>
          </a:xfrm>
          <a:prstGeom prst="rect">
            <a:avLst/>
          </a:prstGeom>
          <a:noFill/>
        </p:spPr>
        <p:txBody>
          <a:bodyPr wrap="square" anchor="t" lIns="0" rIns="0" tIns="0" bIns="0">
            <a:noAutofit/>
          </a:bodyPr>
          <a:lstStyle/>
          <a:p>
            <a:pPr algn="l" marL="0" indent="0">
              <a:lnSpc>
                <a:spcPct val="120000"/>
              </a:lnSpc>
              <a:spcBef>
                <a:spcPts val="0"/>
              </a:spcBef>
              <a:spcAft>
                <a:spcPts val="0"/>
              </a:spcAft>
              <a:buNone/>
            </a:pPr>
            <a:r>
              <a:rPr sz="1500" b="0" i="1">
                <a:solidFill>
                  <a:srgbClr val="BDC9DB"/>
                </a:solidFill>
                <a:latin typeface="Segoe UI"/>
              </a:rPr>
              <a:t>Reglas de firewall a nivel de Pod</a:t>
            </a:r>
          </a:p>
        </p:txBody>
      </p:sp>
      <p:sp>
        <p:nvSpPr>
          <p:cNvPr id="9" name="Rectangle 8"/>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0" name="TextBox 9"/>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5</a:t>
            </a:r>
          </a:p>
        </p:txBody>
      </p:sp>
      <p:sp>
        <p:nvSpPr>
          <p:cNvPr id="11" name="TextBox 10"/>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620000" y="300000"/>
            <a:ext cx="10952000" cy="24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240">
                <a:solidFill>
                  <a:srgbClr val="74A6FF"/>
                </a:solidFill>
                <a:latin typeface="Segoe UI Semibold"/>
              </a:rPr>
              <a:t>CONCEPTO</a:t>
            </a:r>
          </a:p>
        </p:txBody>
      </p:sp>
      <p:sp>
        <p:nvSpPr>
          <p:cNvPr id="3" name="TextBox 2"/>
          <p:cNvSpPr txBox="1"/>
          <p:nvPr/>
        </p:nvSpPr>
        <p:spPr>
          <a:xfrm>
            <a:off x="620000" y="560000"/>
            <a:ext cx="10052000" cy="620000"/>
          </a:xfrm>
          <a:prstGeom prst="rect">
            <a:avLst/>
          </a:prstGeom>
          <a:noFill/>
        </p:spPr>
        <p:txBody>
          <a:bodyPr wrap="square" anchor="t" lIns="0" rIns="0" tIns="0" bIns="0">
            <a:noAutofit/>
          </a:bodyPr>
          <a:lstStyle/>
          <a:p>
            <a:pPr algn="l" marL="0" indent="0">
              <a:lnSpc>
                <a:spcPct val="105000"/>
              </a:lnSpc>
              <a:spcBef>
                <a:spcPts val="0"/>
              </a:spcBef>
              <a:spcAft>
                <a:spcPts val="0"/>
              </a:spcAft>
              <a:buNone/>
            </a:pPr>
            <a:r>
              <a:rPr sz="3000" b="0" i="0">
                <a:solidFill>
                  <a:srgbClr val="F3F6FC"/>
                </a:solidFill>
                <a:latin typeface="Segoe UI Light"/>
              </a:rPr>
              <a:t>Cuatro reglas que lo explican todo</a:t>
            </a:r>
          </a:p>
        </p:txBody>
      </p:sp>
      <p:sp>
        <p:nvSpPr>
          <p:cNvPr id="4" name="Rectangle 3"/>
          <p:cNvSpPr/>
          <p:nvPr/>
        </p:nvSpPr>
        <p:spPr>
          <a:xfrm>
            <a:off x="620000" y="1230000"/>
            <a:ext cx="560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5" name="Rectangle 4"/>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6" name="TextBox 5"/>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5</a:t>
            </a:r>
          </a:p>
        </p:txBody>
      </p:sp>
      <p:sp>
        <p:nvSpPr>
          <p:cNvPr id="7" name="TextBox 6"/>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16</a:t>
            </a:r>
          </a:p>
        </p:txBody>
      </p:sp>
      <p:pic>
        <p:nvPicPr>
          <p:cNvPr id="8" name="Picture 7" descr="kubernetes.png"/>
          <p:cNvPicPr>
            <a:picLocks noChangeAspect="1"/>
          </p:cNvPicPr>
          <p:nvPr/>
        </p:nvPicPr>
        <p:blipFill>
          <a:blip r:embed="rId2"/>
          <a:stretch>
            <a:fillRect/>
          </a:stretch>
        </p:blipFill>
        <p:spPr>
          <a:xfrm>
            <a:off x="10932000" y="275000"/>
            <a:ext cx="640000" cy="640000"/>
          </a:xfrm>
          <a:prstGeom prst="rect">
            <a:avLst/>
          </a:prstGeom>
        </p:spPr>
      </p:pic>
      <p:sp>
        <p:nvSpPr>
          <p:cNvPr id="9" name="Oval 8"/>
          <p:cNvSpPr/>
          <p:nvPr/>
        </p:nvSpPr>
        <p:spPr>
          <a:xfrm>
            <a:off x="636000" y="1751750"/>
            <a:ext cx="104000" cy="104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80000" y="1470000"/>
            <a:ext cx="5435040" cy="667500"/>
          </a:xfrm>
          <a:prstGeom prst="rect">
            <a:avLst/>
          </a:prstGeom>
          <a:noFill/>
        </p:spPr>
        <p:txBody>
          <a:bodyPr wrap="square" anchor="ctr" lIns="0" rIns="0" tIns="0" bIns="0">
            <a:noAutofit/>
          </a:bodyPr>
          <a:lstStyle/>
          <a:p>
            <a:pPr algn="l" marL="0" indent="0">
              <a:lnSpc>
                <a:spcPct val="118000"/>
              </a:lnSpc>
              <a:spcBef>
                <a:spcPts val="0"/>
              </a:spcBef>
              <a:spcAft>
                <a:spcPts val="0"/>
              </a:spcAft>
              <a:buNone/>
            </a:pPr>
            <a:r>
              <a:rPr sz="1300" b="0" i="0">
                <a:solidFill>
                  <a:srgbClr val="BDC9DB"/>
                </a:solidFill>
                <a:latin typeface="Segoe UI"/>
              </a:rPr>
              <a:t>Un Pod al que no selecciona ninguna política acepta todo el tráfico. El aislamiento no es el estado por defecto.</a:t>
            </a:r>
          </a:p>
        </p:txBody>
      </p:sp>
      <p:sp>
        <p:nvSpPr>
          <p:cNvPr id="11" name="Oval 10"/>
          <p:cNvSpPr/>
          <p:nvPr/>
        </p:nvSpPr>
        <p:spPr>
          <a:xfrm>
            <a:off x="636000" y="2419250"/>
            <a:ext cx="104000" cy="104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80000" y="2137500"/>
            <a:ext cx="5435040" cy="667500"/>
          </a:xfrm>
          <a:prstGeom prst="rect">
            <a:avLst/>
          </a:prstGeom>
          <a:noFill/>
        </p:spPr>
        <p:txBody>
          <a:bodyPr wrap="square" anchor="ctr" lIns="0" rIns="0" tIns="0" bIns="0">
            <a:noAutofit/>
          </a:bodyPr>
          <a:lstStyle/>
          <a:p>
            <a:pPr algn="l" marL="0" indent="0">
              <a:lnSpc>
                <a:spcPct val="118000"/>
              </a:lnSpc>
              <a:spcBef>
                <a:spcPts val="0"/>
              </a:spcBef>
              <a:spcAft>
                <a:spcPts val="0"/>
              </a:spcAft>
              <a:buNone/>
            </a:pPr>
            <a:r>
              <a:rPr sz="1300" b="0" i="0">
                <a:solidFill>
                  <a:srgbClr val="BDC9DB"/>
                </a:solidFill>
                <a:latin typeface="Segoe UI"/>
              </a:rPr>
              <a:t>En cuanto UNA política lo selecciona para un policyType, queda aislado para ese tipo y solo pasa lo autorizado.</a:t>
            </a:r>
          </a:p>
        </p:txBody>
      </p:sp>
      <p:sp>
        <p:nvSpPr>
          <p:cNvPr id="13" name="Oval 12"/>
          <p:cNvSpPr/>
          <p:nvPr/>
        </p:nvSpPr>
        <p:spPr>
          <a:xfrm>
            <a:off x="636000" y="3086750"/>
            <a:ext cx="104000" cy="104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0000" y="2805000"/>
            <a:ext cx="5435040" cy="667500"/>
          </a:xfrm>
          <a:prstGeom prst="rect">
            <a:avLst/>
          </a:prstGeom>
          <a:noFill/>
        </p:spPr>
        <p:txBody>
          <a:bodyPr wrap="square" anchor="ctr" lIns="0" rIns="0" tIns="0" bIns="0">
            <a:noAutofit/>
          </a:bodyPr>
          <a:lstStyle/>
          <a:p>
            <a:pPr algn="l" marL="0" indent="0">
              <a:lnSpc>
                <a:spcPct val="118000"/>
              </a:lnSpc>
              <a:spcBef>
                <a:spcPts val="0"/>
              </a:spcBef>
              <a:spcAft>
                <a:spcPts val="0"/>
              </a:spcAft>
              <a:buNone/>
            </a:pPr>
            <a:r>
              <a:rPr sz="1300" b="0" i="0">
                <a:solidFill>
                  <a:srgbClr val="BDC9DB"/>
                </a:solidFill>
                <a:latin typeface="Segoe UI"/>
              </a:rPr>
              <a:t>Las políticas son ADITIVAS: se aplica la unión de todas. No existen reglas de denegación y el orden no importa.</a:t>
            </a:r>
          </a:p>
        </p:txBody>
      </p:sp>
      <p:sp>
        <p:nvSpPr>
          <p:cNvPr id="15" name="Oval 14"/>
          <p:cNvSpPr/>
          <p:nvPr/>
        </p:nvSpPr>
        <p:spPr>
          <a:xfrm>
            <a:off x="636000" y="3754250"/>
            <a:ext cx="104000" cy="104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0000" y="3472500"/>
            <a:ext cx="5435040" cy="667500"/>
          </a:xfrm>
          <a:prstGeom prst="rect">
            <a:avLst/>
          </a:prstGeom>
          <a:noFill/>
        </p:spPr>
        <p:txBody>
          <a:bodyPr wrap="square" anchor="ctr" lIns="0" rIns="0" tIns="0" bIns="0">
            <a:noAutofit/>
          </a:bodyPr>
          <a:lstStyle/>
          <a:p>
            <a:pPr algn="l" marL="0" indent="0">
              <a:lnSpc>
                <a:spcPct val="118000"/>
              </a:lnSpc>
              <a:spcBef>
                <a:spcPts val="0"/>
              </a:spcBef>
              <a:spcAft>
                <a:spcPts val="0"/>
              </a:spcAft>
              <a:buNone/>
            </a:pPr>
            <a:r>
              <a:rPr sz="1300" b="0" i="0">
                <a:solidFill>
                  <a:srgbClr val="BDC9DB"/>
                </a:solidFill>
                <a:latin typeface="Segoe UI"/>
              </a:rPr>
              <a:t>Ingress y Egress son independientes: para que A hable con B hacen falta DOS permisos, salida en A y entrada en B.</a:t>
            </a:r>
          </a:p>
        </p:txBody>
      </p:sp>
      <p:sp>
        <p:nvSpPr>
          <p:cNvPr id="17" name="Rounded Rectangle 16"/>
          <p:cNvSpPr/>
          <p:nvPr/>
        </p:nvSpPr>
        <p:spPr>
          <a:xfrm>
            <a:off x="6635040" y="1470000"/>
            <a:ext cx="4936960" cy="2670000"/>
          </a:xfrm>
          <a:prstGeom prst="roundRect">
            <a:avLst>
              <a:gd name="adj" fmla="val 3000"/>
            </a:avLst>
          </a:prstGeom>
          <a:solidFill>
            <a:srgbClr val="0A1120"/>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8" name="Rectangle 17"/>
          <p:cNvSpPr/>
          <p:nvPr/>
        </p:nvSpPr>
        <p:spPr>
          <a:xfrm>
            <a:off x="6635040" y="1770000"/>
            <a:ext cx="46000" cy="2370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9" name="TextBox 18"/>
          <p:cNvSpPr txBox="1"/>
          <p:nvPr/>
        </p:nvSpPr>
        <p:spPr>
          <a:xfrm>
            <a:off x="6825040" y="1530000"/>
            <a:ext cx="4556960" cy="26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000" b="1" i="0" spc="180">
                <a:solidFill>
                  <a:srgbClr val="8493AD"/>
                </a:solidFill>
                <a:latin typeface="Segoe UI Semibold"/>
              </a:rPr>
              <a:t>DEFAULT DENY</a:t>
            </a:r>
          </a:p>
        </p:txBody>
      </p:sp>
      <p:sp>
        <p:nvSpPr>
          <p:cNvPr id="20" name="Rectangle 19"/>
          <p:cNvSpPr/>
          <p:nvPr/>
        </p:nvSpPr>
        <p:spPr>
          <a:xfrm>
            <a:off x="6825040" y="1764000"/>
            <a:ext cx="4556960" cy="10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1" name="TextBox 20"/>
          <p:cNvSpPr txBox="1"/>
          <p:nvPr/>
        </p:nvSpPr>
        <p:spPr>
          <a:xfrm>
            <a:off x="6865040" y="1960000"/>
            <a:ext cx="4516960" cy="1947672"/>
          </a:xfrm>
          <a:prstGeom prst="rect">
            <a:avLst/>
          </a:prstGeom>
          <a:noFill/>
        </p:spPr>
        <p:txBody>
          <a:bodyPr wrap="square" anchor="t" lIns="0" rIns="0" tIns="0" bIns="0">
            <a:noAutofit/>
          </a:bodyPr>
          <a:lstStyle/>
          <a:p>
            <a:pPr marL="0" indent="0">
              <a:lnSpc>
                <a:spcPct val="134000"/>
              </a:lnSpc>
              <a:spcAft>
                <a:spcPts val="0"/>
              </a:spcAft>
              <a:buNone/>
            </a:pPr>
            <a:r>
              <a:rPr sz="900" b="0" i="0">
                <a:solidFill>
                  <a:srgbClr val="E6EDF3"/>
                </a:solidFill>
                <a:latin typeface="Consolas"/>
              </a:rPr>
              <a:t>spec:</a:t>
            </a:r>
          </a:p>
          <a:p>
            <a:pPr marL="0" indent="0">
              <a:lnSpc>
                <a:spcPct val="134000"/>
              </a:lnSpc>
              <a:spcAft>
                <a:spcPts val="0"/>
              </a:spcAft>
              <a:buNone/>
            </a:pPr>
            <a:r>
              <a:rPr sz="900" b="0" i="0">
                <a:solidFill>
                  <a:srgbClr val="E6EDF3"/>
                </a:solidFill>
                <a:latin typeface="Consolas"/>
              </a:rPr>
              <a:t>  podSelector: {} </a:t>
            </a:r>
            <a:r>
              <a:rPr sz="900" b="0" i="1">
                <a:solidFill>
                  <a:srgbClr val="7C8AA5"/>
                </a:solidFill>
                <a:latin typeface="Consolas"/>
              </a:rPr>
              <a:t>  # todos</a:t>
            </a:r>
          </a:p>
          <a:p>
            <a:pPr marL="0" indent="0">
              <a:lnSpc>
                <a:spcPct val="134000"/>
              </a:lnSpc>
              <a:spcAft>
                <a:spcPts val="0"/>
              </a:spcAft>
              <a:buNone/>
            </a:pPr>
            <a:r>
              <a:rPr sz="900" b="0" i="0">
                <a:solidFill>
                  <a:srgbClr val="E6EDF3"/>
                </a:solidFill>
                <a:latin typeface="Consolas"/>
              </a:rPr>
              <a:t>  policyTypes:</a:t>
            </a:r>
          </a:p>
          <a:p>
            <a:pPr marL="0" indent="0">
              <a:lnSpc>
                <a:spcPct val="134000"/>
              </a:lnSpc>
              <a:spcAft>
                <a:spcPts val="0"/>
              </a:spcAft>
              <a:buNone/>
            </a:pPr>
            <a:r>
              <a:rPr sz="900" b="0" i="0">
                <a:solidFill>
                  <a:srgbClr val="E6EDF3"/>
                </a:solidFill>
                <a:latin typeface="Consolas"/>
              </a:rPr>
              <a:t>    - Ingress</a:t>
            </a:r>
          </a:p>
          <a:p>
            <a:pPr marL="0" indent="0">
              <a:lnSpc>
                <a:spcPct val="134000"/>
              </a:lnSpc>
              <a:spcAft>
                <a:spcPts val="0"/>
              </a:spcAft>
              <a:buNone/>
            </a:pPr>
            <a:r>
              <a:rPr sz="900" b="0" i="0">
                <a:solidFill>
                  <a:srgbClr val="E6EDF3"/>
                </a:solidFill>
                <a:latin typeface="Consolas"/>
              </a:rPr>
              <a:t>    - Egress</a:t>
            </a:r>
          </a:p>
          <a:p>
            <a:pPr marL="0" indent="0">
              <a:lnSpc>
                <a:spcPct val="134000"/>
              </a:lnSpc>
              <a:spcAft>
                <a:spcPts val="0"/>
              </a:spcAft>
              <a:buNone/>
            </a:pPr>
            <a:r>
              <a:rPr sz="900" b="0" i="0">
                <a:solidFill>
                  <a:srgbClr val="E6EDF3"/>
                </a:solidFill>
                <a:latin typeface="Consolas"/>
              </a:rPr>
              <a:t/>
            </a:r>
          </a:p>
          <a:p>
            <a:pPr marL="0" indent="0">
              <a:lnSpc>
                <a:spcPct val="134000"/>
              </a:lnSpc>
              <a:spcAft>
                <a:spcPts val="0"/>
              </a:spcAft>
              <a:buNone/>
            </a:pPr>
            <a:r>
              <a:rPr sz="900" b="0" i="1">
                <a:solidFill>
                  <a:srgbClr val="7C8AA5"/>
                </a:solidFill>
                <a:latin typeface="Consolas"/>
              </a:rPr>
              <a:t># Sin secciones ingress/egress</a:t>
            </a:r>
          </a:p>
          <a:p>
            <a:pPr marL="0" indent="0">
              <a:lnSpc>
                <a:spcPct val="134000"/>
              </a:lnSpc>
              <a:spcAft>
                <a:spcPts val="0"/>
              </a:spcAft>
              <a:buNone/>
            </a:pPr>
            <a:r>
              <a:rPr sz="900" b="0" i="1">
                <a:solidFill>
                  <a:srgbClr val="7C8AA5"/>
                </a:solidFill>
                <a:latin typeface="Consolas"/>
              </a:rPr>
              <a:t># = denegar todo</a:t>
            </a:r>
          </a:p>
          <a:p>
            <a:pPr marL="0" indent="0">
              <a:lnSpc>
                <a:spcPct val="134000"/>
              </a:lnSpc>
              <a:spcAft>
                <a:spcPts val="0"/>
              </a:spcAft>
              <a:buNone/>
            </a:pPr>
            <a:r>
              <a:rPr sz="900" b="0" i="0">
                <a:solidFill>
                  <a:srgbClr val="E6EDF3"/>
                </a:solidFill>
                <a:latin typeface="Consolas"/>
              </a:rPr>
              <a:t/>
            </a:r>
          </a:p>
          <a:p>
            <a:pPr marL="0" indent="0">
              <a:lnSpc>
                <a:spcPct val="134000"/>
              </a:lnSpc>
              <a:spcAft>
                <a:spcPts val="0"/>
              </a:spcAft>
              <a:buNone/>
            </a:pPr>
            <a:r>
              <a:rPr sz="900" b="0" i="1">
                <a:solidFill>
                  <a:srgbClr val="7C8AA5"/>
                </a:solidFill>
                <a:latin typeface="Consolas"/>
              </a:rPr>
              <a:t># Requisito previo:</a:t>
            </a:r>
          </a:p>
          <a:p>
            <a:pPr marL="0" indent="0">
              <a:lnSpc>
                <a:spcPct val="134000"/>
              </a:lnSpc>
              <a:spcAft>
                <a:spcPts val="0"/>
              </a:spcAft>
              <a:buNone/>
            </a:pPr>
            <a:r>
              <a:rPr sz="900" b="0" i="1">
                <a:solidFill>
                  <a:srgbClr val="7C8AA5"/>
                </a:solidFill>
                <a:latin typeface="Consolas"/>
              </a:rPr>
              <a:t># que tu CNI implemente</a:t>
            </a:r>
          </a:p>
          <a:p>
            <a:pPr marL="0" indent="0">
              <a:lnSpc>
                <a:spcPct val="134000"/>
              </a:lnSpc>
              <a:spcAft>
                <a:spcPts val="0"/>
              </a:spcAft>
              <a:buNone/>
            </a:pPr>
            <a:r>
              <a:rPr sz="900" b="0" i="1">
                <a:solidFill>
                  <a:srgbClr val="7C8AA5"/>
                </a:solidFill>
                <a:latin typeface="Consolas"/>
              </a:rPr>
              <a:t># NetworkPolicy</a:t>
            </a:r>
          </a:p>
        </p:txBody>
      </p:sp>
      <p:sp>
        <p:nvSpPr>
          <p:cNvPr id="22" name="Rounded Rectangle 21"/>
          <p:cNvSpPr/>
          <p:nvPr/>
        </p:nvSpPr>
        <p:spPr>
          <a:xfrm>
            <a:off x="620000" y="4310000"/>
            <a:ext cx="10952000" cy="2000000"/>
          </a:xfrm>
          <a:prstGeom prst="roundRect">
            <a:avLst>
              <a:gd name="adj" fmla="val 4500"/>
            </a:avLst>
          </a:prstGeom>
          <a:solidFill>
            <a:srgbClr val="111A2C"/>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3" name="Rectangle 22"/>
          <p:cNvSpPr/>
          <p:nvPr/>
        </p:nvSpPr>
        <p:spPr>
          <a:xfrm>
            <a:off x="646000" y="4332000"/>
            <a:ext cx="40000" cy="195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4" name="TextBox 23"/>
          <p:cNvSpPr txBox="1"/>
          <p:nvPr/>
        </p:nvSpPr>
        <p:spPr>
          <a:xfrm>
            <a:off x="860000" y="4440000"/>
            <a:ext cx="10522000" cy="1740000"/>
          </a:xfrm>
          <a:prstGeom prst="rect">
            <a:avLst/>
          </a:prstGeom>
          <a:noFill/>
        </p:spPr>
        <p:txBody>
          <a:bodyPr wrap="square" anchor="t" lIns="0" rIns="0" tIns="0" bIns="0">
            <a:noAutofit/>
          </a:bodyPr>
          <a:lstStyle/>
          <a:p>
            <a:pPr algn="l" marL="0" indent="0">
              <a:lnSpc>
                <a:spcPct val="100000"/>
              </a:lnSpc>
              <a:spcBef>
                <a:spcPts val="0"/>
              </a:spcBef>
              <a:spcAft>
                <a:spcPts val="600"/>
              </a:spcAft>
              <a:buNone/>
            </a:pPr>
            <a:r>
              <a:rPr sz="900" b="1" i="0" spc="200">
                <a:solidFill>
                  <a:srgbClr val="326CE5"/>
                </a:solidFill>
                <a:latin typeface="Segoe UI Semibold"/>
              </a:rPr>
              <a:t>TEORÍA</a:t>
            </a:r>
          </a:p>
          <a:p>
            <a:pPr algn="l" marL="0" indent="0">
              <a:lnSpc>
                <a:spcPct val="128000"/>
              </a:lnSpc>
              <a:spcBef>
                <a:spcPts val="0"/>
              </a:spcBef>
              <a:spcAft>
                <a:spcPts val="400"/>
              </a:spcAft>
              <a:buNone/>
            </a:pPr>
            <a:r>
              <a:rPr sz="1000" b="0" i="0">
                <a:solidFill>
                  <a:srgbClr val="BDC9DB"/>
                </a:solidFill>
                <a:latin typeface="Segoe UI"/>
              </a:rPr>
              <a:t>Una NetworkPolicy es un firewall a nivel de Pod, pero su lógica es contraintuitiva. Regla uno: un Pod al que NO selecciona ninguna política acepta todo el tráfico; el aislamiento no es el estado por defecto. Regla dos: en cuanto UNA política selecciona a un Pod para un policyType (Ingress o Egress), ese Pod queda aislado para ese tipo y solo pasa lo que las políticas autoricen explícitamente.</a:t>
            </a:r>
          </a:p>
          <a:p>
            <a:pPr algn="l" marL="0" indent="0">
              <a:lnSpc>
                <a:spcPct val="128000"/>
              </a:lnSpc>
              <a:spcBef>
                <a:spcPts val="0"/>
              </a:spcBef>
              <a:spcAft>
                <a:spcPts val="400"/>
              </a:spcAft>
              <a:buNone/>
            </a:pPr>
            <a:r>
              <a:rPr sz="1000" b="0" i="0">
                <a:solidFill>
                  <a:srgbClr val="BDC9DB"/>
                </a:solidFill>
                <a:latin typeface="Segoe UI"/>
              </a:rPr>
              <a:t>Regla tres: las políticas son ADITIVAS. Si varias seleccionan al mismo Pod, se aplica la unión de todo lo que permiten; no existen reglas de denegación y el orden no importa. Regla cuatro: Ingress y Egress son independientes. Para que el Pod A hable con el Pod B hacen falta DOS permisos: salida (egress) en A hacia B, y entrada (ingress) en B desde A.</a:t>
            </a:r>
          </a:p>
          <a:p>
            <a:pPr algn="l" marL="0" indent="0">
              <a:lnSpc>
                <a:spcPct val="128000"/>
              </a:lnSpc>
              <a:spcBef>
                <a:spcPts val="0"/>
              </a:spcBef>
              <a:spcAft>
                <a:spcPts val="400"/>
              </a:spcAft>
              <a:buNone/>
            </a:pPr>
            <a:r>
              <a:rPr sz="1000" b="0" i="0">
                <a:solidFill>
                  <a:srgbClr val="BDC9DB"/>
                </a:solidFill>
                <a:latin typeface="Segoe UI"/>
              </a:rPr>
              <a:t>Requisito previo que se olvida: el CNI instalado tiene que implementar NetworkPolicy (Calico, Cilium sí; Flannel a secas no). Si el CNI no las soporta, las políticas se crean sin error pero no filtran nada.</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620000" y="300000"/>
            <a:ext cx="10952000" cy="24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240">
                <a:solidFill>
                  <a:srgbClr val="FF7B72"/>
                </a:solidFill>
                <a:latin typeface="Segoe UI Semibold"/>
              </a:rPr>
              <a:t>EL FALLO ESTRELLA</a:t>
            </a:r>
          </a:p>
        </p:txBody>
      </p:sp>
      <p:sp>
        <p:nvSpPr>
          <p:cNvPr id="3" name="TextBox 2"/>
          <p:cNvSpPr txBox="1"/>
          <p:nvPr/>
        </p:nvSpPr>
        <p:spPr>
          <a:xfrm>
            <a:off x="620000" y="560000"/>
            <a:ext cx="10052000" cy="620000"/>
          </a:xfrm>
          <a:prstGeom prst="rect">
            <a:avLst/>
          </a:prstGeom>
          <a:noFill/>
        </p:spPr>
        <p:txBody>
          <a:bodyPr wrap="square" anchor="t" lIns="0" rIns="0" tIns="0" bIns="0">
            <a:noAutofit/>
          </a:bodyPr>
          <a:lstStyle/>
          <a:p>
            <a:pPr algn="l" marL="0" indent="0">
              <a:lnSpc>
                <a:spcPct val="105000"/>
              </a:lnSpc>
              <a:spcBef>
                <a:spcPts val="0"/>
              </a:spcBef>
              <a:spcAft>
                <a:spcPts val="0"/>
              </a:spcAft>
              <a:buNone/>
            </a:pPr>
            <a:r>
              <a:rPr sz="3000" b="0" i="0">
                <a:solidFill>
                  <a:srgbClr val="F3F6FC"/>
                </a:solidFill>
                <a:latin typeface="Segoe UI Light"/>
              </a:rPr>
              <a:t>Un default deny rompe el DNS</a:t>
            </a:r>
          </a:p>
        </p:txBody>
      </p:sp>
      <p:sp>
        <p:nvSpPr>
          <p:cNvPr id="4" name="Rectangle 3"/>
          <p:cNvSpPr/>
          <p:nvPr/>
        </p:nvSpPr>
        <p:spPr>
          <a:xfrm>
            <a:off x="620000" y="1230000"/>
            <a:ext cx="560000" cy="46000"/>
          </a:xfrm>
          <a:prstGeom prst="rect">
            <a:avLst/>
          </a:prstGeom>
          <a:solidFill>
            <a:srgbClr val="F8514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5" name="Rectangle 4"/>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6" name="TextBox 5"/>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5</a:t>
            </a:r>
          </a:p>
        </p:txBody>
      </p:sp>
      <p:sp>
        <p:nvSpPr>
          <p:cNvPr id="7" name="TextBox 6"/>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17</a:t>
            </a:r>
          </a:p>
        </p:txBody>
      </p:sp>
      <p:pic>
        <p:nvPicPr>
          <p:cNvPr id="8" name="Picture 7" descr="netpol.png"/>
          <p:cNvPicPr>
            <a:picLocks noChangeAspect="1"/>
          </p:cNvPicPr>
          <p:nvPr/>
        </p:nvPicPr>
        <p:blipFill>
          <a:blip r:embed="rId2"/>
          <a:stretch>
            <a:fillRect/>
          </a:stretch>
        </p:blipFill>
        <p:spPr>
          <a:xfrm>
            <a:off x="10932000" y="275000"/>
            <a:ext cx="640000" cy="640000"/>
          </a:xfrm>
          <a:prstGeom prst="rect">
            <a:avLst/>
          </a:prstGeom>
        </p:spPr>
      </p:pic>
      <p:sp>
        <p:nvSpPr>
          <p:cNvPr id="9" name="TextBox 8"/>
          <p:cNvSpPr txBox="1"/>
          <p:nvPr/>
        </p:nvSpPr>
        <p:spPr>
          <a:xfrm>
            <a:off x="620000" y="1470000"/>
            <a:ext cx="10952000" cy="520000"/>
          </a:xfrm>
          <a:prstGeom prst="rect">
            <a:avLst/>
          </a:prstGeom>
          <a:noFill/>
        </p:spPr>
        <p:txBody>
          <a:bodyPr wrap="square" anchor="t" lIns="0" rIns="0" tIns="0" bIns="0">
            <a:noAutofit/>
          </a:bodyPr>
          <a:lstStyle/>
          <a:p>
            <a:pPr algn="l" marL="0" indent="0">
              <a:lnSpc>
                <a:spcPct val="116000"/>
              </a:lnSpc>
              <a:spcBef>
                <a:spcPts val="0"/>
              </a:spcBef>
              <a:spcAft>
                <a:spcPts val="0"/>
              </a:spcAft>
              <a:buNone/>
            </a:pPr>
            <a:r>
              <a:rPr sz="1300" b="0" i="1">
                <a:solidFill>
                  <a:srgbClr val="BDC9DB"/>
                </a:solidFill>
                <a:latin typeface="Segoe UI"/>
              </a:rPr>
              <a:t>En cuanto aplicas una política de egress, el tráfico al puerto 53 hacia CoreDNS también queda bloqueado. Nada resuelve, y el síntoma se confunde con «la red está muerta» o «CoreDNS se ha caído». Hay que permitirlo explícitamente.</a:t>
            </a:r>
          </a:p>
        </p:txBody>
      </p:sp>
      <p:sp>
        <p:nvSpPr>
          <p:cNvPr id="10" name="Rounded Rectangle 9"/>
          <p:cNvSpPr/>
          <p:nvPr/>
        </p:nvSpPr>
        <p:spPr>
          <a:xfrm>
            <a:off x="620000" y="2410000"/>
            <a:ext cx="10952000" cy="1868000"/>
          </a:xfrm>
          <a:prstGeom prst="roundRect">
            <a:avLst>
              <a:gd name="adj" fmla="val 5000"/>
            </a:avLst>
          </a:prstGeom>
          <a:solidFill>
            <a:srgbClr val="0A1120"/>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1" name="Rectangle 10"/>
          <p:cNvSpPr/>
          <p:nvPr/>
        </p:nvSpPr>
        <p:spPr>
          <a:xfrm>
            <a:off x="620000" y="2410000"/>
            <a:ext cx="46000" cy="1868000"/>
          </a:xfrm>
          <a:prstGeom prst="rect">
            <a:avLst/>
          </a:prstGeom>
          <a:solidFill>
            <a:srgbClr val="F8514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2" name="TextBox 11"/>
          <p:cNvSpPr txBox="1"/>
          <p:nvPr/>
        </p:nvSpPr>
        <p:spPr>
          <a:xfrm>
            <a:off x="890000" y="2560000"/>
            <a:ext cx="10412000" cy="1608000"/>
          </a:xfrm>
          <a:prstGeom prst="rect">
            <a:avLst/>
          </a:prstGeom>
          <a:noFill/>
        </p:spPr>
        <p:txBody>
          <a:bodyPr wrap="square" anchor="t" lIns="0" rIns="0" tIns="0" bIns="0">
            <a:noAutofit/>
          </a:bodyPr>
          <a:lstStyle/>
          <a:p>
            <a:pPr marL="0" indent="0">
              <a:lnSpc>
                <a:spcPct val="134000"/>
              </a:lnSpc>
              <a:spcAft>
                <a:spcPts val="0"/>
              </a:spcAft>
              <a:buNone/>
            </a:pPr>
            <a:r>
              <a:rPr sz="1100" b="0" i="0">
                <a:solidFill>
                  <a:srgbClr val="E6EDF3"/>
                </a:solidFill>
                <a:latin typeface="Consolas"/>
              </a:rPr>
              <a:t>egress:</a:t>
            </a:r>
          </a:p>
          <a:p>
            <a:pPr marL="0" indent="0">
              <a:lnSpc>
                <a:spcPct val="134000"/>
              </a:lnSpc>
              <a:spcAft>
                <a:spcPts val="0"/>
              </a:spcAft>
              <a:buNone/>
            </a:pPr>
            <a:r>
              <a:rPr sz="1100" b="0" i="0">
                <a:solidFill>
                  <a:srgbClr val="E6EDF3"/>
                </a:solidFill>
                <a:latin typeface="Consolas"/>
              </a:rPr>
              <a:t>  - to:</a:t>
            </a:r>
          </a:p>
          <a:p>
            <a:pPr marL="0" indent="0">
              <a:lnSpc>
                <a:spcPct val="134000"/>
              </a:lnSpc>
              <a:spcAft>
                <a:spcPts val="0"/>
              </a:spcAft>
              <a:buNone/>
            </a:pPr>
            <a:r>
              <a:rPr sz="1100" b="0" i="0">
                <a:solidFill>
                  <a:srgbClr val="E6EDF3"/>
                </a:solidFill>
                <a:latin typeface="Consolas"/>
              </a:rPr>
              <a:t>      - namespaceSelector:</a:t>
            </a:r>
          </a:p>
          <a:p>
            <a:pPr marL="0" indent="0">
              <a:lnSpc>
                <a:spcPct val="134000"/>
              </a:lnSpc>
              <a:spcAft>
                <a:spcPts val="0"/>
              </a:spcAft>
              <a:buNone/>
            </a:pPr>
            <a:r>
              <a:rPr sz="1100" b="0" i="0">
                <a:solidFill>
                  <a:srgbClr val="E6EDF3"/>
                </a:solidFill>
                <a:latin typeface="Consolas"/>
              </a:rPr>
              <a:t>          matchLabels: {kubernetes.io/metadata.name: kube-system}</a:t>
            </a:r>
          </a:p>
          <a:p>
            <a:pPr marL="0" indent="0">
              <a:lnSpc>
                <a:spcPct val="134000"/>
              </a:lnSpc>
              <a:spcAft>
                <a:spcPts val="0"/>
              </a:spcAft>
              <a:buNone/>
            </a:pPr>
            <a:r>
              <a:rPr sz="1100" b="0" i="0">
                <a:solidFill>
                  <a:srgbClr val="E6EDF3"/>
                </a:solidFill>
                <a:latin typeface="Consolas"/>
              </a:rPr>
              <a:t>    ports:</a:t>
            </a:r>
          </a:p>
          <a:p>
            <a:pPr marL="0" indent="0">
              <a:lnSpc>
                <a:spcPct val="134000"/>
              </a:lnSpc>
              <a:spcAft>
                <a:spcPts val="0"/>
              </a:spcAft>
              <a:buNone/>
            </a:pPr>
            <a:r>
              <a:rPr sz="1100" b="0" i="0">
                <a:solidFill>
                  <a:srgbClr val="E6EDF3"/>
                </a:solidFill>
                <a:latin typeface="Consolas"/>
              </a:rPr>
              <a:t>      - {protocol: UDP, port: 53}</a:t>
            </a:r>
          </a:p>
          <a:p>
            <a:pPr marL="0" indent="0">
              <a:lnSpc>
                <a:spcPct val="134000"/>
              </a:lnSpc>
              <a:spcAft>
                <a:spcPts val="0"/>
              </a:spcAft>
              <a:buNone/>
            </a:pPr>
            <a:r>
              <a:rPr sz="1100" b="0" i="0">
                <a:solidFill>
                  <a:srgbClr val="E6EDF3"/>
                </a:solidFill>
                <a:latin typeface="Consolas"/>
              </a:rPr>
              <a:t>      - {protocol: TCP, port: 53}</a:t>
            </a:r>
          </a:p>
        </p:txBody>
      </p:sp>
      <p:sp>
        <p:nvSpPr>
          <p:cNvPr id="13" name="Rounded Rectangle 12"/>
          <p:cNvSpPr/>
          <p:nvPr/>
        </p:nvSpPr>
        <p:spPr>
          <a:xfrm>
            <a:off x="620000" y="5840000"/>
            <a:ext cx="10952000" cy="470000"/>
          </a:xfrm>
          <a:prstGeom prst="roundRect">
            <a:avLst>
              <a:gd name="adj" fmla="val 10000"/>
            </a:avLst>
          </a:prstGeom>
          <a:solidFill>
            <a:srgbClr val="111A2C"/>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4" name="Rectangle 13"/>
          <p:cNvSpPr/>
          <p:nvPr/>
        </p:nvSpPr>
        <p:spPr>
          <a:xfrm>
            <a:off x="650000" y="5864000"/>
            <a:ext cx="40000" cy="422000"/>
          </a:xfrm>
          <a:prstGeom prst="rect">
            <a:avLst/>
          </a:prstGeom>
          <a:solidFill>
            <a:srgbClr val="F8514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5" name="TextBox 14"/>
          <p:cNvSpPr txBox="1"/>
          <p:nvPr/>
        </p:nvSpPr>
        <p:spPr>
          <a:xfrm>
            <a:off x="860000" y="5840000"/>
            <a:ext cx="10482000" cy="47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1">
                <a:solidFill>
                  <a:srgbClr val="BDC9DB"/>
                </a:solidFill>
                <a:latin typeface="Segoe UI"/>
              </a:rPr>
              <a:t>Kubernetes añade automáticamente el label kubernetes.io/metadata.name a todos los namespaces. Úsalo.</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620000" y="300000"/>
            <a:ext cx="10952000" cy="24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240">
                <a:solidFill>
                  <a:srgbClr val="74A6FF"/>
                </a:solidFill>
                <a:latin typeface="Segoe UI Semibold"/>
              </a:rPr>
              <a:t>UN GUION LO CAMBIA TODO</a:t>
            </a:r>
          </a:p>
        </p:txBody>
      </p:sp>
      <p:sp>
        <p:nvSpPr>
          <p:cNvPr id="3" name="TextBox 2"/>
          <p:cNvSpPr txBox="1"/>
          <p:nvPr/>
        </p:nvSpPr>
        <p:spPr>
          <a:xfrm>
            <a:off x="620000" y="560000"/>
            <a:ext cx="10052000" cy="620000"/>
          </a:xfrm>
          <a:prstGeom prst="rect">
            <a:avLst/>
          </a:prstGeom>
          <a:noFill/>
        </p:spPr>
        <p:txBody>
          <a:bodyPr wrap="square" anchor="t" lIns="0" rIns="0" tIns="0" bIns="0">
            <a:noAutofit/>
          </a:bodyPr>
          <a:lstStyle/>
          <a:p>
            <a:pPr algn="l" marL="0" indent="0">
              <a:lnSpc>
                <a:spcPct val="105000"/>
              </a:lnSpc>
              <a:spcBef>
                <a:spcPts val="0"/>
              </a:spcBef>
              <a:spcAft>
                <a:spcPts val="0"/>
              </a:spcAft>
              <a:buNone/>
            </a:pPr>
            <a:r>
              <a:rPr sz="3000" b="0" i="0">
                <a:solidFill>
                  <a:srgbClr val="F3F6FC"/>
                </a:solidFill>
                <a:latin typeface="Segoe UI Light"/>
              </a:rPr>
              <a:t>AND frente a OR en los selectores</a:t>
            </a:r>
          </a:p>
        </p:txBody>
      </p:sp>
      <p:sp>
        <p:nvSpPr>
          <p:cNvPr id="4" name="Rectangle 3"/>
          <p:cNvSpPr/>
          <p:nvPr/>
        </p:nvSpPr>
        <p:spPr>
          <a:xfrm>
            <a:off x="620000" y="1230000"/>
            <a:ext cx="560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5" name="Rectangle 4"/>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6" name="TextBox 5"/>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5</a:t>
            </a:r>
          </a:p>
        </p:txBody>
      </p:sp>
      <p:sp>
        <p:nvSpPr>
          <p:cNvPr id="7" name="TextBox 6"/>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18</a:t>
            </a:r>
          </a:p>
        </p:txBody>
      </p:sp>
      <p:sp>
        <p:nvSpPr>
          <p:cNvPr id="8" name="Freeform 7"/>
          <p:cNvSpPr/>
          <p:nvPr/>
        </p:nvSpPr>
        <p:spPr>
          <a:xfrm>
            <a:off x="10970400" y="326200"/>
            <a:ext cx="563200" cy="512000"/>
          </a:xfrm>
          <a:custGeom>
            <a:avLst/>
            <a:gdLst/>
            <a:ahLst/>
            <a:cxnLst/>
            <a:rect l="l" t="t" r="r" b="b"/>
            <a:pathLst>
              <a:path w="563200" h="512000">
                <a:moveTo>
                  <a:pt x="281600" y="0"/>
                </a:moveTo>
                <a:lnTo>
                  <a:pt x="563200" y="512000"/>
                </a:lnTo>
                <a:lnTo>
                  <a:pt x="0" y="512000"/>
                </a:lnTo>
                <a:close/>
              </a:path>
            </a:pathLst>
          </a:custGeom>
          <a:noFill/>
          <a:ln w="38100">
            <a:solidFill>
              <a:srgbClr val="74A6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Connector 8"/>
          <p:cNvCxnSpPr/>
          <p:nvPr/>
        </p:nvCxnSpPr>
        <p:spPr>
          <a:xfrm>
            <a:off x="11252000" y="518200"/>
            <a:ext cx="0" cy="153600"/>
          </a:xfrm>
          <a:prstGeom prst="line">
            <a:avLst/>
          </a:prstGeom>
          <a:ln w="49530">
            <a:solidFill>
              <a:srgbClr val="74A6FF"/>
            </a:solidFill>
          </a:ln>
          <a:effectLst/>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1220000" y="716600"/>
            <a:ext cx="64000" cy="64000"/>
          </a:xfrm>
          <a:prstGeom prst="ellipse">
            <a:avLst/>
          </a:prstGeom>
          <a:solidFill>
            <a:srgbClr val="74A6FF"/>
          </a:solidFill>
          <a:ln w="6350">
            <a:solidFill>
              <a:srgbClr val="74A6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0000" y="1470000"/>
            <a:ext cx="5316000" cy="2670000"/>
          </a:xfrm>
          <a:prstGeom prst="roundRect">
            <a:avLst>
              <a:gd name="adj" fmla="val 5000"/>
            </a:avLst>
          </a:prstGeom>
          <a:solidFill>
            <a:srgbClr val="141E33"/>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2" name="Rectangle 11"/>
          <p:cNvSpPr/>
          <p:nvPr/>
        </p:nvSpPr>
        <p:spPr>
          <a:xfrm>
            <a:off x="644000" y="1470000"/>
            <a:ext cx="5268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3" name="TextBox 12"/>
          <p:cNvSpPr txBox="1"/>
          <p:nvPr/>
        </p:nvSpPr>
        <p:spPr>
          <a:xfrm>
            <a:off x="880000" y="1730000"/>
            <a:ext cx="4796000" cy="570000"/>
          </a:xfrm>
          <a:prstGeom prst="rect">
            <a:avLst/>
          </a:prstGeom>
          <a:noFill/>
        </p:spPr>
        <p:txBody>
          <a:bodyPr wrap="square" anchor="t" lIns="0" rIns="0" tIns="0" bIns="0">
            <a:noAutofit/>
          </a:bodyPr>
          <a:lstStyle/>
          <a:p>
            <a:pPr algn="l" marL="0" indent="0">
              <a:lnSpc>
                <a:spcPct val="105000"/>
              </a:lnSpc>
              <a:spcBef>
                <a:spcPts val="0"/>
              </a:spcBef>
              <a:spcAft>
                <a:spcPts val="400"/>
              </a:spcAft>
              <a:buNone/>
            </a:pPr>
            <a:r>
              <a:rPr sz="1600" b="1" i="0">
                <a:solidFill>
                  <a:srgbClr val="F3F6FC"/>
                </a:solidFill>
                <a:latin typeface="Segoe UI Semibold"/>
              </a:rPr>
              <a:t>AND — un solo elemento</a:t>
            </a:r>
          </a:p>
          <a:p>
            <a:pPr algn="l" marL="0" indent="0">
              <a:lnSpc>
                <a:spcPct val="112000"/>
              </a:lnSpc>
              <a:spcBef>
                <a:spcPts val="0"/>
              </a:spcBef>
              <a:spcAft>
                <a:spcPts val="0"/>
              </a:spcAft>
              <a:buNone/>
            </a:pPr>
            <a:r>
              <a:rPr sz="1100" b="0" i="1">
                <a:solidFill>
                  <a:srgbClr val="8493AD"/>
                </a:solidFill>
                <a:latin typeface="Segoe UI"/>
              </a:rPr>
              <a:t>Ese Pod, en ese namespace</a:t>
            </a:r>
          </a:p>
        </p:txBody>
      </p:sp>
      <p:sp>
        <p:nvSpPr>
          <p:cNvPr id="14" name="TextBox 13"/>
          <p:cNvSpPr txBox="1"/>
          <p:nvPr/>
        </p:nvSpPr>
        <p:spPr>
          <a:xfrm>
            <a:off x="880000" y="2300000"/>
            <a:ext cx="4796000" cy="1660000"/>
          </a:xfrm>
          <a:prstGeom prst="rect">
            <a:avLst/>
          </a:prstGeom>
          <a:noFill/>
        </p:spPr>
        <p:txBody>
          <a:bodyPr wrap="square" anchor="t" lIns="0" rIns="0" tIns="0" bIns="0">
            <a:noAutofit/>
          </a:bodyPr>
          <a:lstStyle/>
          <a:p/>
          <a:p>
            <a:pPr algn="l" marL="0" indent="0">
              <a:lnSpc>
                <a:spcPct val="130000"/>
              </a:lnSpc>
              <a:spcBef>
                <a:spcPts val="0"/>
              </a:spcBef>
              <a:spcAft>
                <a:spcPts val="600"/>
              </a:spcAft>
              <a:buNone/>
            </a:pPr>
            <a:r>
              <a:rPr sz="1000" b="0" i="0">
                <a:solidFill>
                  <a:srgbClr val="BDC9DB"/>
                </a:solidFill>
                <a:latin typeface="Consolas"/>
              </a:rPr>
              <a:t>- from:</a:t>
            </a:r>
          </a:p>
          <a:p>
            <a:pPr algn="l" marL="0" indent="0">
              <a:lnSpc>
                <a:spcPct val="130000"/>
              </a:lnSpc>
              <a:spcBef>
                <a:spcPts val="0"/>
              </a:spcBef>
              <a:spcAft>
                <a:spcPts val="600"/>
              </a:spcAft>
              <a:buNone/>
            </a:pPr>
            <a:r>
              <a:rPr sz="1000" b="0" i="0">
                <a:solidFill>
                  <a:srgbClr val="BDC9DB"/>
                </a:solidFill>
                <a:latin typeface="Consolas"/>
              </a:rPr>
              <a:t>    - namespaceSelector: {...}</a:t>
            </a:r>
          </a:p>
          <a:p>
            <a:pPr algn="l" marL="0" indent="0">
              <a:lnSpc>
                <a:spcPct val="130000"/>
              </a:lnSpc>
              <a:spcBef>
                <a:spcPts val="0"/>
              </a:spcBef>
              <a:spcAft>
                <a:spcPts val="600"/>
              </a:spcAft>
              <a:buNone/>
            </a:pPr>
            <a:r>
              <a:rPr sz="1000" b="0" i="0">
                <a:solidFill>
                  <a:srgbClr val="BDC9DB"/>
                </a:solidFill>
                <a:latin typeface="Consolas"/>
              </a:rPr>
              <a:t>      podSelector: {...}</a:t>
            </a:r>
          </a:p>
          <a:p>
            <a:pPr algn="l" marL="182880" indent="-182880">
              <a:lnSpc>
                <a:spcPct val="116000"/>
              </a:lnSpc>
              <a:spcBef>
                <a:spcPts val="0"/>
              </a:spcBef>
              <a:spcAft>
                <a:spcPts val="800"/>
              </a:spcAft>
              <a:buFont typeface="Arial"/>
              <a:buChar char="•"/>
            </a:pPr>
            <a:r>
              <a:rPr sz="1100" b="0" i="0">
                <a:solidFill>
                  <a:srgbClr val="BDC9DB"/>
                </a:solidFill>
                <a:latin typeface="Segoe UI"/>
              </a:rPr>
              <a:t>Las dos condiciones deben cumplirse a la vez.</a:t>
            </a:r>
          </a:p>
        </p:txBody>
      </p:sp>
      <p:sp>
        <p:nvSpPr>
          <p:cNvPr id="15" name="Rounded Rectangle 14"/>
          <p:cNvSpPr/>
          <p:nvPr/>
        </p:nvSpPr>
        <p:spPr>
          <a:xfrm>
            <a:off x="6256000" y="1470000"/>
            <a:ext cx="5316000" cy="2670000"/>
          </a:xfrm>
          <a:prstGeom prst="roundRect">
            <a:avLst>
              <a:gd name="adj" fmla="val 5000"/>
            </a:avLst>
          </a:prstGeom>
          <a:solidFill>
            <a:srgbClr val="141E33"/>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6" name="Rectangle 15"/>
          <p:cNvSpPr/>
          <p:nvPr/>
        </p:nvSpPr>
        <p:spPr>
          <a:xfrm>
            <a:off x="6280000" y="1470000"/>
            <a:ext cx="5268000" cy="46000"/>
          </a:xfrm>
          <a:prstGeom prst="rect">
            <a:avLst/>
          </a:prstGeom>
          <a:solidFill>
            <a:srgbClr val="F8514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7" name="TextBox 16"/>
          <p:cNvSpPr txBox="1"/>
          <p:nvPr/>
        </p:nvSpPr>
        <p:spPr>
          <a:xfrm>
            <a:off x="6516000" y="1730000"/>
            <a:ext cx="4796000" cy="570000"/>
          </a:xfrm>
          <a:prstGeom prst="rect">
            <a:avLst/>
          </a:prstGeom>
          <a:noFill/>
        </p:spPr>
        <p:txBody>
          <a:bodyPr wrap="square" anchor="t" lIns="0" rIns="0" tIns="0" bIns="0">
            <a:noAutofit/>
          </a:bodyPr>
          <a:lstStyle/>
          <a:p>
            <a:pPr algn="l" marL="0" indent="0">
              <a:lnSpc>
                <a:spcPct val="105000"/>
              </a:lnSpc>
              <a:spcBef>
                <a:spcPts val="0"/>
              </a:spcBef>
              <a:spcAft>
                <a:spcPts val="400"/>
              </a:spcAft>
              <a:buNone/>
            </a:pPr>
            <a:r>
              <a:rPr sz="1600" b="1" i="0">
                <a:solidFill>
                  <a:srgbClr val="F3F6FC"/>
                </a:solidFill>
                <a:latin typeface="Segoe UI Semibold"/>
              </a:rPr>
              <a:t>OR — dos elementos</a:t>
            </a:r>
          </a:p>
          <a:p>
            <a:pPr algn="l" marL="0" indent="0">
              <a:lnSpc>
                <a:spcPct val="112000"/>
              </a:lnSpc>
              <a:spcBef>
                <a:spcPts val="0"/>
              </a:spcBef>
              <a:spcAft>
                <a:spcPts val="0"/>
              </a:spcAft>
              <a:buNone/>
            </a:pPr>
            <a:r>
              <a:rPr sz="1100" b="0" i="1">
                <a:solidFill>
                  <a:srgbClr val="8493AD"/>
                </a:solidFill>
                <a:latin typeface="Segoe UI"/>
              </a:rPr>
              <a:t>Ese namespace, O ese Pod</a:t>
            </a:r>
          </a:p>
        </p:txBody>
      </p:sp>
      <p:sp>
        <p:nvSpPr>
          <p:cNvPr id="18" name="TextBox 17"/>
          <p:cNvSpPr txBox="1"/>
          <p:nvPr/>
        </p:nvSpPr>
        <p:spPr>
          <a:xfrm>
            <a:off x="6516000" y="2300000"/>
            <a:ext cx="4796000" cy="1660000"/>
          </a:xfrm>
          <a:prstGeom prst="rect">
            <a:avLst/>
          </a:prstGeom>
          <a:noFill/>
        </p:spPr>
        <p:txBody>
          <a:bodyPr wrap="square" anchor="t" lIns="0" rIns="0" tIns="0" bIns="0">
            <a:noAutofit/>
          </a:bodyPr>
          <a:lstStyle/>
          <a:p/>
          <a:p>
            <a:pPr algn="l" marL="0" indent="0">
              <a:lnSpc>
                <a:spcPct val="130000"/>
              </a:lnSpc>
              <a:spcBef>
                <a:spcPts val="0"/>
              </a:spcBef>
              <a:spcAft>
                <a:spcPts val="600"/>
              </a:spcAft>
              <a:buNone/>
            </a:pPr>
            <a:r>
              <a:rPr sz="1000" b="0" i="0">
                <a:solidFill>
                  <a:srgbClr val="BDC9DB"/>
                </a:solidFill>
                <a:latin typeface="Consolas"/>
              </a:rPr>
              <a:t>- from:</a:t>
            </a:r>
          </a:p>
          <a:p>
            <a:pPr algn="l" marL="0" indent="0">
              <a:lnSpc>
                <a:spcPct val="130000"/>
              </a:lnSpc>
              <a:spcBef>
                <a:spcPts val="0"/>
              </a:spcBef>
              <a:spcAft>
                <a:spcPts val="600"/>
              </a:spcAft>
              <a:buNone/>
            </a:pPr>
            <a:r>
              <a:rPr sz="1000" b="0" i="0">
                <a:solidFill>
                  <a:srgbClr val="BDC9DB"/>
                </a:solidFill>
                <a:latin typeface="Consolas"/>
              </a:rPr>
              <a:t>    - namespaceSelector: {...}</a:t>
            </a:r>
          </a:p>
          <a:p>
            <a:pPr algn="l" marL="0" indent="0">
              <a:lnSpc>
                <a:spcPct val="130000"/>
              </a:lnSpc>
              <a:spcBef>
                <a:spcPts val="0"/>
              </a:spcBef>
              <a:spcAft>
                <a:spcPts val="600"/>
              </a:spcAft>
              <a:buNone/>
            </a:pPr>
            <a:r>
              <a:rPr sz="1000" b="0" i="0">
                <a:solidFill>
                  <a:srgbClr val="BDC9DB"/>
                </a:solidFill>
                <a:latin typeface="Consolas"/>
              </a:rPr>
              <a:t>    - podSelector: {...}</a:t>
            </a:r>
          </a:p>
          <a:p>
            <a:pPr algn="l" marL="182880" indent="-182880">
              <a:lnSpc>
                <a:spcPct val="116000"/>
              </a:lnSpc>
              <a:spcBef>
                <a:spcPts val="0"/>
              </a:spcBef>
              <a:spcAft>
                <a:spcPts val="800"/>
              </a:spcAft>
              <a:buFont typeface="Arial"/>
              <a:buChar char="•"/>
            </a:pPr>
            <a:r>
              <a:rPr sz="1100" b="0" i="0">
                <a:solidFill>
                  <a:srgbClr val="BDC9DB"/>
                </a:solidFill>
                <a:latin typeface="Segoe UI"/>
              </a:rPr>
              <a:t>Basta con que se cumpla una. Concede mucho más de lo que crees.</a:t>
            </a:r>
          </a:p>
        </p:txBody>
      </p:sp>
      <p:sp>
        <p:nvSpPr>
          <p:cNvPr id="19" name="Rounded Rectangle 18"/>
          <p:cNvSpPr/>
          <p:nvPr/>
        </p:nvSpPr>
        <p:spPr>
          <a:xfrm>
            <a:off x="620000" y="4310000"/>
            <a:ext cx="10952000" cy="2000000"/>
          </a:xfrm>
          <a:prstGeom prst="roundRect">
            <a:avLst>
              <a:gd name="adj" fmla="val 4500"/>
            </a:avLst>
          </a:prstGeom>
          <a:solidFill>
            <a:srgbClr val="111A2C"/>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0" name="Rectangle 19"/>
          <p:cNvSpPr/>
          <p:nvPr/>
        </p:nvSpPr>
        <p:spPr>
          <a:xfrm>
            <a:off x="646000" y="4332000"/>
            <a:ext cx="40000" cy="195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1" name="TextBox 20"/>
          <p:cNvSpPr txBox="1"/>
          <p:nvPr/>
        </p:nvSpPr>
        <p:spPr>
          <a:xfrm>
            <a:off x="860000" y="4440000"/>
            <a:ext cx="10522000" cy="1740000"/>
          </a:xfrm>
          <a:prstGeom prst="rect">
            <a:avLst/>
          </a:prstGeom>
          <a:noFill/>
        </p:spPr>
        <p:txBody>
          <a:bodyPr wrap="square" anchor="t" lIns="0" rIns="0" tIns="0" bIns="0">
            <a:noAutofit/>
          </a:bodyPr>
          <a:lstStyle/>
          <a:p>
            <a:pPr algn="l" marL="0" indent="0">
              <a:lnSpc>
                <a:spcPct val="100000"/>
              </a:lnSpc>
              <a:spcBef>
                <a:spcPts val="0"/>
              </a:spcBef>
              <a:spcAft>
                <a:spcPts val="600"/>
              </a:spcAft>
              <a:buNone/>
            </a:pPr>
            <a:r>
              <a:rPr sz="900" b="1" i="0" spc="200">
                <a:solidFill>
                  <a:srgbClr val="326CE5"/>
                </a:solidFill>
                <a:latin typeface="Segoe UI Semibold"/>
              </a:rPr>
              <a:t>TEORÍA</a:t>
            </a:r>
          </a:p>
          <a:p>
            <a:pPr algn="l" marL="0" indent="0">
              <a:lnSpc>
                <a:spcPct val="128000"/>
              </a:lnSpc>
              <a:spcBef>
                <a:spcPts val="0"/>
              </a:spcBef>
              <a:spcAft>
                <a:spcPts val="400"/>
              </a:spcAft>
              <a:buNone/>
            </a:pPr>
            <a:r>
              <a:rPr sz="1050" b="0" i="0">
                <a:solidFill>
                  <a:srgbClr val="BDC9DB"/>
                </a:solidFill>
                <a:latin typeface="Segoe UI"/>
              </a:rPr>
              <a:t>En una regla from o to de NetworkPolicy, la diferencia entre exigir dos condiciones a la vez o cualquiera de ellas es un solo guion de YAML, y es la diferencia entre una política correcta y un agujero de seguridad.</a:t>
            </a:r>
          </a:p>
          <a:p>
            <a:pPr algn="l" marL="0" indent="0">
              <a:lnSpc>
                <a:spcPct val="128000"/>
              </a:lnSpc>
              <a:spcBef>
                <a:spcPts val="0"/>
              </a:spcBef>
              <a:spcAft>
                <a:spcPts val="400"/>
              </a:spcAft>
              <a:buNone/>
            </a:pPr>
            <a:r>
              <a:rPr sz="1050" b="0" i="0">
                <a:solidFill>
                  <a:srgbClr val="BDC9DB"/>
                </a:solidFill>
                <a:latin typeface="Segoe UI"/>
              </a:rPr>
              <a:t>Si namespaceSelector y podSelector van bajo el MISMO elemento de la lista (un solo guion), se combinan con AND: «Pods que cumplan ESE podSelector Y que estén en un namespace que cumpla ESE namespaceSelector». Es lo que casi siempre quieres: ese Pod, en ese namespace.</a:t>
            </a:r>
          </a:p>
          <a:p>
            <a:pPr algn="l" marL="0" indent="0">
              <a:lnSpc>
                <a:spcPct val="128000"/>
              </a:lnSpc>
              <a:spcBef>
                <a:spcPts val="0"/>
              </a:spcBef>
              <a:spcAft>
                <a:spcPts val="400"/>
              </a:spcAft>
              <a:buNone/>
            </a:pPr>
            <a:r>
              <a:rPr sz="1050" b="0" i="0">
                <a:solidFill>
                  <a:srgbClr val="BDC9DB"/>
                </a:solidFill>
                <a:latin typeface="Segoe UI"/>
              </a:rPr>
              <a:t>Si van como DOS elementos de la lista (dos guiones), se combinan con OR: «cualquier Pod de ese namespace, O cualquier Pod con ese label en cualquier namespace». Concede muchísimo más de lo que parece. Revisa siempre la indentación de estas reglas.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E172A"/>
        </a:solidFill>
        <a:effectLst/>
      </p:bgPr>
    </p:bg>
    <p:spTree>
      <p:nvGrpSpPr>
        <p:cNvPr id="1" name=""/>
        <p:cNvGrpSpPr/>
        <p:nvPr/>
      </p:nvGrpSpPr>
      <p:grpSpPr/>
      <p:sp>
        <p:nvSpPr>
          <p:cNvPr id="2" name="Oval 1"/>
          <p:cNvSpPr/>
          <p:nvPr/>
        </p:nvSpPr>
        <p:spPr>
          <a:xfrm>
            <a:off x="9992000" y="-1500000"/>
            <a:ext cx="3400000" cy="3400000"/>
          </a:xfrm>
          <a:prstGeom prst="ellipse">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40000" y="470000"/>
            <a:ext cx="4492000" cy="360000"/>
          </a:xfrm>
          <a:prstGeom prst="roundRect">
            <a:avLst>
              <a:gd name="adj" fmla="val 50000"/>
            </a:avLst>
          </a:prstGeom>
          <a:noFill/>
          <a:ln w="12700">
            <a:solidFill>
              <a:srgbClr val="326CE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000" b="1" i="0" spc="140">
                <a:solidFill>
                  <a:srgbClr val="74A6FF"/>
                </a:solidFill>
                <a:latin typeface="Segoe UI"/>
              </a:rPr>
              <a:t>Nivel avanzado — solo requerimientos</a:t>
            </a:r>
          </a:p>
        </p:txBody>
      </p:sp>
      <p:sp>
        <p:nvSpPr>
          <p:cNvPr id="4" name="TextBox 3"/>
          <p:cNvSpPr txBox="1"/>
          <p:nvPr/>
        </p:nvSpPr>
        <p:spPr>
          <a:xfrm>
            <a:off x="640000" y="990000"/>
            <a:ext cx="10912000" cy="760000"/>
          </a:xfrm>
          <a:prstGeom prst="rect">
            <a:avLst/>
          </a:prstGeom>
          <a:noFill/>
        </p:spPr>
        <p:txBody>
          <a:bodyPr wrap="square" anchor="t" lIns="0" rIns="0" tIns="0" bIns="0">
            <a:noAutofit/>
          </a:bodyPr>
          <a:lstStyle/>
          <a:p>
            <a:pPr algn="l" marL="0" indent="0">
              <a:lnSpc>
                <a:spcPct val="106000"/>
              </a:lnSpc>
              <a:spcBef>
                <a:spcPts val="0"/>
              </a:spcBef>
              <a:spcAft>
                <a:spcPts val="0"/>
              </a:spcAft>
              <a:buNone/>
            </a:pPr>
            <a:r>
              <a:rPr sz="3100" b="0" i="0">
                <a:solidFill>
                  <a:srgbClr val="F3F6FC"/>
                </a:solidFill>
                <a:latin typeface="Segoe UI Light"/>
              </a:rPr>
              <a:t>LAB 5.3 — NetworkPolicy: aislar frontend y backend</a:t>
            </a:r>
          </a:p>
        </p:txBody>
      </p:sp>
      <p:sp>
        <p:nvSpPr>
          <p:cNvPr id="5" name="TextBox 4"/>
          <p:cNvSpPr txBox="1"/>
          <p:nvPr/>
        </p:nvSpPr>
        <p:spPr>
          <a:xfrm>
            <a:off x="640000" y="1800000"/>
            <a:ext cx="7452000" cy="640000"/>
          </a:xfrm>
          <a:prstGeom prst="rect">
            <a:avLst/>
          </a:prstGeom>
          <a:noFill/>
        </p:spPr>
        <p:txBody>
          <a:bodyPr wrap="square" anchor="t" lIns="0" rIns="0" tIns="0" bIns="0">
            <a:noAutofit/>
          </a:bodyPr>
          <a:lstStyle/>
          <a:p>
            <a:pPr algn="l" marL="0" indent="0">
              <a:lnSpc>
                <a:spcPct val="120000"/>
              </a:lnSpc>
              <a:spcBef>
                <a:spcPts val="0"/>
              </a:spcBef>
              <a:spcAft>
                <a:spcPts val="0"/>
              </a:spcAft>
              <a:buNone/>
            </a:pPr>
            <a:r>
              <a:rPr sz="1300" b="0" i="1">
                <a:solidFill>
                  <a:srgbClr val="BDC9DB"/>
                </a:solidFill>
                <a:latin typeface="Segoe UI"/>
              </a:rPr>
              <a:t>Pasar de un cluster totalmente abierto a un modelo donde solo circula el tráfico autorizado, sin dejarlo inutilizable.</a:t>
            </a:r>
          </a:p>
        </p:txBody>
      </p:sp>
      <p:sp>
        <p:nvSpPr>
          <p:cNvPr id="6" name="Oval 5"/>
          <p:cNvSpPr/>
          <p:nvPr/>
        </p:nvSpPr>
        <p:spPr>
          <a:xfrm>
            <a:off x="640000" y="269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1</a:t>
            </a:r>
          </a:p>
        </p:txBody>
      </p:sp>
      <p:sp>
        <p:nvSpPr>
          <p:cNvPr id="7" name="TextBox 6"/>
          <p:cNvSpPr txBox="1"/>
          <p:nvPr/>
        </p:nvSpPr>
        <p:spPr>
          <a:xfrm>
            <a:off x="1110000" y="2560000"/>
            <a:ext cx="698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0">
                <a:solidFill>
                  <a:srgbClr val="BDC9DB"/>
                </a:solidFill>
                <a:latin typeface="Segoe UI"/>
              </a:rPr>
              <a:t>Verificar PRIMERO que tu CNI implementa NetworkPolicy.</a:t>
            </a:r>
          </a:p>
        </p:txBody>
      </p:sp>
      <p:sp>
        <p:nvSpPr>
          <p:cNvPr id="8" name="Oval 7"/>
          <p:cNvSpPr/>
          <p:nvPr/>
        </p:nvSpPr>
        <p:spPr>
          <a:xfrm>
            <a:off x="640000" y="325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2</a:t>
            </a:r>
          </a:p>
        </p:txBody>
      </p:sp>
      <p:sp>
        <p:nvSpPr>
          <p:cNvPr id="9" name="TextBox 8"/>
          <p:cNvSpPr txBox="1"/>
          <p:nvPr/>
        </p:nvSpPr>
        <p:spPr>
          <a:xfrm>
            <a:off x="1110000" y="3120000"/>
            <a:ext cx="698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0">
                <a:solidFill>
                  <a:srgbClr val="BDC9DB"/>
                </a:solidFill>
                <a:latin typeface="Segoe UI"/>
              </a:rPr>
              <a:t>Documentar la conectividad de partida antes de aplicar nada.</a:t>
            </a:r>
          </a:p>
        </p:txBody>
      </p:sp>
      <p:sp>
        <p:nvSpPr>
          <p:cNvPr id="10" name="Oval 9"/>
          <p:cNvSpPr/>
          <p:nvPr/>
        </p:nvSpPr>
        <p:spPr>
          <a:xfrm>
            <a:off x="640000" y="381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3</a:t>
            </a:r>
          </a:p>
        </p:txBody>
      </p:sp>
      <p:sp>
        <p:nvSpPr>
          <p:cNvPr id="11" name="TextBox 10"/>
          <p:cNvSpPr txBox="1"/>
          <p:nvPr/>
        </p:nvSpPr>
        <p:spPr>
          <a:xfrm>
            <a:off x="1110000" y="3680000"/>
            <a:ext cx="698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0">
                <a:solidFill>
                  <a:srgbClr val="BDC9DB"/>
                </a:solidFill>
                <a:latin typeface="Segoe UI"/>
              </a:rPr>
              <a:t>Aplicar default deny, comprobar qué se rompió y explicar el efecto sobre el DNS.</a:t>
            </a:r>
          </a:p>
        </p:txBody>
      </p:sp>
      <p:sp>
        <p:nvSpPr>
          <p:cNvPr id="12" name="Oval 11"/>
          <p:cNvSpPr/>
          <p:nvPr/>
        </p:nvSpPr>
        <p:spPr>
          <a:xfrm>
            <a:off x="640000" y="437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4</a:t>
            </a:r>
          </a:p>
        </p:txBody>
      </p:sp>
      <p:sp>
        <p:nvSpPr>
          <p:cNvPr id="13" name="TextBox 12"/>
          <p:cNvSpPr txBox="1"/>
          <p:nvPr/>
        </p:nvSpPr>
        <p:spPr>
          <a:xfrm>
            <a:off x="1110000" y="4240000"/>
            <a:ext cx="698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0">
                <a:solidFill>
                  <a:srgbClr val="BDC9DB"/>
                </a:solidFill>
                <a:latin typeface="Segoe UI"/>
              </a:rPr>
              <a:t>Permitir DNS, frontend→backend, y backend→namespace de datos.</a:t>
            </a:r>
          </a:p>
        </p:txBody>
      </p:sp>
      <p:sp>
        <p:nvSpPr>
          <p:cNvPr id="14" name="Oval 13"/>
          <p:cNvSpPr/>
          <p:nvPr/>
        </p:nvSpPr>
        <p:spPr>
          <a:xfrm>
            <a:off x="640000" y="493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5</a:t>
            </a:r>
          </a:p>
        </p:txBody>
      </p:sp>
      <p:sp>
        <p:nvSpPr>
          <p:cNvPr id="15" name="TextBox 14"/>
          <p:cNvSpPr txBox="1"/>
          <p:nvPr/>
        </p:nvSpPr>
        <p:spPr>
          <a:xfrm>
            <a:off x="1110000" y="4800000"/>
            <a:ext cx="698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0">
                <a:solidFill>
                  <a:srgbClr val="BDC9DB"/>
                </a:solidFill>
                <a:latin typeface="Segoe UI"/>
              </a:rPr>
              <a:t>Añadir una política más sin borrar ninguna y explicar el carácter aditivo.</a:t>
            </a:r>
          </a:p>
        </p:txBody>
      </p:sp>
      <p:sp>
        <p:nvSpPr>
          <p:cNvPr id="16" name="Freeform 15"/>
          <p:cNvSpPr/>
          <p:nvPr/>
        </p:nvSpPr>
        <p:spPr>
          <a:xfrm>
            <a:off x="9590000" y="1418800"/>
            <a:ext cx="784000" cy="842800"/>
          </a:xfrm>
          <a:custGeom>
            <a:avLst/>
            <a:gdLst/>
            <a:ahLst/>
            <a:cxnLst/>
            <a:rect l="l" t="t" r="r" b="b"/>
            <a:pathLst>
              <a:path w="784000" h="842800">
                <a:moveTo>
                  <a:pt x="235200" y="0"/>
                </a:moveTo>
                <a:lnTo>
                  <a:pt x="235200" y="333200"/>
                </a:lnTo>
                <a:lnTo>
                  <a:pt x="0" y="842800"/>
                </a:lnTo>
                <a:lnTo>
                  <a:pt x="784000" y="842800"/>
                </a:lnTo>
                <a:lnTo>
                  <a:pt x="548800" y="333200"/>
                </a:lnTo>
                <a:lnTo>
                  <a:pt x="548800" y="0"/>
                </a:lnTo>
              </a:path>
            </a:pathLst>
          </a:custGeom>
          <a:noFill/>
          <a:ln w="33020">
            <a:solidFill>
              <a:srgbClr val="74A6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a:off x="9766400" y="1418800"/>
            <a:ext cx="431200" cy="0"/>
          </a:xfrm>
          <a:prstGeom prst="line">
            <a:avLst/>
          </a:prstGeom>
          <a:ln w="33020">
            <a:solidFill>
              <a:srgbClr val="74A6FF"/>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9727200" y="2006800"/>
            <a:ext cx="509600" cy="0"/>
          </a:xfrm>
          <a:prstGeom prst="line">
            <a:avLst/>
          </a:prstGeom>
          <a:ln w="33020">
            <a:solidFill>
              <a:srgbClr val="74A6FF"/>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8392000" y="2560000"/>
            <a:ext cx="3180000" cy="3510000"/>
          </a:xfrm>
          <a:prstGeom prst="roundRect">
            <a:avLst>
              <a:gd name="adj" fmla="val 6000"/>
            </a:avLst>
          </a:prstGeom>
          <a:solidFill>
            <a:srgbClr val="141E33"/>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0" name="Rectangle 19"/>
          <p:cNvSpPr/>
          <p:nvPr/>
        </p:nvSpPr>
        <p:spPr>
          <a:xfrm>
            <a:off x="8392000" y="2560000"/>
            <a:ext cx="3180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1" name="TextBox 20"/>
          <p:cNvSpPr txBox="1"/>
          <p:nvPr/>
        </p:nvSpPr>
        <p:spPr>
          <a:xfrm>
            <a:off x="8592000" y="2740000"/>
            <a:ext cx="2780000" cy="1030000"/>
          </a:xfrm>
          <a:prstGeom prst="rect">
            <a:avLst/>
          </a:prstGeom>
          <a:noFill/>
        </p:spPr>
        <p:txBody>
          <a:bodyPr wrap="square" anchor="t" lIns="0" rIns="0" tIns="0" bIns="0">
            <a:noAutofit/>
          </a:bodyPr>
          <a:lstStyle/>
          <a:p>
            <a:pPr algn="l" marL="0" indent="0">
              <a:lnSpc>
                <a:spcPct val="100000"/>
              </a:lnSpc>
              <a:spcBef>
                <a:spcPts val="0"/>
              </a:spcBef>
              <a:spcAft>
                <a:spcPts val="500"/>
              </a:spcAft>
              <a:buNone/>
            </a:pPr>
            <a:r>
              <a:rPr sz="900" b="1" i="0" spc="180">
                <a:solidFill>
                  <a:srgbClr val="8493AD"/>
                </a:solidFill>
                <a:latin typeface="Segoe UI Semibold"/>
              </a:rPr>
              <a:t>ARCHIVO</a:t>
            </a:r>
          </a:p>
          <a:p>
            <a:pPr algn="l" marL="0" indent="0">
              <a:lnSpc>
                <a:spcPct val="112000"/>
              </a:lnSpc>
              <a:spcBef>
                <a:spcPts val="0"/>
              </a:spcBef>
              <a:spcAft>
                <a:spcPts val="0"/>
              </a:spcAft>
              <a:buNone/>
            </a:pPr>
            <a:r>
              <a:rPr sz="1100" b="0" i="0">
                <a:solidFill>
                  <a:srgbClr val="F3F6FC"/>
                </a:solidFill>
                <a:latin typeface="Consolas"/>
              </a:rPr>
              <a:t>CLASE-05/LABORATORIOS/LAB-03-AVANZADO.md</a:t>
            </a:r>
          </a:p>
        </p:txBody>
      </p:sp>
      <p:sp>
        <p:nvSpPr>
          <p:cNvPr id="22" name="Rectangle 21"/>
          <p:cNvSpPr/>
          <p:nvPr/>
        </p:nvSpPr>
        <p:spPr>
          <a:xfrm>
            <a:off x="8592000" y="3790000"/>
            <a:ext cx="2780000" cy="8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3" name="TextBox 22"/>
          <p:cNvSpPr txBox="1"/>
          <p:nvPr/>
        </p:nvSpPr>
        <p:spPr>
          <a:xfrm>
            <a:off x="8592000" y="3830000"/>
            <a:ext cx="2780000" cy="1030000"/>
          </a:xfrm>
          <a:prstGeom prst="rect">
            <a:avLst/>
          </a:prstGeom>
          <a:noFill/>
        </p:spPr>
        <p:txBody>
          <a:bodyPr wrap="square" anchor="t" lIns="0" rIns="0" tIns="0" bIns="0">
            <a:noAutofit/>
          </a:bodyPr>
          <a:lstStyle/>
          <a:p>
            <a:pPr algn="l" marL="0" indent="0">
              <a:lnSpc>
                <a:spcPct val="100000"/>
              </a:lnSpc>
              <a:spcBef>
                <a:spcPts val="0"/>
              </a:spcBef>
              <a:spcAft>
                <a:spcPts val="500"/>
              </a:spcAft>
              <a:buNone/>
            </a:pPr>
            <a:r>
              <a:rPr sz="900" b="1" i="0" spc="180">
                <a:solidFill>
                  <a:srgbClr val="8493AD"/>
                </a:solidFill>
                <a:latin typeface="Segoe UI Semibold"/>
              </a:rPr>
              <a:t>DURACIÓN</a:t>
            </a:r>
          </a:p>
          <a:p>
            <a:pPr algn="l" marL="0" indent="0">
              <a:lnSpc>
                <a:spcPct val="112000"/>
              </a:lnSpc>
              <a:spcBef>
                <a:spcPts val="0"/>
              </a:spcBef>
              <a:spcAft>
                <a:spcPts val="0"/>
              </a:spcAft>
              <a:buNone/>
            </a:pPr>
            <a:r>
              <a:rPr sz="1100" b="1" i="0">
                <a:solidFill>
                  <a:srgbClr val="F3F6FC"/>
                </a:solidFill>
                <a:latin typeface="Segoe UI Semibold"/>
              </a:rPr>
              <a:t>27 min</a:t>
            </a:r>
          </a:p>
        </p:txBody>
      </p:sp>
      <p:sp>
        <p:nvSpPr>
          <p:cNvPr id="24" name="Rectangle 23"/>
          <p:cNvSpPr/>
          <p:nvPr/>
        </p:nvSpPr>
        <p:spPr>
          <a:xfrm>
            <a:off x="8592000" y="4880000"/>
            <a:ext cx="2780000" cy="8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5" name="TextBox 24"/>
          <p:cNvSpPr txBox="1"/>
          <p:nvPr/>
        </p:nvSpPr>
        <p:spPr>
          <a:xfrm>
            <a:off x="8592000" y="4920000"/>
            <a:ext cx="2780000" cy="1030000"/>
          </a:xfrm>
          <a:prstGeom prst="rect">
            <a:avLst/>
          </a:prstGeom>
          <a:noFill/>
        </p:spPr>
        <p:txBody>
          <a:bodyPr wrap="square" anchor="t" lIns="0" rIns="0" tIns="0" bIns="0">
            <a:noAutofit/>
          </a:bodyPr>
          <a:lstStyle/>
          <a:p>
            <a:pPr algn="l" marL="0" indent="0">
              <a:lnSpc>
                <a:spcPct val="100000"/>
              </a:lnSpc>
              <a:spcBef>
                <a:spcPts val="0"/>
              </a:spcBef>
              <a:spcAft>
                <a:spcPts val="500"/>
              </a:spcAft>
              <a:buNone/>
            </a:pPr>
            <a:r>
              <a:rPr sz="900" b="1" i="0" spc="180">
                <a:solidFill>
                  <a:srgbClr val="8493AD"/>
                </a:solidFill>
                <a:latin typeface="Segoe UI Semibold"/>
              </a:rPr>
              <a:t>VALIDACIÓN</a:t>
            </a:r>
          </a:p>
          <a:p>
            <a:pPr algn="l" marL="0" indent="0">
              <a:lnSpc>
                <a:spcPct val="112000"/>
              </a:lnSpc>
              <a:spcBef>
                <a:spcPts val="0"/>
              </a:spcBef>
              <a:spcAft>
                <a:spcPts val="0"/>
              </a:spcAft>
              <a:buNone/>
            </a:pPr>
            <a:r>
              <a:rPr sz="1100" b="0" i="0">
                <a:solidFill>
                  <a:srgbClr val="F3F6FC"/>
                </a:solidFill>
                <a:latin typeface="Consolas"/>
              </a:rPr>
              <a:t>k get networkpolicy</a:t>
            </a:r>
          </a:p>
        </p:txBody>
      </p:sp>
      <p:sp>
        <p:nvSpPr>
          <p:cNvPr id="26" name="Rectangle 25"/>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7" name="TextBox 26"/>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5</a:t>
            </a:r>
          </a:p>
        </p:txBody>
      </p:sp>
      <p:sp>
        <p:nvSpPr>
          <p:cNvPr id="28" name="TextBox 27"/>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E172A"/>
        </a:solidFill>
        <a:effectLst/>
      </p:bgPr>
    </p:bg>
    <p:spTree>
      <p:nvGrpSpPr>
        <p:cNvPr id="1" name=""/>
        <p:cNvGrpSpPr/>
        <p:nvPr/>
      </p:nvGrpSpPr>
      <p:grpSpPr/>
      <p:sp>
        <p:nvSpPr>
          <p:cNvPr id="2" name="Oval 1"/>
          <p:cNvSpPr/>
          <p:nvPr/>
        </p:nvSpPr>
        <p:spPr>
          <a:xfrm>
            <a:off x="9992000" y="-1500000"/>
            <a:ext cx="3400000" cy="3400000"/>
          </a:xfrm>
          <a:prstGeom prst="ellipse">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40000" y="470000"/>
            <a:ext cx="4604000" cy="360000"/>
          </a:xfrm>
          <a:prstGeom prst="roundRect">
            <a:avLst>
              <a:gd name="adj" fmla="val 50000"/>
            </a:avLst>
          </a:prstGeom>
          <a:noFill/>
          <a:ln w="12700">
            <a:solidFill>
              <a:srgbClr val="F8514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000" b="1" i="0" spc="140">
                <a:solidFill>
                  <a:srgbClr val="FF7B72"/>
                </a:solidFill>
                <a:latin typeface="Segoe UI"/>
              </a:rPr>
              <a:t>Challenge — el escenario arranca roto</a:t>
            </a:r>
          </a:p>
        </p:txBody>
      </p:sp>
      <p:sp>
        <p:nvSpPr>
          <p:cNvPr id="4" name="TextBox 3"/>
          <p:cNvSpPr txBox="1"/>
          <p:nvPr/>
        </p:nvSpPr>
        <p:spPr>
          <a:xfrm>
            <a:off x="640000" y="990000"/>
            <a:ext cx="10912000" cy="760000"/>
          </a:xfrm>
          <a:prstGeom prst="rect">
            <a:avLst/>
          </a:prstGeom>
          <a:noFill/>
        </p:spPr>
        <p:txBody>
          <a:bodyPr wrap="square" anchor="t" lIns="0" rIns="0" tIns="0" bIns="0">
            <a:noAutofit/>
          </a:bodyPr>
          <a:lstStyle/>
          <a:p>
            <a:pPr algn="l" marL="0" indent="0">
              <a:lnSpc>
                <a:spcPct val="106000"/>
              </a:lnSpc>
              <a:spcBef>
                <a:spcPts val="0"/>
              </a:spcBef>
              <a:spcAft>
                <a:spcPts val="0"/>
              </a:spcAft>
              <a:buNone/>
            </a:pPr>
            <a:r>
              <a:rPr sz="3100" b="0" i="0">
                <a:solidFill>
                  <a:srgbClr val="F3F6FC"/>
                </a:solidFill>
                <a:latin typeface="Segoe UI Light"/>
              </a:rPr>
              <a:t>LAB 5.4 — Challenge: «la red está rota»</a:t>
            </a:r>
          </a:p>
        </p:txBody>
      </p:sp>
      <p:sp>
        <p:nvSpPr>
          <p:cNvPr id="5" name="TextBox 4"/>
          <p:cNvSpPr txBox="1"/>
          <p:nvPr/>
        </p:nvSpPr>
        <p:spPr>
          <a:xfrm>
            <a:off x="640000" y="1800000"/>
            <a:ext cx="7452000" cy="640000"/>
          </a:xfrm>
          <a:prstGeom prst="rect">
            <a:avLst/>
          </a:prstGeom>
          <a:noFill/>
        </p:spPr>
        <p:txBody>
          <a:bodyPr wrap="square" anchor="t" lIns="0" rIns="0" tIns="0" bIns="0">
            <a:noAutofit/>
          </a:bodyPr>
          <a:lstStyle/>
          <a:p>
            <a:pPr algn="l" marL="0" indent="0">
              <a:lnSpc>
                <a:spcPct val="120000"/>
              </a:lnSpc>
              <a:spcBef>
                <a:spcPts val="0"/>
              </a:spcBef>
              <a:spcAft>
                <a:spcPts val="0"/>
              </a:spcAft>
              <a:buNone/>
            </a:pPr>
            <a:r>
              <a:rPr sz="1300" b="0" i="1">
                <a:solidFill>
                  <a:srgbClr val="BDC9DB"/>
                </a:solidFill>
                <a:latin typeface="Segoe UI"/>
              </a:rPr>
              <a:t>Cuatro fallos en cuatro capas distintas, todos con el mismo síntoma aparente: «no llego».</a:t>
            </a:r>
          </a:p>
        </p:txBody>
      </p:sp>
      <p:sp>
        <p:nvSpPr>
          <p:cNvPr id="6" name="Oval 5"/>
          <p:cNvSpPr/>
          <p:nvPr/>
        </p:nvSpPr>
        <p:spPr>
          <a:xfrm>
            <a:off x="640000" y="2690000"/>
            <a:ext cx="300000" cy="300000"/>
          </a:xfrm>
          <a:prstGeom prst="ellipse">
            <a:avLst/>
          </a:prstGeom>
          <a:solidFill>
            <a:srgbClr val="F8514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1</a:t>
            </a:r>
          </a:p>
        </p:txBody>
      </p:sp>
      <p:sp>
        <p:nvSpPr>
          <p:cNvPr id="7" name="TextBox 6"/>
          <p:cNvSpPr txBox="1"/>
          <p:nvPr/>
        </p:nvSpPr>
        <p:spPr>
          <a:xfrm>
            <a:off x="1110000" y="2560000"/>
            <a:ext cx="698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0">
                <a:solidFill>
                  <a:srgbClr val="BDC9DB"/>
                </a:solidFill>
                <a:latin typeface="Segoe UI"/>
              </a:rPr>
              <a:t>Prepara el escenario: RECURSOS/SCRIPTS/setup-lab.sh</a:t>
            </a:r>
          </a:p>
        </p:txBody>
      </p:sp>
      <p:sp>
        <p:nvSpPr>
          <p:cNvPr id="8" name="Oval 7"/>
          <p:cNvSpPr/>
          <p:nvPr/>
        </p:nvSpPr>
        <p:spPr>
          <a:xfrm>
            <a:off x="640000" y="3250000"/>
            <a:ext cx="300000" cy="300000"/>
          </a:xfrm>
          <a:prstGeom prst="ellipse">
            <a:avLst/>
          </a:prstGeom>
          <a:solidFill>
            <a:srgbClr val="F8514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2</a:t>
            </a:r>
          </a:p>
        </p:txBody>
      </p:sp>
      <p:sp>
        <p:nvSpPr>
          <p:cNvPr id="9" name="TextBox 8"/>
          <p:cNvSpPr txBox="1"/>
          <p:nvPr/>
        </p:nvSpPr>
        <p:spPr>
          <a:xfrm>
            <a:off x="1110000" y="3120000"/>
            <a:ext cx="698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0">
                <a:solidFill>
                  <a:srgbClr val="BDC9DB"/>
                </a:solidFill>
                <a:latin typeface="Segoe UI"/>
              </a:rPr>
              <a:t>Empieza el diagnóstico DENTRO del cluster, nunca por el curl externo.</a:t>
            </a:r>
          </a:p>
        </p:txBody>
      </p:sp>
      <p:sp>
        <p:nvSpPr>
          <p:cNvPr id="10" name="Oval 9"/>
          <p:cNvSpPr/>
          <p:nvPr/>
        </p:nvSpPr>
        <p:spPr>
          <a:xfrm>
            <a:off x="640000" y="3810000"/>
            <a:ext cx="300000" cy="300000"/>
          </a:xfrm>
          <a:prstGeom prst="ellipse">
            <a:avLst/>
          </a:prstGeom>
          <a:solidFill>
            <a:srgbClr val="F8514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3</a:t>
            </a:r>
          </a:p>
        </p:txBody>
      </p:sp>
      <p:sp>
        <p:nvSpPr>
          <p:cNvPr id="11" name="TextBox 10"/>
          <p:cNvSpPr txBox="1"/>
          <p:nvPr/>
        </p:nvSpPr>
        <p:spPr>
          <a:xfrm>
            <a:off x="1110000" y="3680000"/>
            <a:ext cx="698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0">
                <a:solidFill>
                  <a:srgbClr val="BDC9DB"/>
                </a:solidFill>
                <a:latin typeface="Segoe UI"/>
              </a:rPr>
              <a:t>Ruta: Pod → Service → EndpointSlice → DNS → NetworkPolicy → Ingress → Cliente.</a:t>
            </a:r>
          </a:p>
        </p:txBody>
      </p:sp>
      <p:sp>
        <p:nvSpPr>
          <p:cNvPr id="12" name="Oval 11"/>
          <p:cNvSpPr/>
          <p:nvPr/>
        </p:nvSpPr>
        <p:spPr>
          <a:xfrm>
            <a:off x="640000" y="4370000"/>
            <a:ext cx="300000" cy="300000"/>
          </a:xfrm>
          <a:prstGeom prst="ellipse">
            <a:avLst/>
          </a:prstGeom>
          <a:solidFill>
            <a:srgbClr val="F8514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4</a:t>
            </a:r>
          </a:p>
        </p:txBody>
      </p:sp>
      <p:sp>
        <p:nvSpPr>
          <p:cNvPr id="13" name="TextBox 12"/>
          <p:cNvSpPr txBox="1"/>
          <p:nvPr/>
        </p:nvSpPr>
        <p:spPr>
          <a:xfrm>
            <a:off x="1110000" y="4240000"/>
            <a:ext cx="698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0">
                <a:solidFill>
                  <a:srgbClr val="BDC9DB"/>
                </a:solidFill>
                <a:latin typeface="Segoe UI"/>
              </a:rPr>
              <a:t>Prohibido borrar default-deny y prohibido convertir Services a NodePort.</a:t>
            </a:r>
          </a:p>
        </p:txBody>
      </p:sp>
      <p:sp>
        <p:nvSpPr>
          <p:cNvPr id="14" name="Oval 13"/>
          <p:cNvSpPr/>
          <p:nvPr/>
        </p:nvSpPr>
        <p:spPr>
          <a:xfrm>
            <a:off x="9825200" y="1497200"/>
            <a:ext cx="313600" cy="313600"/>
          </a:xfrm>
          <a:prstGeom prst="ellipse">
            <a:avLst/>
          </a:prstGeom>
          <a:noFill/>
          <a:ln w="33020">
            <a:solidFill>
              <a:srgbClr val="FF7B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766400" y="1752000"/>
            <a:ext cx="431200" cy="490000"/>
          </a:xfrm>
          <a:prstGeom prst="ellipse">
            <a:avLst/>
          </a:prstGeom>
          <a:noFill/>
          <a:ln w="33020">
            <a:solidFill>
              <a:srgbClr val="FF7B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Connector 15"/>
          <p:cNvCxnSpPr/>
          <p:nvPr/>
        </p:nvCxnSpPr>
        <p:spPr>
          <a:xfrm flipH="1" flipV="1">
            <a:off x="9550800" y="1791200"/>
            <a:ext cx="235200" cy="58800"/>
          </a:xfrm>
          <a:prstGeom prst="line">
            <a:avLst/>
          </a:prstGeom>
          <a:ln w="33020">
            <a:solidFill>
              <a:srgbClr val="FF7B72"/>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10178000" y="1791200"/>
            <a:ext cx="235200" cy="58800"/>
          </a:xfrm>
          <a:prstGeom prst="line">
            <a:avLst/>
          </a:prstGeom>
          <a:ln w="33020">
            <a:solidFill>
              <a:srgbClr val="FF7B72"/>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flipV="1">
            <a:off x="9550800" y="1948000"/>
            <a:ext cx="235200" cy="58800"/>
          </a:xfrm>
          <a:prstGeom prst="line">
            <a:avLst/>
          </a:prstGeom>
          <a:ln w="33020">
            <a:solidFill>
              <a:srgbClr val="FF7B72"/>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10178000" y="1948000"/>
            <a:ext cx="235200" cy="58800"/>
          </a:xfrm>
          <a:prstGeom prst="line">
            <a:avLst/>
          </a:prstGeom>
          <a:ln w="33020">
            <a:solidFill>
              <a:srgbClr val="FF7B72"/>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flipV="1">
            <a:off x="9550800" y="2104800"/>
            <a:ext cx="235200" cy="58800"/>
          </a:xfrm>
          <a:prstGeom prst="line">
            <a:avLst/>
          </a:prstGeom>
          <a:ln w="33020">
            <a:solidFill>
              <a:srgbClr val="FF7B72"/>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10178000" y="2104800"/>
            <a:ext cx="235200" cy="58800"/>
          </a:xfrm>
          <a:prstGeom prst="line">
            <a:avLst/>
          </a:prstGeom>
          <a:ln w="33020">
            <a:solidFill>
              <a:srgbClr val="FF7B72"/>
            </a:solidFill>
          </a:ln>
          <a:effectLst/>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392000" y="2560000"/>
            <a:ext cx="3180000" cy="3510000"/>
          </a:xfrm>
          <a:prstGeom prst="roundRect">
            <a:avLst>
              <a:gd name="adj" fmla="val 6000"/>
            </a:avLst>
          </a:prstGeom>
          <a:solidFill>
            <a:srgbClr val="141E33"/>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3" name="Rectangle 22"/>
          <p:cNvSpPr/>
          <p:nvPr/>
        </p:nvSpPr>
        <p:spPr>
          <a:xfrm>
            <a:off x="8392000" y="2560000"/>
            <a:ext cx="3180000" cy="46000"/>
          </a:xfrm>
          <a:prstGeom prst="rect">
            <a:avLst/>
          </a:prstGeom>
          <a:solidFill>
            <a:srgbClr val="F8514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4" name="TextBox 23"/>
          <p:cNvSpPr txBox="1"/>
          <p:nvPr/>
        </p:nvSpPr>
        <p:spPr>
          <a:xfrm>
            <a:off x="8592000" y="2740000"/>
            <a:ext cx="2780000" cy="1030000"/>
          </a:xfrm>
          <a:prstGeom prst="rect">
            <a:avLst/>
          </a:prstGeom>
          <a:noFill/>
        </p:spPr>
        <p:txBody>
          <a:bodyPr wrap="square" anchor="t" lIns="0" rIns="0" tIns="0" bIns="0">
            <a:noAutofit/>
          </a:bodyPr>
          <a:lstStyle/>
          <a:p>
            <a:pPr algn="l" marL="0" indent="0">
              <a:lnSpc>
                <a:spcPct val="100000"/>
              </a:lnSpc>
              <a:spcBef>
                <a:spcPts val="0"/>
              </a:spcBef>
              <a:spcAft>
                <a:spcPts val="500"/>
              </a:spcAft>
              <a:buNone/>
            </a:pPr>
            <a:r>
              <a:rPr sz="900" b="1" i="0" spc="180">
                <a:solidFill>
                  <a:srgbClr val="8493AD"/>
                </a:solidFill>
                <a:latin typeface="Segoe UI Semibold"/>
              </a:rPr>
              <a:t>ARCHIVO</a:t>
            </a:r>
          </a:p>
          <a:p>
            <a:pPr algn="l" marL="0" indent="0">
              <a:lnSpc>
                <a:spcPct val="112000"/>
              </a:lnSpc>
              <a:spcBef>
                <a:spcPts val="0"/>
              </a:spcBef>
              <a:spcAft>
                <a:spcPts val="0"/>
              </a:spcAft>
              <a:buNone/>
            </a:pPr>
            <a:r>
              <a:rPr sz="1100" b="0" i="0">
                <a:solidFill>
                  <a:srgbClr val="F3F6FC"/>
                </a:solidFill>
                <a:latin typeface="Consolas"/>
              </a:rPr>
              <a:t>CLASE-05/LABORATORIOS/LAB-04-CHALLENGE.md</a:t>
            </a:r>
          </a:p>
        </p:txBody>
      </p:sp>
      <p:sp>
        <p:nvSpPr>
          <p:cNvPr id="25" name="Rectangle 24"/>
          <p:cNvSpPr/>
          <p:nvPr/>
        </p:nvSpPr>
        <p:spPr>
          <a:xfrm>
            <a:off x="8592000" y="3790000"/>
            <a:ext cx="2780000" cy="8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6" name="TextBox 25"/>
          <p:cNvSpPr txBox="1"/>
          <p:nvPr/>
        </p:nvSpPr>
        <p:spPr>
          <a:xfrm>
            <a:off x="8592000" y="3830000"/>
            <a:ext cx="2780000" cy="1030000"/>
          </a:xfrm>
          <a:prstGeom prst="rect">
            <a:avLst/>
          </a:prstGeom>
          <a:noFill/>
        </p:spPr>
        <p:txBody>
          <a:bodyPr wrap="square" anchor="t" lIns="0" rIns="0" tIns="0" bIns="0">
            <a:noAutofit/>
          </a:bodyPr>
          <a:lstStyle/>
          <a:p>
            <a:pPr algn="l" marL="0" indent="0">
              <a:lnSpc>
                <a:spcPct val="100000"/>
              </a:lnSpc>
              <a:spcBef>
                <a:spcPts val="0"/>
              </a:spcBef>
              <a:spcAft>
                <a:spcPts val="500"/>
              </a:spcAft>
              <a:buNone/>
            </a:pPr>
            <a:r>
              <a:rPr sz="900" b="1" i="0" spc="180">
                <a:solidFill>
                  <a:srgbClr val="8493AD"/>
                </a:solidFill>
                <a:latin typeface="Segoe UI Semibold"/>
              </a:rPr>
              <a:t>DURACIÓN</a:t>
            </a:r>
          </a:p>
          <a:p>
            <a:pPr algn="l" marL="0" indent="0">
              <a:lnSpc>
                <a:spcPct val="112000"/>
              </a:lnSpc>
              <a:spcBef>
                <a:spcPts val="0"/>
              </a:spcBef>
              <a:spcAft>
                <a:spcPts val="0"/>
              </a:spcAft>
              <a:buNone/>
            </a:pPr>
            <a:r>
              <a:rPr sz="1100" b="1" i="0">
                <a:solidFill>
                  <a:srgbClr val="F3F6FC"/>
                </a:solidFill>
                <a:latin typeface="Segoe UI Semibold"/>
              </a:rPr>
              <a:t>18 min</a:t>
            </a:r>
          </a:p>
        </p:txBody>
      </p:sp>
      <p:sp>
        <p:nvSpPr>
          <p:cNvPr id="27" name="Rectangle 26"/>
          <p:cNvSpPr/>
          <p:nvPr/>
        </p:nvSpPr>
        <p:spPr>
          <a:xfrm>
            <a:off x="8592000" y="4880000"/>
            <a:ext cx="2780000" cy="8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8" name="TextBox 27"/>
          <p:cNvSpPr txBox="1"/>
          <p:nvPr/>
        </p:nvSpPr>
        <p:spPr>
          <a:xfrm>
            <a:off x="8592000" y="4920000"/>
            <a:ext cx="2780000" cy="1030000"/>
          </a:xfrm>
          <a:prstGeom prst="rect">
            <a:avLst/>
          </a:prstGeom>
          <a:noFill/>
        </p:spPr>
        <p:txBody>
          <a:bodyPr wrap="square" anchor="t" lIns="0" rIns="0" tIns="0" bIns="0">
            <a:noAutofit/>
          </a:bodyPr>
          <a:lstStyle/>
          <a:p>
            <a:pPr algn="l" marL="0" indent="0">
              <a:lnSpc>
                <a:spcPct val="100000"/>
              </a:lnSpc>
              <a:spcBef>
                <a:spcPts val="0"/>
              </a:spcBef>
              <a:spcAft>
                <a:spcPts val="500"/>
              </a:spcAft>
              <a:buNone/>
            </a:pPr>
            <a:r>
              <a:rPr sz="900" b="1" i="0" spc="180">
                <a:solidFill>
                  <a:srgbClr val="8493AD"/>
                </a:solidFill>
                <a:latin typeface="Segoe UI Semibold"/>
              </a:rPr>
              <a:t>VALIDACIÓN</a:t>
            </a:r>
          </a:p>
          <a:p>
            <a:pPr algn="l" marL="0" indent="0">
              <a:lnSpc>
                <a:spcPct val="112000"/>
              </a:lnSpc>
              <a:spcBef>
                <a:spcPts val="0"/>
              </a:spcBef>
              <a:spcAft>
                <a:spcPts val="0"/>
              </a:spcAft>
              <a:buNone/>
            </a:pPr>
            <a:r>
              <a:rPr sz="1100" b="0" i="0">
                <a:solidFill>
                  <a:srgbClr val="F3F6FC"/>
                </a:solidFill>
                <a:latin typeface="Consolas"/>
              </a:rPr>
              <a:t>./validate-lab.sh</a:t>
            </a:r>
          </a:p>
        </p:txBody>
      </p:sp>
      <p:sp>
        <p:nvSpPr>
          <p:cNvPr id="29" name="Rectangle 28"/>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30" name="TextBox 29"/>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5</a:t>
            </a:r>
          </a:p>
        </p:txBody>
      </p:sp>
      <p:sp>
        <p:nvSpPr>
          <p:cNvPr id="31" name="TextBox 30"/>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620000" y="300000"/>
            <a:ext cx="10952000" cy="24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240">
                <a:solidFill>
                  <a:srgbClr val="74A6FF"/>
                </a:solidFill>
                <a:latin typeface="Segoe UI Semibold"/>
              </a:rPr>
              <a:t>MENTAL MODEL</a:t>
            </a:r>
          </a:p>
        </p:txBody>
      </p:sp>
      <p:sp>
        <p:nvSpPr>
          <p:cNvPr id="3" name="TextBox 2"/>
          <p:cNvSpPr txBox="1"/>
          <p:nvPr/>
        </p:nvSpPr>
        <p:spPr>
          <a:xfrm>
            <a:off x="620000" y="560000"/>
            <a:ext cx="10052000" cy="620000"/>
          </a:xfrm>
          <a:prstGeom prst="rect">
            <a:avLst/>
          </a:prstGeom>
          <a:noFill/>
        </p:spPr>
        <p:txBody>
          <a:bodyPr wrap="square" anchor="t" lIns="0" rIns="0" tIns="0" bIns="0">
            <a:noAutofit/>
          </a:bodyPr>
          <a:lstStyle/>
          <a:p>
            <a:pPr algn="l" marL="0" indent="0">
              <a:lnSpc>
                <a:spcPct val="105000"/>
              </a:lnSpc>
              <a:spcBef>
                <a:spcPts val="0"/>
              </a:spcBef>
              <a:spcAft>
                <a:spcPts val="0"/>
              </a:spcAft>
              <a:buNone/>
            </a:pPr>
            <a:r>
              <a:rPr sz="3000" b="0" i="0">
                <a:solidFill>
                  <a:srgbClr val="F3F6FC"/>
                </a:solidFill>
                <a:latin typeface="Segoe UI Light"/>
              </a:rPr>
              <a:t>Traducción de síntomas de red</a:t>
            </a:r>
          </a:p>
        </p:txBody>
      </p:sp>
      <p:sp>
        <p:nvSpPr>
          <p:cNvPr id="4" name="Rectangle 3"/>
          <p:cNvSpPr/>
          <p:nvPr/>
        </p:nvSpPr>
        <p:spPr>
          <a:xfrm>
            <a:off x="620000" y="1230000"/>
            <a:ext cx="560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5" name="Rectangle 4"/>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6" name="TextBox 5"/>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5</a:t>
            </a:r>
          </a:p>
        </p:txBody>
      </p:sp>
      <p:sp>
        <p:nvSpPr>
          <p:cNvPr id="7" name="TextBox 6"/>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21</a:t>
            </a:r>
          </a:p>
        </p:txBody>
      </p:sp>
      <p:pic>
        <p:nvPicPr>
          <p:cNvPr id="8" name="Picture 7" descr="svc.png"/>
          <p:cNvPicPr>
            <a:picLocks noChangeAspect="1"/>
          </p:cNvPicPr>
          <p:nvPr/>
        </p:nvPicPr>
        <p:blipFill>
          <a:blip r:embed="rId2"/>
          <a:stretch>
            <a:fillRect/>
          </a:stretch>
        </p:blipFill>
        <p:spPr>
          <a:xfrm>
            <a:off x="10932000" y="275000"/>
            <a:ext cx="640000" cy="640000"/>
          </a:xfrm>
          <a:prstGeom prst="rect">
            <a:avLst/>
          </a:prstGeom>
        </p:spPr>
      </p:pic>
      <p:sp>
        <p:nvSpPr>
          <p:cNvPr id="9" name="Rectangle 8"/>
          <p:cNvSpPr/>
          <p:nvPr/>
        </p:nvSpPr>
        <p:spPr>
          <a:xfrm>
            <a:off x="620000" y="1470000"/>
            <a:ext cx="10952000" cy="420000"/>
          </a:xfrm>
          <a:prstGeom prst="rect">
            <a:avLst/>
          </a:prstGeom>
          <a:solidFill>
            <a:srgbClr val="141E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0" name="Rectangle 9"/>
          <p:cNvSpPr/>
          <p:nvPr/>
        </p:nvSpPr>
        <p:spPr>
          <a:xfrm>
            <a:off x="620000" y="1882000"/>
            <a:ext cx="10952000" cy="10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1" name="TextBox 10"/>
          <p:cNvSpPr txBox="1"/>
          <p:nvPr/>
        </p:nvSpPr>
        <p:spPr>
          <a:xfrm>
            <a:off x="780000" y="1470000"/>
            <a:ext cx="3065600" cy="4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000" b="1" i="0" spc="160">
                <a:solidFill>
                  <a:srgbClr val="74A6FF"/>
                </a:solidFill>
                <a:latin typeface="Segoe UI Semibold"/>
              </a:rPr>
              <a:t>LO QUE OBSERVAS</a:t>
            </a:r>
          </a:p>
        </p:txBody>
      </p:sp>
      <p:sp>
        <p:nvSpPr>
          <p:cNvPr id="12" name="TextBox 11"/>
          <p:cNvSpPr txBox="1"/>
          <p:nvPr/>
        </p:nvSpPr>
        <p:spPr>
          <a:xfrm>
            <a:off x="4065600" y="1470000"/>
            <a:ext cx="4160800" cy="4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000" b="1" i="0" spc="160">
                <a:solidFill>
                  <a:srgbClr val="74A6FF"/>
                </a:solidFill>
                <a:latin typeface="Segoe UI Semibold"/>
              </a:rPr>
              <a:t>DÓNDE ESTÁ EL PROBLEMA</a:t>
            </a:r>
          </a:p>
        </p:txBody>
      </p:sp>
      <p:sp>
        <p:nvSpPr>
          <p:cNvPr id="13" name="TextBox 12"/>
          <p:cNvSpPr txBox="1"/>
          <p:nvPr/>
        </p:nvSpPr>
        <p:spPr>
          <a:xfrm>
            <a:off x="8446400" y="1470000"/>
            <a:ext cx="3065600" cy="4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000" b="1" i="0" spc="160">
                <a:solidFill>
                  <a:srgbClr val="74A6FF"/>
                </a:solidFill>
                <a:latin typeface="Segoe UI Semibold"/>
              </a:rPr>
              <a:t>COMANDO</a:t>
            </a:r>
          </a:p>
        </p:txBody>
      </p:sp>
      <p:sp>
        <p:nvSpPr>
          <p:cNvPr id="14" name="Rectangle 13"/>
          <p:cNvSpPr/>
          <p:nvPr/>
        </p:nvSpPr>
        <p:spPr>
          <a:xfrm>
            <a:off x="620000" y="2450000"/>
            <a:ext cx="10952000" cy="8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5" name="TextBox 14"/>
          <p:cNvSpPr txBox="1"/>
          <p:nvPr/>
        </p:nvSpPr>
        <p:spPr>
          <a:xfrm>
            <a:off x="780000" y="1890000"/>
            <a:ext cx="3065600" cy="56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100" b="1" i="0">
                <a:solidFill>
                  <a:srgbClr val="F3F6FC"/>
                </a:solidFill>
                <a:latin typeface="Segoe UI"/>
              </a:rPr>
              <a:t>nslookup falla</a:t>
            </a:r>
          </a:p>
        </p:txBody>
      </p:sp>
      <p:sp>
        <p:nvSpPr>
          <p:cNvPr id="16" name="TextBox 15"/>
          <p:cNvSpPr txBox="1"/>
          <p:nvPr/>
        </p:nvSpPr>
        <p:spPr>
          <a:xfrm>
            <a:off x="4065600" y="1890000"/>
            <a:ext cx="4160800" cy="56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100" b="0" i="0">
                <a:solidFill>
                  <a:srgbClr val="BDC9DB"/>
                </a:solidFill>
                <a:latin typeface="Segoe UI"/>
              </a:rPr>
              <a:t>DNS, o política de egress al 53</a:t>
            </a:r>
          </a:p>
        </p:txBody>
      </p:sp>
      <p:sp>
        <p:nvSpPr>
          <p:cNvPr id="17" name="TextBox 16"/>
          <p:cNvSpPr txBox="1"/>
          <p:nvPr/>
        </p:nvSpPr>
        <p:spPr>
          <a:xfrm>
            <a:off x="8446400" y="1890000"/>
            <a:ext cx="3065600" cy="56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100" b="0" i="0">
                <a:solidFill>
                  <a:srgbClr val="BDC9DB"/>
                </a:solidFill>
                <a:latin typeface="Consolas"/>
              </a:rPr>
              <a:t>describe networkpolicy</a:t>
            </a:r>
          </a:p>
        </p:txBody>
      </p:sp>
      <p:sp>
        <p:nvSpPr>
          <p:cNvPr id="18" name="Rectangle 17"/>
          <p:cNvSpPr/>
          <p:nvPr/>
        </p:nvSpPr>
        <p:spPr>
          <a:xfrm>
            <a:off x="620000" y="2450000"/>
            <a:ext cx="10952000" cy="560000"/>
          </a:xfrm>
          <a:prstGeom prst="rect">
            <a:avLst/>
          </a:prstGeom>
          <a:solidFill>
            <a:srgbClr val="111A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9" name="Rectangle 18"/>
          <p:cNvSpPr/>
          <p:nvPr/>
        </p:nvSpPr>
        <p:spPr>
          <a:xfrm>
            <a:off x="620000" y="3010000"/>
            <a:ext cx="10952000" cy="8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0" name="TextBox 19"/>
          <p:cNvSpPr txBox="1"/>
          <p:nvPr/>
        </p:nvSpPr>
        <p:spPr>
          <a:xfrm>
            <a:off x="780000" y="2450000"/>
            <a:ext cx="3065600" cy="56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100" b="1" i="0">
                <a:solidFill>
                  <a:srgbClr val="F3F6FC"/>
                </a:solidFill>
                <a:latin typeface="Segoe UI"/>
              </a:rPr>
              <a:t>nslookup OK, curl timeout</a:t>
            </a:r>
          </a:p>
        </p:txBody>
      </p:sp>
      <p:sp>
        <p:nvSpPr>
          <p:cNvPr id="21" name="TextBox 20"/>
          <p:cNvSpPr txBox="1"/>
          <p:nvPr/>
        </p:nvSpPr>
        <p:spPr>
          <a:xfrm>
            <a:off x="4065600" y="2450000"/>
            <a:ext cx="4160800" cy="56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100" b="0" i="0">
                <a:solidFill>
                  <a:srgbClr val="BDC9DB"/>
                </a:solidFill>
                <a:latin typeface="Segoe UI"/>
              </a:rPr>
              <a:t>Endpoints o NetworkPolicy</a:t>
            </a:r>
          </a:p>
        </p:txBody>
      </p:sp>
      <p:sp>
        <p:nvSpPr>
          <p:cNvPr id="22" name="TextBox 21"/>
          <p:cNvSpPr txBox="1"/>
          <p:nvPr/>
        </p:nvSpPr>
        <p:spPr>
          <a:xfrm>
            <a:off x="8446400" y="2450000"/>
            <a:ext cx="3065600" cy="56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100" b="0" i="0">
                <a:solidFill>
                  <a:srgbClr val="BDC9DB"/>
                </a:solidFill>
                <a:latin typeface="Consolas"/>
              </a:rPr>
              <a:t>get endpointslices</a:t>
            </a:r>
          </a:p>
        </p:txBody>
      </p:sp>
      <p:sp>
        <p:nvSpPr>
          <p:cNvPr id="23" name="Rectangle 22"/>
          <p:cNvSpPr/>
          <p:nvPr/>
        </p:nvSpPr>
        <p:spPr>
          <a:xfrm>
            <a:off x="620000" y="3570000"/>
            <a:ext cx="10952000" cy="8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4" name="TextBox 23"/>
          <p:cNvSpPr txBox="1"/>
          <p:nvPr/>
        </p:nvSpPr>
        <p:spPr>
          <a:xfrm>
            <a:off x="780000" y="3010000"/>
            <a:ext cx="3065600" cy="56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100" b="1" i="0">
                <a:solidFill>
                  <a:srgbClr val="F3F6FC"/>
                </a:solidFill>
                <a:latin typeface="Segoe UI"/>
              </a:rPr>
              <a:t>EndpointSlice vacío</a:t>
            </a:r>
          </a:p>
        </p:txBody>
      </p:sp>
      <p:sp>
        <p:nvSpPr>
          <p:cNvPr id="25" name="TextBox 24"/>
          <p:cNvSpPr txBox="1"/>
          <p:nvPr/>
        </p:nvSpPr>
        <p:spPr>
          <a:xfrm>
            <a:off x="4065600" y="3010000"/>
            <a:ext cx="4160800" cy="56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100" b="0" i="0">
                <a:solidFill>
                  <a:srgbClr val="BDC9DB"/>
                </a:solidFill>
                <a:latin typeface="Segoe UI"/>
              </a:rPr>
              <a:t>Selector del Service o labels del Pod</a:t>
            </a:r>
          </a:p>
        </p:txBody>
      </p:sp>
      <p:sp>
        <p:nvSpPr>
          <p:cNvPr id="26" name="TextBox 25"/>
          <p:cNvSpPr txBox="1"/>
          <p:nvPr/>
        </p:nvSpPr>
        <p:spPr>
          <a:xfrm>
            <a:off x="8446400" y="3010000"/>
            <a:ext cx="3065600" cy="56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100" b="0" i="0">
                <a:solidFill>
                  <a:srgbClr val="BDC9DB"/>
                </a:solidFill>
                <a:latin typeface="Consolas"/>
              </a:rPr>
              <a:t>get pods --show-labels</a:t>
            </a:r>
          </a:p>
        </p:txBody>
      </p:sp>
      <p:sp>
        <p:nvSpPr>
          <p:cNvPr id="27" name="Rectangle 26"/>
          <p:cNvSpPr/>
          <p:nvPr/>
        </p:nvSpPr>
        <p:spPr>
          <a:xfrm>
            <a:off x="620000" y="3570000"/>
            <a:ext cx="10952000" cy="560000"/>
          </a:xfrm>
          <a:prstGeom prst="rect">
            <a:avLst/>
          </a:prstGeom>
          <a:solidFill>
            <a:srgbClr val="111A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8" name="Rectangle 27"/>
          <p:cNvSpPr/>
          <p:nvPr/>
        </p:nvSpPr>
        <p:spPr>
          <a:xfrm>
            <a:off x="620000" y="4130000"/>
            <a:ext cx="10952000" cy="8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9" name="TextBox 28"/>
          <p:cNvSpPr txBox="1"/>
          <p:nvPr/>
        </p:nvSpPr>
        <p:spPr>
          <a:xfrm>
            <a:off x="780000" y="3570000"/>
            <a:ext cx="3065600" cy="56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100" b="1" i="0">
                <a:solidFill>
                  <a:srgbClr val="F3F6FC"/>
                </a:solidFill>
                <a:latin typeface="Segoe UI"/>
              </a:rPr>
              <a:t>Hay endpoints, curl falla</a:t>
            </a:r>
          </a:p>
        </p:txBody>
      </p:sp>
      <p:sp>
        <p:nvSpPr>
          <p:cNvPr id="30" name="TextBox 29"/>
          <p:cNvSpPr txBox="1"/>
          <p:nvPr/>
        </p:nvSpPr>
        <p:spPr>
          <a:xfrm>
            <a:off x="4065600" y="3570000"/>
            <a:ext cx="4160800" cy="56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100" b="0" i="0">
                <a:solidFill>
                  <a:srgbClr val="BDC9DB"/>
                </a:solidFill>
                <a:latin typeface="Segoe UI"/>
              </a:rPr>
              <a:t>targetPort o política de ingress</a:t>
            </a:r>
          </a:p>
        </p:txBody>
      </p:sp>
      <p:sp>
        <p:nvSpPr>
          <p:cNvPr id="31" name="TextBox 30"/>
          <p:cNvSpPr txBox="1"/>
          <p:nvPr/>
        </p:nvSpPr>
        <p:spPr>
          <a:xfrm>
            <a:off x="8446400" y="3570000"/>
            <a:ext cx="3065600" cy="56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100" b="0" i="0">
                <a:solidFill>
                  <a:srgbClr val="BDC9DB"/>
                </a:solidFill>
                <a:latin typeface="Consolas"/>
              </a:rPr>
              <a:t>get svc -o yaml</a:t>
            </a:r>
          </a:p>
        </p:txBody>
      </p:sp>
      <p:sp>
        <p:nvSpPr>
          <p:cNvPr id="32" name="Rectangle 31"/>
          <p:cNvSpPr/>
          <p:nvPr/>
        </p:nvSpPr>
        <p:spPr>
          <a:xfrm>
            <a:off x="620000" y="4690000"/>
            <a:ext cx="10952000" cy="8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33" name="TextBox 32"/>
          <p:cNvSpPr txBox="1"/>
          <p:nvPr/>
        </p:nvSpPr>
        <p:spPr>
          <a:xfrm>
            <a:off x="780000" y="4130000"/>
            <a:ext cx="3065600" cy="56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100" b="1" i="0">
                <a:solidFill>
                  <a:srgbClr val="F3F6FC"/>
                </a:solidFill>
                <a:latin typeface="Segoe UI"/>
              </a:rPr>
              <a:t>Interno OK, externo falla</a:t>
            </a:r>
          </a:p>
        </p:txBody>
      </p:sp>
      <p:sp>
        <p:nvSpPr>
          <p:cNvPr id="34" name="TextBox 33"/>
          <p:cNvSpPr txBox="1"/>
          <p:nvPr/>
        </p:nvSpPr>
        <p:spPr>
          <a:xfrm>
            <a:off x="4065600" y="4130000"/>
            <a:ext cx="4160800" cy="56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100" b="0" i="0">
                <a:solidFill>
                  <a:srgbClr val="BDC9DB"/>
                </a:solidFill>
                <a:latin typeface="Segoe UI"/>
              </a:rPr>
              <a:t>Ingress, clase o controlador</a:t>
            </a:r>
          </a:p>
        </p:txBody>
      </p:sp>
      <p:sp>
        <p:nvSpPr>
          <p:cNvPr id="35" name="TextBox 34"/>
          <p:cNvSpPr txBox="1"/>
          <p:nvPr/>
        </p:nvSpPr>
        <p:spPr>
          <a:xfrm>
            <a:off x="8446400" y="4130000"/>
            <a:ext cx="3065600" cy="56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100" b="0" i="0">
                <a:solidFill>
                  <a:srgbClr val="BDC9DB"/>
                </a:solidFill>
                <a:latin typeface="Consolas"/>
              </a:rPr>
              <a:t>get ingress,ingressclass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620000" y="300000"/>
            <a:ext cx="10952000" cy="24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240">
                <a:solidFill>
                  <a:srgbClr val="74A6FF"/>
                </a:solidFill>
                <a:latin typeface="Segoe UI Semibold"/>
              </a:rPr>
              <a:t>CHECKLIST</a:t>
            </a:r>
          </a:p>
        </p:txBody>
      </p:sp>
      <p:sp>
        <p:nvSpPr>
          <p:cNvPr id="3" name="TextBox 2"/>
          <p:cNvSpPr txBox="1"/>
          <p:nvPr/>
        </p:nvSpPr>
        <p:spPr>
          <a:xfrm>
            <a:off x="620000" y="560000"/>
            <a:ext cx="10052000" cy="620000"/>
          </a:xfrm>
          <a:prstGeom prst="rect">
            <a:avLst/>
          </a:prstGeom>
          <a:noFill/>
        </p:spPr>
        <p:txBody>
          <a:bodyPr wrap="square" anchor="t" lIns="0" rIns="0" tIns="0" bIns="0">
            <a:noAutofit/>
          </a:bodyPr>
          <a:lstStyle/>
          <a:p>
            <a:pPr algn="l" marL="0" indent="0">
              <a:lnSpc>
                <a:spcPct val="105000"/>
              </a:lnSpc>
              <a:spcBef>
                <a:spcPts val="0"/>
              </a:spcBef>
              <a:spcAft>
                <a:spcPts val="0"/>
              </a:spcAft>
              <a:buNone/>
            </a:pPr>
            <a:r>
              <a:rPr sz="3000" b="0" i="0">
                <a:solidFill>
                  <a:srgbClr val="F3F6FC"/>
                </a:solidFill>
                <a:latin typeface="Segoe UI Light"/>
              </a:rPr>
              <a:t>Comprueba que puedes hacer esto sin apuntes</a:t>
            </a:r>
          </a:p>
        </p:txBody>
      </p:sp>
      <p:sp>
        <p:nvSpPr>
          <p:cNvPr id="4" name="Rectangle 3"/>
          <p:cNvSpPr/>
          <p:nvPr/>
        </p:nvSpPr>
        <p:spPr>
          <a:xfrm>
            <a:off x="620000" y="1230000"/>
            <a:ext cx="560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5" name="Rectangle 4"/>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6" name="TextBox 5"/>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5</a:t>
            </a:r>
          </a:p>
        </p:txBody>
      </p:sp>
      <p:sp>
        <p:nvSpPr>
          <p:cNvPr id="7" name="TextBox 6"/>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22</a:t>
            </a:r>
          </a:p>
        </p:txBody>
      </p:sp>
      <p:sp>
        <p:nvSpPr>
          <p:cNvPr id="8" name="Rounded Rectangle 7"/>
          <p:cNvSpPr/>
          <p:nvPr/>
        </p:nvSpPr>
        <p:spPr>
          <a:xfrm>
            <a:off x="10996000" y="339000"/>
            <a:ext cx="512000" cy="512000"/>
          </a:xfrm>
          <a:prstGeom prst="roundRect">
            <a:avLst>
              <a:gd name="adj" fmla="val 20000"/>
            </a:avLst>
          </a:prstGeom>
          <a:noFill/>
          <a:ln w="38100">
            <a:solidFill>
              <a:srgbClr val="74A6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Connector 8"/>
          <p:cNvCxnSpPr/>
          <p:nvPr/>
        </p:nvCxnSpPr>
        <p:spPr>
          <a:xfrm>
            <a:off x="11124000" y="607800"/>
            <a:ext cx="89600" cy="102400"/>
          </a:xfrm>
          <a:prstGeom prst="line">
            <a:avLst/>
          </a:prstGeom>
          <a:ln w="49530">
            <a:solidFill>
              <a:srgbClr val="74A6FF"/>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1213600" y="479800"/>
            <a:ext cx="179200" cy="230400"/>
          </a:xfrm>
          <a:prstGeom prst="line">
            <a:avLst/>
          </a:prstGeom>
          <a:ln w="49530">
            <a:solidFill>
              <a:srgbClr val="74A6FF"/>
            </a:solidFill>
          </a:ln>
          <a:effectLst/>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620000" y="2620000"/>
            <a:ext cx="300000" cy="300000"/>
          </a:xfrm>
          <a:prstGeom prst="roundRect">
            <a:avLst>
              <a:gd name="adj" fmla="val 28000"/>
            </a:avLst>
          </a:prstGeom>
          <a:noFill/>
          <a:ln w="19050">
            <a:solidFill>
              <a:srgbClr val="326CE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300" b="1" i="0">
                <a:solidFill>
                  <a:srgbClr val="74A6FF"/>
                </a:solidFill>
                <a:latin typeface="Segoe UI"/>
              </a:rPr>
              <a:t>✓</a:t>
            </a:r>
          </a:p>
        </p:txBody>
      </p:sp>
      <p:sp>
        <p:nvSpPr>
          <p:cNvPr id="12" name="TextBox 11"/>
          <p:cNvSpPr txBox="1"/>
          <p:nvPr/>
        </p:nvSpPr>
        <p:spPr>
          <a:xfrm>
            <a:off x="1120000" y="2490000"/>
            <a:ext cx="4816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300" b="0" i="0">
                <a:solidFill>
                  <a:srgbClr val="BDC9DB"/>
                </a:solidFill>
                <a:latin typeface="Segoe UI"/>
              </a:rPr>
              <a:t>Elijo el tipo de Service adecuado y sé qué hace cada uno.</a:t>
            </a:r>
          </a:p>
        </p:txBody>
      </p:sp>
      <p:sp>
        <p:nvSpPr>
          <p:cNvPr id="13" name="Rounded Rectangle 12"/>
          <p:cNvSpPr/>
          <p:nvPr/>
        </p:nvSpPr>
        <p:spPr>
          <a:xfrm>
            <a:off x="620000" y="3180000"/>
            <a:ext cx="300000" cy="300000"/>
          </a:xfrm>
          <a:prstGeom prst="roundRect">
            <a:avLst>
              <a:gd name="adj" fmla="val 28000"/>
            </a:avLst>
          </a:prstGeom>
          <a:noFill/>
          <a:ln w="19050">
            <a:solidFill>
              <a:srgbClr val="326CE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300" b="1" i="0">
                <a:solidFill>
                  <a:srgbClr val="74A6FF"/>
                </a:solidFill>
                <a:latin typeface="Segoe UI"/>
              </a:rPr>
              <a:t>✓</a:t>
            </a:r>
          </a:p>
        </p:txBody>
      </p:sp>
      <p:sp>
        <p:nvSpPr>
          <p:cNvPr id="14" name="TextBox 13"/>
          <p:cNvSpPr txBox="1"/>
          <p:nvPr/>
        </p:nvSpPr>
        <p:spPr>
          <a:xfrm>
            <a:off x="1120000" y="3050000"/>
            <a:ext cx="4816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300" b="0" i="0">
                <a:solidFill>
                  <a:srgbClr val="BDC9DB"/>
                </a:solidFill>
                <a:latin typeface="Segoe UI"/>
              </a:rPr>
              <a:t>Explico la cadena Service → EndpointSlice → Pod.</a:t>
            </a:r>
          </a:p>
        </p:txBody>
      </p:sp>
      <p:sp>
        <p:nvSpPr>
          <p:cNvPr id="15" name="Rounded Rectangle 14"/>
          <p:cNvSpPr/>
          <p:nvPr/>
        </p:nvSpPr>
        <p:spPr>
          <a:xfrm>
            <a:off x="620000" y="3740000"/>
            <a:ext cx="300000" cy="300000"/>
          </a:xfrm>
          <a:prstGeom prst="roundRect">
            <a:avLst>
              <a:gd name="adj" fmla="val 28000"/>
            </a:avLst>
          </a:prstGeom>
          <a:noFill/>
          <a:ln w="19050">
            <a:solidFill>
              <a:srgbClr val="326CE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300" b="1" i="0">
                <a:solidFill>
                  <a:srgbClr val="74A6FF"/>
                </a:solidFill>
                <a:latin typeface="Segoe UI"/>
              </a:rPr>
              <a:t>✓</a:t>
            </a:r>
          </a:p>
        </p:txBody>
      </p:sp>
      <p:sp>
        <p:nvSpPr>
          <p:cNvPr id="16" name="TextBox 15"/>
          <p:cNvSpPr txBox="1"/>
          <p:nvPr/>
        </p:nvSpPr>
        <p:spPr>
          <a:xfrm>
            <a:off x="1120000" y="3610000"/>
            <a:ext cx="4816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300" b="0" i="0">
                <a:solidFill>
                  <a:srgbClr val="BDC9DB"/>
                </a:solidFill>
                <a:latin typeface="Segoe UI"/>
              </a:rPr>
              <a:t>Resuelvo un Service por FQDN y leo /etc/resolv.conf de un Pod.</a:t>
            </a:r>
          </a:p>
        </p:txBody>
      </p:sp>
      <p:sp>
        <p:nvSpPr>
          <p:cNvPr id="17" name="Rounded Rectangle 16"/>
          <p:cNvSpPr/>
          <p:nvPr/>
        </p:nvSpPr>
        <p:spPr>
          <a:xfrm>
            <a:off x="620000" y="4300000"/>
            <a:ext cx="300000" cy="300000"/>
          </a:xfrm>
          <a:prstGeom prst="roundRect">
            <a:avLst>
              <a:gd name="adj" fmla="val 28000"/>
            </a:avLst>
          </a:prstGeom>
          <a:noFill/>
          <a:ln w="19050">
            <a:solidFill>
              <a:srgbClr val="326CE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300" b="1" i="0">
                <a:solidFill>
                  <a:srgbClr val="74A6FF"/>
                </a:solidFill>
                <a:latin typeface="Segoe UI"/>
              </a:rPr>
              <a:t>✓</a:t>
            </a:r>
          </a:p>
        </p:txBody>
      </p:sp>
      <p:sp>
        <p:nvSpPr>
          <p:cNvPr id="18" name="TextBox 17"/>
          <p:cNvSpPr txBox="1"/>
          <p:nvPr/>
        </p:nvSpPr>
        <p:spPr>
          <a:xfrm>
            <a:off x="1120000" y="4170000"/>
            <a:ext cx="4816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300" b="0" i="0">
                <a:solidFill>
                  <a:srgbClr val="BDC9DB"/>
                </a:solidFill>
                <a:latin typeface="Segoe UI"/>
              </a:rPr>
              <a:t>Distingo un fallo de DNS de uno de endpoints.</a:t>
            </a:r>
          </a:p>
        </p:txBody>
      </p:sp>
      <p:sp>
        <p:nvSpPr>
          <p:cNvPr id="19" name="Rounded Rectangle 18"/>
          <p:cNvSpPr/>
          <p:nvPr/>
        </p:nvSpPr>
        <p:spPr>
          <a:xfrm>
            <a:off x="620000" y="4860000"/>
            <a:ext cx="300000" cy="300000"/>
          </a:xfrm>
          <a:prstGeom prst="roundRect">
            <a:avLst>
              <a:gd name="adj" fmla="val 28000"/>
            </a:avLst>
          </a:prstGeom>
          <a:noFill/>
          <a:ln w="19050">
            <a:solidFill>
              <a:srgbClr val="326CE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300" b="1" i="0">
                <a:solidFill>
                  <a:srgbClr val="74A6FF"/>
                </a:solidFill>
                <a:latin typeface="Segoe UI"/>
              </a:rPr>
              <a:t>✓</a:t>
            </a:r>
          </a:p>
        </p:txBody>
      </p:sp>
      <p:sp>
        <p:nvSpPr>
          <p:cNvPr id="20" name="TextBox 19"/>
          <p:cNvSpPr txBox="1"/>
          <p:nvPr/>
        </p:nvSpPr>
        <p:spPr>
          <a:xfrm>
            <a:off x="1120000" y="4730000"/>
            <a:ext cx="4816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300" b="0" i="0">
                <a:solidFill>
                  <a:srgbClr val="BDC9DB"/>
                </a:solidFill>
                <a:latin typeface="Segoe UI"/>
              </a:rPr>
              <a:t>Publico dos aplicaciones por path con un solo Ingress.</a:t>
            </a:r>
          </a:p>
        </p:txBody>
      </p:sp>
      <p:sp>
        <p:nvSpPr>
          <p:cNvPr id="21" name="Rounded Rectangle 20"/>
          <p:cNvSpPr/>
          <p:nvPr/>
        </p:nvSpPr>
        <p:spPr>
          <a:xfrm>
            <a:off x="6256000" y="2620000"/>
            <a:ext cx="300000" cy="300000"/>
          </a:xfrm>
          <a:prstGeom prst="roundRect">
            <a:avLst>
              <a:gd name="adj" fmla="val 28000"/>
            </a:avLst>
          </a:prstGeom>
          <a:noFill/>
          <a:ln w="19050">
            <a:solidFill>
              <a:srgbClr val="326CE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300" b="1" i="0">
                <a:solidFill>
                  <a:srgbClr val="74A6FF"/>
                </a:solidFill>
                <a:latin typeface="Segoe UI"/>
              </a:rPr>
              <a:t>✓</a:t>
            </a:r>
          </a:p>
        </p:txBody>
      </p:sp>
      <p:sp>
        <p:nvSpPr>
          <p:cNvPr id="22" name="TextBox 21"/>
          <p:cNvSpPr txBox="1"/>
          <p:nvPr/>
        </p:nvSpPr>
        <p:spPr>
          <a:xfrm>
            <a:off x="6756000" y="2490000"/>
            <a:ext cx="4816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300" b="0" i="0">
                <a:solidFill>
                  <a:srgbClr val="BDC9DB"/>
                </a:solidFill>
                <a:latin typeface="Segoe UI"/>
              </a:rPr>
              <a:t>Creo un TLS Secret y lo asocio a un Ingress por host.</a:t>
            </a:r>
          </a:p>
        </p:txBody>
      </p:sp>
      <p:sp>
        <p:nvSpPr>
          <p:cNvPr id="23" name="Rounded Rectangle 22"/>
          <p:cNvSpPr/>
          <p:nvPr/>
        </p:nvSpPr>
        <p:spPr>
          <a:xfrm>
            <a:off x="6256000" y="3180000"/>
            <a:ext cx="300000" cy="300000"/>
          </a:xfrm>
          <a:prstGeom prst="roundRect">
            <a:avLst>
              <a:gd name="adj" fmla="val 28000"/>
            </a:avLst>
          </a:prstGeom>
          <a:noFill/>
          <a:ln w="19050">
            <a:solidFill>
              <a:srgbClr val="326CE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300" b="1" i="0">
                <a:solidFill>
                  <a:srgbClr val="74A6FF"/>
                </a:solidFill>
                <a:latin typeface="Segoe UI"/>
              </a:rPr>
              <a:t>✓</a:t>
            </a:r>
          </a:p>
        </p:txBody>
      </p:sp>
      <p:sp>
        <p:nvSpPr>
          <p:cNvPr id="24" name="TextBox 23"/>
          <p:cNvSpPr txBox="1"/>
          <p:nvPr/>
        </p:nvSpPr>
        <p:spPr>
          <a:xfrm>
            <a:off x="6756000" y="3050000"/>
            <a:ext cx="4816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300" b="0" i="0">
                <a:solidFill>
                  <a:srgbClr val="BDC9DB"/>
                </a:solidFill>
                <a:latin typeface="Segoe UI"/>
              </a:rPr>
              <a:t>Explico qué es Gateway API y por qué existe.</a:t>
            </a:r>
          </a:p>
        </p:txBody>
      </p:sp>
      <p:sp>
        <p:nvSpPr>
          <p:cNvPr id="25" name="Rounded Rectangle 24"/>
          <p:cNvSpPr/>
          <p:nvPr/>
        </p:nvSpPr>
        <p:spPr>
          <a:xfrm>
            <a:off x="6256000" y="3740000"/>
            <a:ext cx="300000" cy="300000"/>
          </a:xfrm>
          <a:prstGeom prst="roundRect">
            <a:avLst>
              <a:gd name="adj" fmla="val 28000"/>
            </a:avLst>
          </a:prstGeom>
          <a:noFill/>
          <a:ln w="19050">
            <a:solidFill>
              <a:srgbClr val="326CE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300" b="1" i="0">
                <a:solidFill>
                  <a:srgbClr val="74A6FF"/>
                </a:solidFill>
                <a:latin typeface="Segoe UI"/>
              </a:rPr>
              <a:t>✓</a:t>
            </a:r>
          </a:p>
        </p:txBody>
      </p:sp>
      <p:sp>
        <p:nvSpPr>
          <p:cNvPr id="26" name="TextBox 25"/>
          <p:cNvSpPr txBox="1"/>
          <p:nvPr/>
        </p:nvSpPr>
        <p:spPr>
          <a:xfrm>
            <a:off x="6756000" y="3610000"/>
            <a:ext cx="4816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300" b="0" i="0">
                <a:solidFill>
                  <a:srgbClr val="BDC9DB"/>
                </a:solidFill>
                <a:latin typeface="Segoe UI"/>
              </a:rPr>
              <a:t>Escribo una NetworkPolicy default deny.</a:t>
            </a:r>
          </a:p>
        </p:txBody>
      </p:sp>
      <p:sp>
        <p:nvSpPr>
          <p:cNvPr id="27" name="Rounded Rectangle 26"/>
          <p:cNvSpPr/>
          <p:nvPr/>
        </p:nvSpPr>
        <p:spPr>
          <a:xfrm>
            <a:off x="6256000" y="4300000"/>
            <a:ext cx="300000" cy="300000"/>
          </a:xfrm>
          <a:prstGeom prst="roundRect">
            <a:avLst>
              <a:gd name="adj" fmla="val 28000"/>
            </a:avLst>
          </a:prstGeom>
          <a:noFill/>
          <a:ln w="19050">
            <a:solidFill>
              <a:srgbClr val="326CE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300" b="1" i="0">
                <a:solidFill>
                  <a:srgbClr val="74A6FF"/>
                </a:solidFill>
                <a:latin typeface="Segoe UI"/>
              </a:rPr>
              <a:t>✓</a:t>
            </a:r>
          </a:p>
        </p:txBody>
      </p:sp>
      <p:sp>
        <p:nvSpPr>
          <p:cNvPr id="28" name="TextBox 27"/>
          <p:cNvSpPr txBox="1"/>
          <p:nvPr/>
        </p:nvSpPr>
        <p:spPr>
          <a:xfrm>
            <a:off x="6756000" y="4170000"/>
            <a:ext cx="4816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300" b="0" i="0">
                <a:solidFill>
                  <a:srgbClr val="BDC9DB"/>
                </a:solidFill>
                <a:latin typeface="Segoe UI"/>
              </a:rPr>
              <a:t>Permito DNS explícitamente en una política de egress.</a:t>
            </a:r>
          </a:p>
        </p:txBody>
      </p:sp>
      <p:sp>
        <p:nvSpPr>
          <p:cNvPr id="29" name="Rounded Rectangle 28"/>
          <p:cNvSpPr/>
          <p:nvPr/>
        </p:nvSpPr>
        <p:spPr>
          <a:xfrm>
            <a:off x="6256000" y="4860000"/>
            <a:ext cx="300000" cy="300000"/>
          </a:xfrm>
          <a:prstGeom prst="roundRect">
            <a:avLst>
              <a:gd name="adj" fmla="val 28000"/>
            </a:avLst>
          </a:prstGeom>
          <a:noFill/>
          <a:ln w="19050">
            <a:solidFill>
              <a:srgbClr val="326CE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300" b="1" i="0">
                <a:solidFill>
                  <a:srgbClr val="74A6FF"/>
                </a:solidFill>
                <a:latin typeface="Segoe UI"/>
              </a:rPr>
              <a:t>✓</a:t>
            </a:r>
          </a:p>
        </p:txBody>
      </p:sp>
      <p:sp>
        <p:nvSpPr>
          <p:cNvPr id="30" name="TextBox 29"/>
          <p:cNvSpPr txBox="1"/>
          <p:nvPr/>
        </p:nvSpPr>
        <p:spPr>
          <a:xfrm>
            <a:off x="6756000" y="4730000"/>
            <a:ext cx="4816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300" b="0" i="0">
                <a:solidFill>
                  <a:srgbClr val="BDC9DB"/>
                </a:solidFill>
                <a:latin typeface="Segoe UI"/>
              </a:rPr>
              <a:t>Distingo el AND del OR en namespaceSelector y podSelector.</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E172A"/>
        </a:solidFill>
        <a:effectLst/>
      </p:bgPr>
    </p:bg>
    <p:spTree>
      <p:nvGrpSpPr>
        <p:cNvPr id="1" name=""/>
        <p:cNvGrpSpPr/>
        <p:nvPr/>
      </p:nvGrpSpPr>
      <p:grpSpPr/>
      <p:sp>
        <p:nvSpPr>
          <p:cNvPr id="2" name="Oval 1"/>
          <p:cNvSpPr/>
          <p:nvPr/>
        </p:nvSpPr>
        <p:spPr>
          <a:xfrm>
            <a:off x="9592000" y="-1400000"/>
            <a:ext cx="4000000" cy="4000000"/>
          </a:xfrm>
          <a:prstGeom prst="ellipse">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400000" y="4358000"/>
            <a:ext cx="3800000" cy="3800000"/>
          </a:xfrm>
          <a:prstGeom prst="ellipse">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kubernetes.png"/>
          <p:cNvPicPr>
            <a:picLocks noChangeAspect="1"/>
          </p:cNvPicPr>
          <p:nvPr/>
        </p:nvPicPr>
        <p:blipFill>
          <a:blip r:embed="rId2"/>
          <a:stretch>
            <a:fillRect/>
          </a:stretch>
        </p:blipFill>
        <p:spPr>
          <a:xfrm>
            <a:off x="9542000" y="900000"/>
            <a:ext cx="1650000" cy="1650000"/>
          </a:xfrm>
          <a:prstGeom prst="rect">
            <a:avLst/>
          </a:prstGeom>
        </p:spPr>
      </p:pic>
      <p:sp>
        <p:nvSpPr>
          <p:cNvPr id="5" name="TextBox 4"/>
          <p:cNvSpPr txBox="1"/>
          <p:nvPr/>
        </p:nvSpPr>
        <p:spPr>
          <a:xfrm>
            <a:off x="640000" y="300000"/>
            <a:ext cx="9000000" cy="24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240">
                <a:solidFill>
                  <a:srgbClr val="74A6FF"/>
                </a:solidFill>
                <a:latin typeface="Segoe UI Semibold"/>
              </a:rPr>
              <a:t>CIERRE DE LA CLASE</a:t>
            </a:r>
          </a:p>
        </p:txBody>
      </p:sp>
      <p:sp>
        <p:nvSpPr>
          <p:cNvPr id="6" name="TextBox 5"/>
          <p:cNvSpPr txBox="1"/>
          <p:nvPr/>
        </p:nvSpPr>
        <p:spPr>
          <a:xfrm>
            <a:off x="640000" y="1560000"/>
            <a:ext cx="9200000" cy="900000"/>
          </a:xfrm>
          <a:prstGeom prst="rect">
            <a:avLst/>
          </a:prstGeom>
          <a:noFill/>
        </p:spPr>
        <p:txBody>
          <a:bodyPr wrap="square" anchor="t" lIns="0" rIns="0" tIns="0" bIns="0">
            <a:noAutofit/>
          </a:bodyPr>
          <a:lstStyle/>
          <a:p>
            <a:pPr algn="l" marL="0" indent="0">
              <a:lnSpc>
                <a:spcPct val="104000"/>
              </a:lnSpc>
              <a:spcBef>
                <a:spcPts val="0"/>
              </a:spcBef>
              <a:spcAft>
                <a:spcPts val="0"/>
              </a:spcAft>
              <a:buNone/>
            </a:pPr>
            <a:r>
              <a:rPr sz="4400" b="0" i="0">
                <a:solidFill>
                  <a:srgbClr val="F3F6FC"/>
                </a:solidFill>
                <a:latin typeface="Segoe UI Light"/>
              </a:rPr>
              <a:t>Clase 5 completada</a:t>
            </a:r>
          </a:p>
        </p:txBody>
      </p:sp>
      <p:sp>
        <p:nvSpPr>
          <p:cNvPr id="7" name="Rectangle 6"/>
          <p:cNvSpPr/>
          <p:nvPr/>
        </p:nvSpPr>
        <p:spPr>
          <a:xfrm>
            <a:off x="644000" y="2560000"/>
            <a:ext cx="620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8" name="TextBox 7"/>
          <p:cNvSpPr txBox="1"/>
          <p:nvPr/>
        </p:nvSpPr>
        <p:spPr>
          <a:xfrm>
            <a:off x="640000" y="2820000"/>
            <a:ext cx="9752000" cy="2600000"/>
          </a:xfrm>
          <a:prstGeom prst="rect">
            <a:avLst/>
          </a:prstGeom>
          <a:noFill/>
        </p:spPr>
        <p:txBody>
          <a:bodyPr wrap="square" anchor="t" lIns="0" rIns="0" tIns="0" bIns="0">
            <a:noAutofit/>
          </a:bodyPr>
          <a:lstStyle/>
          <a:p>
            <a:pPr algn="l" marL="0" indent="0">
              <a:lnSpc>
                <a:spcPct val="132000"/>
              </a:lnSpc>
              <a:spcBef>
                <a:spcPts val="0"/>
              </a:spcBef>
              <a:spcAft>
                <a:spcPts val="1400"/>
              </a:spcAft>
              <a:buNone/>
            </a:pPr>
            <a:r>
              <a:rPr sz="1500" b="0" i="0">
                <a:solidFill>
                  <a:srgbClr val="BDC9DB"/>
                </a:solidFill>
                <a:latin typeface="Segoe UI"/>
              </a:rPr>
              <a:t>Ya sabes publicar aplicaciones y controlar el tráfico entre ellas.</a:t>
            </a:r>
          </a:p>
          <a:p>
            <a:pPr algn="l" marL="0" indent="0">
              <a:lnSpc>
                <a:spcPct val="132000"/>
              </a:lnSpc>
              <a:spcBef>
                <a:spcPts val="0"/>
              </a:spcBef>
              <a:spcAft>
                <a:spcPts val="1400"/>
              </a:spcAft>
              <a:buNone/>
            </a:pPr>
            <a:r>
              <a:rPr sz="1500" b="0" i="0">
                <a:solidFill>
                  <a:srgbClr val="BDC9DB"/>
                </a:solidFill>
                <a:latin typeface="Segoe UI"/>
              </a:rPr>
              <a:t>La Clase 6 no introduce temas nuevos: usa todo lo anterior contra escenarios rotos. Es el 30 % del examen y la razón por la que has hecho las cinco clases previas.</a:t>
            </a:r>
          </a:p>
          <a:p>
            <a:pPr algn="l" marL="0" indent="0">
              <a:lnSpc>
                <a:spcPct val="132000"/>
              </a:lnSpc>
              <a:spcBef>
                <a:spcPts val="0"/>
              </a:spcBef>
              <a:spcAft>
                <a:spcPts val="1400"/>
              </a:spcAft>
              <a:buNone/>
            </a:pPr>
            <a:r>
              <a:rPr sz="1500" b="0" i="0">
                <a:solidFill>
                  <a:srgbClr val="BDC9DB"/>
                </a:solidFill>
                <a:latin typeface="Segoe UI"/>
              </a:rPr>
              <a:t>Llega con los seis mental models frescos. Los vas a necesitar todos.</a:t>
            </a:r>
          </a:p>
        </p:txBody>
      </p:sp>
      <p:sp>
        <p:nvSpPr>
          <p:cNvPr id="9" name="Rectangle 8"/>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0" name="TextBox 9"/>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5</a:t>
            </a:r>
          </a:p>
        </p:txBody>
      </p:sp>
      <p:sp>
        <p:nvSpPr>
          <p:cNvPr id="11" name="TextBox 10"/>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Clase 5 — Services, Ingress, CoreDNS y NetworkPolicy</dc:title>
  <dc:subject>Clase 5 — Services, Ingress, CoreDNS y NetworkPolicy</dc:subject>
  <dc:creator>CKA Hands-On Training</dc:creator>
  <cp:keywords/>
  <dc:description>Generado con generador-diapositivas/</dc:description>
  <cp:lastModifiedBy>Steve Canny</cp:lastModifiedBy>
  <cp:revision>1</cp:revision>
  <dcterms:created xsi:type="dcterms:W3CDTF">2013-01-27T09:14:16Z</dcterms:created>
  <dcterms:modified xsi:type="dcterms:W3CDTF">2013-01-27T09:15:58Z</dcterms:modified>
  <cp:category/>
</cp:coreProperties>
</file>