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SESIÓN 14</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Entrega Continua: CI/CD, GitOps y Helm</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De un commit a un despliegue reproducible, sin tocar el cluster a mano</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Especial</a:t>
            </a:r>
          </a:p>
          <a:p>
            <a:pPr algn="l" marL="0" indent="0">
              <a:lnSpc>
                <a:spcPct val="100000"/>
              </a:lnSpc>
              <a:spcBef>
                <a:spcPts val="0"/>
              </a:spcBef>
              <a:spcAft>
                <a:spcPts val="0"/>
              </a:spcAft>
              <a:buNone/>
            </a:pPr>
            <a:r>
              <a:rPr sz="1000" b="1" i="0" spc="160">
                <a:solidFill>
                  <a:srgbClr val="8493AD"/>
                </a:solidFill>
                <a:latin typeface="Segoe UI Semibold"/>
              </a:rPr>
              <a:t>SESIÓN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4</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CI/CD · GitOps</a:t>
            </a:r>
          </a:p>
          <a:p>
            <a:pPr algn="l" marL="0" indent="0">
              <a:lnSpc>
                <a:spcPct val="100000"/>
              </a:lnSpc>
              <a:spcBef>
                <a:spcPts val="0"/>
              </a:spcBef>
              <a:spcAft>
                <a:spcPts val="0"/>
              </a:spcAft>
              <a:buNone/>
            </a:pPr>
            <a:r>
              <a:rPr sz="1000" b="1" i="0" spc="160">
                <a:solidFill>
                  <a:srgbClr val="8493AD"/>
                </a:solidFill>
                <a:latin typeface="Segoe UI Semibold"/>
              </a:rPr>
              <a:t>FLUJO</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Helm</a:t>
            </a:r>
          </a:p>
          <a:p>
            <a:pPr algn="l" marL="0" indent="0">
              <a:lnSpc>
                <a:spcPct val="100000"/>
              </a:lnSpc>
              <a:spcBef>
                <a:spcPts val="0"/>
              </a:spcBef>
              <a:spcAft>
                <a:spcPts val="0"/>
              </a:spcAft>
              <a:buNone/>
            </a:pPr>
            <a:r>
              <a:rPr sz="1000" b="1" i="0" spc="160">
                <a:solidFill>
                  <a:srgbClr val="8493AD"/>
                </a:solidFill>
                <a:latin typeface="Segoe UI Semibold"/>
              </a:rPr>
              <a:t>EMPAQUETADO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sesión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0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19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Describir las etapas de un pipeline de CI/CD y el papel de los runners.</a:t>
            </a:r>
          </a:p>
        </p:txBody>
      </p:sp>
      <p:sp>
        <p:nvSpPr>
          <p:cNvPr id="13" name="Oval 12"/>
          <p:cNvSpPr/>
          <p:nvPr/>
        </p:nvSpPr>
        <p:spPr>
          <a:xfrm>
            <a:off x="620000" y="26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4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Leer y escribir un workflow básico de GitHub Actions y su equivalente en GitLab CI.</a:t>
            </a:r>
          </a:p>
        </p:txBody>
      </p:sp>
      <p:sp>
        <p:nvSpPr>
          <p:cNvPr id="15" name="Oval 14"/>
          <p:cNvSpPr/>
          <p:nvPr/>
        </p:nvSpPr>
        <p:spPr>
          <a:xfrm>
            <a:off x="620000" y="31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0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Construir una imagen con build multi-stage y publicarla de forma segura en un registry.</a:t>
            </a:r>
          </a:p>
        </p:txBody>
      </p:sp>
      <p:sp>
        <p:nvSpPr>
          <p:cNvPr id="17" name="Oval 16"/>
          <p:cNvSpPr/>
          <p:nvPr/>
        </p:nvSpPr>
        <p:spPr>
          <a:xfrm>
            <a:off x="620000" y="37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6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Explicar la filosofía GitOps: Git como fuente de verdad y reconciliación automática.</a:t>
            </a:r>
          </a:p>
        </p:txBody>
      </p:sp>
      <p:sp>
        <p:nvSpPr>
          <p:cNvPr id="19" name="Oval 18"/>
          <p:cNvSpPr/>
          <p:nvPr/>
        </p:nvSpPr>
        <p:spPr>
          <a:xfrm>
            <a:off x="620000" y="43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1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Describir el ciclo de ArgoCD: Application, diff, sync, drift y self-heal.</a:t>
            </a:r>
          </a:p>
        </p:txBody>
      </p:sp>
      <p:sp>
        <p:nvSpPr>
          <p:cNvPr id="21" name="Oval 20"/>
          <p:cNvSpPr/>
          <p:nvPr/>
        </p:nvSpPr>
        <p:spPr>
          <a:xfrm>
            <a:off x="620000" y="48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47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Empaquetar una aplicación como un chart de Helm con values y plantillas.</a:t>
            </a:r>
          </a:p>
        </p:txBody>
      </p:sp>
      <p:sp>
        <p:nvSpPr>
          <p:cNvPr id="23" name="Oval 22"/>
          <p:cNvSpPr/>
          <p:nvPr/>
        </p:nvSpPr>
        <p:spPr>
          <a:xfrm>
            <a:off x="620000" y="54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4" name="TextBox 23"/>
          <p:cNvSpPr txBox="1"/>
          <p:nvPr/>
        </p:nvSpPr>
        <p:spPr>
          <a:xfrm>
            <a:off x="1120000" y="52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Usar helm install, upgrade, rollback, template y 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SESIÓN ESPECIAL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77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00–12</a:t>
            </a:r>
          </a:p>
        </p:txBody>
      </p:sp>
      <p:sp>
        <p:nvSpPr>
          <p:cNvPr id="12" name="Rectangle 11"/>
          <p:cNvSpPr/>
          <p:nvPr/>
        </p:nvSpPr>
        <p:spPr>
          <a:xfrm>
            <a:off x="2120000" y="195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77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De un commit a producción: el flujo completo</a:t>
            </a:r>
          </a:p>
        </p:txBody>
      </p:sp>
      <p:sp>
        <p:nvSpPr>
          <p:cNvPr id="14" name="TextBox 13"/>
          <p:cNvSpPr txBox="1"/>
          <p:nvPr/>
        </p:nvSpPr>
        <p:spPr>
          <a:xfrm>
            <a:off x="620000" y="224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12–34</a:t>
            </a:r>
          </a:p>
        </p:txBody>
      </p:sp>
      <p:sp>
        <p:nvSpPr>
          <p:cNvPr id="15" name="Rectangle 14"/>
          <p:cNvSpPr/>
          <p:nvPr/>
        </p:nvSpPr>
        <p:spPr>
          <a:xfrm>
            <a:off x="2120000" y="242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24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pipelines de CI/CD e imágenes seguras</a:t>
            </a:r>
          </a:p>
        </p:txBody>
      </p:sp>
      <p:sp>
        <p:nvSpPr>
          <p:cNvPr id="17" name="TextBox 16"/>
          <p:cNvSpPr txBox="1"/>
          <p:nvPr/>
        </p:nvSpPr>
        <p:spPr>
          <a:xfrm>
            <a:off x="620000" y="271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34–52</a:t>
            </a:r>
          </a:p>
        </p:txBody>
      </p:sp>
      <p:sp>
        <p:nvSpPr>
          <p:cNvPr id="18" name="Rectangle 17"/>
          <p:cNvSpPr/>
          <p:nvPr/>
        </p:nvSpPr>
        <p:spPr>
          <a:xfrm>
            <a:off x="2120000" y="289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2320000" y="271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GitOps y ArgoCD</a:t>
            </a:r>
          </a:p>
        </p:txBody>
      </p:sp>
      <p:sp>
        <p:nvSpPr>
          <p:cNvPr id="20" name="Rounded Rectangle 19"/>
          <p:cNvSpPr/>
          <p:nvPr/>
        </p:nvSpPr>
        <p:spPr>
          <a:xfrm>
            <a:off x="560000" y="322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20000" y="318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52–74</a:t>
            </a:r>
          </a:p>
        </p:txBody>
      </p:sp>
      <p:sp>
        <p:nvSpPr>
          <p:cNvPr id="22" name="Rectangle 21"/>
          <p:cNvSpPr/>
          <p:nvPr/>
        </p:nvSpPr>
        <p:spPr>
          <a:xfrm>
            <a:off x="2120000" y="336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2320000" y="318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14.1 — Básico: Helm de principio a fin</a:t>
            </a:r>
          </a:p>
        </p:txBody>
      </p:sp>
      <p:sp>
        <p:nvSpPr>
          <p:cNvPr id="24" name="Rounded Rectangle 23"/>
          <p:cNvSpPr/>
          <p:nvPr/>
        </p:nvSpPr>
        <p:spPr>
          <a:xfrm>
            <a:off x="560000" y="369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365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74–108</a:t>
            </a:r>
          </a:p>
        </p:txBody>
      </p:sp>
      <p:sp>
        <p:nvSpPr>
          <p:cNvPr id="26" name="Rectangle 25"/>
          <p:cNvSpPr/>
          <p:nvPr/>
        </p:nvSpPr>
        <p:spPr>
          <a:xfrm>
            <a:off x="2120000" y="383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2320000" y="365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14.2 — Intermedio: empaquetar GRATITUD como chart</a:t>
            </a:r>
          </a:p>
        </p:txBody>
      </p:sp>
      <p:sp>
        <p:nvSpPr>
          <p:cNvPr id="28" name="TextBox 27"/>
          <p:cNvSpPr txBox="1"/>
          <p:nvPr/>
        </p:nvSpPr>
        <p:spPr>
          <a:xfrm>
            <a:off x="620000" y="412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108–120</a:t>
            </a:r>
          </a:p>
        </p:txBody>
      </p:sp>
      <p:sp>
        <p:nvSpPr>
          <p:cNvPr id="29" name="Rectangle 28"/>
          <p:cNvSpPr/>
          <p:nvPr/>
        </p:nvSpPr>
        <p:spPr>
          <a:xfrm>
            <a:off x="2120000" y="430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2320000" y="412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plantillas, values y releases</a:t>
            </a:r>
          </a:p>
        </p:txBody>
      </p:sp>
      <p:sp>
        <p:nvSpPr>
          <p:cNvPr id="31" name="Rounded Rectangle 30"/>
          <p:cNvSpPr/>
          <p:nvPr/>
        </p:nvSpPr>
        <p:spPr>
          <a:xfrm>
            <a:off x="560000" y="463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620000" y="459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120–150</a:t>
            </a:r>
          </a:p>
        </p:txBody>
      </p:sp>
      <p:sp>
        <p:nvSpPr>
          <p:cNvPr id="33" name="Rectangle 32"/>
          <p:cNvSpPr/>
          <p:nvPr/>
        </p:nvSpPr>
        <p:spPr>
          <a:xfrm>
            <a:off x="2120000" y="477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2320000" y="459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14.3 — Avanzado: GRATITUD al estilo GitOps</a:t>
            </a:r>
          </a:p>
        </p:txBody>
      </p:sp>
      <p:sp>
        <p:nvSpPr>
          <p:cNvPr id="35" name="Rounded Rectangle 34"/>
          <p:cNvSpPr/>
          <p:nvPr/>
        </p:nvSpPr>
        <p:spPr>
          <a:xfrm>
            <a:off x="560000" y="510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6" name="TextBox 35"/>
          <p:cNvSpPr txBox="1"/>
          <p:nvPr/>
        </p:nvSpPr>
        <p:spPr>
          <a:xfrm>
            <a:off x="620000" y="506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150–170</a:t>
            </a:r>
          </a:p>
        </p:txBody>
      </p:sp>
      <p:sp>
        <p:nvSpPr>
          <p:cNvPr id="37" name="Rectangle 36"/>
          <p:cNvSpPr/>
          <p:nvPr/>
        </p:nvSpPr>
        <p:spPr>
          <a:xfrm>
            <a:off x="2120000" y="524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2320000" y="506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14.4 — Challenge: «el chart de GRATITUD no despliega»</a:t>
            </a:r>
          </a:p>
        </p:txBody>
      </p:sp>
      <p:sp>
        <p:nvSpPr>
          <p:cNvPr id="39" name="TextBox 38"/>
          <p:cNvSpPr txBox="1"/>
          <p:nvPr/>
        </p:nvSpPr>
        <p:spPr>
          <a:xfrm>
            <a:off x="620000" y="553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170–180</a:t>
            </a:r>
          </a:p>
        </p:txBody>
      </p:sp>
      <p:sp>
        <p:nvSpPr>
          <p:cNvPr id="40" name="Rectangle 39"/>
          <p:cNvSpPr/>
          <p:nvPr/>
        </p:nvSpPr>
        <p:spPr>
          <a:xfrm>
            <a:off x="2120000" y="571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TextBox 40"/>
          <p:cNvSpPr txBox="1"/>
          <p:nvPr/>
        </p:nvSpPr>
        <p:spPr>
          <a:xfrm>
            <a:off x="2320000" y="553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y CKA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ubernetes.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CI/CD</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Un pipeline convierte cada commit en un artefacto probado</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EL PIPELINE</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Etapas de un flujo de CI/CD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CI: checkout -&gt; build -&gt; test -&gt; scan -&gt; package. Un fallo detiene el pipeline.</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CD push: el pipeline hace kubectl/helm contra el cluster con credenciales del CI.</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CD pull (GitOps): el pipeline solo toca un repo de manifiestos; un agente en el cluster aplica.</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Runners efímeros, sin secretos de larga vida ni acceso permanente al cluster.</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ETAPAS COMO JOBS</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785366"/>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jobs:</a:t>
            </a:r>
          </a:p>
          <a:p>
            <a:pPr marL="0" indent="0">
              <a:lnSpc>
                <a:spcPct val="134000"/>
              </a:lnSpc>
              <a:spcAft>
                <a:spcPts val="0"/>
              </a:spcAft>
              <a:buNone/>
            </a:pPr>
            <a:r>
              <a:rPr sz="1100" b="0" i="0">
                <a:solidFill>
                  <a:srgbClr val="E6EDF3"/>
                </a:solidFill>
                <a:latin typeface="Consolas"/>
              </a:rPr>
              <a:t>  build: </a:t>
            </a:r>
            <a:r>
              <a:rPr sz="1100" b="0" i="1">
                <a:solidFill>
                  <a:srgbClr val="7C8AA5"/>
                </a:solidFill>
                <a:latin typeface="Consolas"/>
              </a:rPr>
              <a:t>  # construye la imagen</a:t>
            </a:r>
          </a:p>
          <a:p>
            <a:pPr marL="0" indent="0">
              <a:lnSpc>
                <a:spcPct val="134000"/>
              </a:lnSpc>
              <a:spcAft>
                <a:spcPts val="0"/>
              </a:spcAft>
              <a:buNone/>
            </a:pPr>
            <a:r>
              <a:rPr sz="1100" b="0" i="0">
                <a:solidFill>
                  <a:srgbClr val="E6EDF3"/>
                </a:solidFill>
                <a:latin typeface="Consolas"/>
              </a:rPr>
              <a:t>  test:  </a:t>
            </a:r>
            <a:r>
              <a:rPr sz="1100" b="0" i="1">
                <a:solidFill>
                  <a:srgbClr val="7C8AA5"/>
                </a:solidFill>
                <a:latin typeface="Consolas"/>
              </a:rPr>
              <a:t>  # needs: build</a:t>
            </a:r>
          </a:p>
          <a:p>
            <a:pPr marL="0" indent="0">
              <a:lnSpc>
                <a:spcPct val="134000"/>
              </a:lnSpc>
              <a:spcAft>
                <a:spcPts val="0"/>
              </a:spcAft>
              <a:buNone/>
            </a:pPr>
            <a:r>
              <a:rPr sz="1100" b="0" i="0">
                <a:solidFill>
                  <a:srgbClr val="E6EDF3"/>
                </a:solidFill>
                <a:latin typeface="Consolas"/>
              </a:rPr>
              <a:t>  scan:  </a:t>
            </a:r>
            <a:r>
              <a:rPr sz="1100" b="0" i="1">
                <a:solidFill>
                  <a:srgbClr val="7C8AA5"/>
                </a:solidFill>
                <a:latin typeface="Consolas"/>
              </a:rPr>
              <a:t>  # needs: build (Trivy)</a:t>
            </a:r>
          </a:p>
          <a:p>
            <a:pPr marL="0" indent="0">
              <a:lnSpc>
                <a:spcPct val="134000"/>
              </a:lnSpc>
              <a:spcAft>
                <a:spcPts val="0"/>
              </a:spcAft>
              <a:buNone/>
            </a:pPr>
            <a:r>
              <a:rPr sz="1100" b="0" i="0">
                <a:solidFill>
                  <a:srgbClr val="E6EDF3"/>
                </a:solidFill>
                <a:latin typeface="Consolas"/>
              </a:rPr>
              <a:t>  push:  </a:t>
            </a:r>
            <a:r>
              <a:rPr sz="1100" b="0" i="1">
                <a:solidFill>
                  <a:srgbClr val="7C8AA5"/>
                </a:solidFill>
                <a:latin typeface="Consolas"/>
              </a:rPr>
              <a:t>  # needs: [test, scan]</a:t>
            </a:r>
          </a:p>
          <a:p>
            <a:pPr marL="0" indent="0">
              <a:lnSpc>
                <a:spcPct val="134000"/>
              </a:lnSpc>
              <a:spcAft>
                <a:spcPts val="0"/>
              </a:spcAft>
              <a:buNone/>
            </a:pPr>
            <a:r>
              <a:rPr sz="1100" b="0" i="0">
                <a:solidFill>
                  <a:srgbClr val="E6EDF3"/>
                </a:solidFill>
                <a:latin typeface="Consolas"/>
              </a:rPr>
              <a:t>  deploy:</a:t>
            </a:r>
            <a:r>
              <a:rPr sz="1100" b="0" i="1">
                <a:solidFill>
                  <a:srgbClr val="7C8AA5"/>
                </a:solidFill>
                <a:latin typeface="Consolas"/>
              </a:rPr>
              <a:t>  # needs: push</a:t>
            </a:r>
          </a:p>
          <a:p>
            <a:pPr marL="0" indent="0">
              <a:lnSpc>
                <a:spcPct val="134000"/>
              </a:lnSpc>
              <a:spcAft>
                <a:spcPts val="0"/>
              </a:spcAft>
              <a:buNone/>
            </a:pPr>
            <a:r>
              <a:rPr sz="1100" b="0" i="1">
                <a:solidFill>
                  <a:srgbClr val="7C8AA5"/>
                </a:solidFill>
                <a:latin typeface="Consolas"/>
              </a:rPr>
              <a:t>           # push -&gt; kubectl/helm</a:t>
            </a:r>
          </a:p>
          <a:p>
            <a:pPr marL="0" indent="0">
              <a:lnSpc>
                <a:spcPct val="134000"/>
              </a:lnSpc>
              <a:spcAft>
                <a:spcPts val="0"/>
              </a:spcAft>
              <a:buNone/>
            </a:pPr>
            <a:r>
              <a:rPr sz="1100" b="0" i="1">
                <a:solidFill>
                  <a:srgbClr val="7C8AA5"/>
                </a:solidFill>
                <a:latin typeface="Consolas"/>
              </a:rPr>
              <a:t>           # o pull -&gt; commit al repo</a:t>
            </a:r>
          </a:p>
          <a:p>
            <a:pPr marL="0" indent="0">
              <a:lnSpc>
                <a:spcPct val="134000"/>
              </a:lnSpc>
              <a:spcAft>
                <a:spcPts val="0"/>
              </a:spcAft>
              <a:buNone/>
            </a:pPr>
            <a:r>
              <a:rPr sz="1100" b="0" i="1">
                <a:solidFill>
                  <a:srgbClr val="7C8AA5"/>
                </a:solidFill>
                <a:latin typeface="Consolas"/>
              </a:rPr>
              <a:t>           #           de manifiestos</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Integración continua (CI): cada push a la rama dispara un pipeline que valida el cambio de forma automática. Etapas típicas: checkout, build (compilar o construir la imagen), test (unitarios, integración), análisis estático y de seguridad (linters, escaneo de dependencias y de la imagen), y package (dejar un artefacto versionado: una imagen en un registry, un chart empaquetado). Si algo falla, el pipeline se detiene y el cambio no avanza.</a:t>
            </a:r>
          </a:p>
          <a:p>
            <a:pPr algn="l" marL="0" indent="0">
              <a:lnSpc>
                <a:spcPct val="128000"/>
              </a:lnSpc>
              <a:spcBef>
                <a:spcPts val="0"/>
              </a:spcBef>
              <a:spcAft>
                <a:spcPts val="400"/>
              </a:spcAft>
              <a:buNone/>
            </a:pPr>
            <a:r>
              <a:rPr sz="1000" b="0" i="0">
                <a:solidFill>
                  <a:srgbClr val="BDC9DB"/>
                </a:solidFill>
                <a:latin typeface="Segoe UI"/>
              </a:rPr>
              <a:t>Entrega/Despliegue continuo (CD): a partir de un artefacto validado, se lleva a un entorno. En el modelo push, el propio pipeline ejecuta kubectl o helm contra el cluster con credenciales guardadas en el sistema de CI. En el modelo pull (GitOps), el pipeline solo actualiza un repositorio de manifiestos y un agente dentro del cluster aplica el cambio.</a:t>
            </a:r>
          </a:p>
          <a:p>
            <a:pPr algn="l" marL="0" indent="0">
              <a:lnSpc>
                <a:spcPct val="128000"/>
              </a:lnSpc>
              <a:spcBef>
                <a:spcPts val="0"/>
              </a:spcBef>
              <a:spcAft>
                <a:spcPts val="400"/>
              </a:spcAft>
              <a:buNone/>
            </a:pPr>
            <a:r>
              <a:rPr sz="1000" b="0" i="0">
                <a:solidFill>
                  <a:srgbClr val="BDC9DB"/>
                </a:solidFill>
                <a:latin typeface="Segoe UI"/>
              </a:rPr>
              <a:t>Los runners son las máquinas que ejecutan los jobs: efímeros (un contenedor por job, estado limpio) o fijos. GitHub Actions los llama runners; GitLab CI, runners también, con distintos executors (docker, kubernetes, shell). La regla de oro: el pipeline no debe tener secretos de larga vida ni acceso permanente al cluster.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DOS SINTAXIS, LA MISMA IDEA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GitHub Actions frente a GitLab CI</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sp>
        <p:nvSpPr>
          <p:cNvPr id="8" name="Freeform 7"/>
          <p:cNvSpPr/>
          <p:nvPr/>
        </p:nvSpPr>
        <p:spPr>
          <a:xfrm>
            <a:off x="11034400" y="300600"/>
            <a:ext cx="448000" cy="588800"/>
          </a:xfrm>
          <a:custGeom>
            <a:avLst/>
            <a:gdLst/>
            <a:ahLst/>
            <a:cxnLst/>
            <a:rect l="l" t="t" r="r" b="b"/>
            <a:pathLst>
              <a:path w="448000" h="588800">
                <a:moveTo>
                  <a:pt x="0" y="0"/>
                </a:moveTo>
                <a:lnTo>
                  <a:pt x="345600" y="0"/>
                </a:lnTo>
                <a:lnTo>
                  <a:pt x="448000" y="102400"/>
                </a:lnTo>
                <a:lnTo>
                  <a:pt x="448000" y="588800"/>
                </a:lnTo>
                <a:lnTo>
                  <a:pt x="0" y="588800"/>
                </a:lnTo>
                <a:close/>
              </a:path>
            </a:pathLst>
          </a:cu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380000" y="300600"/>
            <a:ext cx="0" cy="1024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80000" y="403000"/>
            <a:ext cx="1024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11200" y="5438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11200" y="6462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111200" y="7486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0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644000" y="1564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880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GitHub Actions</a:t>
            </a:r>
          </a:p>
          <a:p>
            <a:pPr algn="l" marL="0" indent="0">
              <a:lnSpc>
                <a:spcPct val="112000"/>
              </a:lnSpc>
              <a:spcBef>
                <a:spcPts val="0"/>
              </a:spcBef>
              <a:spcAft>
                <a:spcPts val="0"/>
              </a:spcAft>
              <a:buNone/>
            </a:pPr>
            <a:r>
              <a:rPr sz="1100" b="0" i="1">
                <a:solidFill>
                  <a:srgbClr val="8493AD"/>
                </a:solidFill>
                <a:latin typeface="Segoe UI"/>
              </a:rPr>
              <a:t>.github/workflows/*.yml</a:t>
            </a:r>
          </a:p>
        </p:txBody>
      </p:sp>
      <p:sp>
        <p:nvSpPr>
          <p:cNvPr id="17" name="TextBox 16"/>
          <p:cNvSpPr txBox="1"/>
          <p:nvPr/>
        </p:nvSpPr>
        <p:spPr>
          <a:xfrm>
            <a:off x="880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on: (push, pull_request, schedule, workflow_dispatch).</a:t>
            </a:r>
          </a:p>
          <a:p>
            <a:pPr algn="l" marL="182880" indent="-182880">
              <a:lnSpc>
                <a:spcPct val="116000"/>
              </a:lnSpc>
              <a:spcBef>
                <a:spcPts val="0"/>
              </a:spcBef>
              <a:spcAft>
                <a:spcPts val="800"/>
              </a:spcAft>
              <a:buFont typeface="Arial"/>
              <a:buChar char="•"/>
            </a:pPr>
            <a:r>
              <a:rPr sz="1100" b="0" i="0">
                <a:solidFill>
                  <a:srgbClr val="BDC9DB"/>
                </a:solidFill>
                <a:latin typeface="Segoe UI"/>
              </a:rPr>
              <a:t>jobs -&gt; steps; steps usan actions (uses:) o run:.</a:t>
            </a:r>
          </a:p>
          <a:p>
            <a:pPr algn="l" marL="182880" indent="-182880">
              <a:lnSpc>
                <a:spcPct val="116000"/>
              </a:lnSpc>
              <a:spcBef>
                <a:spcPts val="0"/>
              </a:spcBef>
              <a:spcAft>
                <a:spcPts val="800"/>
              </a:spcAft>
              <a:buFont typeface="Arial"/>
              <a:buChar char="•"/>
            </a:pPr>
            <a:r>
              <a:rPr sz="1100" b="0" i="0">
                <a:solidFill>
                  <a:srgbClr val="BDC9DB"/>
                </a:solidFill>
                <a:latin typeface="Segoe UI"/>
              </a:rPr>
              <a:t>Paralelo por defecto; needs: encadena.</a:t>
            </a:r>
          </a:p>
          <a:p>
            <a:pPr algn="l" marL="182880" indent="-182880">
              <a:lnSpc>
                <a:spcPct val="116000"/>
              </a:lnSpc>
              <a:spcBef>
                <a:spcPts val="0"/>
              </a:spcBef>
              <a:spcAft>
                <a:spcPts val="800"/>
              </a:spcAft>
              <a:buFont typeface="Arial"/>
              <a:buChar char="•"/>
            </a:pPr>
            <a:r>
              <a:rPr sz="1100" b="0" i="0">
                <a:solidFill>
                  <a:srgbClr val="BDC9DB"/>
                </a:solidFill>
                <a:latin typeface="Segoe UI"/>
              </a:rPr>
              <a:t>Secretos: repo/org/environment; OIDC para tokens efímeros.</a:t>
            </a:r>
          </a:p>
        </p:txBody>
      </p:sp>
      <p:sp>
        <p:nvSpPr>
          <p:cNvPr id="18" name="Rounded Rectangle 17"/>
          <p:cNvSpPr/>
          <p:nvPr/>
        </p:nvSpPr>
        <p:spPr>
          <a:xfrm>
            <a:off x="6256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80000" y="1564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6516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GitLab CI</a:t>
            </a:r>
          </a:p>
          <a:p>
            <a:pPr algn="l" marL="0" indent="0">
              <a:lnSpc>
                <a:spcPct val="112000"/>
              </a:lnSpc>
              <a:spcBef>
                <a:spcPts val="0"/>
              </a:spcBef>
              <a:spcAft>
                <a:spcPts val="0"/>
              </a:spcAft>
              <a:buNone/>
            </a:pPr>
            <a:r>
              <a:rPr sz="1100" b="0" i="1">
                <a:solidFill>
                  <a:srgbClr val="8493AD"/>
                </a:solidFill>
                <a:latin typeface="Segoe UI"/>
              </a:rPr>
              <a:t>.gitlab-ci.yml</a:t>
            </a:r>
          </a:p>
        </p:txBody>
      </p:sp>
      <p:sp>
        <p:nvSpPr>
          <p:cNvPr id="21" name="TextBox 20"/>
          <p:cNvSpPr txBox="1"/>
          <p:nvPr/>
        </p:nvSpPr>
        <p:spPr>
          <a:xfrm>
            <a:off x="6516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stages: ordenados; cada job va a un stage.</a:t>
            </a:r>
          </a:p>
          <a:p>
            <a:pPr algn="l" marL="182880" indent="-182880">
              <a:lnSpc>
                <a:spcPct val="116000"/>
              </a:lnSpc>
              <a:spcBef>
                <a:spcPts val="0"/>
              </a:spcBef>
              <a:spcAft>
                <a:spcPts val="800"/>
              </a:spcAft>
              <a:buFont typeface="Arial"/>
              <a:buChar char="•"/>
            </a:pPr>
            <a:r>
              <a:rPr sz="1100" b="0" i="0">
                <a:solidFill>
                  <a:srgbClr val="BDC9DB"/>
                </a:solidFill>
                <a:latin typeface="Segoe UI"/>
              </a:rPr>
              <a:t>job: script: (+ image:, rules:, needs:).</a:t>
            </a:r>
          </a:p>
          <a:p>
            <a:pPr algn="l" marL="182880" indent="-182880">
              <a:lnSpc>
                <a:spcPct val="116000"/>
              </a:lnSpc>
              <a:spcBef>
                <a:spcPts val="0"/>
              </a:spcBef>
              <a:spcAft>
                <a:spcPts val="800"/>
              </a:spcAft>
              <a:buFont typeface="Arial"/>
              <a:buChar char="•"/>
            </a:pPr>
            <a:r>
              <a:rPr sz="1100" b="0" i="0">
                <a:solidFill>
                  <a:srgbClr val="BDC9DB"/>
                </a:solidFill>
                <a:latin typeface="Segoe UI"/>
              </a:rPr>
              <a:t>Mismo stage en paralelo; stages en secuencia.</a:t>
            </a:r>
          </a:p>
          <a:p>
            <a:pPr algn="l" marL="182880" indent="-182880">
              <a:lnSpc>
                <a:spcPct val="116000"/>
              </a:lnSpc>
              <a:spcBef>
                <a:spcPts val="0"/>
              </a:spcBef>
              <a:spcAft>
                <a:spcPts val="800"/>
              </a:spcAft>
              <a:buFont typeface="Arial"/>
              <a:buChar char="•"/>
            </a:pPr>
            <a:r>
              <a:rPr sz="1100" b="0" i="0">
                <a:solidFill>
                  <a:srgbClr val="BDC9DB"/>
                </a:solidFill>
                <a:latin typeface="Segoe UI"/>
              </a:rPr>
              <a:t>Variables de CI enmascaradas; OIDC / JWT del job.</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GitHub Actions organiza el trabajo en workflows (ficheros YAML en .github/workflows/). Cada workflow tiene un disparador on:, uno o varios jobs, y cada job una lista de steps que ejecutan actions reutilizables (uses:) o comandos (run:). Los jobs corren en paralelo salvo que se encadenen con needs:.</a:t>
            </a:r>
          </a:p>
          <a:p>
            <a:pPr algn="l" marL="0" indent="0">
              <a:lnSpc>
                <a:spcPct val="128000"/>
              </a:lnSpc>
              <a:spcBef>
                <a:spcPts val="0"/>
              </a:spcBef>
              <a:spcAft>
                <a:spcPts val="400"/>
              </a:spcAft>
              <a:buNone/>
            </a:pPr>
            <a:r>
              <a:rPr sz="1050" b="0" i="0">
                <a:solidFill>
                  <a:srgbClr val="BDC9DB"/>
                </a:solidFill>
                <a:latin typeface="Segoe UI"/>
              </a:rPr>
              <a:t>GitLab CI usa un único fichero .gitlab-ci.yml con stages ordenados y jobs asignados a un stage; los jobs del mismo stage van en paralelo y los stages en secuencia. Cada job define script:, y opcionalmente image:, rules: y needs: para saltarse el orden de stages.</a:t>
            </a:r>
          </a:p>
          <a:p>
            <a:pPr algn="l" marL="0" indent="0">
              <a:lnSpc>
                <a:spcPct val="128000"/>
              </a:lnSpc>
              <a:spcBef>
                <a:spcPts val="0"/>
              </a:spcBef>
              <a:spcAft>
                <a:spcPts val="400"/>
              </a:spcAft>
              <a:buNone/>
            </a:pPr>
            <a:r>
              <a:rPr sz="1050" b="0" i="0">
                <a:solidFill>
                  <a:srgbClr val="BDC9DB"/>
                </a:solidFill>
                <a:latin typeface="Segoe UI"/>
              </a:rPr>
              <a:t>En ambos, los secretos se inyectan como variables (secrets de repositorio / CI variables enmascaradas) y lo recomendable hoy es autenticación federada (OIDC): el pipeline pide un token de corta duración al registry o al cloud en el momento, sin guardar credenciales permanentes.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IMÁGENES SEGURAS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Construir y publicar sin dejar la puerta abierta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Build multi-stage: la imagen final solo lleva lo necesario para ejecutar.</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Etiqueta con SHA/semver; despliega por digest (inmutable). latest no es una versión.</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Escanea (Trivy) y falla ante CVE críticos; firma (cosign) y genera SBOM.</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Publica con cuenta de robot o token OIDC de corta duración, nunca credenciales personales.</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DOCKERFILE MULTI-STAGE</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785366"/>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FROM golang:1.23 AS build</a:t>
            </a:r>
          </a:p>
          <a:p>
            <a:pPr marL="0" indent="0">
              <a:lnSpc>
                <a:spcPct val="134000"/>
              </a:lnSpc>
              <a:spcAft>
                <a:spcPts val="0"/>
              </a:spcAft>
              <a:buNone/>
            </a:pPr>
            <a:r>
              <a:rPr sz="1100" b="0" i="0">
                <a:solidFill>
                  <a:srgbClr val="E6EDF3"/>
                </a:solidFill>
                <a:latin typeface="Consolas"/>
              </a:rPr>
              <a:t>WORKDIR /src</a:t>
            </a:r>
          </a:p>
          <a:p>
            <a:pPr marL="0" indent="0">
              <a:lnSpc>
                <a:spcPct val="134000"/>
              </a:lnSpc>
              <a:spcAft>
                <a:spcPts val="0"/>
              </a:spcAft>
              <a:buNone/>
            </a:pPr>
            <a:r>
              <a:rPr sz="1100" b="0" i="0">
                <a:solidFill>
                  <a:srgbClr val="E6EDF3"/>
                </a:solidFill>
                <a:latin typeface="Consolas"/>
              </a:rPr>
              <a:t>COPY . .</a:t>
            </a:r>
          </a:p>
          <a:p>
            <a:pPr marL="0" indent="0">
              <a:lnSpc>
                <a:spcPct val="134000"/>
              </a:lnSpc>
              <a:spcAft>
                <a:spcPts val="0"/>
              </a:spcAft>
              <a:buNone/>
            </a:pPr>
            <a:r>
              <a:rPr sz="1100" b="0" i="0">
                <a:solidFill>
                  <a:srgbClr val="E6EDF3"/>
                </a:solidFill>
                <a:latin typeface="Consolas"/>
              </a:rPr>
              <a:t>RUN CGO_ENABLED=0 go build -o /app ./cmd</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0">
                <a:solidFill>
                  <a:srgbClr val="E6EDF3"/>
                </a:solidFill>
                <a:latin typeface="Consolas"/>
              </a:rPr>
              <a:t>FROM gcr.io/distroless/static</a:t>
            </a:r>
          </a:p>
          <a:p>
            <a:pPr marL="0" indent="0">
              <a:lnSpc>
                <a:spcPct val="134000"/>
              </a:lnSpc>
              <a:spcAft>
                <a:spcPts val="0"/>
              </a:spcAft>
              <a:buNone/>
            </a:pPr>
            <a:r>
              <a:rPr sz="1100" b="0" i="0">
                <a:solidFill>
                  <a:srgbClr val="E6EDF3"/>
                </a:solidFill>
                <a:latin typeface="Consolas"/>
              </a:rPr>
              <a:t>COPY --from=build /app /app</a:t>
            </a:r>
          </a:p>
          <a:p>
            <a:pPr marL="0" indent="0">
              <a:lnSpc>
                <a:spcPct val="134000"/>
              </a:lnSpc>
              <a:spcAft>
                <a:spcPts val="0"/>
              </a:spcAft>
              <a:buNone/>
            </a:pPr>
            <a:r>
              <a:rPr sz="1100" b="0" i="0">
                <a:solidFill>
                  <a:srgbClr val="E6EDF3"/>
                </a:solidFill>
                <a:latin typeface="Consolas"/>
              </a:rPr>
              <a:t>USER 65532:65532</a:t>
            </a:r>
          </a:p>
          <a:p>
            <a:pPr marL="0" indent="0">
              <a:lnSpc>
                <a:spcPct val="134000"/>
              </a:lnSpc>
              <a:spcAft>
                <a:spcPts val="0"/>
              </a:spcAft>
              <a:buNone/>
            </a:pPr>
            <a:r>
              <a:rPr sz="1100" b="0" i="0">
                <a:solidFill>
                  <a:srgbClr val="E6EDF3"/>
                </a:solidFill>
                <a:latin typeface="Consolas"/>
              </a:rPr>
              <a:t>ENTRYPOINT ["/app"]</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Build multi-stage: una etapa con el toolchain compila o instala dependencias; la imagen final COPIA solo el binario o los artefactos a una base mínima (distroless, alpine). Resultado: menos superficie, menos CVEs, imagen más pequeña. La imagen final no debería traer compiladores, gestores de paquetes ni shell si no hacen falta.</a:t>
            </a:r>
          </a:p>
          <a:p>
            <a:pPr algn="l" marL="0" indent="0">
              <a:lnSpc>
                <a:spcPct val="128000"/>
              </a:lnSpc>
              <a:spcBef>
                <a:spcPts val="0"/>
              </a:spcBef>
              <a:spcAft>
                <a:spcPts val="400"/>
              </a:spcAft>
              <a:buNone/>
            </a:pPr>
            <a:r>
              <a:rPr sz="1000" b="0" i="0">
                <a:solidFill>
                  <a:srgbClr val="BDC9DB"/>
                </a:solidFill>
                <a:latin typeface="Segoe UI"/>
              </a:rPr>
              <a:t>Identidad inmutable: etiqueta con una versión concreta (git SHA, semver) y, para el despliegue, referencia por digest (imagen@sha256:...). Un tag como latest o incluso v1 puede cambiar bajo tus pies; el digest no. Escanea la imagen en el pipeline (Trivy, Grype) y falla si hay vulnerabilidades críticas. Firma la imagen (cosign) y genera su SBOM para poder auditar qué contiene.</a:t>
            </a:r>
          </a:p>
          <a:p>
            <a:pPr algn="l" marL="0" indent="0">
              <a:lnSpc>
                <a:spcPct val="128000"/>
              </a:lnSpc>
              <a:spcBef>
                <a:spcPts val="0"/>
              </a:spcBef>
              <a:spcAft>
                <a:spcPts val="400"/>
              </a:spcAft>
              <a:buNone/>
            </a:pPr>
            <a:r>
              <a:rPr sz="1000" b="0" i="0">
                <a:solidFill>
                  <a:srgbClr val="BDC9DB"/>
                </a:solidFill>
                <a:latin typeface="Segoe UI"/>
              </a:rPr>
              <a:t>Publicación segura en el registry institucional: nada de un usuario personal con contraseña en el YAML. Se usa una cuenta de robot con permiso solo de push a ese repositorio, o mejor un token de corta duración obtenido por OIDC en el job. En el cluster, la descarga usa un imagePullSecret (o la identidad del nodo en la nube). El registry debería exigir imágenes firmadas.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EJEMPLO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Workflow de GitHub Actions: build → scan → push</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92547"/>
            <a:ext cx="10952000" cy="4234906"/>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492547"/>
            <a:ext cx="46000" cy="423490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612547"/>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.GITHUB/WORKFLOWS/IMAGEN.YML</a:t>
            </a:r>
          </a:p>
        </p:txBody>
      </p:sp>
      <p:sp>
        <p:nvSpPr>
          <p:cNvPr id="12" name="TextBox 11"/>
          <p:cNvSpPr txBox="1"/>
          <p:nvPr/>
        </p:nvSpPr>
        <p:spPr>
          <a:xfrm>
            <a:off x="890000" y="1892547"/>
            <a:ext cx="10412000" cy="3774906"/>
          </a:xfrm>
          <a:prstGeom prst="rect">
            <a:avLst/>
          </a:prstGeom>
          <a:noFill/>
        </p:spPr>
        <p:txBody>
          <a:bodyPr wrap="square" anchor="t" lIns="0" rIns="0" tIns="0" bIns="0">
            <a:noAutofit/>
          </a:bodyPr>
          <a:lstStyle/>
          <a:p>
            <a:pPr marL="0" indent="0">
              <a:lnSpc>
                <a:spcPct val="134000"/>
              </a:lnSpc>
              <a:spcAft>
                <a:spcPts val="0"/>
              </a:spcAft>
              <a:buNone/>
            </a:pPr>
            <a:r>
              <a:rPr sz="1050" b="0" i="0">
                <a:solidFill>
                  <a:srgbClr val="E6EDF3"/>
                </a:solidFill>
                <a:latin typeface="Consolas"/>
              </a:rPr>
              <a:t>on: {push: {branches: [main]}}</a:t>
            </a:r>
          </a:p>
          <a:p>
            <a:pPr marL="0" indent="0">
              <a:lnSpc>
                <a:spcPct val="134000"/>
              </a:lnSpc>
              <a:spcAft>
                <a:spcPts val="0"/>
              </a:spcAft>
              <a:buNone/>
            </a:pPr>
            <a:r>
              <a:rPr sz="1050" b="0" i="0">
                <a:solidFill>
                  <a:srgbClr val="E6EDF3"/>
                </a:solidFill>
                <a:latin typeface="Consolas"/>
              </a:rPr>
              <a:t>permissions: {contents: read, id-token: write, packages: write} </a:t>
            </a:r>
            <a:r>
              <a:rPr sz="1050" b="0" i="1">
                <a:solidFill>
                  <a:srgbClr val="7C8AA5"/>
                </a:solidFill>
                <a:latin typeface="Consolas"/>
              </a:rPr>
              <a:t>  # OIDC</a:t>
            </a:r>
          </a:p>
          <a:p>
            <a:pPr marL="0" indent="0">
              <a:lnSpc>
                <a:spcPct val="134000"/>
              </a:lnSpc>
              <a:spcAft>
                <a:spcPts val="0"/>
              </a:spcAft>
              <a:buNone/>
            </a:pPr>
            <a:r>
              <a:rPr sz="1050" b="0" i="0">
                <a:solidFill>
                  <a:srgbClr val="E6EDF3"/>
                </a:solidFill>
                <a:latin typeface="Consolas"/>
              </a:rPr>
              <a:t>jobs:</a:t>
            </a:r>
          </a:p>
          <a:p>
            <a:pPr marL="0" indent="0">
              <a:lnSpc>
                <a:spcPct val="134000"/>
              </a:lnSpc>
              <a:spcAft>
                <a:spcPts val="0"/>
              </a:spcAft>
              <a:buNone/>
            </a:pPr>
            <a:r>
              <a:rPr sz="1050" b="0" i="0">
                <a:solidFill>
                  <a:srgbClr val="E6EDF3"/>
                </a:solidFill>
                <a:latin typeface="Consolas"/>
              </a:rPr>
              <a:t>  imagen:</a:t>
            </a:r>
          </a:p>
          <a:p>
            <a:pPr marL="0" indent="0">
              <a:lnSpc>
                <a:spcPct val="134000"/>
              </a:lnSpc>
              <a:spcAft>
                <a:spcPts val="0"/>
              </a:spcAft>
              <a:buNone/>
            </a:pPr>
            <a:r>
              <a:rPr sz="1050" b="0" i="0">
                <a:solidFill>
                  <a:srgbClr val="E6EDF3"/>
                </a:solidFill>
                <a:latin typeface="Consolas"/>
              </a:rPr>
              <a:t>    runs-on: ubuntu-latest</a:t>
            </a:r>
          </a:p>
          <a:p>
            <a:pPr marL="0" indent="0">
              <a:lnSpc>
                <a:spcPct val="134000"/>
              </a:lnSpc>
              <a:spcAft>
                <a:spcPts val="0"/>
              </a:spcAft>
              <a:buNone/>
            </a:pPr>
            <a:r>
              <a:rPr sz="1050" b="0" i="0">
                <a:solidFill>
                  <a:srgbClr val="E6EDF3"/>
                </a:solidFill>
                <a:latin typeface="Consolas"/>
              </a:rPr>
              <a:t>    steps:</a:t>
            </a:r>
          </a:p>
          <a:p>
            <a:pPr marL="0" indent="0">
              <a:lnSpc>
                <a:spcPct val="134000"/>
              </a:lnSpc>
              <a:spcAft>
                <a:spcPts val="0"/>
              </a:spcAft>
              <a:buNone/>
            </a:pPr>
            <a:r>
              <a:rPr sz="1050" b="0" i="0">
                <a:solidFill>
                  <a:srgbClr val="E6EDF3"/>
                </a:solidFill>
                <a:latin typeface="Consolas"/>
              </a:rPr>
              <a:t>      - uses: actions/checkout@v4</a:t>
            </a:r>
          </a:p>
          <a:p>
            <a:pPr marL="0" indent="0">
              <a:lnSpc>
                <a:spcPct val="134000"/>
              </a:lnSpc>
              <a:spcAft>
                <a:spcPts val="0"/>
              </a:spcAft>
              <a:buNone/>
            </a:pPr>
            <a:r>
              <a:rPr sz="1050" b="0" i="0">
                <a:solidFill>
                  <a:srgbClr val="E6EDF3"/>
                </a:solidFill>
                <a:latin typeface="Consolas"/>
              </a:rPr>
              <a:t>      - uses: docker/setup-buildx-action@v3</a:t>
            </a:r>
          </a:p>
          <a:p>
            <a:pPr marL="0" indent="0">
              <a:lnSpc>
                <a:spcPct val="134000"/>
              </a:lnSpc>
              <a:spcAft>
                <a:spcPts val="0"/>
              </a:spcAft>
              <a:buNone/>
            </a:pPr>
            <a:r>
              <a:rPr sz="1050" b="0" i="0">
                <a:solidFill>
                  <a:srgbClr val="E6EDF3"/>
                </a:solidFill>
                <a:latin typeface="Consolas"/>
              </a:rPr>
              <a:t>      - name: Login (OIDC, sin password persistente)</a:t>
            </a:r>
          </a:p>
          <a:p>
            <a:pPr marL="0" indent="0">
              <a:lnSpc>
                <a:spcPct val="134000"/>
              </a:lnSpc>
              <a:spcAft>
                <a:spcPts val="0"/>
              </a:spcAft>
              <a:buNone/>
            </a:pPr>
            <a:r>
              <a:rPr sz="1050" b="0" i="0">
                <a:solidFill>
                  <a:srgbClr val="E6EDF3"/>
                </a:solidFill>
                <a:latin typeface="Consolas"/>
              </a:rPr>
              <a:t>        uses: docker/login-action@v3</a:t>
            </a:r>
          </a:p>
          <a:p>
            <a:pPr marL="0" indent="0">
              <a:lnSpc>
                <a:spcPct val="134000"/>
              </a:lnSpc>
              <a:spcAft>
                <a:spcPts val="0"/>
              </a:spcAft>
              <a:buNone/>
            </a:pPr>
            <a:r>
              <a:rPr sz="1050" b="0" i="0">
                <a:solidFill>
                  <a:srgbClr val="E6EDF3"/>
                </a:solidFill>
                <a:latin typeface="Consolas"/>
              </a:rPr>
              <a:t>        with: {registry: registry.gratitud.internal, username: robot$ci, password: ${{ steps.oidc.outputs.token }}}</a:t>
            </a:r>
          </a:p>
          <a:p>
            <a:pPr marL="0" indent="0">
              <a:lnSpc>
                <a:spcPct val="134000"/>
              </a:lnSpc>
              <a:spcAft>
                <a:spcPts val="0"/>
              </a:spcAft>
              <a:buNone/>
            </a:pPr>
            <a:r>
              <a:rPr sz="1050" b="0" i="0">
                <a:solidFill>
                  <a:srgbClr val="E6EDF3"/>
                </a:solidFill>
                <a:latin typeface="Consolas"/>
              </a:rPr>
              <a:t>      - name: Build</a:t>
            </a:r>
          </a:p>
          <a:p>
            <a:pPr marL="0" indent="0">
              <a:lnSpc>
                <a:spcPct val="134000"/>
              </a:lnSpc>
              <a:spcAft>
                <a:spcPts val="0"/>
              </a:spcAft>
              <a:buNone/>
            </a:pPr>
            <a:r>
              <a:rPr sz="1050" b="0" i="0">
                <a:solidFill>
                  <a:srgbClr val="E6EDF3"/>
                </a:solidFill>
                <a:latin typeface="Consolas"/>
              </a:rPr>
              <a:t>        run: docker build -t registry.gratitud.internal/api:${{ github.sha }} .</a:t>
            </a:r>
          </a:p>
          <a:p>
            <a:pPr marL="0" indent="0">
              <a:lnSpc>
                <a:spcPct val="134000"/>
              </a:lnSpc>
              <a:spcAft>
                <a:spcPts val="0"/>
              </a:spcAft>
              <a:buNone/>
            </a:pPr>
            <a:r>
              <a:rPr sz="1050" b="0" i="0">
                <a:solidFill>
                  <a:srgbClr val="E6EDF3"/>
                </a:solidFill>
                <a:latin typeface="Consolas"/>
              </a:rPr>
              <a:t>      - name: Scan</a:t>
            </a:r>
          </a:p>
          <a:p>
            <a:pPr marL="0" indent="0">
              <a:lnSpc>
                <a:spcPct val="134000"/>
              </a:lnSpc>
              <a:spcAft>
                <a:spcPts val="0"/>
              </a:spcAft>
              <a:buNone/>
            </a:pPr>
            <a:r>
              <a:rPr sz="1050" b="0" i="0">
                <a:solidFill>
                  <a:srgbClr val="E6EDF3"/>
                </a:solidFill>
                <a:latin typeface="Consolas"/>
              </a:rPr>
              <a:t>        run: trivy image --exit-code 1 --severity CRITICAL registry.gratitud.internal/api:${{ github.sha }}</a:t>
            </a:r>
          </a:p>
          <a:p>
            <a:pPr marL="0" indent="0">
              <a:lnSpc>
                <a:spcPct val="134000"/>
              </a:lnSpc>
              <a:spcAft>
                <a:spcPts val="0"/>
              </a:spcAft>
              <a:buNone/>
            </a:pPr>
            <a:r>
              <a:rPr sz="1050" b="0" i="0">
                <a:solidFill>
                  <a:srgbClr val="E6EDF3"/>
                </a:solidFill>
                <a:latin typeface="Consolas"/>
              </a:rPr>
              <a:t>      - name: Push</a:t>
            </a:r>
          </a:p>
          <a:p>
            <a:pPr marL="0" indent="0">
              <a:lnSpc>
                <a:spcPct val="134000"/>
              </a:lnSpc>
              <a:spcAft>
                <a:spcPts val="0"/>
              </a:spcAft>
              <a:buNone/>
            </a:pPr>
            <a:r>
              <a:rPr sz="1050" b="0" i="0">
                <a:solidFill>
                  <a:srgbClr val="E6EDF3"/>
                </a:solidFill>
                <a:latin typeface="Consolas"/>
              </a:rPr>
              <a:t>        run: docker push registry.gratitud.internal/api:${{ github.sha }}</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El deploy NO va aquí: en GitOps, un job aparte hace commit del nuevo digest al repo de manifiestos y ArgoCD se encarga del resto.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ubernetes.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GitOps y ArgoCD</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El estado deseado vive en Git; un agente lo hace realidad</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FILOSOFÍA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Cuatro principios de GitOps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estado deseado se declara y versiona en Git. Nada de cambios manuales en el cluster.</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Se aplica solo. Un agente reconcilia lo desplegado contra lo que dice Git.</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Drift: si editas a mano, el agente lo detecta; con self-heal, lo revierte.</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Modelo pull: el agente vive en el cluster y tira de Git. El CI no toca el cluster.</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APPLICATION DE ARGOCD</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8374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kind: Application</a:t>
            </a:r>
          </a:p>
          <a:p>
            <a:pPr marL="0" indent="0">
              <a:lnSpc>
                <a:spcPct val="134000"/>
              </a:lnSpc>
              <a:spcAft>
                <a:spcPts val="0"/>
              </a:spcAft>
              <a:buNone/>
            </a:pPr>
            <a:r>
              <a:rPr sz="1100" b="0" i="0">
                <a:solidFill>
                  <a:srgbClr val="E6EDF3"/>
                </a:solidFill>
                <a:latin typeface="Consolas"/>
              </a:rPr>
              <a:t>spec:</a:t>
            </a:r>
          </a:p>
          <a:p>
            <a:pPr marL="0" indent="0">
              <a:lnSpc>
                <a:spcPct val="134000"/>
              </a:lnSpc>
              <a:spcAft>
                <a:spcPts val="0"/>
              </a:spcAft>
              <a:buNone/>
            </a:pPr>
            <a:r>
              <a:rPr sz="1100" b="0" i="0">
                <a:solidFill>
                  <a:srgbClr val="E6EDF3"/>
                </a:solidFill>
                <a:latin typeface="Consolas"/>
              </a:rPr>
              <a:t>  source:</a:t>
            </a:r>
          </a:p>
          <a:p>
            <a:pPr marL="0" indent="0">
              <a:lnSpc>
                <a:spcPct val="134000"/>
              </a:lnSpc>
              <a:spcAft>
                <a:spcPts val="0"/>
              </a:spcAft>
              <a:buNone/>
            </a:pPr>
            <a:r>
              <a:rPr sz="1100" b="0" i="0">
                <a:solidFill>
                  <a:srgbClr val="E6EDF3"/>
                </a:solidFill>
                <a:latin typeface="Consolas"/>
              </a:rPr>
              <a:t>    repoURL: https://git/gratitud-manifests</a:t>
            </a:r>
          </a:p>
          <a:p>
            <a:pPr marL="0" indent="0">
              <a:lnSpc>
                <a:spcPct val="134000"/>
              </a:lnSpc>
              <a:spcAft>
                <a:spcPts val="0"/>
              </a:spcAft>
              <a:buNone/>
            </a:pPr>
            <a:r>
              <a:rPr sz="1100" b="0" i="0">
                <a:solidFill>
                  <a:srgbClr val="E6EDF3"/>
                </a:solidFill>
                <a:latin typeface="Consolas"/>
              </a:rPr>
              <a:t>    path: charts/gratitud</a:t>
            </a:r>
          </a:p>
          <a:p>
            <a:pPr marL="0" indent="0">
              <a:lnSpc>
                <a:spcPct val="134000"/>
              </a:lnSpc>
              <a:spcAft>
                <a:spcPts val="0"/>
              </a:spcAft>
              <a:buNone/>
            </a:pPr>
            <a:r>
              <a:rPr sz="1100" b="0" i="0">
                <a:solidFill>
                  <a:srgbClr val="E6EDF3"/>
                </a:solidFill>
                <a:latin typeface="Consolas"/>
              </a:rPr>
              <a:t>    targetRevision: main</a:t>
            </a:r>
          </a:p>
          <a:p>
            <a:pPr marL="0" indent="0">
              <a:lnSpc>
                <a:spcPct val="134000"/>
              </a:lnSpc>
              <a:spcAft>
                <a:spcPts val="0"/>
              </a:spcAft>
              <a:buNone/>
            </a:pPr>
            <a:r>
              <a:rPr sz="1100" b="0" i="0">
                <a:solidFill>
                  <a:srgbClr val="E6EDF3"/>
                </a:solidFill>
                <a:latin typeface="Consolas"/>
              </a:rPr>
              <a:t>  destination:</a:t>
            </a:r>
          </a:p>
          <a:p>
            <a:pPr marL="0" indent="0">
              <a:lnSpc>
                <a:spcPct val="134000"/>
              </a:lnSpc>
              <a:spcAft>
                <a:spcPts val="0"/>
              </a:spcAft>
              <a:buNone/>
            </a:pPr>
            <a:r>
              <a:rPr sz="1100" b="0" i="0">
                <a:solidFill>
                  <a:srgbClr val="E6EDF3"/>
                </a:solidFill>
                <a:latin typeface="Consolas"/>
              </a:rPr>
              <a:t>    namespace: gratitud</a:t>
            </a:r>
          </a:p>
          <a:p>
            <a:pPr marL="0" indent="0">
              <a:lnSpc>
                <a:spcPct val="134000"/>
              </a:lnSpc>
              <a:spcAft>
                <a:spcPts val="0"/>
              </a:spcAft>
              <a:buNone/>
            </a:pPr>
            <a:r>
              <a:rPr sz="1100" b="0" i="0">
                <a:solidFill>
                  <a:srgbClr val="E6EDF3"/>
                </a:solidFill>
                <a:latin typeface="Consolas"/>
              </a:rPr>
              <a:t>  syncPolicy:</a:t>
            </a:r>
          </a:p>
          <a:p>
            <a:pPr marL="0" indent="0">
              <a:lnSpc>
                <a:spcPct val="134000"/>
              </a:lnSpc>
              <a:spcAft>
                <a:spcPts val="0"/>
              </a:spcAft>
              <a:buNone/>
            </a:pPr>
            <a:r>
              <a:rPr sz="1100" b="0" i="0">
                <a:solidFill>
                  <a:srgbClr val="E6EDF3"/>
                </a:solidFill>
                <a:latin typeface="Consolas"/>
              </a:rPr>
              <a:t>    automated: {prune: true, selfHeal: true}</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Uno: el estado deseado de todo el sistema (manifiestos, charts, config) se declara y se versiona en un repositorio Git. No hay cambios «a mano» en el cluster; el repo es la única fuente de verdad, con su historial, sus revisiones y sus reverts.</a:t>
            </a:r>
          </a:p>
          <a:p>
            <a:pPr algn="l" marL="0" indent="0">
              <a:lnSpc>
                <a:spcPct val="128000"/>
              </a:lnSpc>
              <a:spcBef>
                <a:spcPts val="0"/>
              </a:spcBef>
              <a:spcAft>
                <a:spcPts val="400"/>
              </a:spcAft>
              <a:buNone/>
            </a:pPr>
            <a:r>
              <a:rPr sz="1050" b="0" i="0">
                <a:solidFill>
                  <a:srgbClr val="BDC9DB"/>
                </a:solidFill>
                <a:latin typeface="Segoe UI"/>
              </a:rPr>
              <a:t>Dos: el estado se aplica de forma automática. Tres: un agente en el cluster compara continuamente lo que hay desplegado con lo que dice Git y corrige la diferencia (reconciliación). Si alguien edita un recurso a mano, el agente detecta el drift y —si tiene self-heal activado— lo revierte al estado de Git.</a:t>
            </a:r>
          </a:p>
          <a:p>
            <a:pPr algn="l" marL="0" indent="0">
              <a:lnSpc>
                <a:spcPct val="128000"/>
              </a:lnSpc>
              <a:spcBef>
                <a:spcPts val="0"/>
              </a:spcBef>
              <a:spcAft>
                <a:spcPts val="400"/>
              </a:spcAft>
              <a:buNone/>
            </a:pPr>
            <a:r>
              <a:rPr sz="1050" b="0" i="0">
                <a:solidFill>
                  <a:srgbClr val="BDC9DB"/>
                </a:solidFill>
                <a:latin typeface="Segoe UI"/>
              </a:rPr>
              <a:t>El modelo es pull, no push: el agente vive DENTRO del cluster y tira de Git; el pipeline de CI nunca necesita credenciales del cluster. Herramientas: ArgoCD (más orientado a UI y a la App como objeto de primera clase) y Flux (más componible, controllers separados). Un rollback es un git revert.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EL CICLO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Qué hace ArgoCD en cada vuelta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Git (estado deseado)</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Application CR</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Render (Helm / Kustomize)</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Diff vs. cluster</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Sync (+ prune / self-heal)</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LO QUE HAY QUE ENTENDER</a:t>
            </a:r>
          </a:p>
          <a:p>
            <a:pPr algn="l" marL="0" indent="0">
              <a:lnSpc>
                <a:spcPct val="128000"/>
              </a:lnSpc>
              <a:spcBef>
                <a:spcPts val="0"/>
              </a:spcBef>
              <a:spcAft>
                <a:spcPts val="400"/>
              </a:spcAft>
              <a:buNone/>
            </a:pPr>
            <a:r>
              <a:rPr sz="1100" b="0" i="0">
                <a:solidFill>
                  <a:srgbClr val="BDC9DB"/>
                </a:solidFill>
                <a:latin typeface="Segoe UI"/>
              </a:rPr>
              <a:t>ArgoCD lee el objeto Application: de qué repo, qué ruta y qué revisión sacar el estado deseado, y a qué cluster y namespace aplicarlo. Renderiza esa fuente —un directorio de manifiestos, un chart de Helm, una base de Kustomize— y obtiene el conjunto de recursos que deberían existir.</a:t>
            </a:r>
          </a:p>
          <a:p>
            <a:pPr algn="l" marL="0" indent="0">
              <a:lnSpc>
                <a:spcPct val="128000"/>
              </a:lnSpc>
              <a:spcBef>
                <a:spcPts val="0"/>
              </a:spcBef>
              <a:spcAft>
                <a:spcPts val="400"/>
              </a:spcAft>
              <a:buNone/>
            </a:pPr>
            <a:r>
              <a:rPr sz="1100" b="0" i="0">
                <a:solidFill>
                  <a:srgbClr val="BDC9DB"/>
                </a:solidFill>
                <a:latin typeface="Segoe UI"/>
              </a:rPr>
              <a:t>Compara ese conjunto con lo que hay realmente en el cluster y calcula un diff. El estado de la Application pasa a OutOfSync si hay diferencias. Con syncPolicy.automated, ArgoCD aplica el diff sin intervención; sin ella, espera a que alguien pulse Sync.</a:t>
            </a:r>
          </a:p>
          <a:p>
            <a:pPr algn="l" marL="0" indent="0">
              <a:lnSpc>
                <a:spcPct val="128000"/>
              </a:lnSpc>
              <a:spcBef>
                <a:spcPts val="0"/>
              </a:spcBef>
              <a:spcAft>
                <a:spcPts val="400"/>
              </a:spcAft>
              <a:buNone/>
            </a:pPr>
            <a:r>
              <a:rPr sz="1100" b="0" i="0">
                <a:solidFill>
                  <a:srgbClr val="BDC9DB"/>
                </a:solidFill>
                <a:latin typeface="Segoe UI"/>
              </a:rPr>
              <a:t>prune: true borra los recursos que ya no están en Git. selfHeal: true vuelve a sincronizar cuando el drift lo causa un cambio en el cluster (no en Git). El resultado deseado: lo que ves en el cluster es exactamente lo que dice Git, siempre.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NO CONFUNDIR</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Push frente a pull, CI frente a CD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564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Push (pipeline despliega)</a:t>
            </a:r>
          </a:p>
          <a:p>
            <a:pPr algn="l" marL="0" indent="0">
              <a:lnSpc>
                <a:spcPct val="112000"/>
              </a:lnSpc>
              <a:spcBef>
                <a:spcPts val="0"/>
              </a:spcBef>
              <a:spcAft>
                <a:spcPts val="0"/>
              </a:spcAft>
              <a:buNone/>
            </a:pPr>
            <a:r>
              <a:rPr sz="1100" b="0" i="1">
                <a:solidFill>
                  <a:srgbClr val="8493AD"/>
                </a:solidFill>
                <a:latin typeface="Segoe UI"/>
              </a:rPr>
              <a:t>Simple, pero acopla CI y cluster</a:t>
            </a:r>
          </a:p>
        </p:txBody>
      </p:sp>
      <p:sp>
        <p:nvSpPr>
          <p:cNvPr id="12" name="TextBox 11"/>
          <p:cNvSpPr txBox="1"/>
          <p:nvPr/>
        </p:nvSpPr>
        <p:spPr>
          <a:xfrm>
            <a:off x="880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 job final hace kubectl/helm contra el cluster.</a:t>
            </a:r>
          </a:p>
          <a:p>
            <a:pPr algn="l" marL="182880" indent="-182880">
              <a:lnSpc>
                <a:spcPct val="116000"/>
              </a:lnSpc>
              <a:spcBef>
                <a:spcPts val="0"/>
              </a:spcBef>
              <a:spcAft>
                <a:spcPts val="800"/>
              </a:spcAft>
              <a:buFont typeface="Arial"/>
              <a:buChar char="•"/>
            </a:pPr>
            <a:r>
              <a:rPr sz="1100" b="0" i="0">
                <a:solidFill>
                  <a:srgbClr val="BDC9DB"/>
                </a:solidFill>
                <a:latin typeface="Segoe UI"/>
              </a:rPr>
              <a:t>El CI necesita credenciales del cluster.</a:t>
            </a:r>
          </a:p>
          <a:p>
            <a:pPr algn="l" marL="182880" indent="-182880">
              <a:lnSpc>
                <a:spcPct val="116000"/>
              </a:lnSpc>
              <a:spcBef>
                <a:spcPts val="0"/>
              </a:spcBef>
              <a:spcAft>
                <a:spcPts val="800"/>
              </a:spcAft>
              <a:buFont typeface="Arial"/>
              <a:buChar char="•"/>
            </a:pPr>
            <a:r>
              <a:rPr sz="1100" b="0" i="0">
                <a:solidFill>
                  <a:srgbClr val="BDC9DB"/>
                </a:solidFill>
                <a:latin typeface="Segoe UI"/>
              </a:rPr>
              <a:t>No hay detección de drift.</a:t>
            </a:r>
          </a:p>
          <a:p>
            <a:pPr algn="l" marL="182880" indent="-182880">
              <a:lnSpc>
                <a:spcPct val="116000"/>
              </a:lnSpc>
              <a:spcBef>
                <a:spcPts val="0"/>
              </a:spcBef>
              <a:spcAft>
                <a:spcPts val="800"/>
              </a:spcAft>
              <a:buFont typeface="Arial"/>
              <a:buChar char="•"/>
            </a:pPr>
            <a:r>
              <a:rPr sz="1100" b="0" i="0">
                <a:solidFill>
                  <a:srgbClr val="BDC9DB"/>
                </a:solidFill>
                <a:latin typeface="Segoe UI"/>
              </a:rPr>
              <a:t>Bien para entornos de prueba y equipos pequeños.</a:t>
            </a:r>
          </a:p>
        </p:txBody>
      </p:sp>
      <p:sp>
        <p:nvSpPr>
          <p:cNvPr id="13" name="Rounded Rectangle 12"/>
          <p:cNvSpPr/>
          <p:nvPr/>
        </p:nvSpPr>
        <p:spPr>
          <a:xfrm>
            <a:off x="6256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564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Pull / GitOps (agente aplica)</a:t>
            </a:r>
          </a:p>
          <a:p>
            <a:pPr algn="l" marL="0" indent="0">
              <a:lnSpc>
                <a:spcPct val="112000"/>
              </a:lnSpc>
              <a:spcBef>
                <a:spcPts val="0"/>
              </a:spcBef>
              <a:spcAft>
                <a:spcPts val="0"/>
              </a:spcAft>
              <a:buNone/>
            </a:pPr>
            <a:r>
              <a:rPr sz="1100" b="0" i="1">
                <a:solidFill>
                  <a:srgbClr val="8493AD"/>
                </a:solidFill>
                <a:latin typeface="Segoe UI"/>
              </a:rPr>
              <a:t>Más piezas, mejor para producción</a:t>
            </a:r>
          </a:p>
        </p:txBody>
      </p:sp>
      <p:sp>
        <p:nvSpPr>
          <p:cNvPr id="16" name="TextBox 15"/>
          <p:cNvSpPr txBox="1"/>
          <p:nvPr/>
        </p:nvSpPr>
        <p:spPr>
          <a:xfrm>
            <a:off x="6516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 pipeline solo toca el repo de manifiestos.</a:t>
            </a:r>
          </a:p>
          <a:p>
            <a:pPr algn="l" marL="182880" indent="-182880">
              <a:lnSpc>
                <a:spcPct val="116000"/>
              </a:lnSpc>
              <a:spcBef>
                <a:spcPts val="0"/>
              </a:spcBef>
              <a:spcAft>
                <a:spcPts val="800"/>
              </a:spcAft>
              <a:buFont typeface="Arial"/>
              <a:buChar char="•"/>
            </a:pPr>
            <a:r>
              <a:rPr sz="1100" b="0" i="0">
                <a:solidFill>
                  <a:srgbClr val="BDC9DB"/>
                </a:solidFill>
                <a:latin typeface="Segoe UI"/>
              </a:rPr>
              <a:t>El CI no accede al cluster.</a:t>
            </a:r>
          </a:p>
          <a:p>
            <a:pPr algn="l" marL="182880" indent="-182880">
              <a:lnSpc>
                <a:spcPct val="116000"/>
              </a:lnSpc>
              <a:spcBef>
                <a:spcPts val="0"/>
              </a:spcBef>
              <a:spcAft>
                <a:spcPts val="800"/>
              </a:spcAft>
              <a:buFont typeface="Arial"/>
              <a:buChar char="•"/>
            </a:pPr>
            <a:r>
              <a:rPr sz="1100" b="0" i="0">
                <a:solidFill>
                  <a:srgbClr val="BDC9DB"/>
                </a:solidFill>
                <a:latin typeface="Segoe UI"/>
              </a:rPr>
              <a:t>Reconciliación continua y self-heal.</a:t>
            </a:r>
          </a:p>
          <a:p>
            <a:pPr algn="l" marL="182880" indent="-182880">
              <a:lnSpc>
                <a:spcPct val="116000"/>
              </a:lnSpc>
              <a:spcBef>
                <a:spcPts val="0"/>
              </a:spcBef>
              <a:spcAft>
                <a:spcPts val="800"/>
              </a:spcAft>
              <a:buFont typeface="Arial"/>
              <a:buChar char="•"/>
            </a:pPr>
            <a:r>
              <a:rPr sz="1100" b="0" i="0">
                <a:solidFill>
                  <a:srgbClr val="BDC9DB"/>
                </a:solidFill>
                <a:latin typeface="Segoe UI"/>
              </a:rPr>
              <a:t>Rollback = git revert; historial completo.</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CI y CD son fases distintas: CI valida el cambio y produce un artefacto; CD lleva ese artefacto a un entorno. Un equipo puede tener CI sin CD (despliegue manual) o CD muy automatizado.</a:t>
            </a:r>
          </a:p>
          <a:p>
            <a:pPr algn="l" marL="0" indent="0">
              <a:lnSpc>
                <a:spcPct val="128000"/>
              </a:lnSpc>
              <a:spcBef>
                <a:spcPts val="0"/>
              </a:spcBef>
              <a:spcAft>
                <a:spcPts val="400"/>
              </a:spcAft>
              <a:buNone/>
            </a:pPr>
            <a:r>
              <a:rPr sz="1050" b="0" i="0">
                <a:solidFill>
                  <a:srgbClr val="BDC9DB"/>
                </a:solidFill>
                <a:latin typeface="Segoe UI"/>
              </a:rPr>
              <a:t>El despliegue push lo hace el pipeline: al final del workflow, un job con credenciales del cluster ejecuta kubectl apply o helm upgrade. Es simple de montar pero mete al sistema de CI dentro del perímetro de seguridad del cluster y no detecta el drift.</a:t>
            </a:r>
          </a:p>
          <a:p>
            <a:pPr algn="l" marL="0" indent="0">
              <a:lnSpc>
                <a:spcPct val="128000"/>
              </a:lnSpc>
              <a:spcBef>
                <a:spcPts val="0"/>
              </a:spcBef>
              <a:spcAft>
                <a:spcPts val="400"/>
              </a:spcAft>
              <a:buNone/>
            </a:pPr>
            <a:r>
              <a:rPr sz="1050" b="0" i="0">
                <a:solidFill>
                  <a:srgbClr val="BDC9DB"/>
                </a:solidFill>
                <a:latin typeface="Segoe UI"/>
              </a:rPr>
              <a:t>El despliegue pull (GitOps) invierte el sentido: el pipeline solo actualiza el repo de manifiestos (por ejemplo, cambia el digest de la imagen), y el agente del cluster aplica. El CI no tiene acceso al cluster, hay historial completo y el drift se corrige solo. Es más piezas, pero es el modelo recomendado para producción.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130000" y="2222000"/>
            <a:ext cx="1260000" cy="1656000"/>
          </a:xfrm>
          <a:custGeom>
            <a:avLst/>
            <a:gdLst/>
            <a:ahLst/>
            <a:cxnLst/>
            <a:rect l="l" t="t" r="r" b="b"/>
            <a:pathLst>
              <a:path w="1260000" h="1656000">
                <a:moveTo>
                  <a:pt x="0" y="0"/>
                </a:moveTo>
                <a:lnTo>
                  <a:pt x="972000" y="0"/>
                </a:lnTo>
                <a:lnTo>
                  <a:pt x="1260000" y="288000"/>
                </a:lnTo>
                <a:lnTo>
                  <a:pt x="1260000" y="1656000"/>
                </a:lnTo>
                <a:lnTo>
                  <a:pt x="0" y="1656000"/>
                </a:lnTo>
                <a:close/>
              </a:path>
            </a:pathLst>
          </a:custGeom>
          <a:noFill/>
          <a:ln w="3048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0102000" y="2222000"/>
            <a:ext cx="0" cy="288000"/>
          </a:xfrm>
          <a:prstGeom prst="line">
            <a:avLst/>
          </a:prstGeom>
          <a:ln w="3048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102000" y="2510000"/>
            <a:ext cx="288000" cy="0"/>
          </a:xfrm>
          <a:prstGeom prst="line">
            <a:avLst/>
          </a:prstGeom>
          <a:ln w="3048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346000" y="2906000"/>
            <a:ext cx="792000" cy="0"/>
          </a:xfrm>
          <a:prstGeom prst="line">
            <a:avLst/>
          </a:prstGeom>
          <a:ln w="3048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46000" y="3194000"/>
            <a:ext cx="792000" cy="0"/>
          </a:xfrm>
          <a:prstGeom prst="line">
            <a:avLst/>
          </a:prstGeom>
          <a:ln w="3048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46000" y="3482000"/>
            <a:ext cx="792000" cy="0"/>
          </a:xfrm>
          <a:prstGeom prst="line">
            <a:avLst/>
          </a:prstGeom>
          <a:ln w="3048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10" name="TextBox 9"/>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11" name="TextBox 10"/>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Helm</a:t>
            </a:r>
          </a:p>
        </p:txBody>
      </p:sp>
      <p:sp>
        <p:nvSpPr>
          <p:cNvPr id="12" name="Rectangle 11"/>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Plantillas + values = manifiestos, versionados como una release</a:t>
            </a:r>
          </a:p>
        </p:txBody>
      </p:sp>
      <p:sp>
        <p:nvSpPr>
          <p:cNvPr id="14" name="Rectangle 13"/>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16" name="TextBox 15"/>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ANATOMÍA DE UN CHART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Qué hay dentro de un chart y qué produce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Chart = Chart.yaml + values.yaml + templates/ (+ _helpers.tpl + charts/).</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install/upgrade renderizan templates con los values y aplican el resultado como una release.</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rollback vuelve a una revisión anterior; Helm las guarda en Secrets del namespace.</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helm template renderiza sin aplicar: para revisar, o para usar Helm solo como generador.</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ESTRUCTURA DE UN CHART</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785366"/>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gratitud/</a:t>
            </a:r>
          </a:p>
          <a:p>
            <a:pPr marL="0" indent="0">
              <a:lnSpc>
                <a:spcPct val="134000"/>
              </a:lnSpc>
              <a:spcAft>
                <a:spcPts val="0"/>
              </a:spcAft>
              <a:buNone/>
            </a:pPr>
            <a:r>
              <a:rPr sz="1100" b="0" i="0">
                <a:solidFill>
                  <a:srgbClr val="E6EDF3"/>
                </a:solidFill>
                <a:latin typeface="Consolas"/>
              </a:rPr>
              <a:t>  Chart.yaml      </a:t>
            </a:r>
            <a:r>
              <a:rPr sz="1100" b="0" i="1">
                <a:solidFill>
                  <a:srgbClr val="7C8AA5"/>
                </a:solidFill>
                <a:latin typeface="Consolas"/>
              </a:rPr>
              <a:t>  # name, version</a:t>
            </a:r>
          </a:p>
          <a:p>
            <a:pPr marL="0" indent="0">
              <a:lnSpc>
                <a:spcPct val="134000"/>
              </a:lnSpc>
              <a:spcAft>
                <a:spcPts val="0"/>
              </a:spcAft>
              <a:buNone/>
            </a:pPr>
            <a:r>
              <a:rPr sz="1100" b="0" i="0">
                <a:solidFill>
                  <a:srgbClr val="E6EDF3"/>
                </a:solidFill>
                <a:latin typeface="Consolas"/>
              </a:rPr>
              <a:t>  values.yaml     </a:t>
            </a:r>
            <a:r>
              <a:rPr sz="1100" b="0" i="1">
                <a:solidFill>
                  <a:srgbClr val="7C8AA5"/>
                </a:solidFill>
                <a:latin typeface="Consolas"/>
              </a:rPr>
              <a:t>  # defaults</a:t>
            </a:r>
          </a:p>
          <a:p>
            <a:pPr marL="0" indent="0">
              <a:lnSpc>
                <a:spcPct val="134000"/>
              </a:lnSpc>
              <a:spcAft>
                <a:spcPts val="0"/>
              </a:spcAft>
              <a:buNone/>
            </a:pPr>
            <a:r>
              <a:rPr sz="1100" b="0" i="0">
                <a:solidFill>
                  <a:srgbClr val="E6EDF3"/>
                </a:solidFill>
                <a:latin typeface="Consolas"/>
              </a:rPr>
              <a:t>  templates/</a:t>
            </a:r>
          </a:p>
          <a:p>
            <a:pPr marL="0" indent="0">
              <a:lnSpc>
                <a:spcPct val="134000"/>
              </a:lnSpc>
              <a:spcAft>
                <a:spcPts val="0"/>
              </a:spcAft>
              <a:buNone/>
            </a:pPr>
            <a:r>
              <a:rPr sz="1100" b="0" i="0">
                <a:solidFill>
                  <a:srgbClr val="E6EDF3"/>
                </a:solidFill>
                <a:latin typeface="Consolas"/>
              </a:rPr>
              <a:t>    _helpers.tpl  </a:t>
            </a:r>
            <a:r>
              <a:rPr sz="1100" b="0" i="1">
                <a:solidFill>
                  <a:srgbClr val="7C8AA5"/>
                </a:solidFill>
                <a:latin typeface="Consolas"/>
              </a:rPr>
              <a:t>  # labels, nombres</a:t>
            </a:r>
          </a:p>
          <a:p>
            <a:pPr marL="0" indent="0">
              <a:lnSpc>
                <a:spcPct val="134000"/>
              </a:lnSpc>
              <a:spcAft>
                <a:spcPts val="0"/>
              </a:spcAft>
              <a:buNone/>
            </a:pPr>
            <a:r>
              <a:rPr sz="1100" b="0" i="0">
                <a:solidFill>
                  <a:srgbClr val="E6EDF3"/>
                </a:solidFill>
                <a:latin typeface="Consolas"/>
              </a:rPr>
              <a:t>    deployment.yaml</a:t>
            </a:r>
          </a:p>
          <a:p>
            <a:pPr marL="0" indent="0">
              <a:lnSpc>
                <a:spcPct val="134000"/>
              </a:lnSpc>
              <a:spcAft>
                <a:spcPts val="0"/>
              </a:spcAft>
              <a:buNone/>
            </a:pPr>
            <a:r>
              <a:rPr sz="1100" b="0" i="0">
                <a:solidFill>
                  <a:srgbClr val="E6EDF3"/>
                </a:solidFill>
                <a:latin typeface="Consolas"/>
              </a:rPr>
              <a:t>    service.yaml</a:t>
            </a:r>
          </a:p>
          <a:p>
            <a:pPr marL="0" indent="0">
              <a:lnSpc>
                <a:spcPct val="134000"/>
              </a:lnSpc>
              <a:spcAft>
                <a:spcPts val="0"/>
              </a:spcAft>
              <a:buNone/>
            </a:pPr>
            <a:r>
              <a:rPr sz="1100" b="0" i="0">
                <a:solidFill>
                  <a:srgbClr val="E6EDF3"/>
                </a:solidFill>
                <a:latin typeface="Consolas"/>
              </a:rPr>
              <a:t>    ingress.yaml</a:t>
            </a:r>
          </a:p>
          <a:p>
            <a:pPr marL="0" indent="0">
              <a:lnSpc>
                <a:spcPct val="134000"/>
              </a:lnSpc>
              <a:spcAft>
                <a:spcPts val="0"/>
              </a:spcAft>
              <a:buNone/>
            </a:pPr>
            <a:r>
              <a:rPr sz="1100" b="0" i="0">
                <a:solidFill>
                  <a:srgbClr val="E6EDF3"/>
                </a:solidFill>
                <a:latin typeface="Consolas"/>
              </a:rPr>
              <a:t>  charts/         </a:t>
            </a:r>
            <a:r>
              <a:rPr sz="1100" b="0" i="1">
                <a:solidFill>
                  <a:srgbClr val="7C8AA5"/>
                </a:solidFill>
                <a:latin typeface="Consolas"/>
              </a:rPr>
              <a:t>  # dependencias</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900" b="0" i="0">
                <a:solidFill>
                  <a:srgbClr val="BDC9DB"/>
                </a:solidFill>
                <a:latin typeface="Segoe UI"/>
              </a:rPr>
              <a:t>Un chart es un directorio con una estructura fija: Chart.yaml (metadatos: name, version, appVersion, dependencies), values.yaml (los valores por defecto: réplicas, imagen, recursos, host de Ingress…), templates/ (manifiestos de Kubernetes con marcadores {{ }} de Go templates) y, opcionalmente, templates/_helpers.tpl (fragmentos reutilizables como el bloque de labels) y charts/ (dependencias).</a:t>
            </a:r>
          </a:p>
          <a:p>
            <a:pPr algn="l" marL="0" indent="0">
              <a:lnSpc>
                <a:spcPct val="128000"/>
              </a:lnSpc>
              <a:spcBef>
                <a:spcPts val="0"/>
              </a:spcBef>
              <a:spcAft>
                <a:spcPts val="400"/>
              </a:spcAft>
              <a:buNone/>
            </a:pPr>
            <a:r>
              <a:rPr sz="900" b="0" i="0">
                <a:solidFill>
                  <a:srgbClr val="BDC9DB"/>
                </a:solidFill>
                <a:latin typeface="Segoe UI"/>
              </a:rPr>
              <a:t>helm install renderiza los templates sustituyendo los values (los de values.yaml, más los de ficheros -f y los --set de la línea de comandos), y aplica el resultado al cluster como una release con nombre. helm upgrade vuelve a renderizar con los nuevos values y aplica el diff; helm rollback &lt;release&gt; &lt;revisión&gt; vuelve a una anterior. Helm guarda cada revisión en un Secret del namespace.</a:t>
            </a:r>
          </a:p>
          <a:p>
            <a:pPr algn="l" marL="0" indent="0">
              <a:lnSpc>
                <a:spcPct val="128000"/>
              </a:lnSpc>
              <a:spcBef>
                <a:spcPts val="0"/>
              </a:spcBef>
              <a:spcAft>
                <a:spcPts val="400"/>
              </a:spcAft>
              <a:buNone/>
            </a:pPr>
            <a:r>
              <a:rPr sz="900" b="0" i="0">
                <a:solidFill>
                  <a:srgbClr val="BDC9DB"/>
                </a:solidFill>
                <a:latin typeface="Segoe UI"/>
              </a:rPr>
              <a:t>helm template hace el render SIN aplicar nada: es la forma de revisar qué va a salir, y de usar Helm solo como generador (helm template | kubectl apply, o dejar que ArgoCD lo renderice). helm lint valida la estructura del chart. Los repos de charts pueden ser HTTP clásicos o registries OCI (helm push/pull contra el mismo registry que las imágenes).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COMANDOS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día a día con Helm</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430666"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COMANDO</a:t>
            </a:r>
          </a:p>
        </p:txBody>
      </p:sp>
      <p:sp>
        <p:nvSpPr>
          <p:cNvPr id="12" name="TextBox 11"/>
          <p:cNvSpPr txBox="1"/>
          <p:nvPr/>
        </p:nvSpPr>
        <p:spPr>
          <a:xfrm>
            <a:off x="4430666" y="1470000"/>
            <a:ext cx="4343333"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QUÉ HACE</a:t>
            </a:r>
          </a:p>
        </p:txBody>
      </p:sp>
      <p:sp>
        <p:nvSpPr>
          <p:cNvPr id="13" name="TextBox 12"/>
          <p:cNvSpPr txBox="1"/>
          <p:nvPr/>
        </p:nvSpPr>
        <p:spPr>
          <a:xfrm>
            <a:off x="8994000" y="1470000"/>
            <a:ext cx="25180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NOTA</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repo add / update</a:t>
            </a:r>
          </a:p>
        </p:txBody>
      </p:sp>
      <p:sp>
        <p:nvSpPr>
          <p:cNvPr id="16" name="TextBox 15"/>
          <p:cNvSpPr txBox="1"/>
          <p:nvPr/>
        </p:nvSpPr>
        <p:spPr>
          <a:xfrm>
            <a:off x="4430666" y="189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Registra y refresca un repositorio de charts</a:t>
            </a:r>
          </a:p>
        </p:txBody>
      </p:sp>
      <p:sp>
        <p:nvSpPr>
          <p:cNvPr id="17" name="TextBox 16"/>
          <p:cNvSpPr txBox="1"/>
          <p:nvPr/>
        </p:nvSpPr>
        <p:spPr>
          <a:xfrm>
            <a:off x="8994000" y="189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O usa una referencia OCI directamente</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install &lt;rel&gt; &lt;chart&gt;</a:t>
            </a:r>
          </a:p>
        </p:txBody>
      </p:sp>
      <p:sp>
        <p:nvSpPr>
          <p:cNvPr id="21" name="TextBox 20"/>
          <p:cNvSpPr txBox="1"/>
          <p:nvPr/>
        </p:nvSpPr>
        <p:spPr>
          <a:xfrm>
            <a:off x="4430666" y="245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Renderiza y crea una release</a:t>
            </a:r>
          </a:p>
        </p:txBody>
      </p:sp>
      <p:sp>
        <p:nvSpPr>
          <p:cNvPr id="22" name="TextBox 21"/>
          <p:cNvSpPr txBox="1"/>
          <p:nvPr/>
        </p:nvSpPr>
        <p:spPr>
          <a:xfrm>
            <a:off x="8994000" y="245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-f values.yaml · --set clave=valor</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upgrade [--install]</a:t>
            </a:r>
          </a:p>
        </p:txBody>
      </p:sp>
      <p:sp>
        <p:nvSpPr>
          <p:cNvPr id="25" name="TextBox 24"/>
          <p:cNvSpPr txBox="1"/>
          <p:nvPr/>
        </p:nvSpPr>
        <p:spPr>
          <a:xfrm>
            <a:off x="4430666" y="301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Re-renderiza con nuevos values y aplica el diff</a:t>
            </a:r>
          </a:p>
        </p:txBody>
      </p:sp>
      <p:sp>
        <p:nvSpPr>
          <p:cNvPr id="26" name="TextBox 25"/>
          <p:cNvSpPr txBox="1"/>
          <p:nvPr/>
        </p:nvSpPr>
        <p:spPr>
          <a:xfrm>
            <a:off x="8994000" y="301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--install crea si no existe</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rollback &lt;rel&gt; &lt;rev&gt;</a:t>
            </a:r>
          </a:p>
        </p:txBody>
      </p:sp>
      <p:sp>
        <p:nvSpPr>
          <p:cNvPr id="30" name="TextBox 29"/>
          <p:cNvSpPr txBox="1"/>
          <p:nvPr/>
        </p:nvSpPr>
        <p:spPr>
          <a:xfrm>
            <a:off x="4430666" y="357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Vuelve a una revisión anterior</a:t>
            </a:r>
          </a:p>
        </p:txBody>
      </p:sp>
      <p:sp>
        <p:nvSpPr>
          <p:cNvPr id="31" name="TextBox 30"/>
          <p:cNvSpPr txBox="1"/>
          <p:nvPr/>
        </p:nvSpPr>
        <p:spPr>
          <a:xfrm>
            <a:off x="8994000" y="357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helm history &lt;rel&gt; para verlas</a:t>
            </a:r>
          </a:p>
        </p:txBody>
      </p:sp>
      <p:sp>
        <p:nvSpPr>
          <p:cNvPr id="32" name="Rectangle 31"/>
          <p:cNvSpPr/>
          <p:nvPr/>
        </p:nvSpPr>
        <p:spPr>
          <a:xfrm>
            <a:off x="620000" y="469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413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template &lt;chart&gt;</a:t>
            </a:r>
          </a:p>
        </p:txBody>
      </p:sp>
      <p:sp>
        <p:nvSpPr>
          <p:cNvPr id="34" name="TextBox 33"/>
          <p:cNvSpPr txBox="1"/>
          <p:nvPr/>
        </p:nvSpPr>
        <p:spPr>
          <a:xfrm>
            <a:off x="4430666" y="413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Renderiza a stdout sin tocar el cluster</a:t>
            </a:r>
          </a:p>
        </p:txBody>
      </p:sp>
      <p:sp>
        <p:nvSpPr>
          <p:cNvPr id="35" name="TextBox 34"/>
          <p:cNvSpPr txBox="1"/>
          <p:nvPr/>
        </p:nvSpPr>
        <p:spPr>
          <a:xfrm>
            <a:off x="8994000" y="413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Para revisar o para | kubectl apply</a:t>
            </a:r>
          </a:p>
        </p:txBody>
      </p:sp>
      <p:sp>
        <p:nvSpPr>
          <p:cNvPr id="36" name="Rectangle 35"/>
          <p:cNvSpPr/>
          <p:nvPr/>
        </p:nvSpPr>
        <p:spPr>
          <a:xfrm>
            <a:off x="620000" y="469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7" name="Rectangle 36"/>
          <p:cNvSpPr/>
          <p:nvPr/>
        </p:nvSpPr>
        <p:spPr>
          <a:xfrm>
            <a:off x="620000" y="52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780000" y="469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get manifest / values &lt;rel&gt;</a:t>
            </a:r>
          </a:p>
        </p:txBody>
      </p:sp>
      <p:sp>
        <p:nvSpPr>
          <p:cNvPr id="39" name="TextBox 38"/>
          <p:cNvSpPr txBox="1"/>
          <p:nvPr/>
        </p:nvSpPr>
        <p:spPr>
          <a:xfrm>
            <a:off x="4430666" y="469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Muestra lo aplicado / los values efectivos</a:t>
            </a:r>
          </a:p>
        </p:txBody>
      </p:sp>
      <p:sp>
        <p:nvSpPr>
          <p:cNvPr id="40" name="TextBox 39"/>
          <p:cNvSpPr txBox="1"/>
          <p:nvPr/>
        </p:nvSpPr>
        <p:spPr>
          <a:xfrm>
            <a:off x="8994000" y="469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helm lint valida el chart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EJEMPLO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Un template con values y un helper</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7276"/>
            <a:ext cx="10952000" cy="4265448"/>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477276"/>
            <a:ext cx="46000" cy="4265448"/>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597276"/>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TEMPLATES/_HELPERS.TPL Y TEMPLATES/DEPLOYMENT.YAML</a:t>
            </a:r>
          </a:p>
        </p:txBody>
      </p:sp>
      <p:sp>
        <p:nvSpPr>
          <p:cNvPr id="12" name="TextBox 11"/>
          <p:cNvSpPr txBox="1"/>
          <p:nvPr/>
        </p:nvSpPr>
        <p:spPr>
          <a:xfrm>
            <a:off x="890000" y="1877276"/>
            <a:ext cx="10412000" cy="3805448"/>
          </a:xfrm>
          <a:prstGeom prst="rect">
            <a:avLst/>
          </a:prstGeom>
          <a:noFill/>
        </p:spPr>
        <p:txBody>
          <a:bodyPr wrap="square" anchor="t" lIns="0" rIns="0" tIns="0" bIns="0">
            <a:noAutofit/>
          </a:bodyPr>
          <a:lstStyle/>
          <a:p>
            <a:pPr marL="0" indent="0">
              <a:lnSpc>
                <a:spcPct val="134000"/>
              </a:lnSpc>
              <a:spcAft>
                <a:spcPts val="0"/>
              </a:spcAft>
              <a:buNone/>
            </a:pPr>
            <a:r>
              <a:rPr sz="1000" b="0" i="0">
                <a:solidFill>
                  <a:srgbClr val="E6EDF3"/>
                </a:solidFill>
                <a:latin typeface="Consolas"/>
              </a:rPr>
              <a:t>{{- define "gratitud.labels" -}}</a:t>
            </a:r>
          </a:p>
          <a:p>
            <a:pPr marL="0" indent="0">
              <a:lnSpc>
                <a:spcPct val="134000"/>
              </a:lnSpc>
              <a:spcAft>
                <a:spcPts val="0"/>
              </a:spcAft>
              <a:buNone/>
            </a:pPr>
            <a:r>
              <a:rPr sz="1000" b="0" i="0">
                <a:solidFill>
                  <a:srgbClr val="E6EDF3"/>
                </a:solidFill>
                <a:latin typeface="Consolas"/>
              </a:rPr>
              <a:t>app.kubernetes.io/name: {{ .Chart.Name }}</a:t>
            </a:r>
          </a:p>
          <a:p>
            <a:pPr marL="0" indent="0">
              <a:lnSpc>
                <a:spcPct val="134000"/>
              </a:lnSpc>
              <a:spcAft>
                <a:spcPts val="0"/>
              </a:spcAft>
              <a:buNone/>
            </a:pPr>
            <a:r>
              <a:rPr sz="1000" b="0" i="0">
                <a:solidFill>
                  <a:srgbClr val="E6EDF3"/>
                </a:solidFill>
                <a:latin typeface="Consolas"/>
              </a:rPr>
              <a:t>app.kubernetes.io/instance: {{ .Release.Name }}</a:t>
            </a:r>
          </a:p>
          <a:p>
            <a:pPr marL="0" indent="0">
              <a:lnSpc>
                <a:spcPct val="134000"/>
              </a:lnSpc>
              <a:spcAft>
                <a:spcPts val="0"/>
              </a:spcAft>
              <a:buNone/>
            </a:pPr>
            <a:r>
              <a:rPr sz="1000" b="0" i="0">
                <a:solidFill>
                  <a:srgbClr val="E6EDF3"/>
                </a:solidFill>
                <a:latin typeface="Consolas"/>
              </a:rPr>
              <a:t>{{- end }}</a:t>
            </a:r>
          </a:p>
          <a:p>
            <a:pPr marL="0" indent="0">
              <a:lnSpc>
                <a:spcPct val="134000"/>
              </a:lnSpc>
              <a:spcAft>
                <a:spcPts val="0"/>
              </a:spcAft>
              <a:buNone/>
            </a:pPr>
            <a:r>
              <a:rPr sz="1000" b="0" i="0">
                <a:solidFill>
                  <a:srgbClr val="E6EDF3"/>
                </a:solidFill>
                <a:latin typeface="Consolas"/>
              </a:rPr>
              <a:t>---</a:t>
            </a:r>
          </a:p>
          <a:p>
            <a:pPr marL="0" indent="0">
              <a:lnSpc>
                <a:spcPct val="134000"/>
              </a:lnSpc>
              <a:spcAft>
                <a:spcPts val="0"/>
              </a:spcAft>
              <a:buNone/>
            </a:pPr>
            <a:r>
              <a:rPr sz="1000" b="0" i="0">
                <a:solidFill>
                  <a:srgbClr val="E6EDF3"/>
                </a:solidFill>
                <a:latin typeface="Consolas"/>
              </a:rPr>
              <a:t>apiVersion: apps/v1</a:t>
            </a:r>
          </a:p>
          <a:p>
            <a:pPr marL="0" indent="0">
              <a:lnSpc>
                <a:spcPct val="134000"/>
              </a:lnSpc>
              <a:spcAft>
                <a:spcPts val="0"/>
              </a:spcAft>
              <a:buNone/>
            </a:pPr>
            <a:r>
              <a:rPr sz="1000" b="0" i="0">
                <a:solidFill>
                  <a:srgbClr val="E6EDF3"/>
                </a:solidFill>
                <a:latin typeface="Consolas"/>
              </a:rPr>
              <a:t>kind: Deployment</a:t>
            </a:r>
          </a:p>
          <a:p>
            <a:pPr marL="0" indent="0">
              <a:lnSpc>
                <a:spcPct val="134000"/>
              </a:lnSpc>
              <a:spcAft>
                <a:spcPts val="0"/>
              </a:spcAft>
              <a:buNone/>
            </a:pPr>
            <a:r>
              <a:rPr sz="1000" b="0" i="0">
                <a:solidFill>
                  <a:srgbClr val="E6EDF3"/>
                </a:solidFill>
                <a:latin typeface="Consolas"/>
              </a:rPr>
              <a:t>metadata:</a:t>
            </a:r>
          </a:p>
          <a:p>
            <a:pPr marL="0" indent="0">
              <a:lnSpc>
                <a:spcPct val="134000"/>
              </a:lnSpc>
              <a:spcAft>
                <a:spcPts val="0"/>
              </a:spcAft>
              <a:buNone/>
            </a:pPr>
            <a:r>
              <a:rPr sz="1000" b="0" i="0">
                <a:solidFill>
                  <a:srgbClr val="E6EDF3"/>
                </a:solidFill>
                <a:latin typeface="Consolas"/>
              </a:rPr>
              <a:t>  name: {{ .Release.Name }}-api</a:t>
            </a:r>
          </a:p>
          <a:p>
            <a:pPr marL="0" indent="0">
              <a:lnSpc>
                <a:spcPct val="134000"/>
              </a:lnSpc>
              <a:spcAft>
                <a:spcPts val="0"/>
              </a:spcAft>
              <a:buNone/>
            </a:pPr>
            <a:r>
              <a:rPr sz="1000" b="0" i="0">
                <a:solidFill>
                  <a:srgbClr val="E6EDF3"/>
                </a:solidFill>
                <a:latin typeface="Consolas"/>
              </a:rPr>
              <a:t>  labels: { {{- include "gratitud.labels" . | nindent 4 }} }</a:t>
            </a:r>
          </a:p>
          <a:p>
            <a:pPr marL="0" indent="0">
              <a:lnSpc>
                <a:spcPct val="134000"/>
              </a:lnSpc>
              <a:spcAft>
                <a:spcPts val="0"/>
              </a:spcAft>
              <a:buNone/>
            </a:pPr>
            <a:r>
              <a:rPr sz="1000" b="0" i="0">
                <a:solidFill>
                  <a:srgbClr val="E6EDF3"/>
                </a:solidFill>
                <a:latin typeface="Consolas"/>
              </a:rPr>
              <a:t>spec:</a:t>
            </a:r>
          </a:p>
          <a:p>
            <a:pPr marL="0" indent="0">
              <a:lnSpc>
                <a:spcPct val="134000"/>
              </a:lnSpc>
              <a:spcAft>
                <a:spcPts val="0"/>
              </a:spcAft>
              <a:buNone/>
            </a:pPr>
            <a:r>
              <a:rPr sz="1000" b="0" i="0">
                <a:solidFill>
                  <a:srgbClr val="E6EDF3"/>
                </a:solidFill>
                <a:latin typeface="Consolas"/>
              </a:rPr>
              <a:t>  replicas: {{ .Values.replicaCount }}</a:t>
            </a:r>
          </a:p>
          <a:p>
            <a:pPr marL="0" indent="0">
              <a:lnSpc>
                <a:spcPct val="134000"/>
              </a:lnSpc>
              <a:spcAft>
                <a:spcPts val="0"/>
              </a:spcAft>
              <a:buNone/>
            </a:pPr>
            <a:r>
              <a:rPr sz="1000" b="0" i="0">
                <a:solidFill>
                  <a:srgbClr val="E6EDF3"/>
                </a:solidFill>
                <a:latin typeface="Consolas"/>
              </a:rPr>
              <a:t>  template:</a:t>
            </a:r>
          </a:p>
          <a:p>
            <a:pPr marL="0" indent="0">
              <a:lnSpc>
                <a:spcPct val="134000"/>
              </a:lnSpc>
              <a:spcAft>
                <a:spcPts val="0"/>
              </a:spcAft>
              <a:buNone/>
            </a:pPr>
            <a:r>
              <a:rPr sz="1000" b="0" i="0">
                <a:solidFill>
                  <a:srgbClr val="E6EDF3"/>
                </a:solidFill>
                <a:latin typeface="Consolas"/>
              </a:rPr>
              <a:t>    spec:</a:t>
            </a:r>
          </a:p>
          <a:p>
            <a:pPr marL="0" indent="0">
              <a:lnSpc>
                <a:spcPct val="134000"/>
              </a:lnSpc>
              <a:spcAft>
                <a:spcPts val="0"/>
              </a:spcAft>
              <a:buNone/>
            </a:pPr>
            <a:r>
              <a:rPr sz="1000" b="0" i="0">
                <a:solidFill>
                  <a:srgbClr val="E6EDF3"/>
                </a:solidFill>
                <a:latin typeface="Consolas"/>
              </a:rPr>
              <a:t>      containers:</a:t>
            </a:r>
          </a:p>
          <a:p>
            <a:pPr marL="0" indent="0">
              <a:lnSpc>
                <a:spcPct val="134000"/>
              </a:lnSpc>
              <a:spcAft>
                <a:spcPts val="0"/>
              </a:spcAft>
              <a:buNone/>
            </a:pPr>
            <a:r>
              <a:rPr sz="1000" b="0" i="0">
                <a:solidFill>
                  <a:srgbClr val="E6EDF3"/>
                </a:solidFill>
                <a:latin typeface="Consolas"/>
              </a:rPr>
              <a:t>        - name: api</a:t>
            </a:r>
          </a:p>
          <a:p>
            <a:pPr marL="0" indent="0">
              <a:lnSpc>
                <a:spcPct val="134000"/>
              </a:lnSpc>
              <a:spcAft>
                <a:spcPts val="0"/>
              </a:spcAft>
              <a:buNone/>
            </a:pPr>
            <a:r>
              <a:rPr sz="1000" b="0" i="0">
                <a:solidFill>
                  <a:srgbClr val="E6EDF3"/>
                </a:solidFill>
                <a:latin typeface="Consolas"/>
              </a:rPr>
              <a:t>          image: "{{ .Values.image.repository }}:{{ .Values.image.tag }}"</a:t>
            </a:r>
          </a:p>
          <a:p>
            <a:pPr marL="0" indent="0">
              <a:lnSpc>
                <a:spcPct val="134000"/>
              </a:lnSpc>
              <a:spcAft>
                <a:spcPts val="0"/>
              </a:spcAft>
              <a:buNone/>
            </a:pPr>
            <a:r>
              <a:rPr sz="1000" b="0" i="0">
                <a:solidFill>
                  <a:srgbClr val="E6EDF3"/>
                </a:solidFill>
                <a:latin typeface="Consolas"/>
              </a:rPr>
              <a:t>          ports: [{containerPort: {{ .Values.image.containerPort }}}]</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Errores típicos: una clave de values escrita distinta en el template (replicas vs replicaCount) y un {{ }} que renderiza vacío y rompe el YAML resultante. helm template lo caza.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14.1 — Helm de principio a fin</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Añadir un repositorio, instalar un chart, inspeccionar la release, cambiar values con upgrade, hacer rollback y desinstalar. Después, crear un chart esqueleto y renderizarlo.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repo add + install de un chart conocido; ver la release y sus recursos.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get manifest y helm get values; helm history.</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upgrade --set de un valor y comprobar el cambio; helm rollback a la revisión 1.</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uninstall y confirmar que no queda nada.</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create demo; leer la estructura; helm template demo y localizar dónde entran los values.</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CLASE-14/LABORATORIOS/LAB-01-BASICO.md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22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helm list</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14.2 — Empaquetar GRATITUD como chart</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Convertir los manifiestos de GRATITUD en un chart de Helm: Deployment, Service e Ingress parametrizados con values, labels desde un helper, y varios entornos con ficheros de values.</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Estructurar el chart gratitud/ con Chart.yaml y values.yaml.</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Plantillar Deployment, Service e Ingress; labels comunes desde _helpers.tpl.</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template para verificar el render antes de instalar nada.</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install en el cluster; helm upgrade cambiando replicaCount y el tag de la imagen.</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Un values-prod.yaml con más réplicas y otro host, y desplegar con -f.</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CLASE-14/LABORATORIOS/LAB-02-INTERMEDIO.md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34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helm template + kubectl get</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492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 — solo requerimientos</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14.3 — GRATITUD al estilo GitOps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Dejar el chart de GRATITUD en un layout de repositorio, desplegarlo de forma declarativa, y escribir la Application de ArgoCD y el pipeline de CI que lo automatizarían. Demostrar la reconciliación ante un drift.</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Layout de repo: chart en charts/gratitud, values por entorno en envs/.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Render + aplicar (helm template | kubectl apply) como haría el agente.</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Escribir la Application de ArgoCD con automated: {prune, selfHeal}.</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Escribir un workflow de GitHub Actions (lint + template + package) y su equivalente en GitLab CI.</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Provocar un drift (kubectl edit) y reconciliar; documentar qué haría selfHeal.</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CLASE-14/LABORATORIOS/LAB-03-AVANZADO.md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30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helm lint + kubectl diff</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604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el escenario arranca roto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14.4 — Challenge: «el chart de GRATITUD no despliega»</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helm lint falla, el render deja la imagen sin repositorio, el número de réplicas no responde a los values y el Service apunta al puerto equivocado. Cuatro fallos en el chart.</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Prepara el chart roto: RECURSOS/SCRIPTS/setup-lab.sh</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lint y helm template: los dos primeros fallos salen aquí.</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helm upgrade --install y kubectl get: los dos últimos, ya en el cluster.</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Corrige el chart. Prohibido reescribirlo con helm create desde cero.</a:t>
            </a:r>
          </a:p>
        </p:txBody>
      </p:sp>
      <p:sp>
        <p:nvSpPr>
          <p:cNvPr id="14" name="Oval 13"/>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CLASE-14/LABORATORIOS/LAB-04-CHALLENGE.md</a:t>
            </a:r>
          </a:p>
        </p:txBody>
      </p:sp>
      <p:sp>
        <p:nvSpPr>
          <p:cNvPr id="25" name="Rectangle 24"/>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20 min</a:t>
            </a:r>
          </a:p>
        </p:txBody>
      </p:sp>
      <p:sp>
        <p:nvSpPr>
          <p:cNvPr id="27" name="Rectangle 26"/>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a:t>
            </a:r>
          </a:p>
        </p:txBody>
      </p:sp>
      <p:sp>
        <p:nvSpPr>
          <p:cNvPr id="29" name="Rectangle 2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31" name="TextBox 3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MENTAL MODEL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Traducción de síntomas de entrega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LO QUE OBSERVAS</a:t>
            </a:r>
          </a:p>
        </p:txBody>
      </p:sp>
      <p:sp>
        <p:nvSpPr>
          <p:cNvPr id="12" name="TextBox 11"/>
          <p:cNvSpPr txBox="1"/>
          <p:nvPr/>
        </p:nvSpPr>
        <p:spPr>
          <a:xfrm>
            <a:off x="4065600" y="1470000"/>
            <a:ext cx="41608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DÓNDE ESTÁ EL PROBLEMA</a:t>
            </a:r>
          </a:p>
        </p:txBody>
      </p:sp>
      <p:sp>
        <p:nvSpPr>
          <p:cNvPr id="13" name="TextBox 12"/>
          <p:cNvSpPr txBox="1"/>
          <p:nvPr/>
        </p:nvSpPr>
        <p:spPr>
          <a:xfrm>
            <a:off x="84464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COMANDO</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helm lint falla</a:t>
            </a:r>
          </a:p>
        </p:txBody>
      </p:sp>
      <p:sp>
        <p:nvSpPr>
          <p:cNvPr id="16" name="TextBox 15"/>
          <p:cNvSpPr txBox="1"/>
          <p:nvPr/>
        </p:nvSpPr>
        <p:spPr>
          <a:xfrm>
            <a:off x="4065600" y="189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Chart.yaml: falta version, name o apiVersion</a:t>
            </a:r>
          </a:p>
        </p:txBody>
      </p:sp>
      <p:sp>
        <p:nvSpPr>
          <p:cNvPr id="17" name="TextBox 16"/>
          <p:cNvSpPr txBox="1"/>
          <p:nvPr/>
        </p:nvSpPr>
        <p:spPr>
          <a:xfrm>
            <a:off x="84464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helm lint &lt;chart&gt;</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Imagen 'InvalidImageName' o ':tag'</a:t>
            </a:r>
          </a:p>
        </p:txBody>
      </p:sp>
      <p:sp>
        <p:nvSpPr>
          <p:cNvPr id="21" name="TextBox 20"/>
          <p:cNvSpPr txBox="1"/>
          <p:nvPr/>
        </p:nvSpPr>
        <p:spPr>
          <a:xfrm>
            <a:off x="4065600" y="245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Clave de values mal escrita en el template</a:t>
            </a:r>
          </a:p>
        </p:txBody>
      </p:sp>
      <p:sp>
        <p:nvSpPr>
          <p:cNvPr id="22" name="TextBox 21"/>
          <p:cNvSpPr txBox="1"/>
          <p:nvPr/>
        </p:nvSpPr>
        <p:spPr>
          <a:xfrm>
            <a:off x="84464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helm template | grep image:</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replicaCount no tiene efecto</a:t>
            </a:r>
          </a:p>
        </p:txBody>
      </p:sp>
      <p:sp>
        <p:nvSpPr>
          <p:cNvPr id="25" name="TextBox 24"/>
          <p:cNvSpPr txBox="1"/>
          <p:nvPr/>
        </p:nvSpPr>
        <p:spPr>
          <a:xfrm>
            <a:off x="4065600" y="301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El template usa otra clave (.Values.replicas)</a:t>
            </a:r>
          </a:p>
        </p:txBody>
      </p:sp>
      <p:sp>
        <p:nvSpPr>
          <p:cNvPr id="26" name="TextBox 25"/>
          <p:cNvSpPr txBox="1"/>
          <p:nvPr/>
        </p:nvSpPr>
        <p:spPr>
          <a:xfrm>
            <a:off x="84464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helm get manifest</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Service sin endpoints útiles</a:t>
            </a:r>
          </a:p>
        </p:txBody>
      </p:sp>
      <p:sp>
        <p:nvSpPr>
          <p:cNvPr id="30" name="TextBox 29"/>
          <p:cNvSpPr txBox="1"/>
          <p:nvPr/>
        </p:nvSpPr>
        <p:spPr>
          <a:xfrm>
            <a:off x="4065600" y="357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targetPort del template ≠ puerto del contenedor</a:t>
            </a:r>
          </a:p>
        </p:txBody>
      </p:sp>
      <p:sp>
        <p:nvSpPr>
          <p:cNvPr id="31" name="TextBox 30"/>
          <p:cNvSpPr txBox="1"/>
          <p:nvPr/>
        </p:nvSpPr>
        <p:spPr>
          <a:xfrm>
            <a:off x="84464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kubectl get endpoints</a:t>
            </a:r>
          </a:p>
        </p:txBody>
      </p:sp>
      <p:sp>
        <p:nvSpPr>
          <p:cNvPr id="32" name="Rectangle 31"/>
          <p:cNvSpPr/>
          <p:nvPr/>
        </p:nvSpPr>
        <p:spPr>
          <a:xfrm>
            <a:off x="620000" y="469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El cluster no coincide con Git</a:t>
            </a:r>
          </a:p>
        </p:txBody>
      </p:sp>
      <p:sp>
        <p:nvSpPr>
          <p:cNvPr id="34" name="TextBox 33"/>
          <p:cNvSpPr txBox="1"/>
          <p:nvPr/>
        </p:nvSpPr>
        <p:spPr>
          <a:xfrm>
            <a:off x="4065600" y="413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Drift; falta selfHeal o un Sync</a:t>
            </a:r>
          </a:p>
        </p:txBody>
      </p:sp>
      <p:sp>
        <p:nvSpPr>
          <p:cNvPr id="35" name="TextBox 34"/>
          <p:cNvSpPr txBox="1"/>
          <p:nvPr/>
        </p:nvSpPr>
        <p:spPr>
          <a:xfrm>
            <a:off x="84464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argocd app diff · kubectl diff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CHECKLIST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Comprueba que puedes hacer esto sin apuntes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sp>
        <p:nvSpPr>
          <p:cNvPr id="8" name="Rounded Rectangle 7"/>
          <p:cNvSpPr/>
          <p:nvPr/>
        </p:nvSpPr>
        <p:spPr>
          <a:xfrm>
            <a:off x="10996000" y="339000"/>
            <a:ext cx="512000" cy="512000"/>
          </a:xfrm>
          <a:prstGeom prst="roundRect">
            <a:avLst>
              <a:gd name="adj" fmla="val 20000"/>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24000" y="607800"/>
            <a:ext cx="89600" cy="102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213600" y="479800"/>
            <a:ext cx="179200" cy="230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2" name="TextBox 11"/>
          <p:cNvSpPr txBox="1"/>
          <p:nvPr/>
        </p:nvSpPr>
        <p:spPr>
          <a:xfrm>
            <a:off x="1120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Enumero las etapas de un pipeline de CI/CD.</a:t>
            </a:r>
          </a:p>
        </p:txBody>
      </p:sp>
      <p:sp>
        <p:nvSpPr>
          <p:cNvPr id="13" name="Rounded Rectangle 12"/>
          <p:cNvSpPr/>
          <p:nvPr/>
        </p:nvSpPr>
        <p:spPr>
          <a:xfrm>
            <a:off x="620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4" name="TextBox 13"/>
          <p:cNvSpPr txBox="1"/>
          <p:nvPr/>
        </p:nvSpPr>
        <p:spPr>
          <a:xfrm>
            <a:off x="1120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Leo un workflow de GitHub Actions y un .gitlab-ci.yml.</a:t>
            </a:r>
          </a:p>
        </p:txBody>
      </p:sp>
      <p:sp>
        <p:nvSpPr>
          <p:cNvPr id="15" name="Rounded Rectangle 14"/>
          <p:cNvSpPr/>
          <p:nvPr/>
        </p:nvSpPr>
        <p:spPr>
          <a:xfrm>
            <a:off x="620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6" name="TextBox 15"/>
          <p:cNvSpPr txBox="1"/>
          <p:nvPr/>
        </p:nvSpPr>
        <p:spPr>
          <a:xfrm>
            <a:off x="1120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un build multi-stage y por qué desplegar por digest.</a:t>
            </a:r>
          </a:p>
        </p:txBody>
      </p:sp>
      <p:sp>
        <p:nvSpPr>
          <p:cNvPr id="17" name="Rounded Rectangle 16"/>
          <p:cNvSpPr/>
          <p:nvPr/>
        </p:nvSpPr>
        <p:spPr>
          <a:xfrm>
            <a:off x="620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8" name="TextBox 17"/>
          <p:cNvSpPr txBox="1"/>
          <p:nvPr/>
        </p:nvSpPr>
        <p:spPr>
          <a:xfrm>
            <a:off x="1120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Sé publicar una imagen sin credenciales de larga vida.</a:t>
            </a:r>
          </a:p>
        </p:txBody>
      </p:sp>
      <p:sp>
        <p:nvSpPr>
          <p:cNvPr id="19" name="Rounded Rectangle 18"/>
          <p:cNvSpPr/>
          <p:nvPr/>
        </p:nvSpPr>
        <p:spPr>
          <a:xfrm>
            <a:off x="620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0" name="TextBox 19"/>
          <p:cNvSpPr txBox="1"/>
          <p:nvPr/>
        </p:nvSpPr>
        <p:spPr>
          <a:xfrm>
            <a:off x="1120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Enuncio los principios de GitOps.</a:t>
            </a:r>
          </a:p>
        </p:txBody>
      </p:sp>
      <p:sp>
        <p:nvSpPr>
          <p:cNvPr id="21" name="Rounded Rectangle 20"/>
          <p:cNvSpPr/>
          <p:nvPr/>
        </p:nvSpPr>
        <p:spPr>
          <a:xfrm>
            <a:off x="6256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2" name="TextBox 21"/>
          <p:cNvSpPr txBox="1"/>
          <p:nvPr/>
        </p:nvSpPr>
        <p:spPr>
          <a:xfrm>
            <a:off x="6756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Describo el ciclo Application → diff → sync → self-heal.</a:t>
            </a:r>
          </a:p>
        </p:txBody>
      </p:sp>
      <p:sp>
        <p:nvSpPr>
          <p:cNvPr id="23" name="Rounded Rectangle 22"/>
          <p:cNvSpPr/>
          <p:nvPr/>
        </p:nvSpPr>
        <p:spPr>
          <a:xfrm>
            <a:off x="6256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4" name="TextBox 23"/>
          <p:cNvSpPr txBox="1"/>
          <p:nvPr/>
        </p:nvSpPr>
        <p:spPr>
          <a:xfrm>
            <a:off x="6756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Distingo despliegue push de pull.</a:t>
            </a:r>
          </a:p>
        </p:txBody>
      </p:sp>
      <p:sp>
        <p:nvSpPr>
          <p:cNvPr id="25" name="Rounded Rectangle 24"/>
          <p:cNvSpPr/>
          <p:nvPr/>
        </p:nvSpPr>
        <p:spPr>
          <a:xfrm>
            <a:off x="6256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6" name="TextBox 25"/>
          <p:cNvSpPr txBox="1"/>
          <p:nvPr/>
        </p:nvSpPr>
        <p:spPr>
          <a:xfrm>
            <a:off x="6756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Conozco la estructura de un chart de Helm.</a:t>
            </a:r>
          </a:p>
        </p:txBody>
      </p:sp>
      <p:sp>
        <p:nvSpPr>
          <p:cNvPr id="27" name="Rounded Rectangle 26"/>
          <p:cNvSpPr/>
          <p:nvPr/>
        </p:nvSpPr>
        <p:spPr>
          <a:xfrm>
            <a:off x="6256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8" name="TextBox 27"/>
          <p:cNvSpPr txBox="1"/>
          <p:nvPr/>
        </p:nvSpPr>
        <p:spPr>
          <a:xfrm>
            <a:off x="6756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Uso install, upgrade, rollback, template y get.</a:t>
            </a:r>
          </a:p>
        </p:txBody>
      </p:sp>
      <p:sp>
        <p:nvSpPr>
          <p:cNvPr id="29" name="Rounded Rectangle 28"/>
          <p:cNvSpPr/>
          <p:nvPr/>
        </p:nvSpPr>
        <p:spPr>
          <a:xfrm>
            <a:off x="6256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30" name="TextBox 29"/>
          <p:cNvSpPr txBox="1"/>
          <p:nvPr/>
        </p:nvSpPr>
        <p:spPr>
          <a:xfrm>
            <a:off x="6756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Diagnostico un chart que no renderiza o no despliega.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 LA SESIÓN</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Sesión 14 completada</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Ya sabes convertir un commit en una imagen probada y firmada, y esa imagen en un despliegue reproducible.</a:t>
            </a:r>
          </a:p>
          <a:p>
            <a:pPr algn="l" marL="0" indent="0">
              <a:lnSpc>
                <a:spcPct val="132000"/>
              </a:lnSpc>
              <a:spcBef>
                <a:spcPts val="0"/>
              </a:spcBef>
              <a:spcAft>
                <a:spcPts val="1400"/>
              </a:spcAft>
              <a:buNone/>
            </a:pPr>
            <a:r>
              <a:rPr sz="1500" b="0" i="0">
                <a:solidFill>
                  <a:srgbClr val="BDC9DB"/>
                </a:solidFill>
                <a:latin typeface="Segoe UI"/>
              </a:rPr>
              <a:t>GitOps invierte el sentido: el cluster sigue a Git, no al revés. El pipeline no toca el cluster; un agente reconcilia.</a:t>
            </a:r>
          </a:p>
          <a:p>
            <a:pPr algn="l" marL="0" indent="0">
              <a:lnSpc>
                <a:spcPct val="132000"/>
              </a:lnSpc>
              <a:spcBef>
                <a:spcPts val="0"/>
              </a:spcBef>
              <a:spcAft>
                <a:spcPts val="1400"/>
              </a:spcAft>
              <a:buNone/>
            </a:pPr>
            <a:r>
              <a:rPr sz="1500" b="0" i="0">
                <a:solidFill>
                  <a:srgbClr val="BDC9DB"/>
                </a:solidFill>
                <a:latin typeface="Segoe UI"/>
              </a:rPr>
              <a:t>Y Helm te da la plantilla: un chart, unos values por entorno, y helm upgrade / rollback para moverte entre versiones.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14</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14 — Entrega Continua: CI/CD, GitOps y Helm</dc:title>
  <dc:subject>Sesión 14 — Entrega Continua: CI/CD, GitOps y Helm</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