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Oval 1"/>
          <p:cNvSpPr/>
          <p:nvPr/>
        </p:nvSpPr>
        <p:spPr>
          <a:xfrm>
            <a:off x="9142000" y="-1350000"/>
            <a:ext cx="4500000" cy="4500000"/>
          </a:xfrm>
          <a:prstGeom prst="ellipse">
            <a:avLst/>
          </a:prstGeom>
          <a:solidFill>
            <a:srgbClr val="0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42000" y="5308000"/>
            <a:ext cx="2900000" cy="2900000"/>
          </a:xfrm>
          <a:prstGeom prst="ellipse">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ubernetes.png"/>
          <p:cNvPicPr>
            <a:picLocks noChangeAspect="1"/>
          </p:cNvPicPr>
          <p:nvPr/>
        </p:nvPicPr>
        <p:blipFill>
          <a:blip r:embed="rId2"/>
          <a:stretch>
            <a:fillRect/>
          </a:stretch>
        </p:blipFill>
        <p:spPr>
          <a:xfrm>
            <a:off x="9642000" y="1000000"/>
            <a:ext cx="1650000" cy="1650000"/>
          </a:xfrm>
          <a:prstGeom prst="rect">
            <a:avLst/>
          </a:prstGeom>
        </p:spPr>
      </p:pic>
      <p:sp>
        <p:nvSpPr>
          <p:cNvPr id="5" name="TextBox 4"/>
          <p:cNvSpPr txBox="1"/>
          <p:nvPr/>
        </p:nvSpPr>
        <p:spPr>
          <a:xfrm>
            <a:off x="660000" y="300000"/>
            <a:ext cx="8600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CKA HANDS-ON TRAINING</a:t>
            </a:r>
          </a:p>
        </p:txBody>
      </p:sp>
      <p:sp>
        <p:nvSpPr>
          <p:cNvPr id="6" name="TextBox 5"/>
          <p:cNvSpPr txBox="1"/>
          <p:nvPr/>
        </p:nvSpPr>
        <p:spPr>
          <a:xfrm>
            <a:off x="660000" y="1620000"/>
            <a:ext cx="8600000" cy="52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500" b="1" i="0" spc="200">
                <a:solidFill>
                  <a:srgbClr val="74A6FF"/>
                </a:solidFill>
                <a:latin typeface="Segoe UI Semibold"/>
              </a:rPr>
              <a:t>SESIÓN 11</a:t>
            </a:r>
          </a:p>
        </p:txBody>
      </p:sp>
      <p:sp>
        <p:nvSpPr>
          <p:cNvPr id="7" name="TextBox 6"/>
          <p:cNvSpPr txBox="1"/>
          <p:nvPr/>
        </p:nvSpPr>
        <p:spPr>
          <a:xfrm>
            <a:off x="660000" y="2040000"/>
            <a:ext cx="8900000" cy="150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4400" b="0" i="0">
                <a:solidFill>
                  <a:srgbClr val="F3F6FC"/>
                </a:solidFill>
                <a:latin typeface="Segoe UI Light"/>
              </a:rPr>
              <a:t>Configuración y Seguridad de Aplicaciones</a:t>
            </a:r>
          </a:p>
        </p:txBody>
      </p:sp>
      <p:sp>
        <p:nvSpPr>
          <p:cNvPr id="8" name="Rectangle 7"/>
          <p:cNvSpPr/>
          <p:nvPr/>
        </p:nvSpPr>
        <p:spPr>
          <a:xfrm>
            <a:off x="660000" y="356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9" name="TextBox 8"/>
          <p:cNvSpPr txBox="1"/>
          <p:nvPr/>
        </p:nvSpPr>
        <p:spPr>
          <a:xfrm>
            <a:off x="660000" y="3760000"/>
            <a:ext cx="8600000" cy="5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Sacar la configuración de la imagen y dar un disco que sobreviva al Pod</a:t>
            </a:r>
          </a:p>
        </p:txBody>
      </p:sp>
      <p:sp>
        <p:nvSpPr>
          <p:cNvPr id="10" name="Rounded Rectangle 9"/>
          <p:cNvSpPr/>
          <p:nvPr/>
        </p:nvSpPr>
        <p:spPr>
          <a:xfrm>
            <a:off x="6600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Rectangle 10"/>
          <p:cNvSpPr/>
          <p:nvPr/>
        </p:nvSpPr>
        <p:spPr>
          <a:xfrm>
            <a:off x="6600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TextBox 11"/>
          <p:cNvSpPr txBox="1"/>
          <p:nvPr/>
        </p:nvSpPr>
        <p:spPr>
          <a:xfrm>
            <a:off x="8100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Especial</a:t>
            </a:r>
          </a:p>
          <a:p>
            <a:pPr algn="l" marL="0" indent="0">
              <a:lnSpc>
                <a:spcPct val="100000"/>
              </a:lnSpc>
              <a:spcBef>
                <a:spcPts val="0"/>
              </a:spcBef>
              <a:spcAft>
                <a:spcPts val="0"/>
              </a:spcAft>
              <a:buNone/>
            </a:pPr>
            <a:r>
              <a:rPr sz="1000" b="1" i="0" spc="160">
                <a:solidFill>
                  <a:srgbClr val="8493AD"/>
                </a:solidFill>
                <a:latin typeface="Segoe UI Semibold"/>
              </a:rPr>
              <a:t>SESIÓN</a:t>
            </a:r>
          </a:p>
        </p:txBody>
      </p:sp>
      <p:sp>
        <p:nvSpPr>
          <p:cNvPr id="13" name="Rounded Rectangle 12"/>
          <p:cNvSpPr/>
          <p:nvPr/>
        </p:nvSpPr>
        <p:spPr>
          <a:xfrm>
            <a:off x="34555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34555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36055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4</a:t>
            </a:r>
          </a:p>
          <a:p>
            <a:pPr algn="l" marL="0" indent="0">
              <a:lnSpc>
                <a:spcPct val="100000"/>
              </a:lnSpc>
              <a:spcBef>
                <a:spcPts val="0"/>
              </a:spcBef>
              <a:spcAft>
                <a:spcPts val="0"/>
              </a:spcAft>
              <a:buNone/>
            </a:pPr>
            <a:r>
              <a:rPr sz="1000" b="1" i="0" spc="160">
                <a:solidFill>
                  <a:srgbClr val="8493AD"/>
                </a:solidFill>
                <a:latin typeface="Segoe UI Semibold"/>
              </a:rPr>
              <a:t>LABORATORIOS</a:t>
            </a:r>
          </a:p>
        </p:txBody>
      </p:sp>
      <p:sp>
        <p:nvSpPr>
          <p:cNvPr id="16" name="Rounded Rectangle 15"/>
          <p:cNvSpPr/>
          <p:nvPr/>
        </p:nvSpPr>
        <p:spPr>
          <a:xfrm>
            <a:off x="62510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7" name="Rectangle 16"/>
          <p:cNvSpPr/>
          <p:nvPr/>
        </p:nvSpPr>
        <p:spPr>
          <a:xfrm>
            <a:off x="62510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TextBox 17"/>
          <p:cNvSpPr txBox="1"/>
          <p:nvPr/>
        </p:nvSpPr>
        <p:spPr>
          <a:xfrm>
            <a:off x="64010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CM · Secret</a:t>
            </a:r>
          </a:p>
          <a:p>
            <a:pPr algn="l" marL="0" indent="0">
              <a:lnSpc>
                <a:spcPct val="100000"/>
              </a:lnSpc>
              <a:spcBef>
                <a:spcPts val="0"/>
              </a:spcBef>
              <a:spcAft>
                <a:spcPts val="0"/>
              </a:spcAft>
              <a:buNone/>
            </a:pPr>
            <a:r>
              <a:rPr sz="1000" b="1" i="0" spc="160">
                <a:solidFill>
                  <a:srgbClr val="8493AD"/>
                </a:solidFill>
                <a:latin typeface="Segoe UI Semibold"/>
              </a:rPr>
              <a:t>CONFIGURACIÓN</a:t>
            </a:r>
          </a:p>
        </p:txBody>
      </p:sp>
      <p:sp>
        <p:nvSpPr>
          <p:cNvPr id="19" name="Rounded Rectangle 18"/>
          <p:cNvSpPr/>
          <p:nvPr/>
        </p:nvSpPr>
        <p:spPr>
          <a:xfrm>
            <a:off x="90465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90465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91965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PV · PVC · SC</a:t>
            </a:r>
          </a:p>
          <a:p>
            <a:pPr algn="l" marL="0" indent="0">
              <a:lnSpc>
                <a:spcPct val="100000"/>
              </a:lnSpc>
              <a:spcBef>
                <a:spcPts val="0"/>
              </a:spcBef>
              <a:spcAft>
                <a:spcPts val="0"/>
              </a:spcAft>
              <a:buNone/>
            </a:pPr>
            <a:r>
              <a:rPr sz="1000" b="1" i="0" spc="160">
                <a:solidFill>
                  <a:srgbClr val="8493AD"/>
                </a:solidFill>
                <a:latin typeface="Segoe UI Semibold"/>
              </a:rPr>
              <a:t>ALMACENAMIENTO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OBJETIVOS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Al terminar esta sesión serás capaz de…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02</a:t>
            </a:r>
          </a:p>
        </p:txBody>
      </p:sp>
      <p:sp>
        <p:nvSpPr>
          <p:cNvPr id="8" name="Oval 7"/>
          <p:cNvSpPr/>
          <p:nvPr/>
        </p:nvSpPr>
        <p:spPr>
          <a:xfrm>
            <a:off x="10983200" y="326200"/>
            <a:ext cx="537600" cy="5376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098400" y="441400"/>
            <a:ext cx="307200" cy="3072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00800" y="543800"/>
            <a:ext cx="102400" cy="1024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0000" y="20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12" name="TextBox 11"/>
          <p:cNvSpPr txBox="1"/>
          <p:nvPr/>
        </p:nvSpPr>
        <p:spPr>
          <a:xfrm>
            <a:off x="1120000" y="193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Externalizar la configuración de una aplicación con ConfigMaps.</a:t>
            </a:r>
          </a:p>
        </p:txBody>
      </p:sp>
      <p:sp>
        <p:nvSpPr>
          <p:cNvPr id="13" name="Oval 12"/>
          <p:cNvSpPr/>
          <p:nvPr/>
        </p:nvSpPr>
        <p:spPr>
          <a:xfrm>
            <a:off x="620000" y="26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14" name="TextBox 13"/>
          <p:cNvSpPr txBox="1"/>
          <p:nvPr/>
        </p:nvSpPr>
        <p:spPr>
          <a:xfrm>
            <a:off x="1120000" y="249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Guardar credenciales y tokens en Secrets, y explicar qué protege un Secret y qué no.</a:t>
            </a:r>
          </a:p>
        </p:txBody>
      </p:sp>
      <p:sp>
        <p:nvSpPr>
          <p:cNvPr id="15" name="Oval 14"/>
          <p:cNvSpPr/>
          <p:nvPr/>
        </p:nvSpPr>
        <p:spPr>
          <a:xfrm>
            <a:off x="620000" y="318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6" name="TextBox 15"/>
          <p:cNvSpPr txBox="1"/>
          <p:nvPr/>
        </p:nvSpPr>
        <p:spPr>
          <a:xfrm>
            <a:off x="1120000" y="305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Inyectar configuración como variables de entorno y como archivos montados.</a:t>
            </a:r>
          </a:p>
        </p:txBody>
      </p:sp>
      <p:sp>
        <p:nvSpPr>
          <p:cNvPr id="17" name="Oval 16"/>
          <p:cNvSpPr/>
          <p:nvPr/>
        </p:nvSpPr>
        <p:spPr>
          <a:xfrm>
            <a:off x="620000" y="374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8" name="TextBox 17"/>
          <p:cNvSpPr txBox="1"/>
          <p:nvPr/>
        </p:nvSpPr>
        <p:spPr>
          <a:xfrm>
            <a:off x="1120000" y="361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Elegir entre env var y archivo según haga falta propagación de cambios en caliente.</a:t>
            </a:r>
          </a:p>
        </p:txBody>
      </p:sp>
      <p:sp>
        <p:nvSpPr>
          <p:cNvPr id="19" name="Oval 18"/>
          <p:cNvSpPr/>
          <p:nvPr/>
        </p:nvSpPr>
        <p:spPr>
          <a:xfrm>
            <a:off x="620000" y="430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20" name="TextBox 19"/>
          <p:cNvSpPr txBox="1"/>
          <p:nvPr/>
        </p:nvSpPr>
        <p:spPr>
          <a:xfrm>
            <a:off x="1120000" y="417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Describir el ciclo de vida de un PersistentVolume: Available → Bound → Released.</a:t>
            </a:r>
          </a:p>
        </p:txBody>
      </p:sp>
      <p:sp>
        <p:nvSpPr>
          <p:cNvPr id="21" name="Oval 20"/>
          <p:cNvSpPr/>
          <p:nvPr/>
        </p:nvSpPr>
        <p:spPr>
          <a:xfrm>
            <a:off x="620000" y="48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6</a:t>
            </a:r>
          </a:p>
        </p:txBody>
      </p:sp>
      <p:sp>
        <p:nvSpPr>
          <p:cNvPr id="22" name="TextBox 21"/>
          <p:cNvSpPr txBox="1"/>
          <p:nvPr/>
        </p:nvSpPr>
        <p:spPr>
          <a:xfrm>
            <a:off x="1120000" y="473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Escribir un PVC y entender los criterios por los que se enlaza a un PV.</a:t>
            </a:r>
          </a:p>
        </p:txBody>
      </p:sp>
      <p:sp>
        <p:nvSpPr>
          <p:cNvPr id="23" name="Oval 22"/>
          <p:cNvSpPr/>
          <p:nvPr/>
        </p:nvSpPr>
        <p:spPr>
          <a:xfrm>
            <a:off x="620000" y="54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7</a:t>
            </a:r>
          </a:p>
        </p:txBody>
      </p:sp>
      <p:sp>
        <p:nvSpPr>
          <p:cNvPr id="24" name="TextBox 23"/>
          <p:cNvSpPr txBox="1"/>
          <p:nvPr/>
        </p:nvSpPr>
        <p:spPr>
          <a:xfrm>
            <a:off x="1120000" y="529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Aprovisionar almacenamiento dinámicamente con una StorageClass.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SESIÓN ESPECIAL</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Agenda</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03</a:t>
            </a:r>
          </a:p>
        </p:txBody>
      </p:sp>
      <p:sp>
        <p:nvSpPr>
          <p:cNvPr id="8" name="Oval 7"/>
          <p:cNvSpPr/>
          <p:nvPr/>
        </p:nvSpPr>
        <p:spPr>
          <a:xfrm>
            <a:off x="10983200" y="326200"/>
            <a:ext cx="537600" cy="5376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11252000" y="415800"/>
            <a:ext cx="0" cy="1792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252000" y="595000"/>
            <a:ext cx="128000" cy="512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20000" y="177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00–10</a:t>
            </a:r>
          </a:p>
        </p:txBody>
      </p:sp>
      <p:sp>
        <p:nvSpPr>
          <p:cNvPr id="12" name="Rectangle 11"/>
          <p:cNvSpPr/>
          <p:nvPr/>
        </p:nvSpPr>
        <p:spPr>
          <a:xfrm>
            <a:off x="2120000" y="195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2320000" y="177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Por qué la configuración no va dentro de la imagen</a:t>
            </a:r>
          </a:p>
        </p:txBody>
      </p:sp>
      <p:sp>
        <p:nvSpPr>
          <p:cNvPr id="14" name="TextBox 13"/>
          <p:cNvSpPr txBox="1"/>
          <p:nvPr/>
        </p:nvSpPr>
        <p:spPr>
          <a:xfrm>
            <a:off x="620000" y="224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10–30</a:t>
            </a:r>
          </a:p>
        </p:txBody>
      </p:sp>
      <p:sp>
        <p:nvSpPr>
          <p:cNvPr id="15" name="Rectangle 14"/>
          <p:cNvSpPr/>
          <p:nvPr/>
        </p:nvSpPr>
        <p:spPr>
          <a:xfrm>
            <a:off x="2120000" y="242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2320000" y="224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ConfigMap, Secret y qué protege cada uno</a:t>
            </a:r>
          </a:p>
        </p:txBody>
      </p:sp>
      <p:sp>
        <p:nvSpPr>
          <p:cNvPr id="17" name="Rounded Rectangle 16"/>
          <p:cNvSpPr/>
          <p:nvPr/>
        </p:nvSpPr>
        <p:spPr>
          <a:xfrm>
            <a:off x="560000" y="275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TextBox 17"/>
          <p:cNvSpPr txBox="1"/>
          <p:nvPr/>
        </p:nvSpPr>
        <p:spPr>
          <a:xfrm>
            <a:off x="620000" y="271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30–52</a:t>
            </a:r>
          </a:p>
        </p:txBody>
      </p:sp>
      <p:sp>
        <p:nvSpPr>
          <p:cNvPr id="19" name="Rectangle 18"/>
          <p:cNvSpPr/>
          <p:nvPr/>
        </p:nvSpPr>
        <p:spPr>
          <a:xfrm>
            <a:off x="2120000" y="289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2320000" y="271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11.1 — Básico: crear e inyectar ConfigMap y Secret</a:t>
            </a:r>
          </a:p>
        </p:txBody>
      </p:sp>
      <p:sp>
        <p:nvSpPr>
          <p:cNvPr id="21" name="TextBox 20"/>
          <p:cNvSpPr txBox="1"/>
          <p:nvPr/>
        </p:nvSpPr>
        <p:spPr>
          <a:xfrm>
            <a:off x="620000" y="318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52–70</a:t>
            </a:r>
          </a:p>
        </p:txBody>
      </p:sp>
      <p:sp>
        <p:nvSpPr>
          <p:cNvPr id="22" name="Rectangle 21"/>
          <p:cNvSpPr/>
          <p:nvPr/>
        </p:nvSpPr>
        <p:spPr>
          <a:xfrm>
            <a:off x="2120000" y="336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2320000" y="318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env var frente a archivo montado, propagación</a:t>
            </a:r>
          </a:p>
        </p:txBody>
      </p:sp>
      <p:sp>
        <p:nvSpPr>
          <p:cNvPr id="24" name="Rounded Rectangle 23"/>
          <p:cNvSpPr/>
          <p:nvPr/>
        </p:nvSpPr>
        <p:spPr>
          <a:xfrm>
            <a:off x="560000" y="369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620000" y="365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70–102</a:t>
            </a:r>
          </a:p>
        </p:txBody>
      </p:sp>
      <p:sp>
        <p:nvSpPr>
          <p:cNvPr id="26" name="Rectangle 25"/>
          <p:cNvSpPr/>
          <p:nvPr/>
        </p:nvSpPr>
        <p:spPr>
          <a:xfrm>
            <a:off x="2120000" y="383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2320000" y="365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11.2 — Intermedio: cablear la configuración de GRATITUD</a:t>
            </a:r>
          </a:p>
        </p:txBody>
      </p:sp>
      <p:sp>
        <p:nvSpPr>
          <p:cNvPr id="28" name="TextBox 27"/>
          <p:cNvSpPr txBox="1"/>
          <p:nvPr/>
        </p:nvSpPr>
        <p:spPr>
          <a:xfrm>
            <a:off x="620000" y="412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102–120</a:t>
            </a:r>
          </a:p>
        </p:txBody>
      </p:sp>
      <p:sp>
        <p:nvSpPr>
          <p:cNvPr id="29" name="Rectangle 28"/>
          <p:cNvSpPr/>
          <p:nvPr/>
        </p:nvSpPr>
        <p:spPr>
          <a:xfrm>
            <a:off x="2120000" y="430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2320000" y="412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Conceptos: PV, PVC, ciclo de vida y StorageClass</a:t>
            </a:r>
          </a:p>
        </p:txBody>
      </p:sp>
      <p:sp>
        <p:nvSpPr>
          <p:cNvPr id="31" name="Rounded Rectangle 30"/>
          <p:cNvSpPr/>
          <p:nvPr/>
        </p:nvSpPr>
        <p:spPr>
          <a:xfrm>
            <a:off x="560000" y="463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2" name="TextBox 31"/>
          <p:cNvSpPr txBox="1"/>
          <p:nvPr/>
        </p:nvSpPr>
        <p:spPr>
          <a:xfrm>
            <a:off x="620000" y="459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120–150</a:t>
            </a:r>
          </a:p>
        </p:txBody>
      </p:sp>
      <p:sp>
        <p:nvSpPr>
          <p:cNvPr id="33" name="Rectangle 32"/>
          <p:cNvSpPr/>
          <p:nvPr/>
        </p:nvSpPr>
        <p:spPr>
          <a:xfrm>
            <a:off x="2120000" y="477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TextBox 33"/>
          <p:cNvSpPr txBox="1"/>
          <p:nvPr/>
        </p:nvSpPr>
        <p:spPr>
          <a:xfrm>
            <a:off x="2320000" y="459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11.3 — Avanzado: almacenamiento persistente para GRATITUD</a:t>
            </a:r>
          </a:p>
        </p:txBody>
      </p:sp>
      <p:sp>
        <p:nvSpPr>
          <p:cNvPr id="35" name="Rounded Rectangle 34"/>
          <p:cNvSpPr/>
          <p:nvPr/>
        </p:nvSpPr>
        <p:spPr>
          <a:xfrm>
            <a:off x="560000" y="510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6" name="TextBox 35"/>
          <p:cNvSpPr txBox="1"/>
          <p:nvPr/>
        </p:nvSpPr>
        <p:spPr>
          <a:xfrm>
            <a:off x="620000" y="506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150–170</a:t>
            </a:r>
          </a:p>
        </p:txBody>
      </p:sp>
      <p:sp>
        <p:nvSpPr>
          <p:cNvPr id="37" name="Rectangle 36"/>
          <p:cNvSpPr/>
          <p:nvPr/>
        </p:nvSpPr>
        <p:spPr>
          <a:xfrm>
            <a:off x="2120000" y="524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8" name="TextBox 37"/>
          <p:cNvSpPr txBox="1"/>
          <p:nvPr/>
        </p:nvSpPr>
        <p:spPr>
          <a:xfrm>
            <a:off x="2320000" y="506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11.4 — Challenge: «GRATITUD no arranca»</a:t>
            </a:r>
          </a:p>
        </p:txBody>
      </p:sp>
      <p:sp>
        <p:nvSpPr>
          <p:cNvPr id="39" name="TextBox 38"/>
          <p:cNvSpPr txBox="1"/>
          <p:nvPr/>
        </p:nvSpPr>
        <p:spPr>
          <a:xfrm>
            <a:off x="620000" y="553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170–180</a:t>
            </a:r>
          </a:p>
        </p:txBody>
      </p:sp>
      <p:sp>
        <p:nvSpPr>
          <p:cNvPr id="40" name="Rectangle 39"/>
          <p:cNvSpPr/>
          <p:nvPr/>
        </p:nvSpPr>
        <p:spPr>
          <a:xfrm>
            <a:off x="2120000" y="571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1" name="TextBox 40"/>
          <p:cNvSpPr txBox="1"/>
          <p:nvPr/>
        </p:nvSpPr>
        <p:spPr>
          <a:xfrm>
            <a:off x="2320000" y="553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Cierre y CKA Tips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ecret.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01</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1</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Configuración externa</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ConfigMap para lo que se puede leer, Secret para lo que no</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NO ES LO MISMO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ConfigMap y Secret: para qué es cada uno</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05</a:t>
            </a:r>
          </a:p>
        </p:txBody>
      </p:sp>
      <p:pic>
        <p:nvPicPr>
          <p:cNvPr id="8" name="Picture 7" descr="secret.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564000"/>
            <a:ext cx="5316000" cy="2482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44000" y="1564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80000" y="1824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ConfigMap</a:t>
            </a:r>
          </a:p>
          <a:p>
            <a:pPr algn="l" marL="0" indent="0">
              <a:lnSpc>
                <a:spcPct val="112000"/>
              </a:lnSpc>
              <a:spcBef>
                <a:spcPts val="0"/>
              </a:spcBef>
              <a:spcAft>
                <a:spcPts val="0"/>
              </a:spcAft>
              <a:buNone/>
            </a:pPr>
            <a:r>
              <a:rPr sz="1100" b="0" i="1">
                <a:solidFill>
                  <a:srgbClr val="8493AD"/>
                </a:solidFill>
                <a:latin typeface="Segoe UI"/>
              </a:rPr>
              <a:t>Configuración legible</a:t>
            </a:r>
          </a:p>
        </p:txBody>
      </p:sp>
      <p:sp>
        <p:nvSpPr>
          <p:cNvPr id="12" name="TextBox 11"/>
          <p:cNvSpPr txBox="1"/>
          <p:nvPr/>
        </p:nvSpPr>
        <p:spPr>
          <a:xfrm>
            <a:off x="880000" y="2394000"/>
            <a:ext cx="4796000" cy="1472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Pares clave-valor en texto plano.</a:t>
            </a:r>
          </a:p>
          <a:p>
            <a:pPr algn="l" marL="182880" indent="-182880">
              <a:lnSpc>
                <a:spcPct val="116000"/>
              </a:lnSpc>
              <a:spcBef>
                <a:spcPts val="0"/>
              </a:spcBef>
              <a:spcAft>
                <a:spcPts val="800"/>
              </a:spcAft>
              <a:buFont typeface="Arial"/>
              <a:buChar char="•"/>
            </a:pPr>
            <a:r>
              <a:rPr sz="1100" b="0" i="0">
                <a:solidFill>
                  <a:srgbClr val="BDC9DB"/>
                </a:solidFill>
                <a:latin typeface="Segoe UI"/>
              </a:rPr>
              <a:t>Valores cortos o ficheros de configuración enteros.</a:t>
            </a:r>
          </a:p>
          <a:p>
            <a:pPr algn="l" marL="182880" indent="-182880">
              <a:lnSpc>
                <a:spcPct val="116000"/>
              </a:lnSpc>
              <a:spcBef>
                <a:spcPts val="0"/>
              </a:spcBef>
              <a:spcAft>
                <a:spcPts val="800"/>
              </a:spcAft>
              <a:buFont typeface="Arial"/>
              <a:buChar char="•"/>
            </a:pPr>
            <a:r>
              <a:rPr sz="1100" b="0" i="0">
                <a:solidFill>
                  <a:srgbClr val="BDC9DB"/>
                </a:solidFill>
                <a:latin typeface="Segoe UI"/>
              </a:rPr>
              <a:t>URLs, niveles de log, feature flags, rutas.</a:t>
            </a:r>
          </a:p>
          <a:p>
            <a:pPr algn="l" marL="182880" indent="-182880">
              <a:lnSpc>
                <a:spcPct val="116000"/>
              </a:lnSpc>
              <a:spcBef>
                <a:spcPts val="0"/>
              </a:spcBef>
              <a:spcAft>
                <a:spcPts val="800"/>
              </a:spcAft>
              <a:buFont typeface="Arial"/>
              <a:buChar char="•"/>
            </a:pPr>
            <a:r>
              <a:rPr sz="1100" b="0" i="0">
                <a:solidFill>
                  <a:srgbClr val="BDC9DB"/>
                </a:solidFill>
                <a:latin typeface="Segoe UI"/>
              </a:rPr>
              <a:t>Límite práctico ~1 MiB (vive en etcd).</a:t>
            </a:r>
          </a:p>
        </p:txBody>
      </p:sp>
      <p:sp>
        <p:nvSpPr>
          <p:cNvPr id="13" name="Rounded Rectangle 12"/>
          <p:cNvSpPr/>
          <p:nvPr/>
        </p:nvSpPr>
        <p:spPr>
          <a:xfrm>
            <a:off x="6256000" y="1564000"/>
            <a:ext cx="5316000" cy="2482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80000" y="1564000"/>
            <a:ext cx="5268000" cy="46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6516000" y="1824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Secret</a:t>
            </a:r>
          </a:p>
          <a:p>
            <a:pPr algn="l" marL="0" indent="0">
              <a:lnSpc>
                <a:spcPct val="112000"/>
              </a:lnSpc>
              <a:spcBef>
                <a:spcPts val="0"/>
              </a:spcBef>
              <a:spcAft>
                <a:spcPts val="0"/>
              </a:spcAft>
              <a:buNone/>
            </a:pPr>
            <a:r>
              <a:rPr sz="1100" b="0" i="1">
                <a:solidFill>
                  <a:srgbClr val="8493AD"/>
                </a:solidFill>
                <a:latin typeface="Segoe UI"/>
              </a:rPr>
              <a:t>Datos sensibles</a:t>
            </a:r>
          </a:p>
        </p:txBody>
      </p:sp>
      <p:sp>
        <p:nvSpPr>
          <p:cNvPr id="16" name="TextBox 15"/>
          <p:cNvSpPr txBox="1"/>
          <p:nvPr/>
        </p:nvSpPr>
        <p:spPr>
          <a:xfrm>
            <a:off x="6516000" y="2394000"/>
            <a:ext cx="4796000" cy="1472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Mismo formato; pensado para credenciales y tokens.</a:t>
            </a:r>
          </a:p>
          <a:p>
            <a:pPr algn="l" marL="182880" indent="-182880">
              <a:lnSpc>
                <a:spcPct val="116000"/>
              </a:lnSpc>
              <a:spcBef>
                <a:spcPts val="0"/>
              </a:spcBef>
              <a:spcAft>
                <a:spcPts val="800"/>
              </a:spcAft>
              <a:buFont typeface="Arial"/>
              <a:buChar char="•"/>
            </a:pPr>
            <a:r>
              <a:rPr sz="1100" b="0" i="0">
                <a:solidFill>
                  <a:srgbClr val="BDC9DB"/>
                </a:solidFill>
                <a:latin typeface="Segoe UI"/>
              </a:rPr>
              <a:t>Se codifica en base64. base64 NO es cifrado.</a:t>
            </a:r>
          </a:p>
          <a:p>
            <a:pPr algn="l" marL="182880" indent="-182880">
              <a:lnSpc>
                <a:spcPct val="116000"/>
              </a:lnSpc>
              <a:spcBef>
                <a:spcPts val="0"/>
              </a:spcBef>
              <a:spcAft>
                <a:spcPts val="800"/>
              </a:spcAft>
              <a:buFont typeface="Arial"/>
              <a:buChar char="•"/>
            </a:pPr>
            <a:r>
              <a:rPr sz="1100" b="0" i="0">
                <a:solidFill>
                  <a:srgbClr val="BDC9DB"/>
                </a:solidFill>
                <a:latin typeface="Segoe UI"/>
              </a:rPr>
              <a:t>Se monta en tmpfs; admite RBAC más fino.</a:t>
            </a:r>
          </a:p>
          <a:p>
            <a:pPr algn="l" marL="182880" indent="-182880">
              <a:lnSpc>
                <a:spcPct val="116000"/>
              </a:lnSpc>
              <a:spcBef>
                <a:spcPts val="0"/>
              </a:spcBef>
              <a:spcAft>
                <a:spcPts val="800"/>
              </a:spcAft>
              <a:buFont typeface="Arial"/>
              <a:buChar char="•"/>
            </a:pPr>
            <a:r>
              <a:rPr sz="1100" b="0" i="0">
                <a:solidFill>
                  <a:srgbClr val="BDC9DB"/>
                </a:solidFill>
                <a:latin typeface="Segoe UI"/>
              </a:rPr>
              <a:t>type: Opaque, o tipos con forma fija (kubernetes.io/tls…).</a:t>
            </a:r>
          </a:p>
        </p:txBody>
      </p:sp>
      <p:sp>
        <p:nvSpPr>
          <p:cNvPr id="17" name="Rounded Rectangle 16"/>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La misma imagen tiene que poder correr en desarrollo, en pruebas y en producción sin recompilarse. Todo lo que cambia entre entornos —URLs de servicios, niveles de log, flags de funcionalidad, credenciales— sale de la imagen y se inyecta en tiempo de ejecución. Ese es el trabajo de ConfigMap y Secret: desacoplar configuración de código.</a:t>
            </a:r>
          </a:p>
          <a:p>
            <a:pPr algn="l" marL="0" indent="0">
              <a:lnSpc>
                <a:spcPct val="128000"/>
              </a:lnSpc>
              <a:spcBef>
                <a:spcPts val="0"/>
              </a:spcBef>
              <a:spcAft>
                <a:spcPts val="400"/>
              </a:spcAft>
              <a:buNone/>
            </a:pPr>
            <a:r>
              <a:rPr sz="1000" b="0" i="0">
                <a:solidFill>
                  <a:srgbClr val="BDC9DB"/>
                </a:solidFill>
                <a:latin typeface="Segoe UI"/>
              </a:rPr>
              <a:t>Un ConfigMap guarda pares clave-valor de configuración NO sensible, en texto plano. Puede llevar valores cortos (LOG_LEVEL=info) o ficheros enteros (un app.conf de varias líneas como valor de una clave). Tiene un límite práctico de 1 MiB porque vive en etcd.</a:t>
            </a:r>
          </a:p>
          <a:p>
            <a:pPr algn="l" marL="0" indent="0">
              <a:lnSpc>
                <a:spcPct val="128000"/>
              </a:lnSpc>
              <a:spcBef>
                <a:spcPts val="0"/>
              </a:spcBef>
              <a:spcAft>
                <a:spcPts val="400"/>
              </a:spcAft>
              <a:buNone/>
            </a:pPr>
            <a:r>
              <a:rPr sz="1000" b="0" i="0">
                <a:solidFill>
                  <a:srgbClr val="BDC9DB"/>
                </a:solidFill>
                <a:latin typeface="Segoe UI"/>
              </a:rPr>
              <a:t>Un Secret guarda lo mismo pero pensado para datos sensibles: contraseñas de base de datos, tokens de API, certificados. La API de Kubernetes lo trata con algo más de cuidado —no lo imprime en claro, lo monta en tmpfs, permite RBAC específico— pero, y esto es lo que hay que tener claro, por defecto NO lo cifra: lo codifica en base64, que es reversible con un solo comando.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F0C96B"/>
                </a:solidFill>
                <a:latin typeface="Segoe UI Semibold"/>
              </a:rPr>
              <a:t>EL MALENTENDIDO MÁS CARO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Un Secret NO está cifrado por defecto</a:t>
            </a:r>
          </a:p>
        </p:txBody>
      </p:sp>
      <p:sp>
        <p:nvSpPr>
          <p:cNvPr id="4" name="Rectangle 3"/>
          <p:cNvSpPr/>
          <p:nvPr/>
        </p:nvSpPr>
        <p:spPr>
          <a:xfrm>
            <a:off x="620000" y="1230000"/>
            <a:ext cx="560000" cy="46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06</a:t>
            </a:r>
          </a:p>
        </p:txBody>
      </p:sp>
      <p:pic>
        <p:nvPicPr>
          <p:cNvPr id="8" name="Picture 7" descr="secret.png"/>
          <p:cNvPicPr>
            <a:picLocks noChangeAspect="1"/>
          </p:cNvPicPr>
          <p:nvPr/>
        </p:nvPicPr>
        <p:blipFill>
          <a:blip r:embed="rId2"/>
          <a:stretch>
            <a:fillRect/>
          </a:stretch>
        </p:blipFill>
        <p:spPr>
          <a:xfrm>
            <a:off x="10932000" y="275000"/>
            <a:ext cx="640000" cy="640000"/>
          </a:xfrm>
          <a:prstGeom prst="rect">
            <a:avLst/>
          </a:prstGeom>
        </p:spPr>
      </p:pic>
      <p:sp>
        <p:nvSpPr>
          <p:cNvPr id="9" name="TextBox 8"/>
          <p:cNvSpPr txBox="1"/>
          <p:nvPr/>
        </p:nvSpPr>
        <p:spPr>
          <a:xfrm>
            <a:off x="620000" y="1470000"/>
            <a:ext cx="10952000" cy="520000"/>
          </a:xfrm>
          <a:prstGeom prst="rect">
            <a:avLst/>
          </a:prstGeom>
          <a:noFill/>
        </p:spPr>
        <p:txBody>
          <a:bodyPr wrap="square" anchor="t" lIns="0" rIns="0" tIns="0" bIns="0">
            <a:noAutofit/>
          </a:bodyPr>
          <a:lstStyle/>
          <a:p>
            <a:pPr algn="l" marL="0" indent="0">
              <a:lnSpc>
                <a:spcPct val="116000"/>
              </a:lnSpc>
              <a:spcBef>
                <a:spcPts val="0"/>
              </a:spcBef>
              <a:spcAft>
                <a:spcPts val="0"/>
              </a:spcAft>
              <a:buNone/>
            </a:pPr>
            <a:r>
              <a:rPr sz="1300" b="0" i="1">
                <a:solidFill>
                  <a:srgbClr val="BDC9DB"/>
                </a:solidFill>
                <a:latin typeface="Segoe UI"/>
              </a:rPr>
              <a:t>«Secret» sugiere cifrado. No lo hay de serie: el valor viaja y se guarda en etcd en base64, que cualquiera con acceso de lectura al objeto revierte al instante. Lo que un Secret aporta frente a un ConfigMap es tratamiento con más cuidado y superficie de RBAC, no confidencialidad criptográfica.</a:t>
            </a:r>
          </a:p>
        </p:txBody>
      </p:sp>
      <p:sp>
        <p:nvSpPr>
          <p:cNvPr id="10" name="Rounded Rectangle 9"/>
          <p:cNvSpPr/>
          <p:nvPr/>
        </p:nvSpPr>
        <p:spPr>
          <a:xfrm>
            <a:off x="620000" y="2410000"/>
            <a:ext cx="10952000" cy="2092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Rectangle 10"/>
          <p:cNvSpPr/>
          <p:nvPr/>
        </p:nvSpPr>
        <p:spPr>
          <a:xfrm>
            <a:off x="620000" y="2410000"/>
            <a:ext cx="46000" cy="2092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TextBox 11"/>
          <p:cNvSpPr txBox="1"/>
          <p:nvPr/>
        </p:nvSpPr>
        <p:spPr>
          <a:xfrm>
            <a:off x="890000" y="2560000"/>
            <a:ext cx="10412000" cy="1832000"/>
          </a:xfrm>
          <a:prstGeom prst="rect">
            <a:avLst/>
          </a:prstGeom>
          <a:noFill/>
        </p:spPr>
        <p:txBody>
          <a:bodyPr wrap="square" anchor="t" lIns="0" rIns="0" tIns="0" bIns="0">
            <a:noAutofit/>
          </a:bodyPr>
          <a:lstStyle/>
          <a:p>
            <a:pPr marL="0" indent="0">
              <a:lnSpc>
                <a:spcPct val="134000"/>
              </a:lnSpc>
              <a:spcAft>
                <a:spcPts val="0"/>
              </a:spcAft>
              <a:buNone/>
            </a:pPr>
            <a:r>
              <a:rPr sz="1100" b="0" i="1">
                <a:solidFill>
                  <a:srgbClr val="7C8AA5"/>
                </a:solidFill>
                <a:latin typeface="Consolas"/>
              </a:rPr>
              <a:t># 'descifrar' un Secret es esto:</a:t>
            </a:r>
          </a:p>
          <a:p>
            <a:pPr marL="0" indent="0">
              <a:lnSpc>
                <a:spcPct val="134000"/>
              </a:lnSpc>
              <a:spcAft>
                <a:spcPts val="0"/>
              </a:spcAft>
              <a:buNone/>
            </a:pPr>
            <a:r>
              <a:rPr sz="1100" b="0" i="0">
                <a:solidFill>
                  <a:srgbClr val="E6EDF3"/>
                </a:solidFill>
                <a:latin typeface="Consolas"/>
              </a:rPr>
              <a:t>k get secret gratitud-db -o jsonpath='{.data.DB_PASSWORD}' | base64 -d</a:t>
            </a:r>
          </a:p>
          <a:p>
            <a:pPr marL="0" indent="0">
              <a:lnSpc>
                <a:spcPct val="134000"/>
              </a:lnSpc>
              <a:spcAft>
                <a:spcPts val="0"/>
              </a:spcAft>
              <a:buNone/>
            </a:pPr>
            <a:r>
              <a:rPr sz="1100" b="0" i="0">
                <a:solidFill>
                  <a:srgbClr val="E6EDF3"/>
                </a:solidFill>
                <a:latin typeface="Consolas"/>
              </a:rPr>
              <a:t/>
            </a:r>
          </a:p>
          <a:p>
            <a:pPr marL="0" indent="0">
              <a:lnSpc>
                <a:spcPct val="134000"/>
              </a:lnSpc>
              <a:spcAft>
                <a:spcPts val="0"/>
              </a:spcAft>
              <a:buNone/>
            </a:pPr>
            <a:r>
              <a:rPr sz="1100" b="0" i="1">
                <a:solidFill>
                  <a:srgbClr val="7C8AA5"/>
                </a:solidFill>
                <a:latin typeface="Consolas"/>
              </a:rPr>
              <a:t># Para cifrado real EN REPOSO hace falta configurarlo en el API server:</a:t>
            </a:r>
          </a:p>
          <a:p>
            <a:pPr marL="0" indent="0">
              <a:lnSpc>
                <a:spcPct val="134000"/>
              </a:lnSpc>
              <a:spcAft>
                <a:spcPts val="0"/>
              </a:spcAft>
              <a:buNone/>
            </a:pPr>
            <a:r>
              <a:rPr sz="1100" b="0" i="1">
                <a:solidFill>
                  <a:srgbClr val="7C8AA5"/>
                </a:solidFill>
                <a:latin typeface="Consolas"/>
              </a:rPr>
              <a:t>#   EncryptionConfiguration -&gt; --encryption-provider-config</a:t>
            </a:r>
          </a:p>
          <a:p>
            <a:pPr marL="0" indent="0">
              <a:lnSpc>
                <a:spcPct val="134000"/>
              </a:lnSpc>
              <a:spcAft>
                <a:spcPts val="0"/>
              </a:spcAft>
              <a:buNone/>
            </a:pPr>
            <a:r>
              <a:rPr sz="1100" b="0" i="1">
                <a:solidFill>
                  <a:srgbClr val="7C8AA5"/>
                </a:solidFill>
                <a:latin typeface="Consolas"/>
              </a:rPr>
              <a:t>#   (aescbc / aesgcm / kms). Es tarea del administrador del cluster.</a:t>
            </a:r>
          </a:p>
          <a:p>
            <a:pPr marL="0" indent="0">
              <a:lnSpc>
                <a:spcPct val="134000"/>
              </a:lnSpc>
              <a:spcAft>
                <a:spcPts val="0"/>
              </a:spcAft>
              <a:buNone/>
            </a:pPr>
            <a:r>
              <a:rPr sz="1100" b="0" i="1">
                <a:solidFill>
                  <a:srgbClr val="7C8AA5"/>
                </a:solidFill>
                <a:latin typeface="Consolas"/>
              </a:rPr>
              <a:t>#</a:t>
            </a:r>
          </a:p>
          <a:p>
            <a:pPr marL="0" indent="0">
              <a:lnSpc>
                <a:spcPct val="134000"/>
              </a:lnSpc>
              <a:spcAft>
                <a:spcPts val="0"/>
              </a:spcAft>
              <a:buNone/>
            </a:pPr>
            <a:r>
              <a:rPr sz="1100" b="0" i="1">
                <a:solidFill>
                  <a:srgbClr val="7C8AA5"/>
                </a:solidFill>
                <a:latin typeface="Consolas"/>
              </a:rPr>
              <a:t># Y siempre: RBAC estricto sobre 'secrets', y no meterlos en el repo en claro.</a:t>
            </a:r>
          </a:p>
        </p:txBody>
      </p:sp>
      <p:sp>
        <p:nvSpPr>
          <p:cNvPr id="13" name="Rounded Rectangle 12"/>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50000" y="5864000"/>
            <a:ext cx="40000" cy="422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En el examen: si preguntan «cómo se protege un Secret en reposo», la respuesta es EncryptionConfiguration en el API server, no el Secret en sí.</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CÓMO SE CREAN</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Cinco formas, el mismo objeto</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07</a:t>
            </a:r>
          </a:p>
        </p:txBody>
      </p:sp>
      <p:sp>
        <p:nvSpPr>
          <p:cNvPr id="8" name="Rounded Rectangle 7"/>
          <p:cNvSpPr/>
          <p:nvPr/>
        </p:nvSpPr>
        <p:spPr>
          <a:xfrm>
            <a:off x="620000" y="1470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9" name="Rectangle 8"/>
          <p:cNvSpPr/>
          <p:nvPr/>
        </p:nvSpPr>
        <p:spPr>
          <a:xfrm>
            <a:off x="644000" y="1470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Oval 9"/>
          <p:cNvSpPr/>
          <p:nvPr/>
        </p:nvSpPr>
        <p:spPr>
          <a:xfrm>
            <a:off x="820000" y="1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pic>
        <p:nvPicPr>
          <p:cNvPr id="11" name="Picture 10" descr="kubernetes.png"/>
          <p:cNvPicPr>
            <a:picLocks noChangeAspect="1"/>
          </p:cNvPicPr>
          <p:nvPr/>
        </p:nvPicPr>
        <p:blipFill>
          <a:blip r:embed="rId2"/>
          <a:stretch>
            <a:fillRect/>
          </a:stretch>
        </p:blipFill>
        <p:spPr>
          <a:xfrm>
            <a:off x="3527333" y="1676000"/>
            <a:ext cx="330000" cy="330000"/>
          </a:xfrm>
          <a:prstGeom prst="rect">
            <a:avLst/>
          </a:prstGeom>
        </p:spPr>
      </p:pic>
      <p:sp>
        <p:nvSpPr>
          <p:cNvPr id="12" name="TextBox 11"/>
          <p:cNvSpPr txBox="1"/>
          <p:nvPr/>
        </p:nvSpPr>
        <p:spPr>
          <a:xfrm>
            <a:off x="1230000" y="1670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--from-literal</a:t>
            </a:r>
          </a:p>
        </p:txBody>
      </p:sp>
      <p:sp>
        <p:nvSpPr>
          <p:cNvPr id="13" name="TextBox 12"/>
          <p:cNvSpPr txBox="1"/>
          <p:nvPr/>
        </p:nvSpPr>
        <p:spPr>
          <a:xfrm>
            <a:off x="820000" y="2030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k create cm x --from-literal=LOG_LEVEL=info --from-literal=TZ=UTC. Una clave por valor.</a:t>
            </a:r>
          </a:p>
        </p:txBody>
      </p:sp>
      <p:sp>
        <p:nvSpPr>
          <p:cNvPr id="14" name="Rounded Rectangle 13"/>
          <p:cNvSpPr/>
          <p:nvPr/>
        </p:nvSpPr>
        <p:spPr>
          <a:xfrm>
            <a:off x="4377333" y="1470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Rectangle 14"/>
          <p:cNvSpPr/>
          <p:nvPr/>
        </p:nvSpPr>
        <p:spPr>
          <a:xfrm>
            <a:off x="4401333" y="1470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Oval 15"/>
          <p:cNvSpPr/>
          <p:nvPr/>
        </p:nvSpPr>
        <p:spPr>
          <a:xfrm>
            <a:off x="4577333" y="1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pic>
        <p:nvPicPr>
          <p:cNvPr id="17" name="Picture 16" descr="kubernetes.png"/>
          <p:cNvPicPr>
            <a:picLocks noChangeAspect="1"/>
          </p:cNvPicPr>
          <p:nvPr/>
        </p:nvPicPr>
        <p:blipFill>
          <a:blip r:embed="rId2"/>
          <a:stretch>
            <a:fillRect/>
          </a:stretch>
        </p:blipFill>
        <p:spPr>
          <a:xfrm>
            <a:off x="7284666" y="1676000"/>
            <a:ext cx="330000" cy="330000"/>
          </a:xfrm>
          <a:prstGeom prst="rect">
            <a:avLst/>
          </a:prstGeom>
        </p:spPr>
      </p:pic>
      <p:sp>
        <p:nvSpPr>
          <p:cNvPr id="18" name="TextBox 17"/>
          <p:cNvSpPr txBox="1"/>
          <p:nvPr/>
        </p:nvSpPr>
        <p:spPr>
          <a:xfrm>
            <a:off x="4987333" y="1670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--from-file</a:t>
            </a:r>
          </a:p>
        </p:txBody>
      </p:sp>
      <p:sp>
        <p:nvSpPr>
          <p:cNvPr id="19" name="TextBox 18"/>
          <p:cNvSpPr txBox="1"/>
          <p:nvPr/>
        </p:nvSpPr>
        <p:spPr>
          <a:xfrm>
            <a:off x="4577333" y="2030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k create cm x --from-file=app.conf. La clave es el nombre del fichero; su contenido, el valor.</a:t>
            </a:r>
          </a:p>
        </p:txBody>
      </p:sp>
      <p:sp>
        <p:nvSpPr>
          <p:cNvPr id="20" name="Rounded Rectangle 19"/>
          <p:cNvSpPr/>
          <p:nvPr/>
        </p:nvSpPr>
        <p:spPr>
          <a:xfrm>
            <a:off x="8134666" y="1470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Rectangle 20"/>
          <p:cNvSpPr/>
          <p:nvPr/>
        </p:nvSpPr>
        <p:spPr>
          <a:xfrm>
            <a:off x="8158666" y="1470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Oval 21"/>
          <p:cNvSpPr/>
          <p:nvPr/>
        </p:nvSpPr>
        <p:spPr>
          <a:xfrm>
            <a:off x="8334666" y="1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pic>
        <p:nvPicPr>
          <p:cNvPr id="23" name="Picture 22" descr="kubernetes.png"/>
          <p:cNvPicPr>
            <a:picLocks noChangeAspect="1"/>
          </p:cNvPicPr>
          <p:nvPr/>
        </p:nvPicPr>
        <p:blipFill>
          <a:blip r:embed="rId2"/>
          <a:stretch>
            <a:fillRect/>
          </a:stretch>
        </p:blipFill>
        <p:spPr>
          <a:xfrm>
            <a:off x="11042000" y="1676000"/>
            <a:ext cx="330000" cy="330000"/>
          </a:xfrm>
          <a:prstGeom prst="rect">
            <a:avLst/>
          </a:prstGeom>
        </p:spPr>
      </p:pic>
      <p:sp>
        <p:nvSpPr>
          <p:cNvPr id="24" name="TextBox 23"/>
          <p:cNvSpPr txBox="1"/>
          <p:nvPr/>
        </p:nvSpPr>
        <p:spPr>
          <a:xfrm>
            <a:off x="8744666" y="1670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--from-env-file</a:t>
            </a:r>
          </a:p>
        </p:txBody>
      </p:sp>
      <p:sp>
        <p:nvSpPr>
          <p:cNvPr id="25" name="TextBox 24"/>
          <p:cNvSpPr txBox="1"/>
          <p:nvPr/>
        </p:nvSpPr>
        <p:spPr>
          <a:xfrm>
            <a:off x="8334666" y="2030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k create cm x --from-env-file=vars.env. Una entrada por línea CLAVE=valor.</a:t>
            </a:r>
          </a:p>
        </p:txBody>
      </p:sp>
      <p:sp>
        <p:nvSpPr>
          <p:cNvPr id="26" name="Rounded Rectangle 25"/>
          <p:cNvSpPr/>
          <p:nvPr/>
        </p:nvSpPr>
        <p:spPr>
          <a:xfrm>
            <a:off x="620000" y="2925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Rectangle 26"/>
          <p:cNvSpPr/>
          <p:nvPr/>
        </p:nvSpPr>
        <p:spPr>
          <a:xfrm>
            <a:off x="644000" y="2925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Oval 27"/>
          <p:cNvSpPr/>
          <p:nvPr/>
        </p:nvSpPr>
        <p:spPr>
          <a:xfrm>
            <a:off x="820000" y="3145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pic>
        <p:nvPicPr>
          <p:cNvPr id="29" name="Picture 28" descr="kubernetes.png"/>
          <p:cNvPicPr>
            <a:picLocks noChangeAspect="1"/>
          </p:cNvPicPr>
          <p:nvPr/>
        </p:nvPicPr>
        <p:blipFill>
          <a:blip r:embed="rId2"/>
          <a:stretch>
            <a:fillRect/>
          </a:stretch>
        </p:blipFill>
        <p:spPr>
          <a:xfrm>
            <a:off x="3527333" y="3131000"/>
            <a:ext cx="330000" cy="330000"/>
          </a:xfrm>
          <a:prstGeom prst="rect">
            <a:avLst/>
          </a:prstGeom>
        </p:spPr>
      </p:pic>
      <p:sp>
        <p:nvSpPr>
          <p:cNvPr id="30" name="TextBox 29"/>
          <p:cNvSpPr txBox="1"/>
          <p:nvPr/>
        </p:nvSpPr>
        <p:spPr>
          <a:xfrm>
            <a:off x="1230000" y="3125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data / stringData</a:t>
            </a:r>
          </a:p>
        </p:txBody>
      </p:sp>
      <p:sp>
        <p:nvSpPr>
          <p:cNvPr id="31" name="TextBox 30"/>
          <p:cNvSpPr txBox="1"/>
          <p:nvPr/>
        </p:nvSpPr>
        <p:spPr>
          <a:xfrm>
            <a:off x="820000" y="3485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Declarativo. En Secret: data va en base64; stringData en texto plano y lo codifica el API server.</a:t>
            </a:r>
          </a:p>
        </p:txBody>
      </p:sp>
      <p:sp>
        <p:nvSpPr>
          <p:cNvPr id="32" name="Rounded Rectangle 31"/>
          <p:cNvSpPr/>
          <p:nvPr/>
        </p:nvSpPr>
        <p:spPr>
          <a:xfrm>
            <a:off x="4377333" y="2925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Rectangle 32"/>
          <p:cNvSpPr/>
          <p:nvPr/>
        </p:nvSpPr>
        <p:spPr>
          <a:xfrm>
            <a:off x="4401333" y="2925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Oval 33"/>
          <p:cNvSpPr/>
          <p:nvPr/>
        </p:nvSpPr>
        <p:spPr>
          <a:xfrm>
            <a:off x="4577333" y="3145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pic>
        <p:nvPicPr>
          <p:cNvPr id="35" name="Picture 34" descr="kubernetes.png"/>
          <p:cNvPicPr>
            <a:picLocks noChangeAspect="1"/>
          </p:cNvPicPr>
          <p:nvPr/>
        </p:nvPicPr>
        <p:blipFill>
          <a:blip r:embed="rId2"/>
          <a:stretch>
            <a:fillRect/>
          </a:stretch>
        </p:blipFill>
        <p:spPr>
          <a:xfrm>
            <a:off x="7284666" y="3131000"/>
            <a:ext cx="330000" cy="330000"/>
          </a:xfrm>
          <a:prstGeom prst="rect">
            <a:avLst/>
          </a:prstGeom>
        </p:spPr>
      </p:pic>
      <p:sp>
        <p:nvSpPr>
          <p:cNvPr id="36" name="TextBox 35"/>
          <p:cNvSpPr txBox="1"/>
          <p:nvPr/>
        </p:nvSpPr>
        <p:spPr>
          <a:xfrm>
            <a:off x="4987333" y="3125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--dry-run + edit</a:t>
            </a:r>
          </a:p>
        </p:txBody>
      </p:sp>
      <p:sp>
        <p:nvSpPr>
          <p:cNvPr id="37" name="TextBox 36"/>
          <p:cNvSpPr txBox="1"/>
          <p:nvPr/>
        </p:nvSpPr>
        <p:spPr>
          <a:xfrm>
            <a:off x="4577333" y="3485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Genera el YAML con --dry-run=client -o yaml, ajústalo y aplícalo. La vía normal en el examen.</a:t>
            </a:r>
          </a:p>
        </p:txBody>
      </p:sp>
      <p:sp>
        <p:nvSpPr>
          <p:cNvPr id="38" name="Rounded Rectangle 37"/>
          <p:cNvSpPr/>
          <p:nvPr/>
        </p:nvSpPr>
        <p:spPr>
          <a:xfrm>
            <a:off x="8134666" y="2925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9" name="Rectangle 38"/>
          <p:cNvSpPr/>
          <p:nvPr/>
        </p:nvSpPr>
        <p:spPr>
          <a:xfrm>
            <a:off x="8158666" y="2925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0" name="Oval 39"/>
          <p:cNvSpPr/>
          <p:nvPr/>
        </p:nvSpPr>
        <p:spPr>
          <a:xfrm>
            <a:off x="8334666" y="3145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6</a:t>
            </a:r>
          </a:p>
        </p:txBody>
      </p:sp>
      <p:pic>
        <p:nvPicPr>
          <p:cNvPr id="41" name="Picture 40" descr="kubernetes.png"/>
          <p:cNvPicPr>
            <a:picLocks noChangeAspect="1"/>
          </p:cNvPicPr>
          <p:nvPr/>
        </p:nvPicPr>
        <p:blipFill>
          <a:blip r:embed="rId2"/>
          <a:stretch>
            <a:fillRect/>
          </a:stretch>
        </p:blipFill>
        <p:spPr>
          <a:xfrm>
            <a:off x="11042000" y="3131000"/>
            <a:ext cx="330000" cy="330000"/>
          </a:xfrm>
          <a:prstGeom prst="rect">
            <a:avLst/>
          </a:prstGeom>
        </p:spPr>
      </p:pic>
      <p:sp>
        <p:nvSpPr>
          <p:cNvPr id="42" name="TextBox 41"/>
          <p:cNvSpPr txBox="1"/>
          <p:nvPr/>
        </p:nvSpPr>
        <p:spPr>
          <a:xfrm>
            <a:off x="8744666" y="3125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immutable: true</a:t>
            </a:r>
          </a:p>
        </p:txBody>
      </p:sp>
      <p:sp>
        <p:nvSpPr>
          <p:cNvPr id="43" name="TextBox 42"/>
          <p:cNvSpPr txBox="1"/>
          <p:nvPr/>
        </p:nvSpPr>
        <p:spPr>
          <a:xfrm>
            <a:off x="8334666" y="3485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Si el contenido no cambiará: arranque más rápido y sin ediciones accidentales. Para cambiarlo, se recrea.</a:t>
            </a:r>
          </a:p>
        </p:txBody>
      </p:sp>
      <p:sp>
        <p:nvSpPr>
          <p:cNvPr id="44" name="Rounded Rectangle 43"/>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5" name="Rectangle 44"/>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6" name="TextBox 45"/>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Imperativo, para ir rápido en el examen: --from-literal repite una clave por valor; --from-file toma un fichero y usa su nombre como clave (o clave=fichero para renombrarla); --from-env-file lee un fichero de líneas CLAVE=valor y crea una entrada por línea.</a:t>
            </a:r>
          </a:p>
          <a:p>
            <a:pPr algn="l" marL="0" indent="0">
              <a:lnSpc>
                <a:spcPct val="128000"/>
              </a:lnSpc>
              <a:spcBef>
                <a:spcPts val="0"/>
              </a:spcBef>
              <a:spcAft>
                <a:spcPts val="400"/>
              </a:spcAft>
              <a:buNone/>
            </a:pPr>
            <a:r>
              <a:rPr sz="1050" b="0" i="0">
                <a:solidFill>
                  <a:srgbClr val="BDC9DB"/>
                </a:solidFill>
                <a:latin typeface="Segoe UI"/>
              </a:rPr>
              <a:t>Declarativo, para dejarlo en Git: en un ConfigMap el bloque data lleva los valores en texto; en un Secret puedes usar data con los valores ya en base64, o —mucho más cómodo— stringData con el texto plano, que el API server codifica al guardarlo.</a:t>
            </a:r>
          </a:p>
          <a:p>
            <a:pPr algn="l" marL="0" indent="0">
              <a:lnSpc>
                <a:spcPct val="128000"/>
              </a:lnSpc>
              <a:spcBef>
                <a:spcPts val="0"/>
              </a:spcBef>
              <a:spcAft>
                <a:spcPts val="400"/>
              </a:spcAft>
              <a:buNone/>
            </a:pPr>
            <a:r>
              <a:rPr sz="1050" b="0" i="0">
                <a:solidFill>
                  <a:srgbClr val="BDC9DB"/>
                </a:solidFill>
                <a:latin typeface="Segoe UI"/>
              </a:rPr>
              <a:t>Un truco constante: genera el YAML sin aplicarlo con kubectl create configmap ... --dry-run=client -o yaml y edítalo. Y si el contenido no va a cambiar nunca, marca el objeto como immutable: true: el kubelet deja de vigilarlo, arranca antes y evitas cambios accidentales.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básico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11.1 — Crear e inyectar ConfigMap y Secret</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Crear un ConfigMap y un Secret por las dos vías, inyectarlos como variables de entorno y como archivos, y comprobar con base64 -d que un Secret no está cifrado.</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Crear un ConfigMap con --from-literal y otro con --from-file; ver el YAML resultante.</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Crear un Secret con stringData y revertir un valor con base64 -d.</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Inyectar el ConfigMap como env (envFrom y valueFrom) en un Pod y comprobarlo con printenv.</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Montar el Secret como archivos en /etc/secret y listar el contenido.</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Editar el ConfigMap y observar qué se actualiza solo (el volumen) y qué no (las env var).</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CLASE-11/LABORATORIOS/LAB-01-BASICO.md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22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k get cm,secret</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ubernetes.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02</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2</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Inyección: env vars y archivos</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Dos mecanismos con comportamientos distintos ante un cambio</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ELEGIR BIEN</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Variable de entorno frente a archivo montado</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10</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564000"/>
            <a:ext cx="5316000" cy="2482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44000" y="1564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80000" y="1824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env / envFrom</a:t>
            </a:r>
          </a:p>
          <a:p>
            <a:pPr algn="l" marL="0" indent="0">
              <a:lnSpc>
                <a:spcPct val="112000"/>
              </a:lnSpc>
              <a:spcBef>
                <a:spcPts val="0"/>
              </a:spcBef>
              <a:spcAft>
                <a:spcPts val="0"/>
              </a:spcAft>
              <a:buNone/>
            </a:pPr>
            <a:r>
              <a:rPr sz="1100" b="0" i="1">
                <a:solidFill>
                  <a:srgbClr val="8493AD"/>
                </a:solidFill>
                <a:latin typeface="Segoe UI"/>
              </a:rPr>
              <a:t>Variable de entorno</a:t>
            </a:r>
          </a:p>
        </p:txBody>
      </p:sp>
      <p:sp>
        <p:nvSpPr>
          <p:cNvPr id="12" name="TextBox 11"/>
          <p:cNvSpPr txBox="1"/>
          <p:nvPr/>
        </p:nvSpPr>
        <p:spPr>
          <a:xfrm>
            <a:off x="880000" y="2394000"/>
            <a:ext cx="4796000" cy="1472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valueFrom: una clave. envFrom: todas las claves del objeto.</a:t>
            </a:r>
          </a:p>
          <a:p>
            <a:pPr algn="l" marL="182880" indent="-182880">
              <a:lnSpc>
                <a:spcPct val="116000"/>
              </a:lnSpc>
              <a:spcBef>
                <a:spcPts val="0"/>
              </a:spcBef>
              <a:spcAft>
                <a:spcPts val="800"/>
              </a:spcAft>
              <a:buFont typeface="Arial"/>
              <a:buChar char="•"/>
            </a:pPr>
            <a:r>
              <a:rPr sz="1100" b="0" i="0">
                <a:solidFill>
                  <a:srgbClr val="BDC9DB"/>
                </a:solidFill>
                <a:latin typeface="Segoe UI"/>
              </a:rPr>
              <a:t>Lo que espera la mayoría de aplicaciones.</a:t>
            </a:r>
          </a:p>
          <a:p>
            <a:pPr algn="l" marL="182880" indent="-182880">
              <a:lnSpc>
                <a:spcPct val="116000"/>
              </a:lnSpc>
              <a:spcBef>
                <a:spcPts val="0"/>
              </a:spcBef>
              <a:spcAft>
                <a:spcPts val="800"/>
              </a:spcAft>
              <a:buFont typeface="Arial"/>
              <a:buChar char="•"/>
            </a:pPr>
            <a:r>
              <a:rPr sz="1100" b="0" i="0">
                <a:solidFill>
                  <a:srgbClr val="BDC9DB"/>
                </a:solidFill>
                <a:latin typeface="Segoe UI"/>
              </a:rPr>
              <a:t>Se fija al arrancar. NO se actualiza si cambia el objeto.</a:t>
            </a:r>
          </a:p>
          <a:p>
            <a:pPr algn="l" marL="182880" indent="-182880">
              <a:lnSpc>
                <a:spcPct val="116000"/>
              </a:lnSpc>
              <a:spcBef>
                <a:spcPts val="0"/>
              </a:spcBef>
              <a:spcAft>
                <a:spcPts val="800"/>
              </a:spcAft>
              <a:buFont typeface="Arial"/>
              <a:buChar char="•"/>
            </a:pPr>
            <a:r>
              <a:rPr sz="1100" b="0" i="0">
                <a:solidFill>
                  <a:srgbClr val="BDC9DB"/>
                </a:solidFill>
                <a:latin typeface="Segoe UI"/>
              </a:rPr>
              <a:t>Para recoger el cambio: recrear el Pod (rollout restart).</a:t>
            </a:r>
          </a:p>
        </p:txBody>
      </p:sp>
      <p:sp>
        <p:nvSpPr>
          <p:cNvPr id="13" name="Rounded Rectangle 12"/>
          <p:cNvSpPr/>
          <p:nvPr/>
        </p:nvSpPr>
        <p:spPr>
          <a:xfrm>
            <a:off x="6256000" y="1564000"/>
            <a:ext cx="5316000" cy="2482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80000" y="1564000"/>
            <a:ext cx="5268000" cy="46000"/>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6516000" y="1824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Volumen configMap / secret</a:t>
            </a:r>
          </a:p>
          <a:p>
            <a:pPr algn="l" marL="0" indent="0">
              <a:lnSpc>
                <a:spcPct val="112000"/>
              </a:lnSpc>
              <a:spcBef>
                <a:spcPts val="0"/>
              </a:spcBef>
              <a:spcAft>
                <a:spcPts val="0"/>
              </a:spcAft>
              <a:buNone/>
            </a:pPr>
            <a:r>
              <a:rPr sz="1100" b="0" i="1">
                <a:solidFill>
                  <a:srgbClr val="8493AD"/>
                </a:solidFill>
                <a:latin typeface="Segoe UI"/>
              </a:rPr>
              <a:t>Archivo montado</a:t>
            </a:r>
          </a:p>
        </p:txBody>
      </p:sp>
      <p:sp>
        <p:nvSpPr>
          <p:cNvPr id="16" name="TextBox 15"/>
          <p:cNvSpPr txBox="1"/>
          <p:nvPr/>
        </p:nvSpPr>
        <p:spPr>
          <a:xfrm>
            <a:off x="6516000" y="2394000"/>
            <a:ext cx="4796000" cy="1472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Cada clave es un fichero en la ruta de montaje.</a:t>
            </a:r>
          </a:p>
          <a:p>
            <a:pPr algn="l" marL="182880" indent="-182880">
              <a:lnSpc>
                <a:spcPct val="116000"/>
              </a:lnSpc>
              <a:spcBef>
                <a:spcPts val="0"/>
              </a:spcBef>
              <a:spcAft>
                <a:spcPts val="800"/>
              </a:spcAft>
              <a:buFont typeface="Arial"/>
              <a:buChar char="•"/>
            </a:pPr>
            <a:r>
              <a:rPr sz="1100" b="0" i="0">
                <a:solidFill>
                  <a:srgbClr val="BDC9DB"/>
                </a:solidFill>
                <a:latin typeface="Segoe UI"/>
              </a:rPr>
              <a:t>Se actualiza al cambiar el objeto (retardo &lt; 1 min).</a:t>
            </a:r>
          </a:p>
          <a:p>
            <a:pPr algn="l" marL="182880" indent="-182880">
              <a:lnSpc>
                <a:spcPct val="116000"/>
              </a:lnSpc>
              <a:spcBef>
                <a:spcPts val="0"/>
              </a:spcBef>
              <a:spcAft>
                <a:spcPts val="800"/>
              </a:spcAft>
              <a:buFont typeface="Arial"/>
              <a:buChar char="•"/>
            </a:pPr>
            <a:r>
              <a:rPr sz="1100" b="0" i="0">
                <a:solidFill>
                  <a:srgbClr val="BDC9DB"/>
                </a:solidFill>
                <a:latin typeface="Segoe UI"/>
              </a:rPr>
              <a:t>Útil si la app relee su config sin reiniciar.</a:t>
            </a:r>
          </a:p>
          <a:p>
            <a:pPr algn="l" marL="182880" indent="-182880">
              <a:lnSpc>
                <a:spcPct val="116000"/>
              </a:lnSpc>
              <a:spcBef>
                <a:spcPts val="0"/>
              </a:spcBef>
              <a:spcAft>
                <a:spcPts val="800"/>
              </a:spcAft>
              <a:buFont typeface="Arial"/>
              <a:buChar char="•"/>
            </a:pPr>
            <a:r>
              <a:rPr sz="1100" b="0" i="0">
                <a:solidFill>
                  <a:srgbClr val="BDC9DB"/>
                </a:solidFill>
                <a:latin typeface="Segoe UI"/>
              </a:rPr>
              <a:t>subPath NO se actualiza; el montaje oculta el directorio.</a:t>
            </a:r>
          </a:p>
        </p:txBody>
      </p:sp>
      <p:sp>
        <p:nvSpPr>
          <p:cNvPr id="17" name="Rounded Rectangle 16"/>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Como variable de entorno: con env + valueFrom se toma una clave concreta de un ConfigMap o Secret; con envFrom se vuelcan TODAS las claves del objeto como variables. Es lo más simple y lo que casi todas las aplicaciones esperan. El inconveniente: las variables de entorno de un proceso se fijan al arrancar y no cambian nunca. Si editas el ConfigMap, el Pod sigue con el valor viejo hasta que se recrea.</a:t>
            </a:r>
          </a:p>
          <a:p>
            <a:pPr algn="l" marL="0" indent="0">
              <a:lnSpc>
                <a:spcPct val="128000"/>
              </a:lnSpc>
              <a:spcBef>
                <a:spcPts val="0"/>
              </a:spcBef>
              <a:spcAft>
                <a:spcPts val="400"/>
              </a:spcAft>
              <a:buNone/>
            </a:pPr>
            <a:r>
              <a:rPr sz="1000" b="0" i="0">
                <a:solidFill>
                  <a:srgbClr val="BDC9DB"/>
                </a:solidFill>
                <a:latin typeface="Segoe UI"/>
              </a:rPr>
              <a:t>Como archivo montado: se declara un volumen de tipo configMap o secret y se monta en una ruta; cada clave aparece como un fichero cuyo contenido es el valor. Kubernetes actualiza esos ficheros cuando el objeto cambia —con un retardo de hasta un minuto—, así que una aplicación que relee su fichero de configuración puede recoger cambios sin reiniciarse.</a:t>
            </a:r>
          </a:p>
          <a:p>
            <a:pPr algn="l" marL="0" indent="0">
              <a:lnSpc>
                <a:spcPct val="128000"/>
              </a:lnSpc>
              <a:spcBef>
                <a:spcPts val="0"/>
              </a:spcBef>
              <a:spcAft>
                <a:spcPts val="400"/>
              </a:spcAft>
              <a:buNone/>
            </a:pPr>
            <a:r>
              <a:rPr sz="1000" b="0" i="0">
                <a:solidFill>
                  <a:srgbClr val="BDC9DB"/>
                </a:solidFill>
                <a:latin typeface="Segoe UI"/>
              </a:rPr>
              <a:t>Dos matices que se cuelan siempre: un montaje con subPath NO recibe actualizaciones (queda congelado al valor del arranque), y montar un volumen sobre un directorio oculta lo que hubiera dentro. Para inyectar un solo fichero en un directorio con más cosas, se usa subPath, asumiendo que se pierde la actualización automática.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SINTAXIS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Las tres formas en un mismo contenedor</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11</a:t>
            </a:r>
          </a:p>
        </p:txBody>
      </p:sp>
      <p:sp>
        <p:nvSpPr>
          <p:cNvPr id="8" name="Freeform 7"/>
          <p:cNvSpPr/>
          <p:nvPr/>
        </p:nvSpPr>
        <p:spPr>
          <a:xfrm>
            <a:off x="11034400" y="300600"/>
            <a:ext cx="448000" cy="588800"/>
          </a:xfrm>
          <a:custGeom>
            <a:avLst/>
            <a:gdLst/>
            <a:ahLst/>
            <a:cxnLst/>
            <a:rect l="l" t="t" r="r" b="b"/>
            <a:pathLst>
              <a:path w="448000" h="588800">
                <a:moveTo>
                  <a:pt x="0" y="0"/>
                </a:moveTo>
                <a:lnTo>
                  <a:pt x="345600" y="0"/>
                </a:lnTo>
                <a:lnTo>
                  <a:pt x="448000" y="102400"/>
                </a:lnTo>
                <a:lnTo>
                  <a:pt x="448000" y="588800"/>
                </a:lnTo>
                <a:lnTo>
                  <a:pt x="0" y="588800"/>
                </a:lnTo>
                <a:close/>
              </a:path>
            </a:pathLst>
          </a:cu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380000" y="300600"/>
            <a:ext cx="0" cy="1024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380000" y="403000"/>
            <a:ext cx="1024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11200" y="543800"/>
            <a:ext cx="2816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11200" y="646200"/>
            <a:ext cx="2816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111200" y="748600"/>
            <a:ext cx="2816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0000" y="1518000"/>
            <a:ext cx="10952000" cy="4184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Rectangle 14"/>
          <p:cNvSpPr/>
          <p:nvPr/>
        </p:nvSpPr>
        <p:spPr>
          <a:xfrm>
            <a:off x="620000" y="1518000"/>
            <a:ext cx="46000" cy="4184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850000" y="1638000"/>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TODAS LAS CLAVES COMO ENV, UNA CLAVE CONCRETA, Y UN FICHERO</a:t>
            </a:r>
          </a:p>
        </p:txBody>
      </p:sp>
      <p:sp>
        <p:nvSpPr>
          <p:cNvPr id="17" name="TextBox 16"/>
          <p:cNvSpPr txBox="1"/>
          <p:nvPr/>
        </p:nvSpPr>
        <p:spPr>
          <a:xfrm>
            <a:off x="890000" y="1918000"/>
            <a:ext cx="10412000" cy="3724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containers:</a:t>
            </a:r>
          </a:p>
          <a:p>
            <a:pPr marL="0" indent="0">
              <a:lnSpc>
                <a:spcPct val="134000"/>
              </a:lnSpc>
              <a:spcAft>
                <a:spcPts val="0"/>
              </a:spcAft>
              <a:buNone/>
            </a:pPr>
            <a:r>
              <a:rPr sz="1100" b="0" i="0">
                <a:solidFill>
                  <a:srgbClr val="E6EDF3"/>
                </a:solidFill>
                <a:latin typeface="Consolas"/>
              </a:rPr>
              <a:t>  - name: api</a:t>
            </a:r>
          </a:p>
          <a:p>
            <a:pPr marL="0" indent="0">
              <a:lnSpc>
                <a:spcPct val="134000"/>
              </a:lnSpc>
              <a:spcAft>
                <a:spcPts val="0"/>
              </a:spcAft>
              <a:buNone/>
            </a:pPr>
            <a:r>
              <a:rPr sz="1100" b="0" i="0">
                <a:solidFill>
                  <a:srgbClr val="E6EDF3"/>
                </a:solidFill>
                <a:latin typeface="Consolas"/>
              </a:rPr>
              <a:t>    envFrom:</a:t>
            </a:r>
          </a:p>
          <a:p>
            <a:pPr marL="0" indent="0">
              <a:lnSpc>
                <a:spcPct val="134000"/>
              </a:lnSpc>
              <a:spcAft>
                <a:spcPts val="0"/>
              </a:spcAft>
              <a:buNone/>
            </a:pPr>
            <a:r>
              <a:rPr sz="1100" b="0" i="0">
                <a:solidFill>
                  <a:srgbClr val="E6EDF3"/>
                </a:solidFill>
                <a:latin typeface="Consolas"/>
              </a:rPr>
              <a:t>      - configMapRef: {name: gratitud-config} </a:t>
            </a:r>
            <a:r>
              <a:rPr sz="1100" b="0" i="1">
                <a:solidFill>
                  <a:srgbClr val="7C8AA5"/>
                </a:solidFill>
                <a:latin typeface="Consolas"/>
              </a:rPr>
              <a:t>  # LOG_LEVEL, FEATURE_*, UPSTREAM_*</a:t>
            </a:r>
          </a:p>
          <a:p>
            <a:pPr marL="0" indent="0">
              <a:lnSpc>
                <a:spcPct val="134000"/>
              </a:lnSpc>
              <a:spcAft>
                <a:spcPts val="0"/>
              </a:spcAft>
              <a:buNone/>
            </a:pPr>
            <a:r>
              <a:rPr sz="1100" b="0" i="0">
                <a:solidFill>
                  <a:srgbClr val="E6EDF3"/>
                </a:solidFill>
                <a:latin typeface="Consolas"/>
              </a:rPr>
              <a:t>      - secretRef:    {name: gratitud-db}      </a:t>
            </a:r>
            <a:r>
              <a:rPr sz="1100" b="0" i="1">
                <a:solidFill>
                  <a:srgbClr val="7C8AA5"/>
                </a:solidFill>
                <a:latin typeface="Consolas"/>
              </a:rPr>
              <a:t>  # DB_USER, DB_PASSWORD, DB_HOST</a:t>
            </a:r>
          </a:p>
          <a:p>
            <a:pPr marL="0" indent="0">
              <a:lnSpc>
                <a:spcPct val="134000"/>
              </a:lnSpc>
              <a:spcAft>
                <a:spcPts val="0"/>
              </a:spcAft>
              <a:buNone/>
            </a:pPr>
            <a:r>
              <a:rPr sz="1100" b="0" i="0">
                <a:solidFill>
                  <a:srgbClr val="E6EDF3"/>
                </a:solidFill>
                <a:latin typeface="Consolas"/>
              </a:rPr>
              <a:t>    env:</a:t>
            </a:r>
          </a:p>
          <a:p>
            <a:pPr marL="0" indent="0">
              <a:lnSpc>
                <a:spcPct val="134000"/>
              </a:lnSpc>
              <a:spcAft>
                <a:spcPts val="0"/>
              </a:spcAft>
              <a:buNone/>
            </a:pPr>
            <a:r>
              <a:rPr sz="1100" b="0" i="0">
                <a:solidFill>
                  <a:srgbClr val="E6EDF3"/>
                </a:solidFill>
                <a:latin typeface="Consolas"/>
              </a:rPr>
              <a:t>      - name: PARTNER_TOKEN</a:t>
            </a:r>
          </a:p>
          <a:p>
            <a:pPr marL="0" indent="0">
              <a:lnSpc>
                <a:spcPct val="134000"/>
              </a:lnSpc>
              <a:spcAft>
                <a:spcPts val="0"/>
              </a:spcAft>
              <a:buNone/>
            </a:pPr>
            <a:r>
              <a:rPr sz="1100" b="0" i="0">
                <a:solidFill>
                  <a:srgbClr val="E6EDF3"/>
                </a:solidFill>
                <a:latin typeface="Consolas"/>
              </a:rPr>
              <a:t>        valueFrom:</a:t>
            </a:r>
          </a:p>
          <a:p>
            <a:pPr marL="0" indent="0">
              <a:lnSpc>
                <a:spcPct val="134000"/>
              </a:lnSpc>
              <a:spcAft>
                <a:spcPts val="0"/>
              </a:spcAft>
              <a:buNone/>
            </a:pPr>
            <a:r>
              <a:rPr sz="1100" b="0" i="0">
                <a:solidFill>
                  <a:srgbClr val="E6EDF3"/>
                </a:solidFill>
                <a:latin typeface="Consolas"/>
              </a:rPr>
              <a:t>          secretKeyRef: {name: gratitud-api-tokens, key: PARTNER_TOKEN}</a:t>
            </a:r>
          </a:p>
          <a:p>
            <a:pPr marL="0" indent="0">
              <a:lnSpc>
                <a:spcPct val="134000"/>
              </a:lnSpc>
              <a:spcAft>
                <a:spcPts val="0"/>
              </a:spcAft>
              <a:buNone/>
            </a:pPr>
            <a:r>
              <a:rPr sz="1100" b="0" i="0">
                <a:solidFill>
                  <a:srgbClr val="E6EDF3"/>
                </a:solidFill>
                <a:latin typeface="Consolas"/>
              </a:rPr>
              <a:t>    volumeMounts:</a:t>
            </a:r>
          </a:p>
          <a:p>
            <a:pPr marL="0" indent="0">
              <a:lnSpc>
                <a:spcPct val="134000"/>
              </a:lnSpc>
              <a:spcAft>
                <a:spcPts val="0"/>
              </a:spcAft>
              <a:buNone/>
            </a:pPr>
            <a:r>
              <a:rPr sz="1100" b="0" i="0">
                <a:solidFill>
                  <a:srgbClr val="E6EDF3"/>
                </a:solidFill>
                <a:latin typeface="Consolas"/>
              </a:rPr>
              <a:t>      - {name: cfg, mountPath: /etc/gratitud/app.conf, subPath: app.conf}</a:t>
            </a:r>
          </a:p>
          <a:p>
            <a:pPr marL="0" indent="0">
              <a:lnSpc>
                <a:spcPct val="134000"/>
              </a:lnSpc>
              <a:spcAft>
                <a:spcPts val="0"/>
              </a:spcAft>
              <a:buNone/>
            </a:pPr>
            <a:r>
              <a:rPr sz="1100" b="0" i="0">
                <a:solidFill>
                  <a:srgbClr val="E6EDF3"/>
                </a:solidFill>
                <a:latin typeface="Consolas"/>
              </a:rPr>
              <a:t>volumes:</a:t>
            </a:r>
          </a:p>
          <a:p>
            <a:pPr marL="0" indent="0">
              <a:lnSpc>
                <a:spcPct val="134000"/>
              </a:lnSpc>
              <a:spcAft>
                <a:spcPts val="0"/>
              </a:spcAft>
              <a:buNone/>
            </a:pPr>
            <a:r>
              <a:rPr sz="1100" b="0" i="0">
                <a:solidFill>
                  <a:srgbClr val="E6EDF3"/>
                </a:solidFill>
                <a:latin typeface="Consolas"/>
              </a:rPr>
              <a:t>  - name: cfg</a:t>
            </a:r>
          </a:p>
          <a:p>
            <a:pPr marL="0" indent="0">
              <a:lnSpc>
                <a:spcPct val="134000"/>
              </a:lnSpc>
              <a:spcAft>
                <a:spcPts val="0"/>
              </a:spcAft>
              <a:buNone/>
            </a:pPr>
            <a:r>
              <a:rPr sz="1100" b="0" i="0">
                <a:solidFill>
                  <a:srgbClr val="E6EDF3"/>
                </a:solidFill>
                <a:latin typeface="Consolas"/>
              </a:rPr>
              <a:t>    configMap:</a:t>
            </a:r>
          </a:p>
          <a:p>
            <a:pPr marL="0" indent="0">
              <a:lnSpc>
                <a:spcPct val="134000"/>
              </a:lnSpc>
              <a:spcAft>
                <a:spcPts val="0"/>
              </a:spcAft>
              <a:buNone/>
            </a:pPr>
            <a:r>
              <a:rPr sz="1100" b="0" i="0">
                <a:solidFill>
                  <a:srgbClr val="E6EDF3"/>
                </a:solidFill>
                <a:latin typeface="Consolas"/>
              </a:rPr>
              <a:t>      name: gratitud-config</a:t>
            </a:r>
          </a:p>
          <a:p>
            <a:pPr marL="0" indent="0">
              <a:lnSpc>
                <a:spcPct val="134000"/>
              </a:lnSpc>
              <a:spcAft>
                <a:spcPts val="0"/>
              </a:spcAft>
              <a:buNone/>
            </a:pPr>
            <a:r>
              <a:rPr sz="1100" b="0" i="0">
                <a:solidFill>
                  <a:srgbClr val="E6EDF3"/>
                </a:solidFill>
                <a:latin typeface="Consolas"/>
              </a:rPr>
              <a:t>      items: [{key: app.conf, path: app.conf}]</a:t>
            </a:r>
          </a:p>
        </p:txBody>
      </p:sp>
      <p:sp>
        <p:nvSpPr>
          <p:cNvPr id="18" name="Rounded Rectangle 17"/>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50000" y="5864000"/>
            <a:ext cx="40000" cy="42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subPath: app.conf inyecta solo ese fichero en /etc/gratitud sin ocultar el resto del directorio, a cambio de no recibir actualizaciones.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PROPAGACIÓN DE CAMBIOS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Qué se actualiza solo y qué exige recrear el Pod</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12</a:t>
            </a:r>
          </a:p>
        </p:txBody>
      </p:sp>
      <p:pic>
        <p:nvPicPr>
          <p:cNvPr id="8" name="Picture 7" descr="pod.png"/>
          <p:cNvPicPr>
            <a:picLocks noChangeAspect="1"/>
          </p:cNvPicPr>
          <p:nvPr/>
        </p:nvPicPr>
        <p:blipFill>
          <a:blip r:embed="rId2"/>
          <a:stretch>
            <a:fillRect/>
          </a:stretch>
        </p:blipFill>
        <p:spPr>
          <a:xfrm>
            <a:off x="10932000" y="275000"/>
            <a:ext cx="640000" cy="640000"/>
          </a:xfrm>
          <a:prstGeom prst="rect">
            <a:avLst/>
          </a:prstGeom>
        </p:spPr>
      </p:pic>
      <p:sp>
        <p:nvSpPr>
          <p:cNvPr id="9" name="Oval 8"/>
          <p:cNvSpPr/>
          <p:nvPr/>
        </p:nvSpPr>
        <p:spPr>
          <a:xfrm>
            <a:off x="636000" y="1751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000" y="1470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env / envFrom: NO se actualiza. Requiere kubectl rollout restart.</a:t>
            </a:r>
          </a:p>
        </p:txBody>
      </p:sp>
      <p:sp>
        <p:nvSpPr>
          <p:cNvPr id="11" name="Oval 10"/>
          <p:cNvSpPr/>
          <p:nvPr/>
        </p:nvSpPr>
        <p:spPr>
          <a:xfrm>
            <a:off x="636000" y="2419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0000" y="2137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Volumen sin subPath: los ficheros se actualizan en &lt; 1 min; la app debe releerlos.</a:t>
            </a:r>
          </a:p>
        </p:txBody>
      </p:sp>
      <p:sp>
        <p:nvSpPr>
          <p:cNvPr id="13" name="Oval 12"/>
          <p:cNvSpPr/>
          <p:nvPr/>
        </p:nvSpPr>
        <p:spPr>
          <a:xfrm>
            <a:off x="636000" y="30867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0000" y="28050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Volumen con subPath: NO se actualiza. Congelado al valor del arranque.</a:t>
            </a:r>
          </a:p>
        </p:txBody>
      </p:sp>
      <p:sp>
        <p:nvSpPr>
          <p:cNvPr id="15" name="Oval 14"/>
          <p:cNvSpPr/>
          <p:nvPr/>
        </p:nvSpPr>
        <p:spPr>
          <a:xfrm>
            <a:off x="636000" y="3754250"/>
            <a:ext cx="104000" cy="104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000" y="3472500"/>
            <a:ext cx="5435040" cy="667500"/>
          </a:xfrm>
          <a:prstGeom prst="rect">
            <a:avLst/>
          </a:prstGeom>
          <a:noFill/>
        </p:spPr>
        <p:txBody>
          <a:bodyPr wrap="square" anchor="ctr" lIns="0" rIns="0" tIns="0" bIns="0">
            <a:noAutofit/>
          </a:bodyPr>
          <a:lstStyle/>
          <a:p>
            <a:pPr algn="l" marL="0" indent="0">
              <a:lnSpc>
                <a:spcPct val="118000"/>
              </a:lnSpc>
              <a:spcBef>
                <a:spcPts val="0"/>
              </a:spcBef>
              <a:spcAft>
                <a:spcPts val="0"/>
              </a:spcAft>
              <a:buNone/>
            </a:pPr>
            <a:r>
              <a:rPr sz="1300" b="0" i="0">
                <a:solidFill>
                  <a:srgbClr val="BDC9DB"/>
                </a:solidFill>
                <a:latin typeface="Segoe UI"/>
              </a:rPr>
              <a:t>immutable: true: no se edita; se recrea. Arranque más rápido, sin cambios accidentales.</a:t>
            </a:r>
          </a:p>
        </p:txBody>
      </p:sp>
      <p:sp>
        <p:nvSpPr>
          <p:cNvPr id="17" name="Rounded Rectangle 16"/>
          <p:cNvSpPr/>
          <p:nvPr/>
        </p:nvSpPr>
        <p:spPr>
          <a:xfrm>
            <a:off x="6635040" y="1470000"/>
            <a:ext cx="4936960" cy="2670000"/>
          </a:xfrm>
          <a:prstGeom prst="roundRect">
            <a:avLst>
              <a:gd name="adj" fmla="val 3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635040" y="1770000"/>
            <a:ext cx="46000" cy="237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825040" y="1530000"/>
            <a:ext cx="4556960" cy="26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FORZAR LA RECARGA</a:t>
            </a:r>
          </a:p>
        </p:txBody>
      </p:sp>
      <p:sp>
        <p:nvSpPr>
          <p:cNvPr id="20" name="Rectangle 19"/>
          <p:cNvSpPr/>
          <p:nvPr/>
        </p:nvSpPr>
        <p:spPr>
          <a:xfrm>
            <a:off x="6825040" y="1764000"/>
            <a:ext cx="4556960" cy="1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6865040" y="1960000"/>
            <a:ext cx="4516960" cy="198374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k edit configmap gratitud-config</a:t>
            </a:r>
          </a:p>
          <a:p>
            <a:pPr marL="0" indent="0">
              <a:lnSpc>
                <a:spcPct val="134000"/>
              </a:lnSpc>
              <a:spcAft>
                <a:spcPts val="0"/>
              </a:spcAft>
              <a:buNone/>
            </a:pPr>
            <a:r>
              <a:rPr sz="1100" b="0" i="0">
                <a:solidFill>
                  <a:srgbClr val="E6EDF3"/>
                </a:solidFill>
                <a:latin typeface="Consolas"/>
              </a:rPr>
              <a:t/>
            </a:r>
          </a:p>
          <a:p>
            <a:pPr marL="0" indent="0">
              <a:lnSpc>
                <a:spcPct val="134000"/>
              </a:lnSpc>
              <a:spcAft>
                <a:spcPts val="0"/>
              </a:spcAft>
              <a:buNone/>
            </a:pPr>
            <a:r>
              <a:rPr sz="1100" b="0" i="1">
                <a:solidFill>
                  <a:srgbClr val="7C8AA5"/>
                </a:solidFill>
                <a:latin typeface="Consolas"/>
              </a:rPr>
              <a:t># si se inyecta por env:</a:t>
            </a:r>
          </a:p>
          <a:p>
            <a:pPr marL="0" indent="0">
              <a:lnSpc>
                <a:spcPct val="134000"/>
              </a:lnSpc>
              <a:spcAft>
                <a:spcPts val="0"/>
              </a:spcAft>
              <a:buNone/>
            </a:pPr>
            <a:r>
              <a:rPr sz="1100" b="0" i="0">
                <a:solidFill>
                  <a:srgbClr val="E6EDF3"/>
                </a:solidFill>
                <a:latin typeface="Consolas"/>
              </a:rPr>
              <a:t>k rollout restart deploy/api -n gratitud-api</a:t>
            </a:r>
          </a:p>
          <a:p>
            <a:pPr marL="0" indent="0">
              <a:lnSpc>
                <a:spcPct val="134000"/>
              </a:lnSpc>
              <a:spcAft>
                <a:spcPts val="0"/>
              </a:spcAft>
              <a:buNone/>
            </a:pPr>
            <a:r>
              <a:rPr sz="1100" b="0" i="0">
                <a:solidFill>
                  <a:srgbClr val="E6EDF3"/>
                </a:solidFill>
                <a:latin typeface="Consolas"/>
              </a:rPr>
              <a:t/>
            </a:r>
          </a:p>
          <a:p>
            <a:pPr marL="0" indent="0">
              <a:lnSpc>
                <a:spcPct val="134000"/>
              </a:lnSpc>
              <a:spcAft>
                <a:spcPts val="0"/>
              </a:spcAft>
              <a:buNone/>
            </a:pPr>
            <a:r>
              <a:rPr sz="1100" b="0" i="1">
                <a:solidFill>
                  <a:srgbClr val="7C8AA5"/>
                </a:solidFill>
                <a:latin typeface="Consolas"/>
              </a:rPr>
              <a:t># si se inyecta por volumen:</a:t>
            </a:r>
          </a:p>
          <a:p>
            <a:pPr marL="0" indent="0">
              <a:lnSpc>
                <a:spcPct val="134000"/>
              </a:lnSpc>
              <a:spcAft>
                <a:spcPts val="0"/>
              </a:spcAft>
              <a:buNone/>
            </a:pPr>
            <a:r>
              <a:rPr sz="1100" b="0" i="0">
                <a:solidFill>
                  <a:srgbClr val="E6EDF3"/>
                </a:solidFill>
                <a:latin typeface="Consolas"/>
              </a:rPr>
              <a:t>k exec deploy/api -n gratitud-api -- \</a:t>
            </a:r>
          </a:p>
          <a:p>
            <a:pPr marL="0" indent="0">
              <a:lnSpc>
                <a:spcPct val="134000"/>
              </a:lnSpc>
              <a:spcAft>
                <a:spcPts val="0"/>
              </a:spcAft>
              <a:buNone/>
            </a:pPr>
            <a:r>
              <a:rPr sz="1100" b="0" i="0">
                <a:solidFill>
                  <a:srgbClr val="E6EDF3"/>
                </a:solidFill>
                <a:latin typeface="Consolas"/>
              </a:rPr>
              <a:t>  cat /etc/gratitud/app.conf</a:t>
            </a:r>
          </a:p>
          <a:p>
            <a:pPr marL="0" indent="0">
              <a:lnSpc>
                <a:spcPct val="134000"/>
              </a:lnSpc>
              <a:spcAft>
                <a:spcPts val="0"/>
              </a:spcAft>
              <a:buNone/>
            </a:pPr>
            <a:r>
              <a:rPr sz="1100" b="0" i="1">
                <a:solidFill>
                  <a:srgbClr val="7C8AA5"/>
                </a:solidFill>
                <a:latin typeface="Consolas"/>
              </a:rPr>
              <a:t># (cambia solo tras &lt; 1 min y</a:t>
            </a:r>
          </a:p>
          <a:p>
            <a:pPr marL="0" indent="0">
              <a:lnSpc>
                <a:spcPct val="134000"/>
              </a:lnSpc>
              <a:spcAft>
                <a:spcPts val="0"/>
              </a:spcAft>
              <a:buNone/>
            </a:pPr>
            <a:r>
              <a:rPr sz="1100" b="0" i="1">
                <a:solidFill>
                  <a:srgbClr val="7C8AA5"/>
                </a:solidFill>
                <a:latin typeface="Consolas"/>
              </a:rPr>
              <a:t>#  si no se usó subPath)</a:t>
            </a:r>
          </a:p>
        </p:txBody>
      </p:sp>
      <p:sp>
        <p:nvSpPr>
          <p:cNvPr id="22" name="Rounded Rectangle 21"/>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Editas un ConfigMap o un Secret. Lo que pasa a continuación depende de cómo lo inyectaste. Si fue por env o envFrom, no pasa nada: el proceso ya tiene sus variables y no se releen. Necesitas kubectl rollout restart deployment para que los Pods nuevos cojan los valores nuevos.</a:t>
            </a:r>
          </a:p>
          <a:p>
            <a:pPr algn="l" marL="0" indent="0">
              <a:lnSpc>
                <a:spcPct val="128000"/>
              </a:lnSpc>
              <a:spcBef>
                <a:spcPts val="0"/>
              </a:spcBef>
              <a:spcAft>
                <a:spcPts val="400"/>
              </a:spcAft>
              <a:buNone/>
            </a:pPr>
            <a:r>
              <a:rPr sz="1050" b="0" i="0">
                <a:solidFill>
                  <a:srgbClr val="BDC9DB"/>
                </a:solidFill>
                <a:latin typeface="Segoe UI"/>
              </a:rPr>
              <a:t>Si fue por volumen sin subPath, el kubelet actualiza los ficheros montados en menos de un minuto. Que eso sirva de algo depende de la aplicación: solo lo aprovecha si vuelve a leer el fichero (por señal, por watch o por reintento). Si la app lee su config una sola vez al arrancar, montar por volumen no te ahorra el reinicio.</a:t>
            </a:r>
          </a:p>
          <a:p>
            <a:pPr algn="l" marL="0" indent="0">
              <a:lnSpc>
                <a:spcPct val="128000"/>
              </a:lnSpc>
              <a:spcBef>
                <a:spcPts val="0"/>
              </a:spcBef>
              <a:spcAft>
                <a:spcPts val="400"/>
              </a:spcAft>
              <a:buNone/>
            </a:pPr>
            <a:r>
              <a:rPr sz="1050" b="0" i="0">
                <a:solidFill>
                  <a:srgbClr val="BDC9DB"/>
                </a:solidFill>
                <a:latin typeface="Segoe UI"/>
              </a:rPr>
              <a:t>Si el objeto es immutable: true, no hay nada que propagar: no se puede editar. Para cambiarlo se crea uno nuevo (con otro nombre o recreándolo) y se actualiza la referencia del Pod. A cambio, el kubelet no lo vigila y el arranque es más rápido, lo cual importa cuando muchos Pods montan el mismo objeto.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intermedio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11.2 — Cablear la configuración de GRATITUD</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Externalizar toda la configuración de la API de GRATITUD: ConfigMap con valores y con un fichero, dos Secrets, e inyección por env y por volumen. Comprobar la propagación de un cambio.</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Crear gratitud-config (valores + clave app.conf multilínea) y los Secrets gratitud-db y gratitud-api-tokens.</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Inyectar en el Deployment api: envFrom para config y db, valueFrom para un token concreto.</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Montar app.conf en /etc/gratitud con subPath y verificarlo con exec.</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Cambiar LOG_LEVEL y comprobar que las env var NO cambian sin rollout restart.</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Marcar gratitud-config como immutable y observar qué deja de permitir el API server.</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CLASE-11/LABORATORIOS/LAB-02-INTERMEDIO.md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32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k exec deploy/api -- printenv</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v.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03</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3</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Almacenamiento persistente</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Un disco que no muere con el Pod: PV, PVC y StorageClass</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CICLO DE VIDA</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De Available a Released: la vida de un PersistentVolume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15</a:t>
            </a:r>
          </a:p>
        </p:txBody>
      </p:sp>
      <p:pic>
        <p:nvPicPr>
          <p:cNvPr id="8" name="Picture 7" descr="pv.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900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Available</a:t>
            </a:r>
          </a:p>
        </p:txBody>
      </p:sp>
      <p:cxnSp>
        <p:nvCxnSpPr>
          <p:cNvPr id="11" name="Connector 10"/>
          <p:cNvCxnSpPr/>
          <p:nvPr/>
        </p:nvCxnSpPr>
        <p:spPr>
          <a:xfrm>
            <a:off x="26664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524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29224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Bound (PV ↔ PVC)</a:t>
            </a:r>
          </a:p>
        </p:txBody>
      </p:sp>
      <p:cxnSp>
        <p:nvCxnSpPr>
          <p:cNvPr id="14" name="Connector 13"/>
          <p:cNvCxnSpPr/>
          <p:nvPr/>
        </p:nvCxnSpPr>
        <p:spPr>
          <a:xfrm>
            <a:off x="48988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848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51548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En uso por Pods</a:t>
            </a:r>
          </a:p>
        </p:txBody>
      </p:sp>
      <p:cxnSp>
        <p:nvCxnSpPr>
          <p:cNvPr id="17" name="Connector 16"/>
          <p:cNvCxnSpPr/>
          <p:nvPr/>
        </p:nvCxnSpPr>
        <p:spPr>
          <a:xfrm>
            <a:off x="71312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172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73872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Released (PVC borrado)</a:t>
            </a:r>
          </a:p>
        </p:txBody>
      </p:sp>
      <p:cxnSp>
        <p:nvCxnSpPr>
          <p:cNvPr id="20" name="Connector 19"/>
          <p:cNvCxnSpPr/>
          <p:nvPr/>
        </p:nvCxnSpPr>
        <p:spPr>
          <a:xfrm>
            <a:off x="93636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496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TextBox 21"/>
          <p:cNvSpPr txBox="1"/>
          <p:nvPr/>
        </p:nvSpPr>
        <p:spPr>
          <a:xfrm>
            <a:off x="96196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Retain → manual · Delete → se borra</a:t>
            </a:r>
          </a:p>
        </p:txBody>
      </p:sp>
      <p:sp>
        <p:nvSpPr>
          <p:cNvPr id="23" name="Rounded Rectangle 22"/>
          <p:cNvSpPr/>
          <p:nvPr/>
        </p:nvSpPr>
        <p:spPr>
          <a:xfrm>
            <a:off x="620000" y="2670000"/>
            <a:ext cx="10952000" cy="361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Rectangle 23"/>
          <p:cNvSpPr/>
          <p:nvPr/>
        </p:nvSpPr>
        <p:spPr>
          <a:xfrm>
            <a:off x="646000" y="2692000"/>
            <a:ext cx="40000" cy="356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60000" y="2800000"/>
            <a:ext cx="10522000" cy="335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LO QUE HAY QUE ENTENDER</a:t>
            </a:r>
          </a:p>
          <a:p>
            <a:pPr algn="l" marL="0" indent="0">
              <a:lnSpc>
                <a:spcPct val="128000"/>
              </a:lnSpc>
              <a:spcBef>
                <a:spcPts val="0"/>
              </a:spcBef>
              <a:spcAft>
                <a:spcPts val="400"/>
              </a:spcAft>
              <a:buNone/>
            </a:pPr>
            <a:r>
              <a:rPr sz="1100" b="0" i="0">
                <a:solidFill>
                  <a:srgbClr val="BDC9DB"/>
                </a:solidFill>
                <a:latin typeface="Segoe UI"/>
              </a:rPr>
              <a:t>Un PersistentVolume es una porción de almacenamiento del cluster, con su capacidad, sus modos de acceso y su política de recuperación. Nace Available. Cuando un PersistentVolumeClaim encaja con él, los dos pasan a Bound: ese PV queda reservado en exclusiva para ese PVC, aunque el PVC pida menos capacidad de la que el PV ofrece.</a:t>
            </a:r>
          </a:p>
          <a:p>
            <a:pPr algn="l" marL="0" indent="0">
              <a:lnSpc>
                <a:spcPct val="128000"/>
              </a:lnSpc>
              <a:spcBef>
                <a:spcPts val="0"/>
              </a:spcBef>
              <a:spcAft>
                <a:spcPts val="400"/>
              </a:spcAft>
              <a:buNone/>
            </a:pPr>
            <a:r>
              <a:rPr sz="1100" b="0" i="0">
                <a:solidFill>
                  <a:srgbClr val="BDC9DB"/>
                </a:solidFill>
                <a:latin typeface="Segoe UI"/>
              </a:rPr>
              <a:t>El Pod nunca nombra un PV: monta un PVC. Mientras el PVC existe y está Bound, el Pod puede recrearse las veces que haga falta y siempre reencuentra sus datos. Ese es el objetivo de todo el mecanismo: separar el ciclo de vida de los datos del ciclo de vida del Pod.</a:t>
            </a:r>
          </a:p>
          <a:p>
            <a:pPr algn="l" marL="0" indent="0">
              <a:lnSpc>
                <a:spcPct val="128000"/>
              </a:lnSpc>
              <a:spcBef>
                <a:spcPts val="0"/>
              </a:spcBef>
              <a:spcAft>
                <a:spcPts val="400"/>
              </a:spcAft>
              <a:buNone/>
            </a:pPr>
            <a:r>
              <a:rPr sz="1100" b="0" i="0">
                <a:solidFill>
                  <a:srgbClr val="BDC9DB"/>
                </a:solidFill>
                <a:latin typeface="Segoe UI"/>
              </a:rPr>
              <a:t>Cuando se borra el PVC, el PV pasa a Released y entra en juego su persistentVolumeReclaimPolicy. Con Delete, el volumen subyacente y el objeto PV se eliminan (lo normal en aprovisionamiento dinámico). Con Retain, los datos se conservan y el PV queda Released pero NO Available: hay que intervenir a mano para reutilizarlo. Recycle ya no existe.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LOS PARÁMETROS QUE DECIDEN EL BINDING</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accessModes, reclaimPolicy y volumeBindingMode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16</a:t>
            </a:r>
          </a:p>
        </p:txBody>
      </p:sp>
      <p:pic>
        <p:nvPicPr>
          <p:cNvPr id="8" name="Picture 7" descr="pv.png"/>
          <p:cNvPicPr>
            <a:picLocks noChangeAspect="1"/>
          </p:cNvPicPr>
          <p:nvPr/>
        </p:nvPicPr>
        <p:blipFill>
          <a:blip r:embed="rId2"/>
          <a:stretch>
            <a:fillRect/>
          </a:stretch>
        </p:blipFill>
        <p:spPr>
          <a:xfrm>
            <a:off x="10932000" y="275000"/>
            <a:ext cx="640000" cy="640000"/>
          </a:xfrm>
          <a:prstGeom prst="rect">
            <a:avLst/>
          </a:prstGeom>
        </p:spPr>
      </p:pic>
      <p:sp>
        <p:nvSpPr>
          <p:cNvPr id="9" name="Rectangle 8"/>
          <p:cNvSpPr/>
          <p:nvPr/>
        </p:nvSpPr>
        <p:spPr>
          <a:xfrm>
            <a:off x="620000" y="1470000"/>
            <a:ext cx="10952000" cy="420000"/>
          </a:xfrm>
          <a:prstGeom prst="rect">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882000"/>
            <a:ext cx="10952000" cy="1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780000" y="1470000"/>
            <a:ext cx="25180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PARÁMETRO</a:t>
            </a:r>
          </a:p>
        </p:txBody>
      </p:sp>
      <p:sp>
        <p:nvSpPr>
          <p:cNvPr id="12" name="TextBox 11"/>
          <p:cNvSpPr txBox="1"/>
          <p:nvPr/>
        </p:nvSpPr>
        <p:spPr>
          <a:xfrm>
            <a:off x="3518000" y="1470000"/>
            <a:ext cx="3430666"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VALORES</a:t>
            </a:r>
          </a:p>
        </p:txBody>
      </p:sp>
      <p:sp>
        <p:nvSpPr>
          <p:cNvPr id="13" name="TextBox 12"/>
          <p:cNvSpPr txBox="1"/>
          <p:nvPr/>
        </p:nvSpPr>
        <p:spPr>
          <a:xfrm>
            <a:off x="7168666" y="1470000"/>
            <a:ext cx="4343333"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QUÉ DECIDE</a:t>
            </a:r>
          </a:p>
        </p:txBody>
      </p:sp>
      <p:sp>
        <p:nvSpPr>
          <p:cNvPr id="14" name="Rectangle 13"/>
          <p:cNvSpPr/>
          <p:nvPr/>
        </p:nvSpPr>
        <p:spPr>
          <a:xfrm>
            <a:off x="620000" y="245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780000" y="189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accessModes</a:t>
            </a:r>
          </a:p>
        </p:txBody>
      </p:sp>
      <p:sp>
        <p:nvSpPr>
          <p:cNvPr id="16" name="TextBox 15"/>
          <p:cNvSpPr txBox="1"/>
          <p:nvPr/>
        </p:nvSpPr>
        <p:spPr>
          <a:xfrm>
            <a:off x="3518000" y="189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RWO · ROX · RWX · RWOP</a:t>
            </a:r>
          </a:p>
        </p:txBody>
      </p:sp>
      <p:sp>
        <p:nvSpPr>
          <p:cNvPr id="17" name="TextBox 16"/>
          <p:cNvSpPr txBox="1"/>
          <p:nvPr/>
        </p:nvSpPr>
        <p:spPr>
          <a:xfrm>
            <a:off x="7168666" y="189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Cuántos nodos y en qué modo montan el volumen. El PVC y el PV deben coincidir.</a:t>
            </a:r>
          </a:p>
        </p:txBody>
      </p:sp>
      <p:sp>
        <p:nvSpPr>
          <p:cNvPr id="18" name="Rectangle 17"/>
          <p:cNvSpPr/>
          <p:nvPr/>
        </p:nvSpPr>
        <p:spPr>
          <a:xfrm>
            <a:off x="620000" y="245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20000" y="301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780000" y="245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reclaimPolicy</a:t>
            </a:r>
          </a:p>
        </p:txBody>
      </p:sp>
      <p:sp>
        <p:nvSpPr>
          <p:cNvPr id="21" name="TextBox 20"/>
          <p:cNvSpPr txBox="1"/>
          <p:nvPr/>
        </p:nvSpPr>
        <p:spPr>
          <a:xfrm>
            <a:off x="3518000" y="245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Retain · Delete</a:t>
            </a:r>
          </a:p>
        </p:txBody>
      </p:sp>
      <p:sp>
        <p:nvSpPr>
          <p:cNvPr id="22" name="TextBox 21"/>
          <p:cNvSpPr txBox="1"/>
          <p:nvPr/>
        </p:nvSpPr>
        <p:spPr>
          <a:xfrm>
            <a:off x="7168666" y="245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Qué pasa con los datos al borrar el PVC. Recycle fue eliminado.</a:t>
            </a:r>
          </a:p>
        </p:txBody>
      </p:sp>
      <p:sp>
        <p:nvSpPr>
          <p:cNvPr id="23" name="Rectangle 22"/>
          <p:cNvSpPr/>
          <p:nvPr/>
        </p:nvSpPr>
        <p:spPr>
          <a:xfrm>
            <a:off x="620000" y="357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780000" y="301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volumeBindingMode</a:t>
            </a:r>
          </a:p>
        </p:txBody>
      </p:sp>
      <p:sp>
        <p:nvSpPr>
          <p:cNvPr id="25" name="TextBox 24"/>
          <p:cNvSpPr txBox="1"/>
          <p:nvPr/>
        </p:nvSpPr>
        <p:spPr>
          <a:xfrm>
            <a:off x="3518000" y="301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Immediate · WaitForFirstConsumer</a:t>
            </a:r>
          </a:p>
        </p:txBody>
      </p:sp>
      <p:sp>
        <p:nvSpPr>
          <p:cNvPr id="26" name="TextBox 25"/>
          <p:cNvSpPr txBox="1"/>
          <p:nvPr/>
        </p:nvSpPr>
        <p:spPr>
          <a:xfrm>
            <a:off x="7168666" y="301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Si el PV se crea al reclamarlo o al programarse el primer Pod que lo usa.</a:t>
            </a:r>
          </a:p>
        </p:txBody>
      </p:sp>
      <p:sp>
        <p:nvSpPr>
          <p:cNvPr id="27" name="Rectangle 26"/>
          <p:cNvSpPr/>
          <p:nvPr/>
        </p:nvSpPr>
        <p:spPr>
          <a:xfrm>
            <a:off x="620000" y="357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Rectangle 27"/>
          <p:cNvSpPr/>
          <p:nvPr/>
        </p:nvSpPr>
        <p:spPr>
          <a:xfrm>
            <a:off x="620000" y="413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9" name="TextBox 28"/>
          <p:cNvSpPr txBox="1"/>
          <p:nvPr/>
        </p:nvSpPr>
        <p:spPr>
          <a:xfrm>
            <a:off x="780000" y="3570000"/>
            <a:ext cx="25180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storageClassName</a:t>
            </a:r>
          </a:p>
        </p:txBody>
      </p:sp>
      <p:sp>
        <p:nvSpPr>
          <p:cNvPr id="30" name="TextBox 29"/>
          <p:cNvSpPr txBox="1"/>
          <p:nvPr/>
        </p:nvSpPr>
        <p:spPr>
          <a:xfrm>
            <a:off x="3518000" y="3570000"/>
            <a:ext cx="3430666"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nombre · "" · (ausente)</a:t>
            </a:r>
          </a:p>
        </p:txBody>
      </p:sp>
      <p:sp>
        <p:nvSpPr>
          <p:cNvPr id="31" name="TextBox 30"/>
          <p:cNvSpPr txBox="1"/>
          <p:nvPr/>
        </p:nvSpPr>
        <p:spPr>
          <a:xfrm>
            <a:off x="7168666" y="3570000"/>
            <a:ext cx="4343333"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 desactiva el dinámico y fuerza PV estático; ausente usa la StorageClass por defecto.</a:t>
            </a:r>
          </a:p>
        </p:txBody>
      </p:sp>
      <p:sp>
        <p:nvSpPr>
          <p:cNvPr id="32" name="Rounded Rectangle 31"/>
          <p:cNvSpPr/>
          <p:nvPr/>
        </p:nvSpPr>
        <p:spPr>
          <a:xfrm>
            <a:off x="620000" y="591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Rectangle 32"/>
          <p:cNvSpPr/>
          <p:nvPr/>
        </p:nvSpPr>
        <p:spPr>
          <a:xfrm>
            <a:off x="650000" y="5934000"/>
            <a:ext cx="40000" cy="42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TextBox 33"/>
          <p:cNvSpPr txBox="1"/>
          <p:nvPr/>
        </p:nvSpPr>
        <p:spPr>
          <a:xfrm>
            <a:off x="860000" y="591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RWO = un nodo lee-escribe; ROX = varios nodos solo lectura; RWX = varios nodos lee-escribe (necesita un backend que lo soporte, NFS/CephFS); RWOP = un solo Pod.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SINTAXIS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StorageClass, PVC dinámico y Pod que lo usa</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17</a:t>
            </a:r>
          </a:p>
        </p:txBody>
      </p:sp>
      <p:pic>
        <p:nvPicPr>
          <p:cNvPr id="8" name="Picture 7" descr="pv.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470000"/>
            <a:ext cx="10952000" cy="2074285"/>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470000"/>
            <a:ext cx="46000" cy="2074285"/>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50000" y="1590000"/>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STORAGECLASS (EL PROVISIONER DEPENDE DE TU CSI)</a:t>
            </a:r>
          </a:p>
        </p:txBody>
      </p:sp>
      <p:sp>
        <p:nvSpPr>
          <p:cNvPr id="12" name="TextBox 11"/>
          <p:cNvSpPr txBox="1"/>
          <p:nvPr/>
        </p:nvSpPr>
        <p:spPr>
          <a:xfrm>
            <a:off x="890000" y="1870000"/>
            <a:ext cx="10412000" cy="1614285"/>
          </a:xfrm>
          <a:prstGeom prst="rect">
            <a:avLst/>
          </a:prstGeom>
          <a:noFill/>
        </p:spPr>
        <p:txBody>
          <a:bodyPr wrap="square" anchor="t" lIns="0" rIns="0" tIns="0" bIns="0">
            <a:noAutofit/>
          </a:bodyPr>
          <a:lstStyle/>
          <a:p>
            <a:pPr marL="0" indent="0">
              <a:lnSpc>
                <a:spcPct val="134000"/>
              </a:lnSpc>
              <a:spcAft>
                <a:spcPts val="0"/>
              </a:spcAft>
              <a:buNone/>
            </a:pPr>
            <a:r>
              <a:rPr sz="850" b="0" i="0">
                <a:solidFill>
                  <a:srgbClr val="E6EDF3"/>
                </a:solidFill>
                <a:latin typeface="Consolas"/>
              </a:rPr>
              <a:t>apiVersion: storage.k8s.io/v1</a:t>
            </a:r>
          </a:p>
          <a:p>
            <a:pPr marL="0" indent="0">
              <a:lnSpc>
                <a:spcPct val="134000"/>
              </a:lnSpc>
              <a:spcAft>
                <a:spcPts val="0"/>
              </a:spcAft>
              <a:buNone/>
            </a:pPr>
            <a:r>
              <a:rPr sz="850" b="0" i="0">
                <a:solidFill>
                  <a:srgbClr val="E6EDF3"/>
                </a:solidFill>
                <a:latin typeface="Consolas"/>
              </a:rPr>
              <a:t>kind: StorageClass</a:t>
            </a:r>
          </a:p>
          <a:p>
            <a:pPr marL="0" indent="0">
              <a:lnSpc>
                <a:spcPct val="134000"/>
              </a:lnSpc>
              <a:spcAft>
                <a:spcPts val="0"/>
              </a:spcAft>
              <a:buNone/>
            </a:pPr>
            <a:r>
              <a:rPr sz="850" b="0" i="0">
                <a:solidFill>
                  <a:srgbClr val="E6EDF3"/>
                </a:solidFill>
                <a:latin typeface="Consolas"/>
              </a:rPr>
              <a:t>metadata:</a:t>
            </a:r>
          </a:p>
          <a:p>
            <a:pPr marL="0" indent="0">
              <a:lnSpc>
                <a:spcPct val="134000"/>
              </a:lnSpc>
              <a:spcAft>
                <a:spcPts val="0"/>
              </a:spcAft>
              <a:buNone/>
            </a:pPr>
            <a:r>
              <a:rPr sz="850" b="0" i="0">
                <a:solidFill>
                  <a:srgbClr val="E6EDF3"/>
                </a:solidFill>
                <a:latin typeface="Consolas"/>
              </a:rPr>
              <a:t>  name: gratitud-standard</a:t>
            </a:r>
          </a:p>
          <a:p>
            <a:pPr marL="0" indent="0">
              <a:lnSpc>
                <a:spcPct val="134000"/>
              </a:lnSpc>
              <a:spcAft>
                <a:spcPts val="0"/>
              </a:spcAft>
              <a:buNone/>
            </a:pPr>
            <a:r>
              <a:rPr sz="850" b="0" i="0">
                <a:solidFill>
                  <a:srgbClr val="E6EDF3"/>
                </a:solidFill>
                <a:latin typeface="Consolas"/>
              </a:rPr>
              <a:t>  annotations: {storageclass.kubernetes.io/is-default-class: "false"}</a:t>
            </a:r>
          </a:p>
          <a:p>
            <a:pPr marL="0" indent="0">
              <a:lnSpc>
                <a:spcPct val="134000"/>
              </a:lnSpc>
              <a:spcAft>
                <a:spcPts val="0"/>
              </a:spcAft>
              <a:buNone/>
            </a:pPr>
            <a:r>
              <a:rPr sz="850" b="0" i="0">
                <a:solidFill>
                  <a:srgbClr val="E6EDF3"/>
                </a:solidFill>
                <a:latin typeface="Consolas"/>
              </a:rPr>
              <a:t>provisioner: rancher.io/local-path    </a:t>
            </a:r>
            <a:r>
              <a:rPr sz="850" b="0" i="1">
                <a:solidFill>
                  <a:srgbClr val="7C8AA5"/>
                </a:solidFill>
                <a:latin typeface="Consolas"/>
              </a:rPr>
              <a:t>  # p.ej. ebs.csi.aws.com, pd.csi.storage.gke.io</a:t>
            </a:r>
          </a:p>
          <a:p>
            <a:pPr marL="0" indent="0">
              <a:lnSpc>
                <a:spcPct val="134000"/>
              </a:lnSpc>
              <a:spcAft>
                <a:spcPts val="0"/>
              </a:spcAft>
              <a:buNone/>
            </a:pPr>
            <a:r>
              <a:rPr sz="850" b="0" i="0">
                <a:solidFill>
                  <a:srgbClr val="E6EDF3"/>
                </a:solidFill>
                <a:latin typeface="Consolas"/>
              </a:rPr>
              <a:t>reclaimPolicy: Delete</a:t>
            </a:r>
          </a:p>
          <a:p>
            <a:pPr marL="0" indent="0">
              <a:lnSpc>
                <a:spcPct val="134000"/>
              </a:lnSpc>
              <a:spcAft>
                <a:spcPts val="0"/>
              </a:spcAft>
              <a:buNone/>
            </a:pPr>
            <a:r>
              <a:rPr sz="850" b="0" i="0">
                <a:solidFill>
                  <a:srgbClr val="E6EDF3"/>
                </a:solidFill>
                <a:latin typeface="Consolas"/>
              </a:rPr>
              <a:t>volumeBindingMode: WaitForFirstConsumer</a:t>
            </a:r>
          </a:p>
          <a:p>
            <a:pPr marL="0" indent="0">
              <a:lnSpc>
                <a:spcPct val="134000"/>
              </a:lnSpc>
              <a:spcAft>
                <a:spcPts val="0"/>
              </a:spcAft>
              <a:buNone/>
            </a:pPr>
            <a:r>
              <a:rPr sz="850" b="0" i="0">
                <a:solidFill>
                  <a:srgbClr val="E6EDF3"/>
                </a:solidFill>
                <a:latin typeface="Consolas"/>
              </a:rPr>
              <a:t>allowVolumeExpansion: true</a:t>
            </a:r>
          </a:p>
        </p:txBody>
      </p:sp>
      <p:sp>
        <p:nvSpPr>
          <p:cNvPr id="13" name="Rounded Rectangle 12"/>
          <p:cNvSpPr/>
          <p:nvPr/>
        </p:nvSpPr>
        <p:spPr>
          <a:xfrm>
            <a:off x="620000" y="3744285"/>
            <a:ext cx="10952000" cy="2573455"/>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0000" y="3744285"/>
            <a:ext cx="46000" cy="2573455"/>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850000" y="3864285"/>
            <a:ext cx="10492000" cy="26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000" b="1" i="0" spc="180">
                <a:solidFill>
                  <a:srgbClr val="8493AD"/>
                </a:solidFill>
                <a:latin typeface="Segoe UI Semibold"/>
              </a:rPr>
              <a:t>PVC DINÁMICO + SU USO EN UN POD</a:t>
            </a:r>
          </a:p>
        </p:txBody>
      </p:sp>
      <p:sp>
        <p:nvSpPr>
          <p:cNvPr id="16" name="TextBox 15"/>
          <p:cNvSpPr txBox="1"/>
          <p:nvPr/>
        </p:nvSpPr>
        <p:spPr>
          <a:xfrm>
            <a:off x="890000" y="4144285"/>
            <a:ext cx="10412000" cy="2113455"/>
          </a:xfrm>
          <a:prstGeom prst="rect">
            <a:avLst/>
          </a:prstGeom>
          <a:noFill/>
        </p:spPr>
        <p:txBody>
          <a:bodyPr wrap="square" anchor="t" lIns="0" rIns="0" tIns="0" bIns="0">
            <a:noAutofit/>
          </a:bodyPr>
          <a:lstStyle/>
          <a:p>
            <a:pPr marL="0" indent="0">
              <a:lnSpc>
                <a:spcPct val="134000"/>
              </a:lnSpc>
              <a:spcAft>
                <a:spcPts val="0"/>
              </a:spcAft>
              <a:buNone/>
            </a:pPr>
            <a:r>
              <a:rPr sz="850" b="0" i="0">
                <a:solidFill>
                  <a:srgbClr val="E6EDF3"/>
                </a:solidFill>
                <a:latin typeface="Consolas"/>
              </a:rPr>
              <a:t>kind: PersistentVolumeClaim</a:t>
            </a:r>
          </a:p>
          <a:p>
            <a:pPr marL="0" indent="0">
              <a:lnSpc>
                <a:spcPct val="134000"/>
              </a:lnSpc>
              <a:spcAft>
                <a:spcPts val="0"/>
              </a:spcAft>
              <a:buNone/>
            </a:pPr>
            <a:r>
              <a:rPr sz="850" b="0" i="0">
                <a:solidFill>
                  <a:srgbClr val="E6EDF3"/>
                </a:solidFill>
                <a:latin typeface="Consolas"/>
              </a:rPr>
              <a:t>metadata: {name: gratitud-uploads, namespace: gratitud-datos}</a:t>
            </a:r>
          </a:p>
          <a:p>
            <a:pPr marL="0" indent="0">
              <a:lnSpc>
                <a:spcPct val="134000"/>
              </a:lnSpc>
              <a:spcAft>
                <a:spcPts val="0"/>
              </a:spcAft>
              <a:buNone/>
            </a:pPr>
            <a:r>
              <a:rPr sz="850" b="0" i="0">
                <a:solidFill>
                  <a:srgbClr val="E6EDF3"/>
                </a:solidFill>
                <a:latin typeface="Consolas"/>
              </a:rPr>
              <a:t>spec:</a:t>
            </a:r>
          </a:p>
          <a:p>
            <a:pPr marL="0" indent="0">
              <a:lnSpc>
                <a:spcPct val="134000"/>
              </a:lnSpc>
              <a:spcAft>
                <a:spcPts val="0"/>
              </a:spcAft>
              <a:buNone/>
            </a:pPr>
            <a:r>
              <a:rPr sz="850" b="0" i="0">
                <a:solidFill>
                  <a:srgbClr val="E6EDF3"/>
                </a:solidFill>
                <a:latin typeface="Consolas"/>
              </a:rPr>
              <a:t>  storageClassName: gratitud-standard</a:t>
            </a:r>
          </a:p>
          <a:p>
            <a:pPr marL="0" indent="0">
              <a:lnSpc>
                <a:spcPct val="134000"/>
              </a:lnSpc>
              <a:spcAft>
                <a:spcPts val="0"/>
              </a:spcAft>
              <a:buNone/>
            </a:pPr>
            <a:r>
              <a:rPr sz="850" b="0" i="0">
                <a:solidFill>
                  <a:srgbClr val="E6EDF3"/>
                </a:solidFill>
                <a:latin typeface="Consolas"/>
              </a:rPr>
              <a:t>  accessModes: [ReadWriteOnce]</a:t>
            </a:r>
          </a:p>
          <a:p>
            <a:pPr marL="0" indent="0">
              <a:lnSpc>
                <a:spcPct val="134000"/>
              </a:lnSpc>
              <a:spcAft>
                <a:spcPts val="0"/>
              </a:spcAft>
              <a:buNone/>
            </a:pPr>
            <a:r>
              <a:rPr sz="850" b="0" i="0">
                <a:solidFill>
                  <a:srgbClr val="E6EDF3"/>
                </a:solidFill>
                <a:latin typeface="Consolas"/>
              </a:rPr>
              <a:t>  resources: {requests: {storage: 1Gi}}</a:t>
            </a:r>
          </a:p>
          <a:p>
            <a:pPr marL="0" indent="0">
              <a:lnSpc>
                <a:spcPct val="134000"/>
              </a:lnSpc>
              <a:spcAft>
                <a:spcPts val="0"/>
              </a:spcAft>
              <a:buNone/>
            </a:pPr>
            <a:r>
              <a:rPr sz="850" b="0" i="0">
                <a:solidFill>
                  <a:srgbClr val="E6EDF3"/>
                </a:solidFill>
                <a:latin typeface="Consolas"/>
              </a:rPr>
              <a:t>---</a:t>
            </a:r>
          </a:p>
          <a:p>
            <a:pPr marL="0" indent="0">
              <a:lnSpc>
                <a:spcPct val="134000"/>
              </a:lnSpc>
              <a:spcAft>
                <a:spcPts val="0"/>
              </a:spcAft>
              <a:buNone/>
            </a:pPr>
            <a:r>
              <a:rPr sz="850" b="0" i="0">
                <a:solidFill>
                  <a:srgbClr val="E6EDF3"/>
                </a:solidFill>
                <a:latin typeface="Consolas"/>
              </a:rPr>
              <a:t>volumes:</a:t>
            </a:r>
          </a:p>
          <a:p>
            <a:pPr marL="0" indent="0">
              <a:lnSpc>
                <a:spcPct val="134000"/>
              </a:lnSpc>
              <a:spcAft>
                <a:spcPts val="0"/>
              </a:spcAft>
              <a:buNone/>
            </a:pPr>
            <a:r>
              <a:rPr sz="850" b="0" i="0">
                <a:solidFill>
                  <a:srgbClr val="E6EDF3"/>
                </a:solidFill>
                <a:latin typeface="Consolas"/>
              </a:rPr>
              <a:t>  - name: data</a:t>
            </a:r>
          </a:p>
          <a:p>
            <a:pPr marL="0" indent="0">
              <a:lnSpc>
                <a:spcPct val="134000"/>
              </a:lnSpc>
              <a:spcAft>
                <a:spcPts val="0"/>
              </a:spcAft>
              <a:buNone/>
            </a:pPr>
            <a:r>
              <a:rPr sz="850" b="0" i="0">
                <a:solidFill>
                  <a:srgbClr val="E6EDF3"/>
                </a:solidFill>
                <a:latin typeface="Consolas"/>
              </a:rPr>
              <a:t>    persistentVolumeClaim: {claimName: gratitud-uploads}</a:t>
            </a:r>
          </a:p>
          <a:p>
            <a:pPr marL="0" indent="0">
              <a:lnSpc>
                <a:spcPct val="134000"/>
              </a:lnSpc>
              <a:spcAft>
                <a:spcPts val="0"/>
              </a:spcAft>
              <a:buNone/>
            </a:pPr>
            <a:r>
              <a:rPr sz="850" b="0" i="0">
                <a:solidFill>
                  <a:srgbClr val="E6EDF3"/>
                </a:solidFill>
                <a:latin typeface="Consolas"/>
              </a:rPr>
              <a:t>volumeMounts:</a:t>
            </a:r>
          </a:p>
          <a:p>
            <a:pPr marL="0" indent="0">
              <a:lnSpc>
                <a:spcPct val="134000"/>
              </a:lnSpc>
              <a:spcAft>
                <a:spcPts val="0"/>
              </a:spcAft>
              <a:buNone/>
            </a:pPr>
            <a:r>
              <a:rPr sz="850" b="0" i="0">
                <a:solidFill>
                  <a:srgbClr val="E6EDF3"/>
                </a:solidFill>
                <a:latin typeface="Consolas"/>
              </a:rPr>
              <a:t>  - {name: data, mountPath: /data/uploads}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DINÁMICO Y ESTÁTICO</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Quién crea el PV y cuándo</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18</a:t>
            </a:r>
          </a:p>
        </p:txBody>
      </p:sp>
      <p:pic>
        <p:nvPicPr>
          <p:cNvPr id="8" name="Picture 7" descr="pv.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44000" y="1470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80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Estático</a:t>
            </a:r>
          </a:p>
          <a:p>
            <a:pPr algn="l" marL="0" indent="0">
              <a:lnSpc>
                <a:spcPct val="112000"/>
              </a:lnSpc>
              <a:spcBef>
                <a:spcPts val="0"/>
              </a:spcBef>
              <a:spcAft>
                <a:spcPts val="0"/>
              </a:spcAft>
              <a:buNone/>
            </a:pPr>
            <a:r>
              <a:rPr sz="1100" b="0" i="1">
                <a:solidFill>
                  <a:srgbClr val="8493AD"/>
                </a:solidFill>
                <a:latin typeface="Segoe UI"/>
              </a:rPr>
              <a:t>PV creados a mano</a:t>
            </a:r>
          </a:p>
        </p:txBody>
      </p:sp>
      <p:sp>
        <p:nvSpPr>
          <p:cNvPr id="12" name="TextBox 11"/>
          <p:cNvSpPr txBox="1"/>
          <p:nvPr/>
        </p:nvSpPr>
        <p:spPr>
          <a:xfrm>
            <a:off x="880000" y="2300000"/>
            <a:ext cx="4796000" cy="1660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El administrador crea los PV por adelantado.</a:t>
            </a:r>
          </a:p>
          <a:p>
            <a:pPr algn="l" marL="182880" indent="-182880">
              <a:lnSpc>
                <a:spcPct val="116000"/>
              </a:lnSpc>
              <a:spcBef>
                <a:spcPts val="0"/>
              </a:spcBef>
              <a:spcAft>
                <a:spcPts val="800"/>
              </a:spcAft>
              <a:buFont typeface="Arial"/>
              <a:buChar char="•"/>
            </a:pPr>
            <a:r>
              <a:rPr sz="1100" b="0" i="0">
                <a:solidFill>
                  <a:srgbClr val="BDC9DB"/>
                </a:solidFill>
                <a:latin typeface="Segoe UI"/>
              </a:rPr>
              <a:t>El PVC se enlaza a uno que encaje; si no hay, Pending.</a:t>
            </a:r>
          </a:p>
          <a:p>
            <a:pPr algn="l" marL="182880" indent="-182880">
              <a:lnSpc>
                <a:spcPct val="116000"/>
              </a:lnSpc>
              <a:spcBef>
                <a:spcPts val="0"/>
              </a:spcBef>
              <a:spcAft>
                <a:spcPts val="800"/>
              </a:spcAft>
              <a:buFont typeface="Arial"/>
              <a:buChar char="•"/>
            </a:pPr>
            <a:r>
              <a:rPr sz="1100" b="0" i="0">
                <a:solidFill>
                  <a:srgbClr val="BDC9DB"/>
                </a:solidFill>
                <a:latin typeface="Segoe UI"/>
              </a:rPr>
              <a:t>Criterios: capacidad, accessModes, storageClassName, selector.</a:t>
            </a:r>
          </a:p>
          <a:p>
            <a:pPr algn="l" marL="182880" indent="-182880">
              <a:lnSpc>
                <a:spcPct val="116000"/>
              </a:lnSpc>
              <a:spcBef>
                <a:spcPts val="0"/>
              </a:spcBef>
              <a:spcAft>
                <a:spcPts val="800"/>
              </a:spcAft>
              <a:buFont typeface="Arial"/>
              <a:buChar char="•"/>
            </a:pPr>
            <a:r>
              <a:rPr sz="1100" b="0" i="0">
                <a:solidFill>
                  <a:srgbClr val="BDC9DB"/>
                </a:solidFill>
                <a:latin typeface="Segoe UI"/>
              </a:rPr>
              <a:t>Típico con hostPath en laboratorio.</a:t>
            </a:r>
          </a:p>
        </p:txBody>
      </p:sp>
      <p:sp>
        <p:nvSpPr>
          <p:cNvPr id="13" name="Rounded Rectangle 12"/>
          <p:cNvSpPr/>
          <p:nvPr/>
        </p:nvSpPr>
        <p:spPr>
          <a:xfrm>
            <a:off x="6256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80000" y="1470000"/>
            <a:ext cx="5268000" cy="46000"/>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6516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Dinámico</a:t>
            </a:r>
          </a:p>
          <a:p>
            <a:pPr algn="l" marL="0" indent="0">
              <a:lnSpc>
                <a:spcPct val="112000"/>
              </a:lnSpc>
              <a:spcBef>
                <a:spcPts val="0"/>
              </a:spcBef>
              <a:spcAft>
                <a:spcPts val="0"/>
              </a:spcAft>
              <a:buNone/>
            </a:pPr>
            <a:r>
              <a:rPr sz="1100" b="0" i="1">
                <a:solidFill>
                  <a:srgbClr val="8493AD"/>
                </a:solidFill>
                <a:latin typeface="Segoe UI"/>
              </a:rPr>
              <a:t>PV creado al reclamar</a:t>
            </a:r>
          </a:p>
        </p:txBody>
      </p:sp>
      <p:sp>
        <p:nvSpPr>
          <p:cNvPr id="16" name="TextBox 15"/>
          <p:cNvSpPr txBox="1"/>
          <p:nvPr/>
        </p:nvSpPr>
        <p:spPr>
          <a:xfrm>
            <a:off x="6516000" y="2300000"/>
            <a:ext cx="4796000" cy="1660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El PVC nombra una StorageClass; un CSI driver crea el PV.</a:t>
            </a:r>
          </a:p>
          <a:p>
            <a:pPr algn="l" marL="182880" indent="-182880">
              <a:lnSpc>
                <a:spcPct val="116000"/>
              </a:lnSpc>
              <a:spcBef>
                <a:spcPts val="0"/>
              </a:spcBef>
              <a:spcAft>
                <a:spcPts val="800"/>
              </a:spcAft>
              <a:buFont typeface="Arial"/>
              <a:buChar char="•"/>
            </a:pPr>
            <a:r>
              <a:rPr sz="1100" b="0" i="0">
                <a:solidFill>
                  <a:srgbClr val="BDC9DB"/>
                </a:solidFill>
                <a:latin typeface="Segoe UI"/>
              </a:rPr>
              <a:t>Nada que preparar por adelantado.</a:t>
            </a:r>
          </a:p>
          <a:p>
            <a:pPr algn="l" marL="182880" indent="-182880">
              <a:lnSpc>
                <a:spcPct val="116000"/>
              </a:lnSpc>
              <a:spcBef>
                <a:spcPts val="0"/>
              </a:spcBef>
              <a:spcAft>
                <a:spcPts val="800"/>
              </a:spcAft>
              <a:buFont typeface="Arial"/>
              <a:buChar char="•"/>
            </a:pPr>
            <a:r>
              <a:rPr sz="1100" b="0" i="0">
                <a:solidFill>
                  <a:srgbClr val="BDC9DB"/>
                </a:solidFill>
                <a:latin typeface="Segoe UI"/>
              </a:rPr>
              <a:t>WaitForFirstConsumer: crea el volumen donde irá el Pod.</a:t>
            </a:r>
          </a:p>
          <a:p>
            <a:pPr algn="l" marL="182880" indent="-182880">
              <a:lnSpc>
                <a:spcPct val="116000"/>
              </a:lnSpc>
              <a:spcBef>
                <a:spcPts val="0"/>
              </a:spcBef>
              <a:spcAft>
                <a:spcPts val="800"/>
              </a:spcAft>
              <a:buFont typeface="Arial"/>
              <a:buChar char="•"/>
            </a:pPr>
            <a:r>
              <a:rPr sz="1100" b="0" i="0">
                <a:solidFill>
                  <a:srgbClr val="BDC9DB"/>
                </a:solidFill>
                <a:latin typeface="Segoe UI"/>
              </a:rPr>
              <a:t>PVC sin storageClassName -&gt; StorageClass por defecto.</a:t>
            </a:r>
          </a:p>
        </p:txBody>
      </p:sp>
      <p:sp>
        <p:nvSpPr>
          <p:cNvPr id="17" name="Rounded Rectangle 16"/>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En aprovisionamiento estático, un administrador crea los PV a mano por adelantado y los PVC de los usuarios se enlazan a los que encajen. Si ningún PV libre cumple capacidad, accessModes y storageClassName, el PVC se queda Pending indefinidamente. Es lo que se usa con hostPath en laboratorio y con cabinas preexistentes.</a:t>
            </a:r>
          </a:p>
          <a:p>
            <a:pPr algn="l" marL="0" indent="0">
              <a:lnSpc>
                <a:spcPct val="128000"/>
              </a:lnSpc>
              <a:spcBef>
                <a:spcPts val="0"/>
              </a:spcBef>
              <a:spcAft>
                <a:spcPts val="400"/>
              </a:spcAft>
              <a:buNone/>
            </a:pPr>
            <a:r>
              <a:rPr sz="1000" b="0" i="0">
                <a:solidFill>
                  <a:srgbClr val="BDC9DB"/>
                </a:solidFill>
                <a:latin typeface="Segoe UI"/>
              </a:rPr>
              <a:t>En aprovisionamiento dinámico, el PVC nombra una StorageClass y un provisioner (un CSI driver) crea el PV a medida en el momento. No hay que preparar nada por adelantado. La StorageClass define el provisioner, sus parámetros, la reclaimPolicy de los PV que genere y el volumeBindingMode.</a:t>
            </a:r>
          </a:p>
          <a:p>
            <a:pPr algn="l" marL="0" indent="0">
              <a:lnSpc>
                <a:spcPct val="128000"/>
              </a:lnSpc>
              <a:spcBef>
                <a:spcPts val="0"/>
              </a:spcBef>
              <a:spcAft>
                <a:spcPts val="400"/>
              </a:spcAft>
              <a:buNone/>
            </a:pPr>
            <a:r>
              <a:rPr sz="1000" b="0" i="0">
                <a:solidFill>
                  <a:srgbClr val="BDC9DB"/>
                </a:solidFill>
                <a:latin typeface="Segoe UI"/>
              </a:rPr>
              <a:t>WaitForFirstConsumer es casi siempre lo correcto: retrasa la creación del volumen hasta que se programa el primer Pod que lo usa, de modo que el volumen se crea en la zona o el nodo adecuados. Con Immediate el PV se crea al instante y el Pod puede acabar sin poder montarlo por estar en otra zona. Y ojo con la StorageClass por defecto: un PVC sin storageClassName la hereda, para bien o para mal.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4492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avanzado — solo requerimientos</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11.3 — Almacenamiento persistente para GRATITUD</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Dar a la capa de datos de GRATITUD un volumen que sobreviva a la recreación de los Pods, aprovisionado dinámicamente, y demostrar la persistencia y la política de recuperación.</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Comprobar si el cluster tiene StorageClass por defecto y un provisioner.</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Crear un PVC de 1Gi RWO para los uploads de GRATITUD y montarlo en un Deployment.</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Escribir datos, borrar el Pod, comprobar que los datos siguen ahí.</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Si no hay provisioner: crear un PV estático que satisfaga el PVC y explicar el binding.</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Borrar el PVC y observar el efecto de la reclaimPolicy (Retain frente a Delete).</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CLASE-11/LABORATORIOS/LAB-03-AVANZADO.md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30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k get pv,pvc</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4604000" cy="360000"/>
          </a:xfrm>
          <a:prstGeom prst="roundRect">
            <a:avLst>
              <a:gd name="adj" fmla="val 50000"/>
            </a:avLst>
          </a:prstGeom>
          <a:noFill/>
          <a:ln w="1270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FF7B72"/>
                </a:solidFill>
                <a:latin typeface="Segoe UI"/>
              </a:rPr>
              <a:t>Challenge — el escenario arranca roto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11.4 — Challenge: «GRATITUD no arranca»</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El Pod de la API está en CreateContainerConfigError y su PVC en Pending. Cuatro fallos: una clave de Secret, un nombre de ConfigMap, el storageClassName del PVC y un subPath.</a:t>
            </a:r>
          </a:p>
        </p:txBody>
      </p:sp>
      <p:sp>
        <p:nvSpPr>
          <p:cNvPr id="6" name="Oval 5"/>
          <p:cNvSpPr/>
          <p:nvPr/>
        </p:nvSpPr>
        <p:spPr>
          <a:xfrm>
            <a:off x="640000" y="269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Prepara el escenario: RECURSOS/SCRIPTS/setup-lab.sh</a:t>
            </a:r>
          </a:p>
        </p:txBody>
      </p:sp>
      <p:sp>
        <p:nvSpPr>
          <p:cNvPr id="8" name="Oval 7"/>
          <p:cNvSpPr/>
          <p:nvPr/>
        </p:nvSpPr>
        <p:spPr>
          <a:xfrm>
            <a:off x="640000" y="325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Lee el estado del Pod y sus eventos: CreateContainerConfigError apunta a env; Pending apunta al PVC.</a:t>
            </a:r>
          </a:p>
        </p:txBody>
      </p:sp>
      <p:sp>
        <p:nvSpPr>
          <p:cNvPr id="10" name="Oval 9"/>
          <p:cNvSpPr/>
          <p:nvPr/>
        </p:nvSpPr>
        <p:spPr>
          <a:xfrm>
            <a:off x="640000" y="381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Ruta: secretKeyRef → configMapRef → PVC (storageClassName / accessModes) → volumeMount/subPath.</a:t>
            </a:r>
          </a:p>
        </p:txBody>
      </p:sp>
      <p:sp>
        <p:nvSpPr>
          <p:cNvPr id="12" name="Oval 11"/>
          <p:cNvSpPr/>
          <p:nvPr/>
        </p:nvSpPr>
        <p:spPr>
          <a:xfrm>
            <a:off x="640000" y="437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Corrige in situ. Prohibido quitar referencias marcándolas optional para «saltarlas».</a:t>
            </a:r>
          </a:p>
        </p:txBody>
      </p:sp>
      <p:sp>
        <p:nvSpPr>
          <p:cNvPr id="14" name="Oval 13"/>
          <p:cNvSpPr/>
          <p:nvPr/>
        </p:nvSpPr>
        <p:spPr>
          <a:xfrm>
            <a:off x="9825200" y="1497200"/>
            <a:ext cx="313600" cy="313600"/>
          </a:xfrm>
          <a:prstGeom prst="ellipse">
            <a:avLst/>
          </a:prstGeom>
          <a:noFill/>
          <a:ln w="3302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66400" y="1752000"/>
            <a:ext cx="431200" cy="490000"/>
          </a:xfrm>
          <a:prstGeom prst="ellipse">
            <a:avLst/>
          </a:prstGeom>
          <a:noFill/>
          <a:ln w="3302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flipV="1">
            <a:off x="9550800" y="17912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178000" y="17912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9550800" y="19480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178000" y="19480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9550800" y="21048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178000" y="21048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Rectangle 22"/>
          <p:cNvSpPr/>
          <p:nvPr/>
        </p:nvSpPr>
        <p:spPr>
          <a:xfrm>
            <a:off x="8392000" y="2560000"/>
            <a:ext cx="3180000" cy="46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CLASE-11/LABORATORIOS/LAB-04-CHALLENGE.md</a:t>
            </a:r>
          </a:p>
        </p:txBody>
      </p:sp>
      <p:sp>
        <p:nvSpPr>
          <p:cNvPr id="25" name="Rectangle 24"/>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6" name="TextBox 25"/>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20 min</a:t>
            </a:r>
          </a:p>
        </p:txBody>
      </p:sp>
      <p:sp>
        <p:nvSpPr>
          <p:cNvPr id="27" name="Rectangle 26"/>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TextBox 27"/>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./validate-lab.sh</a:t>
            </a:r>
          </a:p>
        </p:txBody>
      </p:sp>
      <p:sp>
        <p:nvSpPr>
          <p:cNvPr id="29" name="Rectangle 2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31" name="TextBox 3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MENTAL MODEL</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Traducción de síntomas de configuración y almacenamiento</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21</a:t>
            </a:r>
          </a:p>
        </p:txBody>
      </p:sp>
      <p:pic>
        <p:nvPicPr>
          <p:cNvPr id="8" name="Picture 7" descr="cm.png"/>
          <p:cNvPicPr>
            <a:picLocks noChangeAspect="1"/>
          </p:cNvPicPr>
          <p:nvPr/>
        </p:nvPicPr>
        <p:blipFill>
          <a:blip r:embed="rId2"/>
          <a:stretch>
            <a:fillRect/>
          </a:stretch>
        </p:blipFill>
        <p:spPr>
          <a:xfrm>
            <a:off x="10932000" y="275000"/>
            <a:ext cx="640000" cy="640000"/>
          </a:xfrm>
          <a:prstGeom prst="rect">
            <a:avLst/>
          </a:prstGeom>
        </p:spPr>
      </p:pic>
      <p:sp>
        <p:nvSpPr>
          <p:cNvPr id="9" name="Rectangle 8"/>
          <p:cNvSpPr/>
          <p:nvPr/>
        </p:nvSpPr>
        <p:spPr>
          <a:xfrm>
            <a:off x="620000" y="1470000"/>
            <a:ext cx="10952000" cy="420000"/>
          </a:xfrm>
          <a:prstGeom prst="rect">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882000"/>
            <a:ext cx="10952000" cy="1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780000" y="1470000"/>
            <a:ext cx="30656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LO QUE OBSERVAS</a:t>
            </a:r>
          </a:p>
        </p:txBody>
      </p:sp>
      <p:sp>
        <p:nvSpPr>
          <p:cNvPr id="12" name="TextBox 11"/>
          <p:cNvSpPr txBox="1"/>
          <p:nvPr/>
        </p:nvSpPr>
        <p:spPr>
          <a:xfrm>
            <a:off x="4065600" y="1470000"/>
            <a:ext cx="41608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DÓNDE ESTÁ EL PROBLEMA</a:t>
            </a:r>
          </a:p>
        </p:txBody>
      </p:sp>
      <p:sp>
        <p:nvSpPr>
          <p:cNvPr id="13" name="TextBox 12"/>
          <p:cNvSpPr txBox="1"/>
          <p:nvPr/>
        </p:nvSpPr>
        <p:spPr>
          <a:xfrm>
            <a:off x="8446400" y="1470000"/>
            <a:ext cx="30656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COMANDO</a:t>
            </a:r>
          </a:p>
        </p:txBody>
      </p:sp>
      <p:sp>
        <p:nvSpPr>
          <p:cNvPr id="14" name="Rectangle 13"/>
          <p:cNvSpPr/>
          <p:nvPr/>
        </p:nvSpPr>
        <p:spPr>
          <a:xfrm>
            <a:off x="620000" y="245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780000" y="189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CreateContainerConfigError</a:t>
            </a:r>
          </a:p>
        </p:txBody>
      </p:sp>
      <p:sp>
        <p:nvSpPr>
          <p:cNvPr id="16" name="TextBox 15"/>
          <p:cNvSpPr txBox="1"/>
          <p:nvPr/>
        </p:nvSpPr>
        <p:spPr>
          <a:xfrm>
            <a:off x="4065600" y="189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Clave o nombre de ConfigMap/Secret que no existe</a:t>
            </a:r>
          </a:p>
        </p:txBody>
      </p:sp>
      <p:sp>
        <p:nvSpPr>
          <p:cNvPr id="17" name="TextBox 16"/>
          <p:cNvSpPr txBox="1"/>
          <p:nvPr/>
        </p:nvSpPr>
        <p:spPr>
          <a:xfrm>
            <a:off x="8446400" y="189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describe pod</a:t>
            </a:r>
          </a:p>
        </p:txBody>
      </p:sp>
      <p:sp>
        <p:nvSpPr>
          <p:cNvPr id="18" name="Rectangle 17"/>
          <p:cNvSpPr/>
          <p:nvPr/>
        </p:nvSpPr>
        <p:spPr>
          <a:xfrm>
            <a:off x="620000" y="245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20000" y="301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780000" y="245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La env var esperada está vacía</a:t>
            </a:r>
          </a:p>
        </p:txBody>
      </p:sp>
      <p:sp>
        <p:nvSpPr>
          <p:cNvPr id="21" name="TextBox 20"/>
          <p:cNvSpPr txBox="1"/>
          <p:nvPr/>
        </p:nvSpPr>
        <p:spPr>
          <a:xfrm>
            <a:off x="4065600" y="245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envFrom a objeto vacío, o valueFrom con key mal</a:t>
            </a:r>
          </a:p>
        </p:txBody>
      </p:sp>
      <p:sp>
        <p:nvSpPr>
          <p:cNvPr id="22" name="TextBox 21"/>
          <p:cNvSpPr txBox="1"/>
          <p:nvPr/>
        </p:nvSpPr>
        <p:spPr>
          <a:xfrm>
            <a:off x="8446400" y="245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exec -- printenv</a:t>
            </a:r>
          </a:p>
        </p:txBody>
      </p:sp>
      <p:sp>
        <p:nvSpPr>
          <p:cNvPr id="23" name="Rectangle 22"/>
          <p:cNvSpPr/>
          <p:nvPr/>
        </p:nvSpPr>
        <p:spPr>
          <a:xfrm>
            <a:off x="620000" y="357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780000" y="301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El fichero montado no aparece</a:t>
            </a:r>
          </a:p>
        </p:txBody>
      </p:sp>
      <p:sp>
        <p:nvSpPr>
          <p:cNvPr id="25" name="TextBox 24"/>
          <p:cNvSpPr txBox="1"/>
          <p:nvPr/>
        </p:nvSpPr>
        <p:spPr>
          <a:xfrm>
            <a:off x="4065600" y="301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items.path, subPath, o el montaje oculta el directorio</a:t>
            </a:r>
          </a:p>
        </p:txBody>
      </p:sp>
      <p:sp>
        <p:nvSpPr>
          <p:cNvPr id="26" name="TextBox 25"/>
          <p:cNvSpPr txBox="1"/>
          <p:nvPr/>
        </p:nvSpPr>
        <p:spPr>
          <a:xfrm>
            <a:off x="8446400" y="301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exec -- ls -l &lt;ruta&gt;</a:t>
            </a:r>
          </a:p>
        </p:txBody>
      </p:sp>
      <p:sp>
        <p:nvSpPr>
          <p:cNvPr id="27" name="Rectangle 26"/>
          <p:cNvSpPr/>
          <p:nvPr/>
        </p:nvSpPr>
        <p:spPr>
          <a:xfrm>
            <a:off x="620000" y="3570000"/>
            <a:ext cx="10952000" cy="560000"/>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Rectangle 27"/>
          <p:cNvSpPr/>
          <p:nvPr/>
        </p:nvSpPr>
        <p:spPr>
          <a:xfrm>
            <a:off x="620000" y="413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9" name="TextBox 28"/>
          <p:cNvSpPr txBox="1"/>
          <p:nvPr/>
        </p:nvSpPr>
        <p:spPr>
          <a:xfrm>
            <a:off x="780000" y="357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El cambio del ConfigMap no llega</a:t>
            </a:r>
          </a:p>
        </p:txBody>
      </p:sp>
      <p:sp>
        <p:nvSpPr>
          <p:cNvPr id="30" name="TextBox 29"/>
          <p:cNvSpPr txBox="1"/>
          <p:nvPr/>
        </p:nvSpPr>
        <p:spPr>
          <a:xfrm>
            <a:off x="4065600" y="357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Inyectado por env, o por subPath</a:t>
            </a:r>
          </a:p>
        </p:txBody>
      </p:sp>
      <p:sp>
        <p:nvSpPr>
          <p:cNvPr id="31" name="TextBox 30"/>
          <p:cNvSpPr txBox="1"/>
          <p:nvPr/>
        </p:nvSpPr>
        <p:spPr>
          <a:xfrm>
            <a:off x="8446400" y="357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rollout restart</a:t>
            </a:r>
          </a:p>
        </p:txBody>
      </p:sp>
      <p:sp>
        <p:nvSpPr>
          <p:cNvPr id="32" name="Rectangle 31"/>
          <p:cNvSpPr/>
          <p:nvPr/>
        </p:nvSpPr>
        <p:spPr>
          <a:xfrm>
            <a:off x="620000" y="469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TextBox 32"/>
          <p:cNvSpPr txBox="1"/>
          <p:nvPr/>
        </p:nvSpPr>
        <p:spPr>
          <a:xfrm>
            <a:off x="780000" y="413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PVC en Pending</a:t>
            </a:r>
          </a:p>
        </p:txBody>
      </p:sp>
      <p:sp>
        <p:nvSpPr>
          <p:cNvPr id="34" name="TextBox 33"/>
          <p:cNvSpPr txBox="1"/>
          <p:nvPr/>
        </p:nvSpPr>
        <p:spPr>
          <a:xfrm>
            <a:off x="4065600" y="4130000"/>
            <a:ext cx="41608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storageClassName, accessModes o no hay PV/provisioner</a:t>
            </a:r>
          </a:p>
        </p:txBody>
      </p:sp>
      <p:sp>
        <p:nvSpPr>
          <p:cNvPr id="35" name="TextBox 34"/>
          <p:cNvSpPr txBox="1"/>
          <p:nvPr/>
        </p:nvSpPr>
        <p:spPr>
          <a:xfrm>
            <a:off x="8446400" y="4130000"/>
            <a:ext cx="3065600" cy="56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describe pvc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CHECKLIST</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Comprueba que puedes hacer esto sin apuntes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22</a:t>
            </a:r>
          </a:p>
        </p:txBody>
      </p:sp>
      <p:sp>
        <p:nvSpPr>
          <p:cNvPr id="8" name="Rounded Rectangle 7"/>
          <p:cNvSpPr/>
          <p:nvPr/>
        </p:nvSpPr>
        <p:spPr>
          <a:xfrm>
            <a:off x="10996000" y="339000"/>
            <a:ext cx="512000" cy="512000"/>
          </a:xfrm>
          <a:prstGeom prst="roundRect">
            <a:avLst>
              <a:gd name="adj" fmla="val 20000"/>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124000" y="607800"/>
            <a:ext cx="89600" cy="102400"/>
          </a:xfrm>
          <a:prstGeom prst="line">
            <a:avLst/>
          </a:prstGeom>
          <a:ln w="4953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213600" y="479800"/>
            <a:ext cx="179200" cy="230400"/>
          </a:xfrm>
          <a:prstGeom prst="line">
            <a:avLst/>
          </a:prstGeom>
          <a:ln w="4953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0000" y="262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2" name="TextBox 11"/>
          <p:cNvSpPr txBox="1"/>
          <p:nvPr/>
        </p:nvSpPr>
        <p:spPr>
          <a:xfrm>
            <a:off x="1120000" y="249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Creo un ConfigMap por literal, por fichero y por env-file.</a:t>
            </a:r>
          </a:p>
        </p:txBody>
      </p:sp>
      <p:sp>
        <p:nvSpPr>
          <p:cNvPr id="13" name="Rounded Rectangle 12"/>
          <p:cNvSpPr/>
          <p:nvPr/>
        </p:nvSpPr>
        <p:spPr>
          <a:xfrm>
            <a:off x="620000" y="318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4" name="TextBox 13"/>
          <p:cNvSpPr txBox="1"/>
          <p:nvPr/>
        </p:nvSpPr>
        <p:spPr>
          <a:xfrm>
            <a:off x="1120000" y="305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Creo un Secret con stringData y revierto un valor con base64 -d.</a:t>
            </a:r>
          </a:p>
        </p:txBody>
      </p:sp>
      <p:sp>
        <p:nvSpPr>
          <p:cNvPr id="15" name="Rounded Rectangle 14"/>
          <p:cNvSpPr/>
          <p:nvPr/>
        </p:nvSpPr>
        <p:spPr>
          <a:xfrm>
            <a:off x="620000" y="374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6" name="TextBox 15"/>
          <p:cNvSpPr txBox="1"/>
          <p:nvPr/>
        </p:nvSpPr>
        <p:spPr>
          <a:xfrm>
            <a:off x="1120000" y="361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Explico qué protege un Secret y qué necesita para cifrarse en reposo.</a:t>
            </a:r>
          </a:p>
        </p:txBody>
      </p:sp>
      <p:sp>
        <p:nvSpPr>
          <p:cNvPr id="17" name="Rounded Rectangle 16"/>
          <p:cNvSpPr/>
          <p:nvPr/>
        </p:nvSpPr>
        <p:spPr>
          <a:xfrm>
            <a:off x="620000" y="430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18" name="TextBox 17"/>
          <p:cNvSpPr txBox="1"/>
          <p:nvPr/>
        </p:nvSpPr>
        <p:spPr>
          <a:xfrm>
            <a:off x="1120000" y="417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Inyecto config por envFrom, por valueFrom y por volumen.</a:t>
            </a:r>
          </a:p>
        </p:txBody>
      </p:sp>
      <p:sp>
        <p:nvSpPr>
          <p:cNvPr id="19" name="Rounded Rectangle 18"/>
          <p:cNvSpPr/>
          <p:nvPr/>
        </p:nvSpPr>
        <p:spPr>
          <a:xfrm>
            <a:off x="620000" y="486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0" name="TextBox 19"/>
          <p:cNvSpPr txBox="1"/>
          <p:nvPr/>
        </p:nvSpPr>
        <p:spPr>
          <a:xfrm>
            <a:off x="1120000" y="473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Sé qué se actualiza solo al editar un ConfigMap y qué no.</a:t>
            </a:r>
          </a:p>
        </p:txBody>
      </p:sp>
      <p:sp>
        <p:nvSpPr>
          <p:cNvPr id="21" name="Rounded Rectangle 20"/>
          <p:cNvSpPr/>
          <p:nvPr/>
        </p:nvSpPr>
        <p:spPr>
          <a:xfrm>
            <a:off x="6256000" y="262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2" name="TextBox 21"/>
          <p:cNvSpPr txBox="1"/>
          <p:nvPr/>
        </p:nvSpPr>
        <p:spPr>
          <a:xfrm>
            <a:off x="6756000" y="249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Uso subPath y conozco su coste (no se actualiza).</a:t>
            </a:r>
          </a:p>
        </p:txBody>
      </p:sp>
      <p:sp>
        <p:nvSpPr>
          <p:cNvPr id="23" name="Rounded Rectangle 22"/>
          <p:cNvSpPr/>
          <p:nvPr/>
        </p:nvSpPr>
        <p:spPr>
          <a:xfrm>
            <a:off x="6256000" y="318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4" name="TextBox 23"/>
          <p:cNvSpPr txBox="1"/>
          <p:nvPr/>
        </p:nvSpPr>
        <p:spPr>
          <a:xfrm>
            <a:off x="6756000" y="305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Describo el ciclo de vida Available → Bound → Released.</a:t>
            </a:r>
          </a:p>
        </p:txBody>
      </p:sp>
      <p:sp>
        <p:nvSpPr>
          <p:cNvPr id="25" name="Rounded Rectangle 24"/>
          <p:cNvSpPr/>
          <p:nvPr/>
        </p:nvSpPr>
        <p:spPr>
          <a:xfrm>
            <a:off x="6256000" y="374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6" name="TextBox 25"/>
          <p:cNvSpPr txBox="1"/>
          <p:nvPr/>
        </p:nvSpPr>
        <p:spPr>
          <a:xfrm>
            <a:off x="6756000" y="361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Escribo un PVC y sé por qué se queda Pending.</a:t>
            </a:r>
          </a:p>
        </p:txBody>
      </p:sp>
      <p:sp>
        <p:nvSpPr>
          <p:cNvPr id="27" name="Rounded Rectangle 26"/>
          <p:cNvSpPr/>
          <p:nvPr/>
        </p:nvSpPr>
        <p:spPr>
          <a:xfrm>
            <a:off x="6256000" y="430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28" name="TextBox 27"/>
          <p:cNvSpPr txBox="1"/>
          <p:nvPr/>
        </p:nvSpPr>
        <p:spPr>
          <a:xfrm>
            <a:off x="6756000" y="417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Diferencio Retain de Delete en la reclaimPolicy.</a:t>
            </a:r>
          </a:p>
        </p:txBody>
      </p:sp>
      <p:sp>
        <p:nvSpPr>
          <p:cNvPr id="29" name="Rounded Rectangle 28"/>
          <p:cNvSpPr/>
          <p:nvPr/>
        </p:nvSpPr>
        <p:spPr>
          <a:xfrm>
            <a:off x="6256000" y="4860000"/>
            <a:ext cx="300000" cy="300000"/>
          </a:xfrm>
          <a:prstGeom prst="roundRect">
            <a:avLst>
              <a:gd name="adj" fmla="val 28000"/>
            </a:avLst>
          </a:prstGeom>
          <a:noFill/>
          <a:ln w="1905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300" b="1" i="0">
                <a:solidFill>
                  <a:srgbClr val="74A6FF"/>
                </a:solidFill>
                <a:latin typeface="Segoe UI"/>
              </a:rPr>
              <a:t>✓</a:t>
            </a:r>
          </a:p>
        </p:txBody>
      </p:sp>
      <p:sp>
        <p:nvSpPr>
          <p:cNvPr id="30" name="TextBox 29"/>
          <p:cNvSpPr txBox="1"/>
          <p:nvPr/>
        </p:nvSpPr>
        <p:spPr>
          <a:xfrm>
            <a:off x="6756000" y="473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Aprovisiono un volumen dinámicamente con una StorageClass.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592000" y="-1400000"/>
            <a:ext cx="4000000" cy="40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00000" y="4358000"/>
            <a:ext cx="3800000" cy="38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ubernetes.png"/>
          <p:cNvPicPr>
            <a:picLocks noChangeAspect="1"/>
          </p:cNvPicPr>
          <p:nvPr/>
        </p:nvPicPr>
        <p:blipFill>
          <a:blip r:embed="rId2"/>
          <a:stretch>
            <a:fillRect/>
          </a:stretch>
        </p:blipFill>
        <p:spPr>
          <a:xfrm>
            <a:off x="9542000" y="900000"/>
            <a:ext cx="1650000" cy="1650000"/>
          </a:xfrm>
          <a:prstGeom prst="rect">
            <a:avLst/>
          </a:prstGeom>
        </p:spPr>
      </p:pic>
      <p:sp>
        <p:nvSpPr>
          <p:cNvPr id="5" name="TextBox 4"/>
          <p:cNvSpPr txBox="1"/>
          <p:nvPr/>
        </p:nvSpPr>
        <p:spPr>
          <a:xfrm>
            <a:off x="640000" y="300000"/>
            <a:ext cx="9000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CIERRE DE LA SESIÓN</a:t>
            </a:r>
          </a:p>
        </p:txBody>
      </p:sp>
      <p:sp>
        <p:nvSpPr>
          <p:cNvPr id="6" name="TextBox 5"/>
          <p:cNvSpPr txBox="1"/>
          <p:nvPr/>
        </p:nvSpPr>
        <p:spPr>
          <a:xfrm>
            <a:off x="640000" y="1560000"/>
            <a:ext cx="9200000" cy="900000"/>
          </a:xfrm>
          <a:prstGeom prst="rect">
            <a:avLst/>
          </a:prstGeom>
          <a:noFill/>
        </p:spPr>
        <p:txBody>
          <a:bodyPr wrap="square" anchor="t" lIns="0" rIns="0" tIns="0" bIns="0">
            <a:noAutofit/>
          </a:bodyPr>
          <a:lstStyle/>
          <a:p>
            <a:pPr algn="l" marL="0" indent="0">
              <a:lnSpc>
                <a:spcPct val="104000"/>
              </a:lnSpc>
              <a:spcBef>
                <a:spcPts val="0"/>
              </a:spcBef>
              <a:spcAft>
                <a:spcPts val="0"/>
              </a:spcAft>
              <a:buNone/>
            </a:pPr>
            <a:r>
              <a:rPr sz="4400" b="0" i="0">
                <a:solidFill>
                  <a:srgbClr val="F3F6FC"/>
                </a:solidFill>
                <a:latin typeface="Segoe UI Light"/>
              </a:rPr>
              <a:t>Sesión 11 completada</a:t>
            </a:r>
          </a:p>
        </p:txBody>
      </p:sp>
      <p:sp>
        <p:nvSpPr>
          <p:cNvPr id="7" name="Rectangle 6"/>
          <p:cNvSpPr/>
          <p:nvPr/>
        </p:nvSpPr>
        <p:spPr>
          <a:xfrm>
            <a:off x="644000" y="256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2820000"/>
            <a:ext cx="9752000" cy="2600000"/>
          </a:xfrm>
          <a:prstGeom prst="rect">
            <a:avLst/>
          </a:prstGeom>
          <a:noFill/>
        </p:spPr>
        <p:txBody>
          <a:bodyPr wrap="square" anchor="t" lIns="0" rIns="0" tIns="0" bIns="0">
            <a:noAutofit/>
          </a:bodyPr>
          <a:lstStyle/>
          <a:p>
            <a:pPr algn="l" marL="0" indent="0">
              <a:lnSpc>
                <a:spcPct val="132000"/>
              </a:lnSpc>
              <a:spcBef>
                <a:spcPts val="0"/>
              </a:spcBef>
              <a:spcAft>
                <a:spcPts val="1400"/>
              </a:spcAft>
              <a:buNone/>
            </a:pPr>
            <a:r>
              <a:rPr sz="1500" b="0" i="0">
                <a:solidFill>
                  <a:srgbClr val="BDC9DB"/>
                </a:solidFill>
                <a:latin typeface="Segoe UI"/>
              </a:rPr>
              <a:t>Ya sacas la configuración de la imagen y la inyectas donde y como la necesita cada aplicación.</a:t>
            </a:r>
          </a:p>
          <a:p>
            <a:pPr algn="l" marL="0" indent="0">
              <a:lnSpc>
                <a:spcPct val="132000"/>
              </a:lnSpc>
              <a:spcBef>
                <a:spcPts val="0"/>
              </a:spcBef>
              <a:spcAft>
                <a:spcPts val="1400"/>
              </a:spcAft>
              <a:buNone/>
            </a:pPr>
            <a:r>
              <a:rPr sz="1500" b="0" i="0">
                <a:solidFill>
                  <a:srgbClr val="BDC9DB"/>
                </a:solidFill>
                <a:latin typeface="Segoe UI"/>
              </a:rPr>
              <a:t>Un Secret no es cifrado: es base64 con mejor trato y RBAC. El cifrado en reposo se configura en el API server.</a:t>
            </a:r>
          </a:p>
          <a:p>
            <a:pPr algn="l" marL="0" indent="0">
              <a:lnSpc>
                <a:spcPct val="132000"/>
              </a:lnSpc>
              <a:spcBef>
                <a:spcPts val="0"/>
              </a:spcBef>
              <a:spcAft>
                <a:spcPts val="1400"/>
              </a:spcAft>
              <a:buNone/>
            </a:pPr>
            <a:r>
              <a:rPr sz="1500" b="0" i="0">
                <a:solidFill>
                  <a:srgbClr val="BDC9DB"/>
                </a:solidFill>
                <a:latin typeface="Segoe UI"/>
              </a:rPr>
              <a:t>Y GRATITUD ya tiene un disco que sobrevive a sus Pods, dinámico y con su política de recuperación definida.</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11</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11 — Configuración y Seguridad de Aplicaciones</dc:title>
  <dc:subject>Sesión 11 — Configuración y Seguridad de Aplicaciones</dc:subject>
  <dc:creator>CKA Hands-On Training</dc:creator>
  <cp:keywords/>
  <dc:description>Generado con generador-diapositivas/</dc:description>
  <cp:lastModifiedBy>Steve Canny</cp:lastModifiedBy>
  <cp:revision>1</cp:revision>
  <dcterms:created xsi:type="dcterms:W3CDTF">2013-01-27T09:14:16Z</dcterms:created>
  <dcterms:modified xsi:type="dcterms:W3CDTF">2013-01-27T09:15:58Z</dcterms:modified>
  <cp:category/>
</cp:coreProperties>
</file>