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Oval 1"/>
          <p:cNvSpPr/>
          <p:nvPr/>
        </p:nvSpPr>
        <p:spPr>
          <a:xfrm>
            <a:off x="9142000" y="-1350000"/>
            <a:ext cx="4500000" cy="4500000"/>
          </a:xfrm>
          <a:prstGeom prst="ellipse">
            <a:avLst/>
          </a:prstGeom>
          <a:solidFill>
            <a:srgbClr val="0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42000" y="5308000"/>
            <a:ext cx="2900000" cy="2900000"/>
          </a:xfrm>
          <a:prstGeom prst="ellipse">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ubernetes.png"/>
          <p:cNvPicPr>
            <a:picLocks noChangeAspect="1"/>
          </p:cNvPicPr>
          <p:nvPr/>
        </p:nvPicPr>
        <p:blipFill>
          <a:blip r:embed="rId2"/>
          <a:stretch>
            <a:fillRect/>
          </a:stretch>
        </p:blipFill>
        <p:spPr>
          <a:xfrm>
            <a:off x="9642000" y="1000000"/>
            <a:ext cx="1650000" cy="1650000"/>
          </a:xfrm>
          <a:prstGeom prst="rect">
            <a:avLst/>
          </a:prstGeom>
        </p:spPr>
      </p:pic>
      <p:sp>
        <p:nvSpPr>
          <p:cNvPr id="5" name="TextBox 4"/>
          <p:cNvSpPr txBox="1"/>
          <p:nvPr/>
        </p:nvSpPr>
        <p:spPr>
          <a:xfrm>
            <a:off x="660000" y="300000"/>
            <a:ext cx="8600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CKA HANDS-ON TRAINING</a:t>
            </a:r>
          </a:p>
        </p:txBody>
      </p:sp>
      <p:sp>
        <p:nvSpPr>
          <p:cNvPr id="6" name="TextBox 5"/>
          <p:cNvSpPr txBox="1"/>
          <p:nvPr/>
        </p:nvSpPr>
        <p:spPr>
          <a:xfrm>
            <a:off x="660000" y="1620000"/>
            <a:ext cx="8600000" cy="52000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500" b="1" i="0" spc="200">
                <a:solidFill>
                  <a:srgbClr val="74A6FF"/>
                </a:solidFill>
                <a:latin typeface="Segoe UI Semibold"/>
              </a:rPr>
              <a:t>SESIÓN 10</a:t>
            </a:r>
          </a:p>
        </p:txBody>
      </p:sp>
      <p:sp>
        <p:nvSpPr>
          <p:cNvPr id="7" name="TextBox 6"/>
          <p:cNvSpPr txBox="1"/>
          <p:nvPr/>
        </p:nvSpPr>
        <p:spPr>
          <a:xfrm>
            <a:off x="660000" y="2040000"/>
            <a:ext cx="8900000" cy="150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4400" b="0" i="0">
                <a:solidFill>
                  <a:srgbClr val="F3F6FC"/>
                </a:solidFill>
                <a:latin typeface="Segoe UI Light"/>
              </a:rPr>
              <a:t>Control de Tráfico Excluyente (Ingress)</a:t>
            </a:r>
          </a:p>
        </p:txBody>
      </p:sp>
      <p:sp>
        <p:nvSpPr>
          <p:cNvPr id="8" name="Rectangle 7"/>
          <p:cNvSpPr/>
          <p:nvPr/>
        </p:nvSpPr>
        <p:spPr>
          <a:xfrm>
            <a:off x="660000" y="356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9" name="TextBox 8"/>
          <p:cNvSpPr txBox="1"/>
          <p:nvPr/>
        </p:nvSpPr>
        <p:spPr>
          <a:xfrm>
            <a:off x="660000" y="3760000"/>
            <a:ext cx="8600000" cy="52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500" b="0" i="1">
                <a:solidFill>
                  <a:srgbClr val="BDC9DB"/>
                </a:solidFill>
                <a:latin typeface="Segoe UI"/>
              </a:rPr>
              <a:t>Una sola puerta que decide, por host y por path, quién entra y a dónde</a:t>
            </a:r>
          </a:p>
        </p:txBody>
      </p:sp>
      <p:sp>
        <p:nvSpPr>
          <p:cNvPr id="10" name="Rounded Rectangle 9"/>
          <p:cNvSpPr/>
          <p:nvPr/>
        </p:nvSpPr>
        <p:spPr>
          <a:xfrm>
            <a:off x="660000" y="4650000"/>
            <a:ext cx="2645500" cy="900000"/>
          </a:xfrm>
          <a:prstGeom prst="roundRect">
            <a:avLst>
              <a:gd name="adj" fmla="val 10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Rectangle 10"/>
          <p:cNvSpPr/>
          <p:nvPr/>
        </p:nvSpPr>
        <p:spPr>
          <a:xfrm>
            <a:off x="660000" y="4650000"/>
            <a:ext cx="26455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2" name="TextBox 11"/>
          <p:cNvSpPr txBox="1"/>
          <p:nvPr/>
        </p:nvSpPr>
        <p:spPr>
          <a:xfrm>
            <a:off x="810000" y="4770000"/>
            <a:ext cx="2345500" cy="660000"/>
          </a:xfrm>
          <a:prstGeom prst="rect">
            <a:avLst/>
          </a:prstGeom>
          <a:noFill/>
        </p:spPr>
        <p:txBody>
          <a:bodyPr wrap="square" anchor="ctr" lIns="0" rIns="0" tIns="0" bIns="0">
            <a:noAutofit/>
          </a:bodyPr>
          <a:lstStyle/>
          <a:p>
            <a:pPr algn="l" marL="0" indent="0">
              <a:lnSpc>
                <a:spcPct val="100000"/>
              </a:lnSpc>
              <a:spcBef>
                <a:spcPts val="0"/>
              </a:spcBef>
              <a:spcAft>
                <a:spcPts val="200"/>
              </a:spcAft>
              <a:buNone/>
            </a:pPr>
            <a:r>
              <a:rPr sz="2200" b="0" i="0">
                <a:solidFill>
                  <a:srgbClr val="F3F6FC"/>
                </a:solidFill>
                <a:latin typeface="Segoe UI Light"/>
              </a:rPr>
              <a:t>Especial</a:t>
            </a:r>
          </a:p>
          <a:p>
            <a:pPr algn="l" marL="0" indent="0">
              <a:lnSpc>
                <a:spcPct val="100000"/>
              </a:lnSpc>
              <a:spcBef>
                <a:spcPts val="0"/>
              </a:spcBef>
              <a:spcAft>
                <a:spcPts val="0"/>
              </a:spcAft>
              <a:buNone/>
            </a:pPr>
            <a:r>
              <a:rPr sz="1000" b="1" i="0" spc="160">
                <a:solidFill>
                  <a:srgbClr val="8493AD"/>
                </a:solidFill>
                <a:latin typeface="Segoe UI Semibold"/>
              </a:rPr>
              <a:t>SESIÓN</a:t>
            </a:r>
          </a:p>
        </p:txBody>
      </p:sp>
      <p:sp>
        <p:nvSpPr>
          <p:cNvPr id="13" name="Rounded Rectangle 12"/>
          <p:cNvSpPr/>
          <p:nvPr/>
        </p:nvSpPr>
        <p:spPr>
          <a:xfrm>
            <a:off x="3455500" y="4650000"/>
            <a:ext cx="2645500" cy="900000"/>
          </a:xfrm>
          <a:prstGeom prst="roundRect">
            <a:avLst>
              <a:gd name="adj" fmla="val 10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3455500" y="4650000"/>
            <a:ext cx="26455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3605500" y="4770000"/>
            <a:ext cx="2345500" cy="660000"/>
          </a:xfrm>
          <a:prstGeom prst="rect">
            <a:avLst/>
          </a:prstGeom>
          <a:noFill/>
        </p:spPr>
        <p:txBody>
          <a:bodyPr wrap="square" anchor="ctr" lIns="0" rIns="0" tIns="0" bIns="0">
            <a:noAutofit/>
          </a:bodyPr>
          <a:lstStyle/>
          <a:p>
            <a:pPr algn="l" marL="0" indent="0">
              <a:lnSpc>
                <a:spcPct val="100000"/>
              </a:lnSpc>
              <a:spcBef>
                <a:spcPts val="0"/>
              </a:spcBef>
              <a:spcAft>
                <a:spcPts val="200"/>
              </a:spcAft>
              <a:buNone/>
            </a:pPr>
            <a:r>
              <a:rPr sz="2200" b="0" i="0">
                <a:solidFill>
                  <a:srgbClr val="F3F6FC"/>
                </a:solidFill>
                <a:latin typeface="Segoe UI Light"/>
              </a:rPr>
              <a:t>4</a:t>
            </a:r>
          </a:p>
          <a:p>
            <a:pPr algn="l" marL="0" indent="0">
              <a:lnSpc>
                <a:spcPct val="100000"/>
              </a:lnSpc>
              <a:spcBef>
                <a:spcPts val="0"/>
              </a:spcBef>
              <a:spcAft>
                <a:spcPts val="0"/>
              </a:spcAft>
              <a:buNone/>
            </a:pPr>
            <a:r>
              <a:rPr sz="1000" b="1" i="0" spc="160">
                <a:solidFill>
                  <a:srgbClr val="8493AD"/>
                </a:solidFill>
                <a:latin typeface="Segoe UI Semibold"/>
              </a:rPr>
              <a:t>LABORATORIOS</a:t>
            </a:r>
          </a:p>
        </p:txBody>
      </p:sp>
      <p:sp>
        <p:nvSpPr>
          <p:cNvPr id="16" name="Rounded Rectangle 15"/>
          <p:cNvSpPr/>
          <p:nvPr/>
        </p:nvSpPr>
        <p:spPr>
          <a:xfrm>
            <a:off x="6251000" y="4650000"/>
            <a:ext cx="2645500" cy="900000"/>
          </a:xfrm>
          <a:prstGeom prst="roundRect">
            <a:avLst>
              <a:gd name="adj" fmla="val 10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7" name="Rectangle 16"/>
          <p:cNvSpPr/>
          <p:nvPr/>
        </p:nvSpPr>
        <p:spPr>
          <a:xfrm>
            <a:off x="6251000" y="4650000"/>
            <a:ext cx="26455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TextBox 17"/>
          <p:cNvSpPr txBox="1"/>
          <p:nvPr/>
        </p:nvSpPr>
        <p:spPr>
          <a:xfrm>
            <a:off x="6401000" y="4770000"/>
            <a:ext cx="2345500" cy="660000"/>
          </a:xfrm>
          <a:prstGeom prst="rect">
            <a:avLst/>
          </a:prstGeom>
          <a:noFill/>
        </p:spPr>
        <p:txBody>
          <a:bodyPr wrap="square" anchor="ctr" lIns="0" rIns="0" tIns="0" bIns="0">
            <a:noAutofit/>
          </a:bodyPr>
          <a:lstStyle/>
          <a:p>
            <a:pPr algn="l" marL="0" indent="0">
              <a:lnSpc>
                <a:spcPct val="100000"/>
              </a:lnSpc>
              <a:spcBef>
                <a:spcPts val="0"/>
              </a:spcBef>
              <a:spcAft>
                <a:spcPts val="200"/>
              </a:spcAft>
              <a:buNone/>
            </a:pPr>
            <a:r>
              <a:rPr sz="2200" b="0" i="0">
                <a:solidFill>
                  <a:srgbClr val="F3F6FC"/>
                </a:solidFill>
                <a:latin typeface="Segoe UI Light"/>
              </a:rPr>
              <a:t>L7</a:t>
            </a:r>
          </a:p>
          <a:p>
            <a:pPr algn="l" marL="0" indent="0">
              <a:lnSpc>
                <a:spcPct val="100000"/>
              </a:lnSpc>
              <a:spcBef>
                <a:spcPts val="0"/>
              </a:spcBef>
              <a:spcAft>
                <a:spcPts val="0"/>
              </a:spcAft>
              <a:buNone/>
            </a:pPr>
            <a:r>
              <a:rPr sz="1000" b="1" i="0" spc="160">
                <a:solidFill>
                  <a:srgbClr val="8493AD"/>
                </a:solidFill>
                <a:latin typeface="Segoe UI Semibold"/>
              </a:rPr>
              <a:t>CAPA</a:t>
            </a:r>
          </a:p>
        </p:txBody>
      </p:sp>
      <p:sp>
        <p:nvSpPr>
          <p:cNvPr id="19" name="Rounded Rectangle 18"/>
          <p:cNvSpPr/>
          <p:nvPr/>
        </p:nvSpPr>
        <p:spPr>
          <a:xfrm>
            <a:off x="9046500" y="4650000"/>
            <a:ext cx="2645500" cy="900000"/>
          </a:xfrm>
          <a:prstGeom prst="roundRect">
            <a:avLst>
              <a:gd name="adj" fmla="val 10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Rectangle 19"/>
          <p:cNvSpPr/>
          <p:nvPr/>
        </p:nvSpPr>
        <p:spPr>
          <a:xfrm>
            <a:off x="9046500" y="4650000"/>
            <a:ext cx="26455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9196500" y="4770000"/>
            <a:ext cx="2345500" cy="660000"/>
          </a:xfrm>
          <a:prstGeom prst="rect">
            <a:avLst/>
          </a:prstGeom>
          <a:noFill/>
        </p:spPr>
        <p:txBody>
          <a:bodyPr wrap="square" anchor="ctr" lIns="0" rIns="0" tIns="0" bIns="0">
            <a:noAutofit/>
          </a:bodyPr>
          <a:lstStyle/>
          <a:p>
            <a:pPr algn="l" marL="0" indent="0">
              <a:lnSpc>
                <a:spcPct val="100000"/>
              </a:lnSpc>
              <a:spcBef>
                <a:spcPts val="0"/>
              </a:spcBef>
              <a:spcAft>
                <a:spcPts val="200"/>
              </a:spcAft>
              <a:buNone/>
            </a:pPr>
            <a:r>
              <a:rPr sz="2200" b="0" i="0">
                <a:solidFill>
                  <a:srgbClr val="F3F6FC"/>
                </a:solidFill>
                <a:latin typeface="Segoe UI Light"/>
              </a:rPr>
              <a:t>TLS</a:t>
            </a:r>
          </a:p>
          <a:p>
            <a:pPr algn="l" marL="0" indent="0">
              <a:lnSpc>
                <a:spcPct val="100000"/>
              </a:lnSpc>
              <a:spcBef>
                <a:spcPts val="0"/>
              </a:spcBef>
              <a:spcAft>
                <a:spcPts val="0"/>
              </a:spcAft>
              <a:buNone/>
            </a:pPr>
            <a:r>
              <a:rPr sz="1000" b="1" i="0" spc="160">
                <a:solidFill>
                  <a:srgbClr val="8493AD"/>
                </a:solidFill>
                <a:latin typeface="Segoe UI Semibold"/>
              </a:rPr>
              <a:t>HTTPS PROPIO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OBJETIVOS</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Al terminar esta sesión serás capaz de…</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10</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02</a:t>
            </a:r>
          </a:p>
        </p:txBody>
      </p:sp>
      <p:sp>
        <p:nvSpPr>
          <p:cNvPr id="8" name="Oval 7"/>
          <p:cNvSpPr/>
          <p:nvPr/>
        </p:nvSpPr>
        <p:spPr>
          <a:xfrm>
            <a:off x="10983200" y="326200"/>
            <a:ext cx="537600" cy="537600"/>
          </a:xfrm>
          <a:prstGeom prst="ellipse">
            <a:avLst/>
          </a:prstGeom>
          <a:noFill/>
          <a:ln w="3810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098400" y="441400"/>
            <a:ext cx="307200" cy="307200"/>
          </a:xfrm>
          <a:prstGeom prst="ellipse">
            <a:avLst/>
          </a:prstGeom>
          <a:noFill/>
          <a:ln w="3810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200800" y="543800"/>
            <a:ext cx="102400" cy="102400"/>
          </a:xfrm>
          <a:prstGeom prst="ellipse">
            <a:avLst/>
          </a:prstGeom>
          <a:solidFill>
            <a:srgbClr val="74A6FF"/>
          </a:solidFill>
          <a:ln w="635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20000" y="206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12" name="TextBox 11"/>
          <p:cNvSpPr txBox="1"/>
          <p:nvPr/>
        </p:nvSpPr>
        <p:spPr>
          <a:xfrm>
            <a:off x="1120000" y="193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Explicar qué añade un Ingress Controller sobre un Service NodePort o LoadBalancer.</a:t>
            </a:r>
          </a:p>
        </p:txBody>
      </p:sp>
      <p:sp>
        <p:nvSpPr>
          <p:cNvPr id="13" name="Oval 12"/>
          <p:cNvSpPr/>
          <p:nvPr/>
        </p:nvSpPr>
        <p:spPr>
          <a:xfrm>
            <a:off x="620000" y="262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14" name="TextBox 13"/>
          <p:cNvSpPr txBox="1"/>
          <p:nvPr/>
        </p:nvSpPr>
        <p:spPr>
          <a:xfrm>
            <a:off x="1120000" y="249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Distinguir el objeto Ingress (reglas) del controlador (el proxy que las ejecuta).</a:t>
            </a:r>
          </a:p>
        </p:txBody>
      </p:sp>
      <p:sp>
        <p:nvSpPr>
          <p:cNvPr id="15" name="Oval 14"/>
          <p:cNvSpPr/>
          <p:nvPr/>
        </p:nvSpPr>
        <p:spPr>
          <a:xfrm>
            <a:off x="620000" y="318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6" name="TextBox 15"/>
          <p:cNvSpPr txBox="1"/>
          <p:nvPr/>
        </p:nvSpPr>
        <p:spPr>
          <a:xfrm>
            <a:off x="1120000" y="305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Enrutar por path y por host tras una única entrada, con el pathType correcto.</a:t>
            </a:r>
          </a:p>
        </p:txBody>
      </p:sp>
      <p:sp>
        <p:nvSpPr>
          <p:cNvPr id="17" name="Oval 16"/>
          <p:cNvSpPr/>
          <p:nvPr/>
        </p:nvSpPr>
        <p:spPr>
          <a:xfrm>
            <a:off x="620000" y="374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8" name="TextBox 17"/>
          <p:cNvSpPr txBox="1"/>
          <p:nvPr/>
        </p:nvSpPr>
        <p:spPr>
          <a:xfrm>
            <a:off x="1120000" y="361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Terminar TLS en el borde con un Secret kubernetes.io/tls y probarlo sin tocar /etc/hosts.</a:t>
            </a:r>
          </a:p>
        </p:txBody>
      </p:sp>
      <p:sp>
        <p:nvSpPr>
          <p:cNvPr id="19" name="Oval 18"/>
          <p:cNvSpPr/>
          <p:nvPr/>
        </p:nvSpPr>
        <p:spPr>
          <a:xfrm>
            <a:off x="620000" y="430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sp>
        <p:nvSpPr>
          <p:cNvPr id="20" name="TextBox 19"/>
          <p:cNvSpPr txBox="1"/>
          <p:nvPr/>
        </p:nvSpPr>
        <p:spPr>
          <a:xfrm>
            <a:off x="1120000" y="417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Describir el balanceo de capa 7 y en qué se diferencia del de kube-proxy.</a:t>
            </a:r>
          </a:p>
        </p:txBody>
      </p:sp>
      <p:sp>
        <p:nvSpPr>
          <p:cNvPr id="21" name="Oval 20"/>
          <p:cNvSpPr/>
          <p:nvPr/>
        </p:nvSpPr>
        <p:spPr>
          <a:xfrm>
            <a:off x="620000" y="486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6</a:t>
            </a:r>
          </a:p>
        </p:txBody>
      </p:sp>
      <p:sp>
        <p:nvSpPr>
          <p:cNvPr id="22" name="TextBox 21"/>
          <p:cNvSpPr txBox="1"/>
          <p:nvPr/>
        </p:nvSpPr>
        <p:spPr>
          <a:xfrm>
            <a:off x="1120000" y="473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Publicar el portal, la API y el panel de GRATITUD tras un solo Ingress.</a:t>
            </a:r>
          </a:p>
        </p:txBody>
      </p:sp>
      <p:sp>
        <p:nvSpPr>
          <p:cNvPr id="23" name="Oval 22"/>
          <p:cNvSpPr/>
          <p:nvPr/>
        </p:nvSpPr>
        <p:spPr>
          <a:xfrm>
            <a:off x="620000" y="542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7</a:t>
            </a:r>
          </a:p>
        </p:txBody>
      </p:sp>
      <p:sp>
        <p:nvSpPr>
          <p:cNvPr id="24" name="TextBox 23"/>
          <p:cNvSpPr txBox="1"/>
          <p:nvPr/>
        </p:nvSpPr>
        <p:spPr>
          <a:xfrm>
            <a:off x="1120000" y="529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Diagnosticar un Ingress que no enruta: clase, backend, pathType o TLS.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SESIÓN ESPECIAL</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Agenda</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10</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03</a:t>
            </a:r>
          </a:p>
        </p:txBody>
      </p:sp>
      <p:sp>
        <p:nvSpPr>
          <p:cNvPr id="8" name="Oval 7"/>
          <p:cNvSpPr/>
          <p:nvPr/>
        </p:nvSpPr>
        <p:spPr>
          <a:xfrm>
            <a:off x="10983200" y="326200"/>
            <a:ext cx="537600" cy="537600"/>
          </a:xfrm>
          <a:prstGeom prst="ellipse">
            <a:avLst/>
          </a:prstGeom>
          <a:noFill/>
          <a:ln w="3810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flipV="1">
            <a:off x="11252000" y="415800"/>
            <a:ext cx="0" cy="17920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252000" y="595000"/>
            <a:ext cx="128000" cy="5120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20000" y="177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00–10</a:t>
            </a:r>
          </a:p>
        </p:txBody>
      </p:sp>
      <p:sp>
        <p:nvSpPr>
          <p:cNvPr id="12" name="Rectangle 11"/>
          <p:cNvSpPr/>
          <p:nvPr/>
        </p:nvSpPr>
        <p:spPr>
          <a:xfrm>
            <a:off x="2120000" y="1950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3" name="TextBox 12"/>
          <p:cNvSpPr txBox="1"/>
          <p:nvPr/>
        </p:nvSpPr>
        <p:spPr>
          <a:xfrm>
            <a:off x="2320000" y="177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Repaso de Services y el problema que deja abierto</a:t>
            </a:r>
          </a:p>
        </p:txBody>
      </p:sp>
      <p:sp>
        <p:nvSpPr>
          <p:cNvPr id="14" name="TextBox 13"/>
          <p:cNvSpPr txBox="1"/>
          <p:nvPr/>
        </p:nvSpPr>
        <p:spPr>
          <a:xfrm>
            <a:off x="620000" y="224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10–32</a:t>
            </a:r>
          </a:p>
        </p:txBody>
      </p:sp>
      <p:sp>
        <p:nvSpPr>
          <p:cNvPr id="15" name="Rectangle 14"/>
          <p:cNvSpPr/>
          <p:nvPr/>
        </p:nvSpPr>
        <p:spPr>
          <a:xfrm>
            <a:off x="2120000" y="2420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6" name="TextBox 15"/>
          <p:cNvSpPr txBox="1"/>
          <p:nvPr/>
        </p:nvSpPr>
        <p:spPr>
          <a:xfrm>
            <a:off x="2320000" y="224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Conceptos: Ingress vs. Service, controlador, ingressClassName</a:t>
            </a:r>
          </a:p>
        </p:txBody>
      </p:sp>
      <p:sp>
        <p:nvSpPr>
          <p:cNvPr id="17" name="Rounded Rectangle 16"/>
          <p:cNvSpPr/>
          <p:nvPr/>
        </p:nvSpPr>
        <p:spPr>
          <a:xfrm>
            <a:off x="560000" y="2755000"/>
            <a:ext cx="11072000" cy="390000"/>
          </a:xfrm>
          <a:prstGeom prst="roundRect">
            <a:avLst>
              <a:gd name="adj" fmla="val 16000"/>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TextBox 17"/>
          <p:cNvSpPr txBox="1"/>
          <p:nvPr/>
        </p:nvSpPr>
        <p:spPr>
          <a:xfrm>
            <a:off x="620000" y="271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74A6FF"/>
                </a:solidFill>
                <a:latin typeface="Consolas"/>
              </a:rPr>
              <a:t>32–54</a:t>
            </a:r>
          </a:p>
        </p:txBody>
      </p:sp>
      <p:sp>
        <p:nvSpPr>
          <p:cNvPr id="19" name="Rectangle 18"/>
          <p:cNvSpPr/>
          <p:nvPr/>
        </p:nvSpPr>
        <p:spPr>
          <a:xfrm>
            <a:off x="2120000" y="2890000"/>
            <a:ext cx="8000" cy="12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TextBox 19"/>
          <p:cNvSpPr txBox="1"/>
          <p:nvPr/>
        </p:nvSpPr>
        <p:spPr>
          <a:xfrm>
            <a:off x="2320000" y="271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1" i="0">
                <a:solidFill>
                  <a:srgbClr val="F3F6FC"/>
                </a:solidFill>
                <a:latin typeface="Segoe UI"/>
              </a:rPr>
              <a:t>LAB 10.1 — Básico: controlador y primer Ingress</a:t>
            </a:r>
          </a:p>
        </p:txBody>
      </p:sp>
      <p:sp>
        <p:nvSpPr>
          <p:cNvPr id="21" name="TextBox 20"/>
          <p:cNvSpPr txBox="1"/>
          <p:nvPr/>
        </p:nvSpPr>
        <p:spPr>
          <a:xfrm>
            <a:off x="620000" y="318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54–72</a:t>
            </a:r>
          </a:p>
        </p:txBody>
      </p:sp>
      <p:sp>
        <p:nvSpPr>
          <p:cNvPr id="22" name="Rectangle 21"/>
          <p:cNvSpPr/>
          <p:nvPr/>
        </p:nvSpPr>
        <p:spPr>
          <a:xfrm>
            <a:off x="2120000" y="3360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TextBox 22"/>
          <p:cNvSpPr txBox="1"/>
          <p:nvPr/>
        </p:nvSpPr>
        <p:spPr>
          <a:xfrm>
            <a:off x="2320000" y="318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Conceptos: routing por host y por path, pathType, rewrite</a:t>
            </a:r>
          </a:p>
        </p:txBody>
      </p:sp>
      <p:sp>
        <p:nvSpPr>
          <p:cNvPr id="24" name="Rounded Rectangle 23"/>
          <p:cNvSpPr/>
          <p:nvPr/>
        </p:nvSpPr>
        <p:spPr>
          <a:xfrm>
            <a:off x="560000" y="3695000"/>
            <a:ext cx="11072000" cy="390000"/>
          </a:xfrm>
          <a:prstGeom prst="roundRect">
            <a:avLst>
              <a:gd name="adj" fmla="val 16000"/>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620000" y="365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74A6FF"/>
                </a:solidFill>
                <a:latin typeface="Consolas"/>
              </a:rPr>
              <a:t>72–104</a:t>
            </a:r>
          </a:p>
        </p:txBody>
      </p:sp>
      <p:sp>
        <p:nvSpPr>
          <p:cNvPr id="26" name="Rectangle 25"/>
          <p:cNvSpPr/>
          <p:nvPr/>
        </p:nvSpPr>
        <p:spPr>
          <a:xfrm>
            <a:off x="2120000" y="3830000"/>
            <a:ext cx="8000" cy="12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TextBox 26"/>
          <p:cNvSpPr txBox="1"/>
          <p:nvPr/>
        </p:nvSpPr>
        <p:spPr>
          <a:xfrm>
            <a:off x="2320000" y="365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1" i="0">
                <a:solidFill>
                  <a:srgbClr val="F3F6FC"/>
                </a:solidFill>
                <a:latin typeface="Segoe UI"/>
              </a:rPr>
              <a:t>LAB 10.2 — Intermedio: enrutar GRATITUD por host y por path</a:t>
            </a:r>
          </a:p>
        </p:txBody>
      </p:sp>
      <p:sp>
        <p:nvSpPr>
          <p:cNvPr id="28" name="TextBox 27"/>
          <p:cNvSpPr txBox="1"/>
          <p:nvPr/>
        </p:nvSpPr>
        <p:spPr>
          <a:xfrm>
            <a:off x="620000" y="412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104–120</a:t>
            </a:r>
          </a:p>
        </p:txBody>
      </p:sp>
      <p:sp>
        <p:nvSpPr>
          <p:cNvPr id="29" name="Rectangle 28"/>
          <p:cNvSpPr/>
          <p:nvPr/>
        </p:nvSpPr>
        <p:spPr>
          <a:xfrm>
            <a:off x="2120000" y="4300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0" name="TextBox 29"/>
          <p:cNvSpPr txBox="1"/>
          <p:nvPr/>
        </p:nvSpPr>
        <p:spPr>
          <a:xfrm>
            <a:off x="2320000" y="412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Conceptos: terminación TLS y balanceo de capa 7</a:t>
            </a:r>
          </a:p>
        </p:txBody>
      </p:sp>
      <p:sp>
        <p:nvSpPr>
          <p:cNvPr id="31" name="Rounded Rectangle 30"/>
          <p:cNvSpPr/>
          <p:nvPr/>
        </p:nvSpPr>
        <p:spPr>
          <a:xfrm>
            <a:off x="560000" y="4635000"/>
            <a:ext cx="11072000" cy="390000"/>
          </a:xfrm>
          <a:prstGeom prst="roundRect">
            <a:avLst>
              <a:gd name="adj" fmla="val 16000"/>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2" name="TextBox 31"/>
          <p:cNvSpPr txBox="1"/>
          <p:nvPr/>
        </p:nvSpPr>
        <p:spPr>
          <a:xfrm>
            <a:off x="620000" y="459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74A6FF"/>
                </a:solidFill>
                <a:latin typeface="Consolas"/>
              </a:rPr>
              <a:t>120–150</a:t>
            </a:r>
          </a:p>
        </p:txBody>
      </p:sp>
      <p:sp>
        <p:nvSpPr>
          <p:cNvPr id="33" name="Rectangle 32"/>
          <p:cNvSpPr/>
          <p:nvPr/>
        </p:nvSpPr>
        <p:spPr>
          <a:xfrm>
            <a:off x="2120000" y="4770000"/>
            <a:ext cx="8000" cy="12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4" name="TextBox 33"/>
          <p:cNvSpPr txBox="1"/>
          <p:nvPr/>
        </p:nvSpPr>
        <p:spPr>
          <a:xfrm>
            <a:off x="2320000" y="459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1" i="0">
                <a:solidFill>
                  <a:srgbClr val="F3F6FC"/>
                </a:solidFill>
                <a:latin typeface="Segoe UI"/>
              </a:rPr>
              <a:t>LAB 10.3 — Avanzado: HTTPS propio para GRATITUD</a:t>
            </a:r>
          </a:p>
        </p:txBody>
      </p:sp>
      <p:sp>
        <p:nvSpPr>
          <p:cNvPr id="35" name="Rounded Rectangle 34"/>
          <p:cNvSpPr/>
          <p:nvPr/>
        </p:nvSpPr>
        <p:spPr>
          <a:xfrm>
            <a:off x="560000" y="5105000"/>
            <a:ext cx="11072000" cy="390000"/>
          </a:xfrm>
          <a:prstGeom prst="roundRect">
            <a:avLst>
              <a:gd name="adj" fmla="val 16000"/>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6" name="TextBox 35"/>
          <p:cNvSpPr txBox="1"/>
          <p:nvPr/>
        </p:nvSpPr>
        <p:spPr>
          <a:xfrm>
            <a:off x="620000" y="506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74A6FF"/>
                </a:solidFill>
                <a:latin typeface="Consolas"/>
              </a:rPr>
              <a:t>150–170</a:t>
            </a:r>
          </a:p>
        </p:txBody>
      </p:sp>
      <p:sp>
        <p:nvSpPr>
          <p:cNvPr id="37" name="Rectangle 36"/>
          <p:cNvSpPr/>
          <p:nvPr/>
        </p:nvSpPr>
        <p:spPr>
          <a:xfrm>
            <a:off x="2120000" y="5240000"/>
            <a:ext cx="8000" cy="12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8" name="TextBox 37"/>
          <p:cNvSpPr txBox="1"/>
          <p:nvPr/>
        </p:nvSpPr>
        <p:spPr>
          <a:xfrm>
            <a:off x="2320000" y="506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1" i="0">
                <a:solidFill>
                  <a:srgbClr val="F3F6FC"/>
                </a:solidFill>
                <a:latin typeface="Segoe UI"/>
              </a:rPr>
              <a:t>LAB 10.4 — Challenge: «el Ingress no enruta»</a:t>
            </a:r>
          </a:p>
        </p:txBody>
      </p:sp>
      <p:sp>
        <p:nvSpPr>
          <p:cNvPr id="39" name="TextBox 38"/>
          <p:cNvSpPr txBox="1"/>
          <p:nvPr/>
        </p:nvSpPr>
        <p:spPr>
          <a:xfrm>
            <a:off x="620000" y="553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170–180</a:t>
            </a:r>
          </a:p>
        </p:txBody>
      </p:sp>
      <p:sp>
        <p:nvSpPr>
          <p:cNvPr id="40" name="Rectangle 39"/>
          <p:cNvSpPr/>
          <p:nvPr/>
        </p:nvSpPr>
        <p:spPr>
          <a:xfrm>
            <a:off x="2120000" y="5710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41" name="TextBox 40"/>
          <p:cNvSpPr txBox="1"/>
          <p:nvPr/>
        </p:nvSpPr>
        <p:spPr>
          <a:xfrm>
            <a:off x="2320000" y="553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Cierre y CKA Tips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1500000" y="4258000"/>
            <a:ext cx="4200000" cy="42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ng.png"/>
          <p:cNvPicPr>
            <a:picLocks noChangeAspect="1"/>
          </p:cNvPicPr>
          <p:nvPr/>
        </p:nvPicPr>
        <p:blipFill>
          <a:blip r:embed="rId2"/>
          <a:stretch>
            <a:fillRect/>
          </a:stretch>
        </p:blipFill>
        <p:spPr>
          <a:xfrm>
            <a:off x="8842000" y="2150000"/>
            <a:ext cx="1800000" cy="1800000"/>
          </a:xfrm>
          <a:prstGeom prst="rect">
            <a:avLst/>
          </a:prstGeom>
        </p:spPr>
      </p:pic>
      <p:sp>
        <p:nvSpPr>
          <p:cNvPr id="4" name="TextBox 3"/>
          <p:cNvSpPr txBox="1"/>
          <p:nvPr/>
        </p:nvSpPr>
        <p:spPr>
          <a:xfrm>
            <a:off x="590000" y="1150000"/>
            <a:ext cx="4000000" cy="2600000"/>
          </a:xfrm>
          <a:prstGeom prst="rect">
            <a:avLst/>
          </a:prstGeom>
          <a:noFill/>
        </p:spPr>
        <p:txBody>
          <a:bodyPr wrap="square" anchor="t" lIns="0" rIns="0" tIns="0" bIns="0">
            <a:noAutofit/>
          </a:bodyPr>
          <a:lstStyle/>
          <a:p>
            <a:pPr algn="l" marL="0" indent="0">
              <a:lnSpc>
                <a:spcPct val="90000"/>
              </a:lnSpc>
              <a:spcBef>
                <a:spcPts val="0"/>
              </a:spcBef>
              <a:spcAft>
                <a:spcPts val="0"/>
              </a:spcAft>
              <a:buNone/>
            </a:pPr>
            <a:r>
              <a:rPr sz="15000" b="0" i="0">
                <a:solidFill>
                  <a:srgbClr val="4C5B75"/>
                </a:solidFill>
                <a:latin typeface="Segoe UI Light"/>
              </a:rPr>
              <a:t>01</a:t>
            </a:r>
          </a:p>
        </p:txBody>
      </p:sp>
      <p:sp>
        <p:nvSpPr>
          <p:cNvPr id="5" name="TextBox 4"/>
          <p:cNvSpPr txBox="1"/>
          <p:nvPr/>
        </p:nvSpPr>
        <p:spPr>
          <a:xfrm>
            <a:off x="640000" y="3050000"/>
            <a:ext cx="9200000" cy="3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60">
                <a:solidFill>
                  <a:srgbClr val="74A6FF"/>
                </a:solidFill>
                <a:latin typeface="Segoe UI Semibold"/>
              </a:rPr>
              <a:t>BLOQUE 1</a:t>
            </a:r>
          </a:p>
        </p:txBody>
      </p:sp>
      <p:sp>
        <p:nvSpPr>
          <p:cNvPr id="6" name="TextBox 5"/>
          <p:cNvSpPr txBox="1"/>
          <p:nvPr/>
        </p:nvSpPr>
        <p:spPr>
          <a:xfrm>
            <a:off x="640000" y="3350000"/>
            <a:ext cx="10200000" cy="1000000"/>
          </a:xfrm>
          <a:prstGeom prst="rect">
            <a:avLst/>
          </a:prstGeom>
          <a:noFill/>
        </p:spPr>
        <p:txBody>
          <a:bodyPr wrap="square" anchor="t" lIns="0" rIns="0" tIns="0" bIns="0">
            <a:noAutofit/>
          </a:bodyPr>
          <a:lstStyle/>
          <a:p>
            <a:pPr algn="l" marL="0" indent="0">
              <a:lnSpc>
                <a:spcPct val="102000"/>
              </a:lnSpc>
              <a:spcBef>
                <a:spcPts val="0"/>
              </a:spcBef>
              <a:spcAft>
                <a:spcPts val="0"/>
              </a:spcAft>
              <a:buNone/>
            </a:pPr>
            <a:r>
              <a:rPr sz="5400" b="0" i="0">
                <a:solidFill>
                  <a:srgbClr val="F3F6FC"/>
                </a:solidFill>
                <a:latin typeface="Segoe UI Light"/>
              </a:rPr>
              <a:t>Ingress frente al Service</a:t>
            </a:r>
          </a:p>
        </p:txBody>
      </p:sp>
      <p:sp>
        <p:nvSpPr>
          <p:cNvPr id="7" name="Rectangle 6"/>
          <p:cNvSpPr/>
          <p:nvPr/>
        </p:nvSpPr>
        <p:spPr>
          <a:xfrm>
            <a:off x="644000" y="438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8" name="TextBox 7"/>
          <p:cNvSpPr txBox="1"/>
          <p:nvPr/>
        </p:nvSpPr>
        <p:spPr>
          <a:xfrm>
            <a:off x="640000" y="4560000"/>
            <a:ext cx="9600000" cy="62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500" b="0" i="1">
                <a:solidFill>
                  <a:srgbClr val="BDC9DB"/>
                </a:solidFill>
                <a:latin typeface="Segoe UI"/>
              </a:rPr>
              <a:t>Qué hace un proxy de capa 7 que un Service no puede hacer</a:t>
            </a:r>
          </a:p>
        </p:txBody>
      </p:sp>
      <p:sp>
        <p:nvSpPr>
          <p:cNvPr id="9" name="Rectangle 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10</a:t>
            </a:r>
          </a:p>
        </p:txBody>
      </p:sp>
      <p:sp>
        <p:nvSpPr>
          <p:cNvPr id="11" name="TextBox 1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NO ES LO MISMO</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Service (L4) y Ingress (L7) resuelven cosas distintas</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10</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05</a:t>
            </a:r>
          </a:p>
        </p:txBody>
      </p:sp>
      <p:pic>
        <p:nvPicPr>
          <p:cNvPr id="8" name="Picture 7" descr="ing.png"/>
          <p:cNvPicPr>
            <a:picLocks noChangeAspect="1"/>
          </p:cNvPicPr>
          <p:nvPr/>
        </p:nvPicPr>
        <p:blipFill>
          <a:blip r:embed="rId2"/>
          <a:stretch>
            <a:fillRect/>
          </a:stretch>
        </p:blipFill>
        <p:spPr>
          <a:xfrm>
            <a:off x="10932000" y="275000"/>
            <a:ext cx="640000" cy="640000"/>
          </a:xfrm>
          <a:prstGeom prst="rect">
            <a:avLst/>
          </a:prstGeom>
        </p:spPr>
      </p:pic>
      <p:sp>
        <p:nvSpPr>
          <p:cNvPr id="9" name="Rounded Rectangle 8"/>
          <p:cNvSpPr/>
          <p:nvPr/>
        </p:nvSpPr>
        <p:spPr>
          <a:xfrm>
            <a:off x="620000" y="1470000"/>
            <a:ext cx="5316000" cy="2670000"/>
          </a:xfrm>
          <a:prstGeom prst="roundRect">
            <a:avLst>
              <a:gd name="adj" fmla="val 5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Rectangle 9"/>
          <p:cNvSpPr/>
          <p:nvPr/>
        </p:nvSpPr>
        <p:spPr>
          <a:xfrm>
            <a:off x="644000" y="1470000"/>
            <a:ext cx="5268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880000" y="1730000"/>
            <a:ext cx="4796000" cy="570000"/>
          </a:xfrm>
          <a:prstGeom prst="rect">
            <a:avLst/>
          </a:prstGeom>
          <a:noFill/>
        </p:spPr>
        <p:txBody>
          <a:bodyPr wrap="square" anchor="t" lIns="0" rIns="0" tIns="0" bIns="0">
            <a:noAutofit/>
          </a:bodyPr>
          <a:lstStyle/>
          <a:p>
            <a:pPr algn="l" marL="0" indent="0">
              <a:lnSpc>
                <a:spcPct val="105000"/>
              </a:lnSpc>
              <a:spcBef>
                <a:spcPts val="0"/>
              </a:spcBef>
              <a:spcAft>
                <a:spcPts val="400"/>
              </a:spcAft>
              <a:buNone/>
            </a:pPr>
            <a:r>
              <a:rPr sz="1600" b="1" i="0">
                <a:solidFill>
                  <a:srgbClr val="F3F6FC"/>
                </a:solidFill>
                <a:latin typeface="Segoe UI Semibold"/>
              </a:rPr>
              <a:t>Service · capa 4</a:t>
            </a:r>
          </a:p>
          <a:p>
            <a:pPr algn="l" marL="0" indent="0">
              <a:lnSpc>
                <a:spcPct val="112000"/>
              </a:lnSpc>
              <a:spcBef>
                <a:spcPts val="0"/>
              </a:spcBef>
              <a:spcAft>
                <a:spcPts val="0"/>
              </a:spcAft>
              <a:buNone/>
            </a:pPr>
            <a:r>
              <a:rPr sz="1100" b="0" i="1">
                <a:solidFill>
                  <a:srgbClr val="8493AD"/>
                </a:solidFill>
                <a:latin typeface="Segoe UI"/>
              </a:rPr>
              <a:t>Conexiones, no peticiones</a:t>
            </a:r>
          </a:p>
        </p:txBody>
      </p:sp>
      <p:sp>
        <p:nvSpPr>
          <p:cNvPr id="12" name="TextBox 11"/>
          <p:cNvSpPr txBox="1"/>
          <p:nvPr/>
        </p:nvSpPr>
        <p:spPr>
          <a:xfrm>
            <a:off x="880000" y="2300000"/>
            <a:ext cx="4796000" cy="1660000"/>
          </a:xfrm>
          <a:prstGeom prst="rect">
            <a:avLst/>
          </a:prstGeom>
          <a:noFill/>
        </p:spPr>
        <p:txBody>
          <a:bodyPr wrap="square" anchor="t" lIns="0" rIns="0" tIns="0" bIns="0">
            <a:noAutofit/>
          </a:bodyPr>
          <a:lstStyle/>
          <a:p/>
          <a:p>
            <a:pPr algn="l" marL="182880" indent="-182880">
              <a:lnSpc>
                <a:spcPct val="116000"/>
              </a:lnSpc>
              <a:spcBef>
                <a:spcPts val="0"/>
              </a:spcBef>
              <a:spcAft>
                <a:spcPts val="800"/>
              </a:spcAft>
              <a:buFont typeface="Arial"/>
              <a:buChar char="•"/>
            </a:pPr>
            <a:r>
              <a:rPr sz="1100" b="0" i="0">
                <a:solidFill>
                  <a:srgbClr val="BDC9DB"/>
                </a:solidFill>
                <a:latin typeface="Segoe UI"/>
              </a:rPr>
              <a:t>Reparte TCP/UDP hacia Pods. No mira el contenido.</a:t>
            </a:r>
          </a:p>
          <a:p>
            <a:pPr algn="l" marL="182880" indent="-182880">
              <a:lnSpc>
                <a:spcPct val="116000"/>
              </a:lnSpc>
              <a:spcBef>
                <a:spcPts val="0"/>
              </a:spcBef>
              <a:spcAft>
                <a:spcPts val="800"/>
              </a:spcAft>
              <a:buFont typeface="Arial"/>
              <a:buChar char="•"/>
            </a:pPr>
            <a:r>
              <a:rPr sz="1100" b="0" i="0">
                <a:solidFill>
                  <a:srgbClr val="BDC9DB"/>
                </a:solidFill>
                <a:latin typeface="Segoe UI"/>
              </a:rPr>
              <a:t>Una IP o un puerto por aplicación publicada.</a:t>
            </a:r>
          </a:p>
          <a:p>
            <a:pPr algn="l" marL="182880" indent="-182880">
              <a:lnSpc>
                <a:spcPct val="116000"/>
              </a:lnSpc>
              <a:spcBef>
                <a:spcPts val="0"/>
              </a:spcBef>
              <a:spcAft>
                <a:spcPts val="800"/>
              </a:spcAft>
              <a:buFont typeface="Arial"/>
              <a:buChar char="•"/>
            </a:pPr>
            <a:r>
              <a:rPr sz="1100" b="0" i="0">
                <a:solidFill>
                  <a:srgbClr val="BDC9DB"/>
                </a:solidFill>
                <a:latin typeface="Segoe UI"/>
              </a:rPr>
              <a:t>NodePort: un puerto alto por app. LoadBalancer: una IP (y su coste) por app.</a:t>
            </a:r>
          </a:p>
          <a:p>
            <a:pPr algn="l" marL="182880" indent="-182880">
              <a:lnSpc>
                <a:spcPct val="116000"/>
              </a:lnSpc>
              <a:spcBef>
                <a:spcPts val="0"/>
              </a:spcBef>
              <a:spcAft>
                <a:spcPts val="800"/>
              </a:spcAft>
              <a:buFont typeface="Arial"/>
              <a:buChar char="•"/>
            </a:pPr>
            <a:r>
              <a:rPr sz="1100" b="0" i="0">
                <a:solidFill>
                  <a:srgbClr val="BDC9DB"/>
                </a:solidFill>
                <a:latin typeface="Segoe UI"/>
              </a:rPr>
              <a:t>Ni TLS, ni rutas, ni cabeceras.</a:t>
            </a:r>
          </a:p>
        </p:txBody>
      </p:sp>
      <p:sp>
        <p:nvSpPr>
          <p:cNvPr id="13" name="Rounded Rectangle 12"/>
          <p:cNvSpPr/>
          <p:nvPr/>
        </p:nvSpPr>
        <p:spPr>
          <a:xfrm>
            <a:off x="6256000" y="1470000"/>
            <a:ext cx="5316000" cy="2670000"/>
          </a:xfrm>
          <a:prstGeom prst="roundRect">
            <a:avLst>
              <a:gd name="adj" fmla="val 5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6280000" y="1470000"/>
            <a:ext cx="5268000" cy="46000"/>
          </a:xfrm>
          <a:prstGeom prst="rect">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6516000" y="1730000"/>
            <a:ext cx="4796000" cy="570000"/>
          </a:xfrm>
          <a:prstGeom prst="rect">
            <a:avLst/>
          </a:prstGeom>
          <a:noFill/>
        </p:spPr>
        <p:txBody>
          <a:bodyPr wrap="square" anchor="t" lIns="0" rIns="0" tIns="0" bIns="0">
            <a:noAutofit/>
          </a:bodyPr>
          <a:lstStyle/>
          <a:p>
            <a:pPr algn="l" marL="0" indent="0">
              <a:lnSpc>
                <a:spcPct val="105000"/>
              </a:lnSpc>
              <a:spcBef>
                <a:spcPts val="0"/>
              </a:spcBef>
              <a:spcAft>
                <a:spcPts val="400"/>
              </a:spcAft>
              <a:buNone/>
            </a:pPr>
            <a:r>
              <a:rPr sz="1600" b="1" i="0">
                <a:solidFill>
                  <a:srgbClr val="F3F6FC"/>
                </a:solidFill>
                <a:latin typeface="Segoe UI Semibold"/>
              </a:rPr>
              <a:t>Ingress · capa 7</a:t>
            </a:r>
          </a:p>
          <a:p>
            <a:pPr algn="l" marL="0" indent="0">
              <a:lnSpc>
                <a:spcPct val="112000"/>
              </a:lnSpc>
              <a:spcBef>
                <a:spcPts val="0"/>
              </a:spcBef>
              <a:spcAft>
                <a:spcPts val="0"/>
              </a:spcAft>
              <a:buNone/>
            </a:pPr>
            <a:r>
              <a:rPr sz="1100" b="0" i="1">
                <a:solidFill>
                  <a:srgbClr val="8493AD"/>
                </a:solidFill>
                <a:latin typeface="Segoe UI"/>
              </a:rPr>
              <a:t>Lee HTTP y decide</a:t>
            </a:r>
          </a:p>
        </p:txBody>
      </p:sp>
      <p:sp>
        <p:nvSpPr>
          <p:cNvPr id="16" name="TextBox 15"/>
          <p:cNvSpPr txBox="1"/>
          <p:nvPr/>
        </p:nvSpPr>
        <p:spPr>
          <a:xfrm>
            <a:off x="6516000" y="2300000"/>
            <a:ext cx="4796000" cy="1660000"/>
          </a:xfrm>
          <a:prstGeom prst="rect">
            <a:avLst/>
          </a:prstGeom>
          <a:noFill/>
        </p:spPr>
        <p:txBody>
          <a:bodyPr wrap="square" anchor="t" lIns="0" rIns="0" tIns="0" bIns="0">
            <a:noAutofit/>
          </a:bodyPr>
          <a:lstStyle/>
          <a:p/>
          <a:p>
            <a:pPr algn="l" marL="182880" indent="-182880">
              <a:lnSpc>
                <a:spcPct val="116000"/>
              </a:lnSpc>
              <a:spcBef>
                <a:spcPts val="0"/>
              </a:spcBef>
              <a:spcAft>
                <a:spcPts val="800"/>
              </a:spcAft>
              <a:buFont typeface="Arial"/>
              <a:buChar char="•"/>
            </a:pPr>
            <a:r>
              <a:rPr sz="1100" b="0" i="0">
                <a:solidFill>
                  <a:srgbClr val="BDC9DB"/>
                </a:solidFill>
                <a:latin typeface="Segoe UI"/>
              </a:rPr>
              <a:t>Un proxy inverso HTTP delante de varios Services.</a:t>
            </a:r>
          </a:p>
          <a:p>
            <a:pPr algn="l" marL="182880" indent="-182880">
              <a:lnSpc>
                <a:spcPct val="116000"/>
              </a:lnSpc>
              <a:spcBef>
                <a:spcPts val="0"/>
              </a:spcBef>
              <a:spcAft>
                <a:spcPts val="800"/>
              </a:spcAft>
              <a:buFont typeface="Arial"/>
              <a:buChar char="•"/>
            </a:pPr>
            <a:r>
              <a:rPr sz="1100" b="0" i="0">
                <a:solidFill>
                  <a:srgbClr val="BDC9DB"/>
                </a:solidFill>
                <a:latin typeface="Segoe UI"/>
              </a:rPr>
              <a:t>Una entrada (80/443) para muchas aplicaciones.</a:t>
            </a:r>
          </a:p>
          <a:p>
            <a:pPr algn="l" marL="182880" indent="-182880">
              <a:lnSpc>
                <a:spcPct val="116000"/>
              </a:lnSpc>
              <a:spcBef>
                <a:spcPts val="0"/>
              </a:spcBef>
              <a:spcAft>
                <a:spcPts val="800"/>
              </a:spcAft>
              <a:buFont typeface="Arial"/>
              <a:buChar char="•"/>
            </a:pPr>
            <a:r>
              <a:rPr sz="1100" b="0" i="0">
                <a:solidFill>
                  <a:srgbClr val="BDC9DB"/>
                </a:solidFill>
                <a:latin typeface="Segoe UI"/>
              </a:rPr>
              <a:t>Enruta por Host: y por path. Termina TLS. Reescribe rutas.</a:t>
            </a:r>
          </a:p>
          <a:p>
            <a:pPr algn="l" marL="182880" indent="-182880">
              <a:lnSpc>
                <a:spcPct val="116000"/>
              </a:lnSpc>
              <a:spcBef>
                <a:spcPts val="0"/>
              </a:spcBef>
              <a:spcAft>
                <a:spcPts val="800"/>
              </a:spcAft>
              <a:buFont typeface="Arial"/>
              <a:buChar char="•"/>
            </a:pPr>
            <a:r>
              <a:rPr sz="1100" b="0" i="0">
                <a:solidFill>
                  <a:srgbClr val="BDC9DB"/>
                </a:solidFill>
                <a:latin typeface="Segoe UI"/>
              </a:rPr>
              <a:t>Es un objeto de reglas: necesita un controlador que las ejecute.</a:t>
            </a:r>
          </a:p>
        </p:txBody>
      </p:sp>
      <p:sp>
        <p:nvSpPr>
          <p:cNvPr id="17" name="Rounded Rectangle 16"/>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Rectangle 17"/>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50" b="0" i="0">
                <a:solidFill>
                  <a:srgbClr val="BDC9DB"/>
                </a:solidFill>
                <a:latin typeface="Segoe UI"/>
              </a:rPr>
              <a:t>Un Service opera en la capa 4: reparte conexiones TCP/UDP hacia un conjunto de Pods sin mirar su contenido. No sabe qué es HTTP, no lee la URL ni las cabeceras, y necesita una IP o un puerto por cada aplicación que quieras publicar: un NodePort por app, o un LoadBalancer —y su coste— por app.</a:t>
            </a:r>
          </a:p>
          <a:p>
            <a:pPr algn="l" marL="0" indent="0">
              <a:lnSpc>
                <a:spcPct val="128000"/>
              </a:lnSpc>
              <a:spcBef>
                <a:spcPts val="0"/>
              </a:spcBef>
              <a:spcAft>
                <a:spcPts val="400"/>
              </a:spcAft>
              <a:buNone/>
            </a:pPr>
            <a:r>
              <a:rPr sz="1050" b="0" i="0">
                <a:solidFill>
                  <a:srgbClr val="BDC9DB"/>
                </a:solidFill>
                <a:latin typeface="Segoe UI"/>
              </a:rPr>
              <a:t>El Ingress trabaja en la capa 7: es un proxy HTTP inverso que sí lee la petición. Con una sola IP de entrada y los puertos 80/443 puede servir decenas de aplicaciones, decidiendo el backend según el host (Host:) y el path de la URL. Además centraliza cosas que en L4 no existen: terminación TLS, reescritura de rutas, cabeceras, redirecciones.</a:t>
            </a:r>
          </a:p>
          <a:p>
            <a:pPr algn="l" marL="0" indent="0">
              <a:lnSpc>
                <a:spcPct val="128000"/>
              </a:lnSpc>
              <a:spcBef>
                <a:spcPts val="0"/>
              </a:spcBef>
              <a:spcAft>
                <a:spcPts val="400"/>
              </a:spcAft>
              <a:buNone/>
            </a:pPr>
            <a:r>
              <a:rPr sz="1050" b="0" i="0">
                <a:solidFill>
                  <a:srgbClr val="BDC9DB"/>
                </a:solidFill>
                <a:latin typeface="Segoe UI"/>
              </a:rPr>
              <a:t>El objeto Ingress es solo la declaración de esas reglas. Quien las ejecuta es el Ingress Controller, un Deployment (Traefik, HAProxy, Contour…) que observa los objetos Ingress y configura su proxy en consecuencia. Sin un controlador instalado, un Ingress no hace absolutamente nada.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RUTA DEL TRÁFICO</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Del cliente al contenedor, con Ingress delante</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10</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06</a:t>
            </a:r>
          </a:p>
        </p:txBody>
      </p:sp>
      <p:pic>
        <p:nvPicPr>
          <p:cNvPr id="8" name="Picture 7" descr="ing.png"/>
          <p:cNvPicPr>
            <a:picLocks noChangeAspect="1"/>
          </p:cNvPicPr>
          <p:nvPr/>
        </p:nvPicPr>
        <p:blipFill>
          <a:blip r:embed="rId2"/>
          <a:stretch>
            <a:fillRect/>
          </a:stretch>
        </p:blipFill>
        <p:spPr>
          <a:xfrm>
            <a:off x="10932000" y="275000"/>
            <a:ext cx="640000" cy="640000"/>
          </a:xfrm>
          <a:prstGeom prst="rect">
            <a:avLst/>
          </a:prstGeom>
        </p:spPr>
      </p:pic>
      <p:sp>
        <p:nvSpPr>
          <p:cNvPr id="9" name="Rounded Rectangle 8"/>
          <p:cNvSpPr/>
          <p:nvPr/>
        </p:nvSpPr>
        <p:spPr>
          <a:xfrm>
            <a:off x="6200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900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CLIENTE</a:t>
            </a:r>
          </a:p>
        </p:txBody>
      </p:sp>
      <p:cxnSp>
        <p:nvCxnSpPr>
          <p:cNvPr id="11" name="Connector 10"/>
          <p:cNvCxnSpPr/>
          <p:nvPr/>
        </p:nvCxnSpPr>
        <p:spPr>
          <a:xfrm>
            <a:off x="2666400" y="202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524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3" name="TextBox 12"/>
          <p:cNvSpPr txBox="1"/>
          <p:nvPr/>
        </p:nvSpPr>
        <p:spPr>
          <a:xfrm>
            <a:off x="29224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INGRESS CONTROLLER (proxy L7)</a:t>
            </a:r>
          </a:p>
        </p:txBody>
      </p:sp>
      <p:cxnSp>
        <p:nvCxnSpPr>
          <p:cNvPr id="14" name="Connector 13"/>
          <p:cNvCxnSpPr/>
          <p:nvPr/>
        </p:nvCxnSpPr>
        <p:spPr>
          <a:xfrm>
            <a:off x="4898800" y="202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0848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6" name="TextBox 15"/>
          <p:cNvSpPr txBox="1"/>
          <p:nvPr/>
        </p:nvSpPr>
        <p:spPr>
          <a:xfrm>
            <a:off x="51548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REGLA INGRESS (host + path)</a:t>
            </a:r>
          </a:p>
        </p:txBody>
      </p:sp>
      <p:cxnSp>
        <p:nvCxnSpPr>
          <p:cNvPr id="17" name="Connector 16"/>
          <p:cNvCxnSpPr/>
          <p:nvPr/>
        </p:nvCxnSpPr>
        <p:spPr>
          <a:xfrm>
            <a:off x="7131200" y="202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3172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73872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SERVICE</a:t>
            </a:r>
          </a:p>
        </p:txBody>
      </p:sp>
      <p:cxnSp>
        <p:nvCxnSpPr>
          <p:cNvPr id="20" name="Connector 19"/>
          <p:cNvCxnSpPr/>
          <p:nvPr/>
        </p:nvCxnSpPr>
        <p:spPr>
          <a:xfrm>
            <a:off x="9363600" y="202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5496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2" name="TextBox 21"/>
          <p:cNvSpPr txBox="1"/>
          <p:nvPr/>
        </p:nvSpPr>
        <p:spPr>
          <a:xfrm>
            <a:off x="96196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ENDPOINTSLICE → POD</a:t>
            </a:r>
          </a:p>
        </p:txBody>
      </p:sp>
      <p:sp>
        <p:nvSpPr>
          <p:cNvPr id="23" name="Rounded Rectangle 22"/>
          <p:cNvSpPr/>
          <p:nvPr/>
        </p:nvSpPr>
        <p:spPr>
          <a:xfrm>
            <a:off x="620000" y="2670000"/>
            <a:ext cx="10952000" cy="361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Rectangle 23"/>
          <p:cNvSpPr/>
          <p:nvPr/>
        </p:nvSpPr>
        <p:spPr>
          <a:xfrm>
            <a:off x="646000" y="2692000"/>
            <a:ext cx="40000" cy="356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860000" y="2800000"/>
            <a:ext cx="10522000" cy="335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LO QUE HAY QUE ENTENDER</a:t>
            </a:r>
          </a:p>
          <a:p>
            <a:pPr algn="l" marL="0" indent="0">
              <a:lnSpc>
                <a:spcPct val="128000"/>
              </a:lnSpc>
              <a:spcBef>
                <a:spcPts val="0"/>
              </a:spcBef>
              <a:spcAft>
                <a:spcPts val="400"/>
              </a:spcAft>
              <a:buNone/>
            </a:pPr>
            <a:r>
              <a:rPr sz="1100" b="0" i="0">
                <a:solidFill>
                  <a:srgbClr val="BDC9DB"/>
                </a:solidFill>
                <a:latin typeface="Segoe UI"/>
              </a:rPr>
              <a:t>El cliente resuelve el nombre (gratitud.example.com) a la IP de entrada del controlador —un NodePort, un LoadBalancer o una IP fija según el entorno— y abre la conexión en el 80 o el 443. El Ingress Controller termina el TLS si lo hay, mira la cabecera Host y el path, y busca entre todas las reglas Ingress cuál encaja.</a:t>
            </a:r>
          </a:p>
          <a:p>
            <a:pPr algn="l" marL="0" indent="0">
              <a:lnSpc>
                <a:spcPct val="128000"/>
              </a:lnSpc>
              <a:spcBef>
                <a:spcPts val="0"/>
              </a:spcBef>
              <a:spcAft>
                <a:spcPts val="400"/>
              </a:spcAft>
              <a:buNone/>
            </a:pPr>
            <a:r>
              <a:rPr sz="1100" b="0" i="0">
                <a:solidFill>
                  <a:srgbClr val="BDC9DB"/>
                </a:solidFill>
                <a:latin typeface="Segoe UI"/>
              </a:rPr>
              <a:t>Cuando encuentra la regla, el controlador reenvía la petición al Service backend que indica esa regla, en su puerto. A partir de ahí el camino es el de siempre: el Service resuelve a un EndpointSlice y kube-proxy —o el propio controlador, que a menudo habla directo a los Pods— entrega a una réplica Ready.</a:t>
            </a:r>
          </a:p>
          <a:p>
            <a:pPr algn="l" marL="0" indent="0">
              <a:lnSpc>
                <a:spcPct val="128000"/>
              </a:lnSpc>
              <a:spcBef>
                <a:spcPts val="0"/>
              </a:spcBef>
              <a:spcAft>
                <a:spcPts val="400"/>
              </a:spcAft>
              <a:buNone/>
            </a:pPr>
            <a:r>
              <a:rPr sz="1100" b="0" i="0">
                <a:solidFill>
                  <a:srgbClr val="BDC9DB"/>
                </a:solidFill>
                <a:latin typeface="Segoe UI"/>
              </a:rPr>
              <a:t>Dos fallos que no dan error y confunden: si ningún controlador reconoce el ingressClassName, el Ingress se queda sin ADDRESS y nadie lo sirve; si el Service backend no tiene endpoints, el controlador responde 503 y parece un problema del Ingress cuando está en los Pods. Por eso se verifican los Services ANTES de montar el Ingress.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EL OBJETO Y EL CONTROLADOR</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Un Ingress sin controlador es un YAML sin efecto</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10</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07</a:t>
            </a:r>
          </a:p>
        </p:txBody>
      </p:sp>
      <p:pic>
        <p:nvPicPr>
          <p:cNvPr id="8" name="Picture 7" descr="deploy.png"/>
          <p:cNvPicPr>
            <a:picLocks noChangeAspect="1"/>
          </p:cNvPicPr>
          <p:nvPr/>
        </p:nvPicPr>
        <p:blipFill>
          <a:blip r:embed="rId2"/>
          <a:stretch>
            <a:fillRect/>
          </a:stretch>
        </p:blipFill>
        <p:spPr>
          <a:xfrm>
            <a:off x="10932000" y="275000"/>
            <a:ext cx="640000" cy="640000"/>
          </a:xfrm>
          <a:prstGeom prst="rect">
            <a:avLst/>
          </a:prstGeom>
        </p:spPr>
      </p:pic>
      <p:sp>
        <p:nvSpPr>
          <p:cNvPr id="9" name="Oval 8"/>
          <p:cNvSpPr/>
          <p:nvPr/>
        </p:nvSpPr>
        <p:spPr>
          <a:xfrm>
            <a:off x="636000" y="17517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0000" y="14700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El Ingress declara host, path, Service, puerto y Secret TLS. No ejecuta nada.</a:t>
            </a:r>
          </a:p>
        </p:txBody>
      </p:sp>
      <p:sp>
        <p:nvSpPr>
          <p:cNvPr id="11" name="Oval 10"/>
          <p:cNvSpPr/>
          <p:nvPr/>
        </p:nvSpPr>
        <p:spPr>
          <a:xfrm>
            <a:off x="636000" y="24192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0000" y="21375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El controlador es un Deployment aparte que observa los Ingress y configura su proxy.</a:t>
            </a:r>
          </a:p>
        </p:txBody>
      </p:sp>
      <p:sp>
        <p:nvSpPr>
          <p:cNvPr id="13" name="Oval 12"/>
          <p:cNvSpPr/>
          <p:nvPr/>
        </p:nvSpPr>
        <p:spPr>
          <a:xfrm>
            <a:off x="636000" y="30867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0000" y="28050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ingressClassName conecta cada Ingress con su controlador vía la IngressClass.</a:t>
            </a:r>
          </a:p>
        </p:txBody>
      </p:sp>
      <p:sp>
        <p:nvSpPr>
          <p:cNvPr id="15" name="Oval 14"/>
          <p:cNvSpPr/>
          <p:nvPr/>
        </p:nvSpPr>
        <p:spPr>
          <a:xfrm>
            <a:off x="636000" y="37542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0000" y="34725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Clase inexistente = Ingress sin ADDRESS y sin error. Es el fallo silencioso número uno.</a:t>
            </a:r>
          </a:p>
        </p:txBody>
      </p:sp>
      <p:sp>
        <p:nvSpPr>
          <p:cNvPr id="17" name="Rounded Rectangle 16"/>
          <p:cNvSpPr/>
          <p:nvPr/>
        </p:nvSpPr>
        <p:spPr>
          <a:xfrm>
            <a:off x="6635040" y="1470000"/>
            <a:ext cx="4936960" cy="2670000"/>
          </a:xfrm>
          <a:prstGeom prst="roundRect">
            <a:avLst>
              <a:gd name="adj" fmla="val 3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Rectangle 17"/>
          <p:cNvSpPr/>
          <p:nvPr/>
        </p:nvSpPr>
        <p:spPr>
          <a:xfrm>
            <a:off x="6635040" y="1770000"/>
            <a:ext cx="46000" cy="237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6825040" y="1530000"/>
            <a:ext cx="4556960" cy="26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80">
                <a:solidFill>
                  <a:srgbClr val="8493AD"/>
                </a:solidFill>
                <a:latin typeface="Segoe UI Semibold"/>
              </a:rPr>
              <a:t>COMPROBAR LA CLASE ANTES DE NADA</a:t>
            </a:r>
          </a:p>
        </p:txBody>
      </p:sp>
      <p:sp>
        <p:nvSpPr>
          <p:cNvPr id="20" name="Rectangle 19"/>
          <p:cNvSpPr/>
          <p:nvPr/>
        </p:nvSpPr>
        <p:spPr>
          <a:xfrm>
            <a:off x="6825040" y="1764000"/>
            <a:ext cx="4556960" cy="1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6865040" y="1960000"/>
            <a:ext cx="4516960" cy="1983740"/>
          </a:xfrm>
          <a:prstGeom prst="rect">
            <a:avLst/>
          </a:prstGeom>
          <a:noFill/>
        </p:spPr>
        <p:txBody>
          <a:bodyPr wrap="square" anchor="t" lIns="0" rIns="0" tIns="0" bIns="0">
            <a:noAutofit/>
          </a:bodyPr>
          <a:lstStyle/>
          <a:p>
            <a:pPr marL="0" indent="0">
              <a:lnSpc>
                <a:spcPct val="134000"/>
              </a:lnSpc>
              <a:spcAft>
                <a:spcPts val="0"/>
              </a:spcAft>
              <a:buNone/>
            </a:pPr>
            <a:r>
              <a:rPr sz="1100" b="0" i="0">
                <a:solidFill>
                  <a:srgbClr val="E6EDF3"/>
                </a:solidFill>
                <a:latin typeface="Consolas"/>
              </a:rPr>
              <a:t>k get ingressclass</a:t>
            </a:r>
          </a:p>
          <a:p>
            <a:pPr marL="0" indent="0">
              <a:lnSpc>
                <a:spcPct val="134000"/>
              </a:lnSpc>
              <a:spcAft>
                <a:spcPts val="0"/>
              </a:spcAft>
              <a:buNone/>
            </a:pPr>
            <a:r>
              <a:rPr sz="1100" b="0" i="1">
                <a:solidFill>
                  <a:srgbClr val="7C8AA5"/>
                </a:solidFill>
                <a:latin typeface="Consolas"/>
              </a:rPr>
              <a:t># NAME      CONTROLLER</a:t>
            </a:r>
          </a:p>
          <a:p>
            <a:pPr marL="0" indent="0">
              <a:lnSpc>
                <a:spcPct val="134000"/>
              </a:lnSpc>
              <a:spcAft>
                <a:spcPts val="0"/>
              </a:spcAft>
              <a:buNone/>
            </a:pPr>
            <a:r>
              <a:rPr sz="1100" b="0" i="1">
                <a:solidFill>
                  <a:srgbClr val="7C8AA5"/>
                </a:solidFill>
                <a:latin typeface="Consolas"/>
              </a:rPr>
              <a:t># traefik   traefik.io/ingress-controller</a:t>
            </a:r>
          </a:p>
          <a:p>
            <a:pPr marL="0" indent="0">
              <a:lnSpc>
                <a:spcPct val="134000"/>
              </a:lnSpc>
              <a:spcAft>
                <a:spcPts val="0"/>
              </a:spcAft>
              <a:buNone/>
            </a:pPr>
            <a:r>
              <a:rPr sz="1100" b="0" i="0">
                <a:solidFill>
                  <a:srgbClr val="E6EDF3"/>
                </a:solidFill>
                <a:latin typeface="Consolas"/>
              </a:rPr>
              <a:t/>
            </a:r>
          </a:p>
          <a:p>
            <a:pPr marL="0" indent="0">
              <a:lnSpc>
                <a:spcPct val="134000"/>
              </a:lnSpc>
              <a:spcAft>
                <a:spcPts val="0"/>
              </a:spcAft>
              <a:buNone/>
            </a:pPr>
            <a:r>
              <a:rPr sz="1100" b="0" i="0">
                <a:solidFill>
                  <a:srgbClr val="E6EDF3"/>
                </a:solidFill>
                <a:latin typeface="Consolas"/>
              </a:rPr>
              <a:t>k get ingress -A</a:t>
            </a:r>
          </a:p>
          <a:p>
            <a:pPr marL="0" indent="0">
              <a:lnSpc>
                <a:spcPct val="134000"/>
              </a:lnSpc>
              <a:spcAft>
                <a:spcPts val="0"/>
              </a:spcAft>
              <a:buNone/>
            </a:pPr>
            <a:r>
              <a:rPr sz="1100" b="0" i="1">
                <a:solidFill>
                  <a:srgbClr val="7C8AA5"/>
                </a:solidFill>
                <a:latin typeface="Consolas"/>
              </a:rPr>
              <a:t># si ADDRESS está vacío tras</a:t>
            </a:r>
          </a:p>
          <a:p>
            <a:pPr marL="0" indent="0">
              <a:lnSpc>
                <a:spcPct val="134000"/>
              </a:lnSpc>
              <a:spcAft>
                <a:spcPts val="0"/>
              </a:spcAft>
              <a:buNone/>
            </a:pPr>
            <a:r>
              <a:rPr sz="1100" b="0" i="1">
                <a:solidFill>
                  <a:srgbClr val="7C8AA5"/>
                </a:solidFill>
                <a:latin typeface="Consolas"/>
              </a:rPr>
              <a:t># 1-2 min, revisa:</a:t>
            </a:r>
          </a:p>
          <a:p>
            <a:pPr marL="0" indent="0">
              <a:lnSpc>
                <a:spcPct val="134000"/>
              </a:lnSpc>
              <a:spcAft>
                <a:spcPts val="0"/>
              </a:spcAft>
              <a:buNone/>
            </a:pPr>
            <a:r>
              <a:rPr sz="1100" b="0" i="1">
                <a:solidFill>
                  <a:srgbClr val="7C8AA5"/>
                </a:solidFill>
                <a:latin typeface="Consolas"/>
              </a:rPr>
              <a:t>#  - ingressClassName</a:t>
            </a:r>
          </a:p>
          <a:p>
            <a:pPr marL="0" indent="0">
              <a:lnSpc>
                <a:spcPct val="134000"/>
              </a:lnSpc>
              <a:spcAft>
                <a:spcPts val="0"/>
              </a:spcAft>
              <a:buNone/>
            </a:pPr>
            <a:r>
              <a:rPr sz="1100" b="0" i="1">
                <a:solidFill>
                  <a:srgbClr val="7C8AA5"/>
                </a:solidFill>
                <a:latin typeface="Consolas"/>
              </a:rPr>
              <a:t>#  - que el controlador corre</a:t>
            </a:r>
          </a:p>
          <a:p>
            <a:pPr marL="0" indent="0">
              <a:lnSpc>
                <a:spcPct val="134000"/>
              </a:lnSpc>
              <a:spcAft>
                <a:spcPts val="0"/>
              </a:spcAft>
              <a:buNone/>
            </a:pPr>
            <a:r>
              <a:rPr sz="1100" b="0" i="1">
                <a:solidFill>
                  <a:srgbClr val="7C8AA5"/>
                </a:solidFill>
                <a:latin typeface="Consolas"/>
              </a:rPr>
              <a:t>#  - eventos del Ingress</a:t>
            </a:r>
          </a:p>
        </p:txBody>
      </p:sp>
      <p:sp>
        <p:nvSpPr>
          <p:cNvPr id="22" name="Rounded Rectangle 21"/>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Rectangle 22"/>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50" b="0" i="0">
                <a:solidFill>
                  <a:srgbClr val="BDC9DB"/>
                </a:solidFill>
                <a:latin typeface="Segoe UI"/>
              </a:rPr>
              <a:t>El objeto Ingress vive en un namespace y describe: para qué host y qué path, a qué Service y a qué puerto va el tráfico, y qué Secret TLS usar. Nada más. No abre puertos, no arranca ningún proxy y no aparece en ninguna interfaz de red.</a:t>
            </a:r>
          </a:p>
          <a:p>
            <a:pPr algn="l" marL="0" indent="0">
              <a:lnSpc>
                <a:spcPct val="128000"/>
              </a:lnSpc>
              <a:spcBef>
                <a:spcPts val="0"/>
              </a:spcBef>
              <a:spcAft>
                <a:spcPts val="400"/>
              </a:spcAft>
              <a:buNone/>
            </a:pPr>
            <a:r>
              <a:rPr sz="1050" b="0" i="0">
                <a:solidFill>
                  <a:srgbClr val="BDC9DB"/>
                </a:solidFill>
                <a:latin typeface="Segoe UI"/>
              </a:rPr>
              <a:t>El Ingress Controller es quien hace el trabajo: un Deployment que corre en su propio namespace, expuesto normalmente con un Service NodePort o LoadBalancer, y que observa TODOS los objetos Ingress del cluster cuyo ingressClassName apunte a su IngressClass. Cuando aparece o cambia un Ingress, reconfigura su proxy.</a:t>
            </a:r>
          </a:p>
          <a:p>
            <a:pPr algn="l" marL="0" indent="0">
              <a:lnSpc>
                <a:spcPct val="128000"/>
              </a:lnSpc>
              <a:spcBef>
                <a:spcPts val="0"/>
              </a:spcBef>
              <a:spcAft>
                <a:spcPts val="400"/>
              </a:spcAft>
              <a:buNone/>
            </a:pPr>
            <a:r>
              <a:rPr sz="1050" b="0" i="0">
                <a:solidFill>
                  <a:srgbClr val="BDC9DB"/>
                </a:solidFill>
                <a:latin typeface="Segoe UI"/>
              </a:rPr>
              <a:t>ingressClassName es el pegamento. Kubernetes registra una o varias IngressClass (kubectl get ingressclass); cada controlador adopta los Ingress que nombran la suya. Si escribes un ingressClassName que no existe, el Ingress se crea sin ningún error y se queda sin ADDRESS para siempre: nadie lo ha adoptado.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F0C96B"/>
                </a:solidFill>
                <a:latin typeface="Segoe UI Semibold"/>
              </a:rPr>
              <a:t>ACTUALIZACIÓN TÉCNICA · MARZO 2026</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El controlador de la comunidad ingress-nginx fue retirado</a:t>
            </a:r>
          </a:p>
        </p:txBody>
      </p:sp>
      <p:sp>
        <p:nvSpPr>
          <p:cNvPr id="4" name="Rectangle 3"/>
          <p:cNvSpPr/>
          <p:nvPr/>
        </p:nvSpPr>
        <p:spPr>
          <a:xfrm>
            <a:off x="620000" y="1230000"/>
            <a:ext cx="560000" cy="46000"/>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10</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08</a:t>
            </a:r>
          </a:p>
        </p:txBody>
      </p:sp>
      <p:pic>
        <p:nvPicPr>
          <p:cNvPr id="8" name="Picture 7" descr="deploy.png"/>
          <p:cNvPicPr>
            <a:picLocks noChangeAspect="1"/>
          </p:cNvPicPr>
          <p:nvPr/>
        </p:nvPicPr>
        <p:blipFill>
          <a:blip r:embed="rId2"/>
          <a:stretch>
            <a:fillRect/>
          </a:stretch>
        </p:blipFill>
        <p:spPr>
          <a:xfrm>
            <a:off x="10932000" y="275000"/>
            <a:ext cx="640000" cy="640000"/>
          </a:xfrm>
          <a:prstGeom prst="rect">
            <a:avLst/>
          </a:prstGeom>
        </p:spPr>
      </p:pic>
      <p:sp>
        <p:nvSpPr>
          <p:cNvPr id="9" name="TextBox 8"/>
          <p:cNvSpPr txBox="1"/>
          <p:nvPr/>
        </p:nvSpPr>
        <p:spPr>
          <a:xfrm>
            <a:off x="620000" y="1470000"/>
            <a:ext cx="10952000" cy="520000"/>
          </a:xfrm>
          <a:prstGeom prst="rect">
            <a:avLst/>
          </a:prstGeom>
          <a:noFill/>
        </p:spPr>
        <p:txBody>
          <a:bodyPr wrap="square" anchor="t" lIns="0" rIns="0" tIns="0" bIns="0">
            <a:noAutofit/>
          </a:bodyPr>
          <a:lstStyle/>
          <a:p>
            <a:pPr algn="l" marL="0" indent="0">
              <a:lnSpc>
                <a:spcPct val="116000"/>
              </a:lnSpc>
              <a:spcBef>
                <a:spcPts val="0"/>
              </a:spcBef>
              <a:spcAft>
                <a:spcPts val="0"/>
              </a:spcAft>
              <a:buNone/>
            </a:pPr>
            <a:r>
              <a:rPr sz="1300" b="0" i="1">
                <a:solidFill>
                  <a:srgbClr val="BDC9DB"/>
                </a:solidFill>
                <a:latin typeface="Segoe UI"/>
              </a:rPr>
              <a:t>kubernetes/ingress-nginx está archivado desde marzo de 2026: sin releases, sin parches de seguridad. La API Ingress NO está deprecada —sigue vigente y sigue en el examen—; lo retirado es esa implementación concreta. El curso usa Traefik, mantenido y con soporte de Ingress y Gateway API.</a:t>
            </a:r>
          </a:p>
        </p:txBody>
      </p:sp>
      <p:sp>
        <p:nvSpPr>
          <p:cNvPr id="10" name="Rounded Rectangle 9"/>
          <p:cNvSpPr/>
          <p:nvPr/>
        </p:nvSpPr>
        <p:spPr>
          <a:xfrm>
            <a:off x="620000" y="2410000"/>
            <a:ext cx="10952000" cy="1644000"/>
          </a:xfrm>
          <a:prstGeom prst="roundRect">
            <a:avLst>
              <a:gd name="adj" fmla="val 5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Rectangle 10"/>
          <p:cNvSpPr/>
          <p:nvPr/>
        </p:nvSpPr>
        <p:spPr>
          <a:xfrm>
            <a:off x="620000" y="2410000"/>
            <a:ext cx="46000" cy="1644000"/>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2" name="TextBox 11"/>
          <p:cNvSpPr txBox="1"/>
          <p:nvPr/>
        </p:nvSpPr>
        <p:spPr>
          <a:xfrm>
            <a:off x="890000" y="2560000"/>
            <a:ext cx="10412000" cy="1384000"/>
          </a:xfrm>
          <a:prstGeom prst="rect">
            <a:avLst/>
          </a:prstGeom>
          <a:noFill/>
        </p:spPr>
        <p:txBody>
          <a:bodyPr wrap="square" anchor="t" lIns="0" rIns="0" tIns="0" bIns="0">
            <a:noAutofit/>
          </a:bodyPr>
          <a:lstStyle/>
          <a:p>
            <a:pPr marL="0" indent="0">
              <a:lnSpc>
                <a:spcPct val="134000"/>
              </a:lnSpc>
              <a:spcAft>
                <a:spcPts val="0"/>
              </a:spcAft>
              <a:buNone/>
            </a:pPr>
            <a:r>
              <a:rPr sz="1100" b="0" i="1">
                <a:solidFill>
                  <a:srgbClr val="7C8AA5"/>
                </a:solidFill>
                <a:latin typeface="Consolas"/>
              </a:rPr>
              <a:t># Los manifiestos Ingress que escribes son los mismos con cualquier</a:t>
            </a:r>
          </a:p>
          <a:p>
            <a:pPr marL="0" indent="0">
              <a:lnSpc>
                <a:spcPct val="134000"/>
              </a:lnSpc>
              <a:spcAft>
                <a:spcPts val="0"/>
              </a:spcAft>
              <a:buNone/>
            </a:pPr>
            <a:r>
              <a:rPr sz="1100" b="0" i="1">
                <a:solidFill>
                  <a:srgbClr val="7C8AA5"/>
                </a:solidFill>
                <a:latin typeface="Consolas"/>
              </a:rPr>
              <a:t># controlador mantenido: solo cambia el ingressClassName.</a:t>
            </a:r>
          </a:p>
          <a:p>
            <a:pPr marL="0" indent="0">
              <a:lnSpc>
                <a:spcPct val="134000"/>
              </a:lnSpc>
              <a:spcAft>
                <a:spcPts val="0"/>
              </a:spcAft>
              <a:buNone/>
            </a:pPr>
            <a:r>
              <a:rPr sz="1100" b="0" i="1">
                <a:solidFill>
                  <a:srgbClr val="7C8AA5"/>
                </a:solidFill>
                <a:latin typeface="Consolas"/>
              </a:rPr>
              <a:t>#</a:t>
            </a:r>
          </a:p>
          <a:p>
            <a:pPr marL="0" indent="0">
              <a:lnSpc>
                <a:spcPct val="134000"/>
              </a:lnSpc>
              <a:spcAft>
                <a:spcPts val="0"/>
              </a:spcAft>
              <a:buNone/>
            </a:pPr>
            <a:r>
              <a:rPr sz="1100" b="0" i="1">
                <a:solidFill>
                  <a:srgbClr val="7C8AA5"/>
                </a:solidFill>
                <a:latin typeface="Consolas"/>
              </a:rPr>
              <a:t># Lo que NO es portable son las anotaciones propietarias de cada</a:t>
            </a:r>
          </a:p>
          <a:p>
            <a:pPr marL="0" indent="0">
              <a:lnSpc>
                <a:spcPct val="134000"/>
              </a:lnSpc>
              <a:spcAft>
                <a:spcPts val="0"/>
              </a:spcAft>
              <a:buNone/>
            </a:pPr>
            <a:r>
              <a:rPr sz="1100" b="0" i="1">
                <a:solidFill>
                  <a:srgbClr val="7C8AA5"/>
                </a:solidFill>
                <a:latin typeface="Consolas"/>
              </a:rPr>
              <a:t># controlador (rewrite, timeouts, auth...). Igual que ocurría con</a:t>
            </a:r>
          </a:p>
          <a:p>
            <a:pPr marL="0" indent="0">
              <a:lnSpc>
                <a:spcPct val="134000"/>
              </a:lnSpc>
              <a:spcAft>
                <a:spcPts val="0"/>
              </a:spcAft>
              <a:buNone/>
            </a:pPr>
            <a:r>
              <a:rPr sz="1100" b="0" i="1">
                <a:solidFill>
                  <a:srgbClr val="7C8AA5"/>
                </a:solidFill>
                <a:latin typeface="Consolas"/>
              </a:rPr>
              <a:t># ingress-nginx. Gateway API nace para resolver justo eso.</a:t>
            </a:r>
          </a:p>
        </p:txBody>
      </p:sp>
      <p:sp>
        <p:nvSpPr>
          <p:cNvPr id="13" name="Rounded Rectangle 12"/>
          <p:cNvSpPr/>
          <p:nvPr/>
        </p:nvSpPr>
        <p:spPr>
          <a:xfrm>
            <a:off x="620000" y="5840000"/>
            <a:ext cx="10952000" cy="470000"/>
          </a:xfrm>
          <a:prstGeom prst="roundRect">
            <a:avLst>
              <a:gd name="adj" fmla="val 100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650000" y="5864000"/>
            <a:ext cx="40000" cy="422000"/>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860000" y="5840000"/>
            <a:ext cx="10482000" cy="47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1">
                <a:solidFill>
                  <a:srgbClr val="BDC9DB"/>
                </a:solidFill>
                <a:latin typeface="Segoe UI"/>
              </a:rPr>
              <a:t>Si tu cluster trae ingress-nginx, sigue funcionando pero sin parches. Trátalo como deuda técnica, no como opción por defecto.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SINTAXIS</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Anatomía de un Ingress mínimo</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10</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09</a:t>
            </a:r>
          </a:p>
        </p:txBody>
      </p:sp>
      <p:pic>
        <p:nvPicPr>
          <p:cNvPr id="8" name="Picture 7" descr="ing.png"/>
          <p:cNvPicPr>
            <a:picLocks noChangeAspect="1"/>
          </p:cNvPicPr>
          <p:nvPr/>
        </p:nvPicPr>
        <p:blipFill>
          <a:blip r:embed="rId2"/>
          <a:stretch>
            <a:fillRect/>
          </a:stretch>
        </p:blipFill>
        <p:spPr>
          <a:xfrm>
            <a:off x="10932000" y="275000"/>
            <a:ext cx="640000" cy="640000"/>
          </a:xfrm>
          <a:prstGeom prst="rect">
            <a:avLst/>
          </a:prstGeom>
        </p:spPr>
      </p:pic>
      <p:sp>
        <p:nvSpPr>
          <p:cNvPr id="9" name="Rounded Rectangle 8"/>
          <p:cNvSpPr/>
          <p:nvPr/>
        </p:nvSpPr>
        <p:spPr>
          <a:xfrm>
            <a:off x="620000" y="1630000"/>
            <a:ext cx="10952000" cy="3960000"/>
          </a:xfrm>
          <a:prstGeom prst="roundRect">
            <a:avLst>
              <a:gd name="adj" fmla="val 5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Rectangle 9"/>
          <p:cNvSpPr/>
          <p:nvPr/>
        </p:nvSpPr>
        <p:spPr>
          <a:xfrm>
            <a:off x="620000" y="1630000"/>
            <a:ext cx="46000" cy="396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850000" y="1750000"/>
            <a:ext cx="10492000" cy="26000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000" b="1" i="0" spc="180">
                <a:solidFill>
                  <a:srgbClr val="8493AD"/>
                </a:solidFill>
                <a:latin typeface="Segoe UI Semibold"/>
              </a:rPr>
              <a:t>UN HOST, UN PATH, UN SERVICE</a:t>
            </a:r>
          </a:p>
        </p:txBody>
      </p:sp>
      <p:sp>
        <p:nvSpPr>
          <p:cNvPr id="12" name="TextBox 11"/>
          <p:cNvSpPr txBox="1"/>
          <p:nvPr/>
        </p:nvSpPr>
        <p:spPr>
          <a:xfrm>
            <a:off x="890000" y="2030000"/>
            <a:ext cx="10412000" cy="3500000"/>
          </a:xfrm>
          <a:prstGeom prst="rect">
            <a:avLst/>
          </a:prstGeom>
          <a:noFill/>
        </p:spPr>
        <p:txBody>
          <a:bodyPr wrap="square" anchor="t" lIns="0" rIns="0" tIns="0" bIns="0">
            <a:noAutofit/>
          </a:bodyPr>
          <a:lstStyle/>
          <a:p>
            <a:pPr marL="0" indent="0">
              <a:lnSpc>
                <a:spcPct val="134000"/>
              </a:lnSpc>
              <a:spcAft>
                <a:spcPts val="0"/>
              </a:spcAft>
              <a:buNone/>
            </a:pPr>
            <a:r>
              <a:rPr sz="1100" b="0" i="0">
                <a:solidFill>
                  <a:srgbClr val="E6EDF3"/>
                </a:solidFill>
                <a:latin typeface="Consolas"/>
              </a:rPr>
              <a:t>apiVersion: networking.k8s.io/v1</a:t>
            </a:r>
          </a:p>
          <a:p>
            <a:pPr marL="0" indent="0">
              <a:lnSpc>
                <a:spcPct val="134000"/>
              </a:lnSpc>
              <a:spcAft>
                <a:spcPts val="0"/>
              </a:spcAft>
              <a:buNone/>
            </a:pPr>
            <a:r>
              <a:rPr sz="1100" b="0" i="0">
                <a:solidFill>
                  <a:srgbClr val="E6EDF3"/>
                </a:solidFill>
                <a:latin typeface="Consolas"/>
              </a:rPr>
              <a:t>kind: Ingress</a:t>
            </a:r>
          </a:p>
          <a:p>
            <a:pPr marL="0" indent="0">
              <a:lnSpc>
                <a:spcPct val="134000"/>
              </a:lnSpc>
              <a:spcAft>
                <a:spcPts val="0"/>
              </a:spcAft>
              <a:buNone/>
            </a:pPr>
            <a:r>
              <a:rPr sz="1100" b="0" i="0">
                <a:solidFill>
                  <a:srgbClr val="E6EDF3"/>
                </a:solidFill>
                <a:latin typeface="Consolas"/>
              </a:rPr>
              <a:t>metadata: {name: portal, namespace: gratitud-frontend}</a:t>
            </a:r>
          </a:p>
          <a:p>
            <a:pPr marL="0" indent="0">
              <a:lnSpc>
                <a:spcPct val="134000"/>
              </a:lnSpc>
              <a:spcAft>
                <a:spcPts val="0"/>
              </a:spcAft>
              <a:buNone/>
            </a:pPr>
            <a:r>
              <a:rPr sz="1100" b="0" i="0">
                <a:solidFill>
                  <a:srgbClr val="E6EDF3"/>
                </a:solidFill>
                <a:latin typeface="Consolas"/>
              </a:rPr>
              <a:t>spec:</a:t>
            </a:r>
          </a:p>
          <a:p>
            <a:pPr marL="0" indent="0">
              <a:lnSpc>
                <a:spcPct val="134000"/>
              </a:lnSpc>
              <a:spcAft>
                <a:spcPts val="0"/>
              </a:spcAft>
              <a:buNone/>
            </a:pPr>
            <a:r>
              <a:rPr sz="1100" b="0" i="0">
                <a:solidFill>
                  <a:srgbClr val="E6EDF3"/>
                </a:solidFill>
                <a:latin typeface="Consolas"/>
              </a:rPr>
              <a:t>  ingressClassName: traefik        </a:t>
            </a:r>
            <a:r>
              <a:rPr sz="1100" b="0" i="1">
                <a:solidFill>
                  <a:srgbClr val="7C8AA5"/>
                </a:solidFill>
                <a:latin typeface="Consolas"/>
              </a:rPr>
              <a:t>  # &lt;- k get ingressclass</a:t>
            </a:r>
          </a:p>
          <a:p>
            <a:pPr marL="0" indent="0">
              <a:lnSpc>
                <a:spcPct val="134000"/>
              </a:lnSpc>
              <a:spcAft>
                <a:spcPts val="0"/>
              </a:spcAft>
              <a:buNone/>
            </a:pPr>
            <a:r>
              <a:rPr sz="1100" b="0" i="0">
                <a:solidFill>
                  <a:srgbClr val="E6EDF3"/>
                </a:solidFill>
                <a:latin typeface="Consolas"/>
              </a:rPr>
              <a:t>  rules:</a:t>
            </a:r>
          </a:p>
          <a:p>
            <a:pPr marL="0" indent="0">
              <a:lnSpc>
                <a:spcPct val="134000"/>
              </a:lnSpc>
              <a:spcAft>
                <a:spcPts val="0"/>
              </a:spcAft>
              <a:buNone/>
            </a:pPr>
            <a:r>
              <a:rPr sz="1100" b="0" i="0">
                <a:solidFill>
                  <a:srgbClr val="E6EDF3"/>
                </a:solidFill>
                <a:latin typeface="Consolas"/>
              </a:rPr>
              <a:t>    - host: gratitud.example.com</a:t>
            </a:r>
          </a:p>
          <a:p>
            <a:pPr marL="0" indent="0">
              <a:lnSpc>
                <a:spcPct val="134000"/>
              </a:lnSpc>
              <a:spcAft>
                <a:spcPts val="0"/>
              </a:spcAft>
              <a:buNone/>
            </a:pPr>
            <a:r>
              <a:rPr sz="1100" b="0" i="0">
                <a:solidFill>
                  <a:srgbClr val="E6EDF3"/>
                </a:solidFill>
                <a:latin typeface="Consolas"/>
              </a:rPr>
              <a:t>      http:</a:t>
            </a:r>
          </a:p>
          <a:p>
            <a:pPr marL="0" indent="0">
              <a:lnSpc>
                <a:spcPct val="134000"/>
              </a:lnSpc>
              <a:spcAft>
                <a:spcPts val="0"/>
              </a:spcAft>
              <a:buNone/>
            </a:pPr>
            <a:r>
              <a:rPr sz="1100" b="0" i="0">
                <a:solidFill>
                  <a:srgbClr val="E6EDF3"/>
                </a:solidFill>
                <a:latin typeface="Consolas"/>
              </a:rPr>
              <a:t>        paths:</a:t>
            </a:r>
          </a:p>
          <a:p>
            <a:pPr marL="0" indent="0">
              <a:lnSpc>
                <a:spcPct val="134000"/>
              </a:lnSpc>
              <a:spcAft>
                <a:spcPts val="0"/>
              </a:spcAft>
              <a:buNone/>
            </a:pPr>
            <a:r>
              <a:rPr sz="1100" b="0" i="0">
                <a:solidFill>
                  <a:srgbClr val="E6EDF3"/>
                </a:solidFill>
                <a:latin typeface="Consolas"/>
              </a:rPr>
              <a:t>          - path: /</a:t>
            </a:r>
          </a:p>
          <a:p>
            <a:pPr marL="0" indent="0">
              <a:lnSpc>
                <a:spcPct val="134000"/>
              </a:lnSpc>
              <a:spcAft>
                <a:spcPts val="0"/>
              </a:spcAft>
              <a:buNone/>
            </a:pPr>
            <a:r>
              <a:rPr sz="1100" b="0" i="0">
                <a:solidFill>
                  <a:srgbClr val="E6EDF3"/>
                </a:solidFill>
                <a:latin typeface="Consolas"/>
              </a:rPr>
              <a:t>            pathType: Prefix</a:t>
            </a:r>
          </a:p>
          <a:p>
            <a:pPr marL="0" indent="0">
              <a:lnSpc>
                <a:spcPct val="134000"/>
              </a:lnSpc>
              <a:spcAft>
                <a:spcPts val="0"/>
              </a:spcAft>
              <a:buNone/>
            </a:pPr>
            <a:r>
              <a:rPr sz="1100" b="0" i="0">
                <a:solidFill>
                  <a:srgbClr val="E6EDF3"/>
                </a:solidFill>
                <a:latin typeface="Consolas"/>
              </a:rPr>
              <a:t>            backend:</a:t>
            </a:r>
          </a:p>
          <a:p>
            <a:pPr marL="0" indent="0">
              <a:lnSpc>
                <a:spcPct val="134000"/>
              </a:lnSpc>
              <a:spcAft>
                <a:spcPts val="0"/>
              </a:spcAft>
              <a:buNone/>
            </a:pPr>
            <a:r>
              <a:rPr sz="1100" b="0" i="0">
                <a:solidFill>
                  <a:srgbClr val="E6EDF3"/>
                </a:solidFill>
                <a:latin typeface="Consolas"/>
              </a:rPr>
              <a:t>              service:</a:t>
            </a:r>
          </a:p>
          <a:p>
            <a:pPr marL="0" indent="0">
              <a:lnSpc>
                <a:spcPct val="134000"/>
              </a:lnSpc>
              <a:spcAft>
                <a:spcPts val="0"/>
              </a:spcAft>
              <a:buNone/>
            </a:pPr>
            <a:r>
              <a:rPr sz="1100" b="0" i="0">
                <a:solidFill>
                  <a:srgbClr val="E6EDF3"/>
                </a:solidFill>
                <a:latin typeface="Consolas"/>
              </a:rPr>
              <a:t>                name: portal          </a:t>
            </a:r>
            <a:r>
              <a:rPr sz="1100" b="0" i="1">
                <a:solidFill>
                  <a:srgbClr val="7C8AA5"/>
                </a:solidFill>
                <a:latin typeface="Consolas"/>
              </a:rPr>
              <a:t>  # Service, MISMO namespace</a:t>
            </a:r>
          </a:p>
          <a:p>
            <a:pPr marL="0" indent="0">
              <a:lnSpc>
                <a:spcPct val="134000"/>
              </a:lnSpc>
              <a:spcAft>
                <a:spcPts val="0"/>
              </a:spcAft>
              <a:buNone/>
            </a:pPr>
            <a:r>
              <a:rPr sz="1100" b="0" i="0">
                <a:solidFill>
                  <a:srgbClr val="E6EDF3"/>
                </a:solidFill>
                <a:latin typeface="Consolas"/>
              </a:rPr>
              <a:t>                port: {number: 80}</a:t>
            </a:r>
          </a:p>
        </p:txBody>
      </p:sp>
      <p:sp>
        <p:nvSpPr>
          <p:cNvPr id="13" name="Rounded Rectangle 12"/>
          <p:cNvSpPr/>
          <p:nvPr/>
        </p:nvSpPr>
        <p:spPr>
          <a:xfrm>
            <a:off x="620000" y="5840000"/>
            <a:ext cx="10952000" cy="470000"/>
          </a:xfrm>
          <a:prstGeom prst="roundRect">
            <a:avLst>
              <a:gd name="adj" fmla="val 100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650000" y="5864000"/>
            <a:ext cx="40000" cy="422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860000" y="5840000"/>
            <a:ext cx="10482000" cy="47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1">
                <a:solidFill>
                  <a:srgbClr val="BDC9DB"/>
                </a:solidFill>
                <a:latin typeface="Segoe UI"/>
              </a:rPr>
              <a:t>El Service backend y el Secret TLS tienen que estar en el MISMO namespace que el objeto Ingress.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992000" y="-1500000"/>
            <a:ext cx="3400000" cy="34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470000"/>
            <a:ext cx="2500000" cy="360000"/>
          </a:xfrm>
          <a:prstGeom prst="roundRect">
            <a:avLst>
              <a:gd name="adj" fmla="val 50000"/>
            </a:avLst>
          </a:prstGeom>
          <a:noFill/>
          <a:ln w="1270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000" b="1" i="0" spc="140">
                <a:solidFill>
                  <a:srgbClr val="74A6FF"/>
                </a:solidFill>
                <a:latin typeface="Segoe UI"/>
              </a:rPr>
              <a:t>Nivel básico</a:t>
            </a:r>
          </a:p>
        </p:txBody>
      </p:sp>
      <p:sp>
        <p:nvSpPr>
          <p:cNvPr id="4" name="TextBox 3"/>
          <p:cNvSpPr txBox="1"/>
          <p:nvPr/>
        </p:nvSpPr>
        <p:spPr>
          <a:xfrm>
            <a:off x="640000" y="990000"/>
            <a:ext cx="10912000" cy="76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3100" b="0" i="0">
                <a:solidFill>
                  <a:srgbClr val="F3F6FC"/>
                </a:solidFill>
                <a:latin typeface="Segoe UI Light"/>
              </a:rPr>
              <a:t>LAB 10.1 — Controlador y primer Ingress</a:t>
            </a:r>
          </a:p>
        </p:txBody>
      </p:sp>
      <p:sp>
        <p:nvSpPr>
          <p:cNvPr id="5" name="TextBox 4"/>
          <p:cNvSpPr txBox="1"/>
          <p:nvPr/>
        </p:nvSpPr>
        <p:spPr>
          <a:xfrm>
            <a:off x="640000" y="1800000"/>
            <a:ext cx="7452000" cy="64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300" b="0" i="1">
                <a:solidFill>
                  <a:srgbClr val="BDC9DB"/>
                </a:solidFill>
                <a:latin typeface="Segoe UI"/>
              </a:rPr>
              <a:t>Instalar un Ingress Controller mantenido, publicar una aplicación con un Ingress de un host y un path, y ver por qué sin controlador no pasa nada.</a:t>
            </a:r>
          </a:p>
        </p:txBody>
      </p:sp>
      <p:sp>
        <p:nvSpPr>
          <p:cNvPr id="6" name="Oval 5"/>
          <p:cNvSpPr/>
          <p:nvPr/>
        </p:nvSpPr>
        <p:spPr>
          <a:xfrm>
            <a:off x="640000" y="2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7" name="TextBox 6"/>
          <p:cNvSpPr txBox="1"/>
          <p:nvPr/>
        </p:nvSpPr>
        <p:spPr>
          <a:xfrm>
            <a:off x="1110000" y="256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Instalar Traefik con el script y anotar su IngressClass y sus nodePort 80/443.</a:t>
            </a:r>
          </a:p>
        </p:txBody>
      </p:sp>
      <p:sp>
        <p:nvSpPr>
          <p:cNvPr id="8" name="Oval 7"/>
          <p:cNvSpPr/>
          <p:nvPr/>
        </p:nvSpPr>
        <p:spPr>
          <a:xfrm>
            <a:off x="640000" y="325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9" name="TextBox 8"/>
          <p:cNvSpPr txBox="1"/>
          <p:nvPr/>
        </p:nvSpPr>
        <p:spPr>
          <a:xfrm>
            <a:off x="1110000" y="312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Verificar el Service backend ANTES de crear el Ingress.</a:t>
            </a:r>
          </a:p>
        </p:txBody>
      </p:sp>
      <p:sp>
        <p:nvSpPr>
          <p:cNvPr id="10" name="Oval 9"/>
          <p:cNvSpPr/>
          <p:nvPr/>
        </p:nvSpPr>
        <p:spPr>
          <a:xfrm>
            <a:off x="640000" y="381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1" name="TextBox 10"/>
          <p:cNvSpPr txBox="1"/>
          <p:nvPr/>
        </p:nvSpPr>
        <p:spPr>
          <a:xfrm>
            <a:off x="1110000" y="368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Crear un Ingress de un host y un path; esperar a que obtenga ADDRESS.</a:t>
            </a:r>
          </a:p>
        </p:txBody>
      </p:sp>
      <p:sp>
        <p:nvSpPr>
          <p:cNvPr id="12" name="Oval 11"/>
          <p:cNvSpPr/>
          <p:nvPr/>
        </p:nvSpPr>
        <p:spPr>
          <a:xfrm>
            <a:off x="640000" y="437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3" name="TextBox 12"/>
          <p:cNvSpPr txBox="1"/>
          <p:nvPr/>
        </p:nvSpPr>
        <p:spPr>
          <a:xfrm>
            <a:off x="1110000" y="424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Probar desde fuera con curl --resolve. Provocar un ingressClassName inexistente y ver el ADDRESS vacío.</a:t>
            </a:r>
          </a:p>
        </p:txBody>
      </p:sp>
      <p:sp>
        <p:nvSpPr>
          <p:cNvPr id="14" name="Oval 13"/>
          <p:cNvSpPr/>
          <p:nvPr/>
        </p:nvSpPr>
        <p:spPr>
          <a:xfrm>
            <a:off x="640000" y="493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sp>
        <p:nvSpPr>
          <p:cNvPr id="15" name="TextBox 14"/>
          <p:cNvSpPr txBox="1"/>
          <p:nvPr/>
        </p:nvSpPr>
        <p:spPr>
          <a:xfrm>
            <a:off x="1110000" y="480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Comparar: misma app por NodePort directo y por el Ingress.</a:t>
            </a:r>
          </a:p>
        </p:txBody>
      </p:sp>
      <p:sp>
        <p:nvSpPr>
          <p:cNvPr id="16" name="Freeform 15"/>
          <p:cNvSpPr/>
          <p:nvPr/>
        </p:nvSpPr>
        <p:spPr>
          <a:xfrm>
            <a:off x="9590000" y="1418800"/>
            <a:ext cx="784000" cy="842800"/>
          </a:xfrm>
          <a:custGeom>
            <a:avLst/>
            <a:gdLst/>
            <a:ahLst/>
            <a:cxnLst/>
            <a:rect l="l" t="t" r="r" b="b"/>
            <a:pathLst>
              <a:path w="784000" h="842800">
                <a:moveTo>
                  <a:pt x="235200" y="0"/>
                </a:moveTo>
                <a:lnTo>
                  <a:pt x="235200" y="333200"/>
                </a:lnTo>
                <a:lnTo>
                  <a:pt x="0" y="842800"/>
                </a:lnTo>
                <a:lnTo>
                  <a:pt x="784000" y="842800"/>
                </a:lnTo>
                <a:lnTo>
                  <a:pt x="548800" y="333200"/>
                </a:lnTo>
                <a:lnTo>
                  <a:pt x="548800" y="0"/>
                </a:lnTo>
              </a:path>
            </a:pathLst>
          </a:custGeom>
          <a:noFill/>
          <a:ln w="3302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9766400" y="1418800"/>
            <a:ext cx="4312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727200" y="2006800"/>
            <a:ext cx="5096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392000" y="2560000"/>
            <a:ext cx="3180000" cy="3510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Rectangle 19"/>
          <p:cNvSpPr/>
          <p:nvPr/>
        </p:nvSpPr>
        <p:spPr>
          <a:xfrm>
            <a:off x="8392000" y="2560000"/>
            <a:ext cx="318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8592000" y="274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ARCHIVO</a:t>
            </a:r>
          </a:p>
          <a:p>
            <a:pPr algn="l" marL="0" indent="0">
              <a:lnSpc>
                <a:spcPct val="112000"/>
              </a:lnSpc>
              <a:spcBef>
                <a:spcPts val="0"/>
              </a:spcBef>
              <a:spcAft>
                <a:spcPts val="0"/>
              </a:spcAft>
              <a:buNone/>
            </a:pPr>
            <a:r>
              <a:rPr sz="1100" b="0" i="0">
                <a:solidFill>
                  <a:srgbClr val="F3F6FC"/>
                </a:solidFill>
                <a:latin typeface="Consolas"/>
              </a:rPr>
              <a:t>CLASE-10/LABORATORIOS/LAB-01-BASICO.md</a:t>
            </a:r>
          </a:p>
        </p:txBody>
      </p:sp>
      <p:sp>
        <p:nvSpPr>
          <p:cNvPr id="22" name="Rectangle 21"/>
          <p:cNvSpPr/>
          <p:nvPr/>
        </p:nvSpPr>
        <p:spPr>
          <a:xfrm>
            <a:off x="8592000" y="379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TextBox 22"/>
          <p:cNvSpPr txBox="1"/>
          <p:nvPr/>
        </p:nvSpPr>
        <p:spPr>
          <a:xfrm>
            <a:off x="8592000" y="383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DURACIÓN</a:t>
            </a:r>
          </a:p>
          <a:p>
            <a:pPr algn="l" marL="0" indent="0">
              <a:lnSpc>
                <a:spcPct val="112000"/>
              </a:lnSpc>
              <a:spcBef>
                <a:spcPts val="0"/>
              </a:spcBef>
              <a:spcAft>
                <a:spcPts val="0"/>
              </a:spcAft>
              <a:buNone/>
            </a:pPr>
            <a:r>
              <a:rPr sz="1100" b="1" i="0">
                <a:solidFill>
                  <a:srgbClr val="F3F6FC"/>
                </a:solidFill>
                <a:latin typeface="Segoe UI Semibold"/>
              </a:rPr>
              <a:t>22 min</a:t>
            </a:r>
          </a:p>
        </p:txBody>
      </p:sp>
      <p:sp>
        <p:nvSpPr>
          <p:cNvPr id="24" name="Rectangle 23"/>
          <p:cNvSpPr/>
          <p:nvPr/>
        </p:nvSpPr>
        <p:spPr>
          <a:xfrm>
            <a:off x="8592000" y="488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8592000" y="492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VALIDACIÓN</a:t>
            </a:r>
          </a:p>
          <a:p>
            <a:pPr algn="l" marL="0" indent="0">
              <a:lnSpc>
                <a:spcPct val="112000"/>
              </a:lnSpc>
              <a:spcBef>
                <a:spcPts val="0"/>
              </a:spcBef>
              <a:spcAft>
                <a:spcPts val="0"/>
              </a:spcAft>
              <a:buNone/>
            </a:pPr>
            <a:r>
              <a:rPr sz="1100" b="0" i="0">
                <a:solidFill>
                  <a:srgbClr val="F3F6FC"/>
                </a:solidFill>
                <a:latin typeface="Consolas"/>
              </a:rPr>
              <a:t>k get ingress,ingressclass</a:t>
            </a:r>
          </a:p>
        </p:txBody>
      </p:sp>
      <p:sp>
        <p:nvSpPr>
          <p:cNvPr id="26" name="Rectangle 25"/>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TextBox 26"/>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10</a:t>
            </a:r>
          </a:p>
        </p:txBody>
      </p:sp>
      <p:sp>
        <p:nvSpPr>
          <p:cNvPr id="28" name="TextBox 27"/>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1500000" y="4258000"/>
            <a:ext cx="4200000" cy="42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kubernetes.png"/>
          <p:cNvPicPr>
            <a:picLocks noChangeAspect="1"/>
          </p:cNvPicPr>
          <p:nvPr/>
        </p:nvPicPr>
        <p:blipFill>
          <a:blip r:embed="rId2"/>
          <a:stretch>
            <a:fillRect/>
          </a:stretch>
        </p:blipFill>
        <p:spPr>
          <a:xfrm>
            <a:off x="8842000" y="2150000"/>
            <a:ext cx="1800000" cy="1800000"/>
          </a:xfrm>
          <a:prstGeom prst="rect">
            <a:avLst/>
          </a:prstGeom>
        </p:spPr>
      </p:pic>
      <p:sp>
        <p:nvSpPr>
          <p:cNvPr id="4" name="TextBox 3"/>
          <p:cNvSpPr txBox="1"/>
          <p:nvPr/>
        </p:nvSpPr>
        <p:spPr>
          <a:xfrm>
            <a:off x="590000" y="1150000"/>
            <a:ext cx="4000000" cy="2600000"/>
          </a:xfrm>
          <a:prstGeom prst="rect">
            <a:avLst/>
          </a:prstGeom>
          <a:noFill/>
        </p:spPr>
        <p:txBody>
          <a:bodyPr wrap="square" anchor="t" lIns="0" rIns="0" tIns="0" bIns="0">
            <a:noAutofit/>
          </a:bodyPr>
          <a:lstStyle/>
          <a:p>
            <a:pPr algn="l" marL="0" indent="0">
              <a:lnSpc>
                <a:spcPct val="90000"/>
              </a:lnSpc>
              <a:spcBef>
                <a:spcPts val="0"/>
              </a:spcBef>
              <a:spcAft>
                <a:spcPts val="0"/>
              </a:spcAft>
              <a:buNone/>
            </a:pPr>
            <a:r>
              <a:rPr sz="15000" b="0" i="0">
                <a:solidFill>
                  <a:srgbClr val="4C5B75"/>
                </a:solidFill>
                <a:latin typeface="Segoe UI Light"/>
              </a:rPr>
              <a:t>02</a:t>
            </a:r>
          </a:p>
        </p:txBody>
      </p:sp>
      <p:sp>
        <p:nvSpPr>
          <p:cNvPr id="5" name="TextBox 4"/>
          <p:cNvSpPr txBox="1"/>
          <p:nvPr/>
        </p:nvSpPr>
        <p:spPr>
          <a:xfrm>
            <a:off x="640000" y="3050000"/>
            <a:ext cx="9200000" cy="3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60">
                <a:solidFill>
                  <a:srgbClr val="74A6FF"/>
                </a:solidFill>
                <a:latin typeface="Segoe UI Semibold"/>
              </a:rPr>
              <a:t>BLOQUE 2</a:t>
            </a:r>
          </a:p>
        </p:txBody>
      </p:sp>
      <p:sp>
        <p:nvSpPr>
          <p:cNvPr id="6" name="TextBox 5"/>
          <p:cNvSpPr txBox="1"/>
          <p:nvPr/>
        </p:nvSpPr>
        <p:spPr>
          <a:xfrm>
            <a:off x="640000" y="3350000"/>
            <a:ext cx="10200000" cy="1000000"/>
          </a:xfrm>
          <a:prstGeom prst="rect">
            <a:avLst/>
          </a:prstGeom>
          <a:noFill/>
        </p:spPr>
        <p:txBody>
          <a:bodyPr wrap="square" anchor="t" lIns="0" rIns="0" tIns="0" bIns="0">
            <a:noAutofit/>
          </a:bodyPr>
          <a:lstStyle/>
          <a:p>
            <a:pPr algn="l" marL="0" indent="0">
              <a:lnSpc>
                <a:spcPct val="102000"/>
              </a:lnSpc>
              <a:spcBef>
                <a:spcPts val="0"/>
              </a:spcBef>
              <a:spcAft>
                <a:spcPts val="0"/>
              </a:spcAft>
              <a:buNone/>
            </a:pPr>
            <a:r>
              <a:rPr sz="5400" b="0" i="0">
                <a:solidFill>
                  <a:srgbClr val="F3F6FC"/>
                </a:solidFill>
                <a:latin typeface="Segoe UI Light"/>
              </a:rPr>
              <a:t>Enrutamiento: host y path</a:t>
            </a:r>
          </a:p>
        </p:txBody>
      </p:sp>
      <p:sp>
        <p:nvSpPr>
          <p:cNvPr id="7" name="Rectangle 6"/>
          <p:cNvSpPr/>
          <p:nvPr/>
        </p:nvSpPr>
        <p:spPr>
          <a:xfrm>
            <a:off x="644000" y="438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8" name="TextBox 7"/>
          <p:cNvSpPr txBox="1"/>
          <p:nvPr/>
        </p:nvSpPr>
        <p:spPr>
          <a:xfrm>
            <a:off x="640000" y="4560000"/>
            <a:ext cx="9600000" cy="62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500" b="0" i="1">
                <a:solidFill>
                  <a:srgbClr val="BDC9DB"/>
                </a:solidFill>
                <a:latin typeface="Segoe UI"/>
              </a:rPr>
              <a:t>Muchas aplicaciones, una sola entrada</a:t>
            </a:r>
          </a:p>
        </p:txBody>
      </p:sp>
      <p:sp>
        <p:nvSpPr>
          <p:cNvPr id="9" name="Rectangle 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10</a:t>
            </a:r>
          </a:p>
        </p:txBody>
      </p:sp>
      <p:sp>
        <p:nvSpPr>
          <p:cNvPr id="11" name="TextBox 1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PATHTYPE</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Los tres valores de pathType</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10</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12</a:t>
            </a:r>
          </a:p>
        </p:txBody>
      </p:sp>
      <p:pic>
        <p:nvPicPr>
          <p:cNvPr id="8" name="Picture 7" descr="kubernetes.png"/>
          <p:cNvPicPr>
            <a:picLocks noChangeAspect="1"/>
          </p:cNvPicPr>
          <p:nvPr/>
        </p:nvPicPr>
        <p:blipFill>
          <a:blip r:embed="rId2"/>
          <a:stretch>
            <a:fillRect/>
          </a:stretch>
        </p:blipFill>
        <p:spPr>
          <a:xfrm>
            <a:off x="10932000" y="275000"/>
            <a:ext cx="640000" cy="640000"/>
          </a:xfrm>
          <a:prstGeom prst="rect">
            <a:avLst/>
          </a:prstGeom>
        </p:spPr>
      </p:pic>
      <p:sp>
        <p:nvSpPr>
          <p:cNvPr id="9" name="Rectangle 8"/>
          <p:cNvSpPr/>
          <p:nvPr/>
        </p:nvSpPr>
        <p:spPr>
          <a:xfrm>
            <a:off x="620000" y="1470000"/>
            <a:ext cx="10952000" cy="420000"/>
          </a:xfrm>
          <a:prstGeom prst="rect">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Rectangle 9"/>
          <p:cNvSpPr/>
          <p:nvPr/>
        </p:nvSpPr>
        <p:spPr>
          <a:xfrm>
            <a:off x="620000" y="1882000"/>
            <a:ext cx="10952000" cy="1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780000" y="1470000"/>
            <a:ext cx="2518000" cy="4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60">
                <a:solidFill>
                  <a:srgbClr val="74A6FF"/>
                </a:solidFill>
                <a:latin typeface="Segoe UI Semibold"/>
              </a:rPr>
              <a:t>PATHTYPE</a:t>
            </a:r>
          </a:p>
        </p:txBody>
      </p:sp>
      <p:sp>
        <p:nvSpPr>
          <p:cNvPr id="12" name="TextBox 11"/>
          <p:cNvSpPr txBox="1"/>
          <p:nvPr/>
        </p:nvSpPr>
        <p:spPr>
          <a:xfrm>
            <a:off x="3518000" y="1470000"/>
            <a:ext cx="4343333" cy="4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60">
                <a:solidFill>
                  <a:srgbClr val="74A6FF"/>
                </a:solidFill>
                <a:latin typeface="Segoe UI Semibold"/>
              </a:rPr>
              <a:t>QUÉ HACE</a:t>
            </a:r>
          </a:p>
        </p:txBody>
      </p:sp>
      <p:sp>
        <p:nvSpPr>
          <p:cNvPr id="13" name="TextBox 12"/>
          <p:cNvSpPr txBox="1"/>
          <p:nvPr/>
        </p:nvSpPr>
        <p:spPr>
          <a:xfrm>
            <a:off x="8081333" y="1470000"/>
            <a:ext cx="3430666" cy="4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60">
                <a:solidFill>
                  <a:srgbClr val="74A6FF"/>
                </a:solidFill>
                <a:latin typeface="Segoe UI Semibold"/>
              </a:rPr>
              <a:t>CUÁNDO</a:t>
            </a:r>
          </a:p>
        </p:txBody>
      </p:sp>
      <p:sp>
        <p:nvSpPr>
          <p:cNvPr id="14" name="Rectangle 13"/>
          <p:cNvSpPr/>
          <p:nvPr/>
        </p:nvSpPr>
        <p:spPr>
          <a:xfrm>
            <a:off x="620000" y="245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780000" y="1890000"/>
            <a:ext cx="25180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Prefix</a:t>
            </a:r>
          </a:p>
        </p:txBody>
      </p:sp>
      <p:sp>
        <p:nvSpPr>
          <p:cNvPr id="16" name="TextBox 15"/>
          <p:cNvSpPr txBox="1"/>
          <p:nvPr/>
        </p:nvSpPr>
        <p:spPr>
          <a:xfrm>
            <a:off x="3518000" y="1890000"/>
            <a:ext cx="4343333"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Encaja el path y todo lo que cuelga: /api también sirve /api/x</a:t>
            </a:r>
          </a:p>
        </p:txBody>
      </p:sp>
      <p:sp>
        <p:nvSpPr>
          <p:cNvPr id="17" name="TextBox 16"/>
          <p:cNvSpPr txBox="1"/>
          <p:nvPr/>
        </p:nvSpPr>
        <p:spPr>
          <a:xfrm>
            <a:off x="8081333" y="1890000"/>
            <a:ext cx="3430666"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El más habitual</a:t>
            </a:r>
          </a:p>
        </p:txBody>
      </p:sp>
      <p:sp>
        <p:nvSpPr>
          <p:cNvPr id="18" name="Rectangle 17"/>
          <p:cNvSpPr/>
          <p:nvPr/>
        </p:nvSpPr>
        <p:spPr>
          <a:xfrm>
            <a:off x="620000" y="2450000"/>
            <a:ext cx="10952000" cy="560000"/>
          </a:xfrm>
          <a:prstGeom prst="rect">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Rectangle 18"/>
          <p:cNvSpPr/>
          <p:nvPr/>
        </p:nvSpPr>
        <p:spPr>
          <a:xfrm>
            <a:off x="620000" y="301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TextBox 19"/>
          <p:cNvSpPr txBox="1"/>
          <p:nvPr/>
        </p:nvSpPr>
        <p:spPr>
          <a:xfrm>
            <a:off x="780000" y="2450000"/>
            <a:ext cx="25180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Exact</a:t>
            </a:r>
          </a:p>
        </p:txBody>
      </p:sp>
      <p:sp>
        <p:nvSpPr>
          <p:cNvPr id="21" name="TextBox 20"/>
          <p:cNvSpPr txBox="1"/>
          <p:nvPr/>
        </p:nvSpPr>
        <p:spPr>
          <a:xfrm>
            <a:off x="3518000" y="2450000"/>
            <a:ext cx="4343333"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Encaja solo el path idéntico: /api NO sirve /api/x</a:t>
            </a:r>
          </a:p>
        </p:txBody>
      </p:sp>
      <p:sp>
        <p:nvSpPr>
          <p:cNvPr id="22" name="TextBox 21"/>
          <p:cNvSpPr txBox="1"/>
          <p:nvPr/>
        </p:nvSpPr>
        <p:spPr>
          <a:xfrm>
            <a:off x="8081333" y="2450000"/>
            <a:ext cx="3430666"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Rutas concretas y únicas</a:t>
            </a:r>
          </a:p>
        </p:txBody>
      </p:sp>
      <p:sp>
        <p:nvSpPr>
          <p:cNvPr id="23" name="Rectangle 22"/>
          <p:cNvSpPr/>
          <p:nvPr/>
        </p:nvSpPr>
        <p:spPr>
          <a:xfrm>
            <a:off x="620000" y="357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780000" y="3010000"/>
            <a:ext cx="25180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ImplementationSpecific</a:t>
            </a:r>
          </a:p>
        </p:txBody>
      </p:sp>
      <p:sp>
        <p:nvSpPr>
          <p:cNvPr id="25" name="TextBox 24"/>
          <p:cNvSpPr txBox="1"/>
          <p:nvPr/>
        </p:nvSpPr>
        <p:spPr>
          <a:xfrm>
            <a:off x="3518000" y="3010000"/>
            <a:ext cx="4343333"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Lo interpreta el controlador (puede admitir regex)</a:t>
            </a:r>
          </a:p>
        </p:txBody>
      </p:sp>
      <p:sp>
        <p:nvSpPr>
          <p:cNvPr id="26" name="TextBox 25"/>
          <p:cNvSpPr txBox="1"/>
          <p:nvPr/>
        </p:nvSpPr>
        <p:spPr>
          <a:xfrm>
            <a:off x="8081333" y="3010000"/>
            <a:ext cx="3430666"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Solo si sabes qué hace tu controlador</a:t>
            </a:r>
          </a:p>
        </p:txBody>
      </p:sp>
      <p:sp>
        <p:nvSpPr>
          <p:cNvPr id="27" name="Rounded Rectangle 26"/>
          <p:cNvSpPr/>
          <p:nvPr/>
        </p:nvSpPr>
        <p:spPr>
          <a:xfrm>
            <a:off x="620000" y="5910000"/>
            <a:ext cx="10952000" cy="470000"/>
          </a:xfrm>
          <a:prstGeom prst="roundRect">
            <a:avLst>
              <a:gd name="adj" fmla="val 100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8" name="Rectangle 27"/>
          <p:cNvSpPr/>
          <p:nvPr/>
        </p:nvSpPr>
        <p:spPr>
          <a:xfrm>
            <a:off x="650000" y="5934000"/>
            <a:ext cx="40000" cy="422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9" name="TextBox 28"/>
          <p:cNvSpPr txBox="1"/>
          <p:nvPr/>
        </p:nvSpPr>
        <p:spPr>
          <a:xfrm>
            <a:off x="860000" y="5910000"/>
            <a:ext cx="10482000" cy="47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1">
                <a:solidFill>
                  <a:srgbClr val="BDC9DB"/>
                </a:solidFill>
                <a:latin typeface="Segoe UI"/>
              </a:rPr>
              <a:t>pathType es OBLIGATORIO desde networking.k8s.io/v1. El fallo típico: Exact donde querías Prefix, y todo lo que cuelga de la ruta da 404.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FORMAS DE ENRUTAR</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Por host, por path, o las dos</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10</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13</a:t>
            </a:r>
          </a:p>
        </p:txBody>
      </p:sp>
      <p:sp>
        <p:nvSpPr>
          <p:cNvPr id="8" name="Rounded Rectangle 7"/>
          <p:cNvSpPr/>
          <p:nvPr/>
        </p:nvSpPr>
        <p:spPr>
          <a:xfrm>
            <a:off x="620000" y="1470000"/>
            <a:ext cx="3437333" cy="1215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9" name="Rectangle 8"/>
          <p:cNvSpPr/>
          <p:nvPr/>
        </p:nvSpPr>
        <p:spPr>
          <a:xfrm>
            <a:off x="644000" y="1470000"/>
            <a:ext cx="3389333"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Oval 9"/>
          <p:cNvSpPr/>
          <p:nvPr/>
        </p:nvSpPr>
        <p:spPr>
          <a:xfrm>
            <a:off x="820000" y="1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pic>
        <p:nvPicPr>
          <p:cNvPr id="11" name="Picture 10" descr="kubernetes.png"/>
          <p:cNvPicPr>
            <a:picLocks noChangeAspect="1"/>
          </p:cNvPicPr>
          <p:nvPr/>
        </p:nvPicPr>
        <p:blipFill>
          <a:blip r:embed="rId2"/>
          <a:stretch>
            <a:fillRect/>
          </a:stretch>
        </p:blipFill>
        <p:spPr>
          <a:xfrm>
            <a:off x="3527333" y="1676000"/>
            <a:ext cx="330000" cy="330000"/>
          </a:xfrm>
          <a:prstGeom prst="rect">
            <a:avLst/>
          </a:prstGeom>
        </p:spPr>
      </p:pic>
      <p:sp>
        <p:nvSpPr>
          <p:cNvPr id="12" name="TextBox 11"/>
          <p:cNvSpPr txBox="1"/>
          <p:nvPr/>
        </p:nvSpPr>
        <p:spPr>
          <a:xfrm>
            <a:off x="1230000" y="1670000"/>
            <a:ext cx="2407333"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Host-based</a:t>
            </a:r>
          </a:p>
        </p:txBody>
      </p:sp>
      <p:sp>
        <p:nvSpPr>
          <p:cNvPr id="13" name="TextBox 12"/>
          <p:cNvSpPr txBox="1"/>
          <p:nvPr/>
        </p:nvSpPr>
        <p:spPr>
          <a:xfrm>
            <a:off x="820000" y="2030000"/>
            <a:ext cx="3037333" cy="595000"/>
          </a:xfrm>
          <a:prstGeom prst="rect">
            <a:avLst/>
          </a:prstGeom>
          <a:noFill/>
        </p:spPr>
        <p:txBody>
          <a:bodyPr wrap="square" anchor="t" lIns="0" rIns="0" tIns="0" bIns="0">
            <a:noAutofit/>
          </a:bodyPr>
          <a:lstStyle/>
          <a:p>
            <a:pPr algn="l" marL="0" indent="0">
              <a:lnSpc>
                <a:spcPct val="112000"/>
              </a:lnSpc>
              <a:spcBef>
                <a:spcPts val="0"/>
              </a:spcBef>
              <a:spcAft>
                <a:spcPts val="0"/>
              </a:spcAft>
              <a:buNone/>
            </a:pPr>
            <a:r>
              <a:rPr sz="1000" b="0" i="0">
                <a:solidFill>
                  <a:srgbClr val="BDC9DB"/>
                </a:solidFill>
                <a:latin typeface="Segoe UI"/>
              </a:rPr>
              <a:t>Regla por dominio: gratitud.example.com → portal; admin.gratitud.example.com → panel. Un controlador, muchos dominios.</a:t>
            </a:r>
          </a:p>
        </p:txBody>
      </p:sp>
      <p:sp>
        <p:nvSpPr>
          <p:cNvPr id="14" name="Rounded Rectangle 13"/>
          <p:cNvSpPr/>
          <p:nvPr/>
        </p:nvSpPr>
        <p:spPr>
          <a:xfrm>
            <a:off x="4377333" y="1470000"/>
            <a:ext cx="3437333" cy="1215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Rectangle 14"/>
          <p:cNvSpPr/>
          <p:nvPr/>
        </p:nvSpPr>
        <p:spPr>
          <a:xfrm>
            <a:off x="4401333" y="1470000"/>
            <a:ext cx="3389333"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6" name="Oval 15"/>
          <p:cNvSpPr/>
          <p:nvPr/>
        </p:nvSpPr>
        <p:spPr>
          <a:xfrm>
            <a:off x="4577333" y="1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pic>
        <p:nvPicPr>
          <p:cNvPr id="17" name="Picture 16" descr="kubernetes.png"/>
          <p:cNvPicPr>
            <a:picLocks noChangeAspect="1"/>
          </p:cNvPicPr>
          <p:nvPr/>
        </p:nvPicPr>
        <p:blipFill>
          <a:blip r:embed="rId2"/>
          <a:stretch>
            <a:fillRect/>
          </a:stretch>
        </p:blipFill>
        <p:spPr>
          <a:xfrm>
            <a:off x="7284666" y="1676000"/>
            <a:ext cx="330000" cy="330000"/>
          </a:xfrm>
          <a:prstGeom prst="rect">
            <a:avLst/>
          </a:prstGeom>
        </p:spPr>
      </p:pic>
      <p:sp>
        <p:nvSpPr>
          <p:cNvPr id="18" name="TextBox 17"/>
          <p:cNvSpPr txBox="1"/>
          <p:nvPr/>
        </p:nvSpPr>
        <p:spPr>
          <a:xfrm>
            <a:off x="4987333" y="1670000"/>
            <a:ext cx="2407333"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Path-based</a:t>
            </a:r>
          </a:p>
        </p:txBody>
      </p:sp>
      <p:sp>
        <p:nvSpPr>
          <p:cNvPr id="19" name="TextBox 18"/>
          <p:cNvSpPr txBox="1"/>
          <p:nvPr/>
        </p:nvSpPr>
        <p:spPr>
          <a:xfrm>
            <a:off x="4577333" y="2030000"/>
            <a:ext cx="3037333" cy="595000"/>
          </a:xfrm>
          <a:prstGeom prst="rect">
            <a:avLst/>
          </a:prstGeom>
          <a:noFill/>
        </p:spPr>
        <p:txBody>
          <a:bodyPr wrap="square" anchor="t" lIns="0" rIns="0" tIns="0" bIns="0">
            <a:noAutofit/>
          </a:bodyPr>
          <a:lstStyle/>
          <a:p>
            <a:pPr algn="l" marL="0" indent="0">
              <a:lnSpc>
                <a:spcPct val="112000"/>
              </a:lnSpc>
              <a:spcBef>
                <a:spcPts val="0"/>
              </a:spcBef>
              <a:spcAft>
                <a:spcPts val="0"/>
              </a:spcAft>
              <a:buNone/>
            </a:pPr>
            <a:r>
              <a:rPr sz="1000" b="0" i="0">
                <a:solidFill>
                  <a:srgbClr val="BDC9DB"/>
                </a:solidFill>
                <a:latin typeface="Segoe UI"/>
              </a:rPr>
              <a:t>Regla por ruta dentro de un host: / → portal, /api → api, /docs → docs. Gana el path más específico.</a:t>
            </a:r>
          </a:p>
        </p:txBody>
      </p:sp>
      <p:sp>
        <p:nvSpPr>
          <p:cNvPr id="20" name="Rounded Rectangle 19"/>
          <p:cNvSpPr/>
          <p:nvPr/>
        </p:nvSpPr>
        <p:spPr>
          <a:xfrm>
            <a:off x="8134666" y="1470000"/>
            <a:ext cx="3437333" cy="1215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Rectangle 20"/>
          <p:cNvSpPr/>
          <p:nvPr/>
        </p:nvSpPr>
        <p:spPr>
          <a:xfrm>
            <a:off x="8158666" y="1470000"/>
            <a:ext cx="3389333"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2" name="Oval 21"/>
          <p:cNvSpPr/>
          <p:nvPr/>
        </p:nvSpPr>
        <p:spPr>
          <a:xfrm>
            <a:off x="8334666" y="1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pic>
        <p:nvPicPr>
          <p:cNvPr id="23" name="Picture 22" descr="kubernetes.png"/>
          <p:cNvPicPr>
            <a:picLocks noChangeAspect="1"/>
          </p:cNvPicPr>
          <p:nvPr/>
        </p:nvPicPr>
        <p:blipFill>
          <a:blip r:embed="rId2"/>
          <a:stretch>
            <a:fillRect/>
          </a:stretch>
        </p:blipFill>
        <p:spPr>
          <a:xfrm>
            <a:off x="11042000" y="1676000"/>
            <a:ext cx="330000" cy="330000"/>
          </a:xfrm>
          <a:prstGeom prst="rect">
            <a:avLst/>
          </a:prstGeom>
        </p:spPr>
      </p:pic>
      <p:sp>
        <p:nvSpPr>
          <p:cNvPr id="24" name="TextBox 23"/>
          <p:cNvSpPr txBox="1"/>
          <p:nvPr/>
        </p:nvSpPr>
        <p:spPr>
          <a:xfrm>
            <a:off x="8744666" y="1670000"/>
            <a:ext cx="2407333"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Host + path</a:t>
            </a:r>
          </a:p>
        </p:txBody>
      </p:sp>
      <p:sp>
        <p:nvSpPr>
          <p:cNvPr id="25" name="TextBox 24"/>
          <p:cNvSpPr txBox="1"/>
          <p:nvPr/>
        </p:nvSpPr>
        <p:spPr>
          <a:xfrm>
            <a:off x="8334666" y="2030000"/>
            <a:ext cx="3037333" cy="595000"/>
          </a:xfrm>
          <a:prstGeom prst="rect">
            <a:avLst/>
          </a:prstGeom>
          <a:noFill/>
        </p:spPr>
        <p:txBody>
          <a:bodyPr wrap="square" anchor="t" lIns="0" rIns="0" tIns="0" bIns="0">
            <a:noAutofit/>
          </a:bodyPr>
          <a:lstStyle/>
          <a:p>
            <a:pPr algn="l" marL="0" indent="0">
              <a:lnSpc>
                <a:spcPct val="112000"/>
              </a:lnSpc>
              <a:spcBef>
                <a:spcPts val="0"/>
              </a:spcBef>
              <a:spcAft>
                <a:spcPts val="0"/>
              </a:spcAft>
              <a:buNone/>
            </a:pPr>
            <a:r>
              <a:rPr sz="1000" b="0" i="0">
                <a:solidFill>
                  <a:srgbClr val="BDC9DB"/>
                </a:solidFill>
                <a:latin typeface="Segoe UI"/>
              </a:rPr>
              <a:t>Se combinan: host con varios paths. Es lo normal en producción.</a:t>
            </a:r>
          </a:p>
        </p:txBody>
      </p:sp>
      <p:sp>
        <p:nvSpPr>
          <p:cNvPr id="26" name="Rounded Rectangle 25"/>
          <p:cNvSpPr/>
          <p:nvPr/>
        </p:nvSpPr>
        <p:spPr>
          <a:xfrm>
            <a:off x="620000" y="2925000"/>
            <a:ext cx="3437333" cy="1215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Rectangle 26"/>
          <p:cNvSpPr/>
          <p:nvPr/>
        </p:nvSpPr>
        <p:spPr>
          <a:xfrm>
            <a:off x="644000" y="2925000"/>
            <a:ext cx="3389333"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8" name="Oval 27"/>
          <p:cNvSpPr/>
          <p:nvPr/>
        </p:nvSpPr>
        <p:spPr>
          <a:xfrm>
            <a:off x="820000" y="3145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pic>
        <p:nvPicPr>
          <p:cNvPr id="29" name="Picture 28" descr="deploy.png"/>
          <p:cNvPicPr>
            <a:picLocks noChangeAspect="1"/>
          </p:cNvPicPr>
          <p:nvPr/>
        </p:nvPicPr>
        <p:blipFill>
          <a:blip r:embed="rId3"/>
          <a:stretch>
            <a:fillRect/>
          </a:stretch>
        </p:blipFill>
        <p:spPr>
          <a:xfrm>
            <a:off x="3527333" y="3131000"/>
            <a:ext cx="330000" cy="330000"/>
          </a:xfrm>
          <a:prstGeom prst="rect">
            <a:avLst/>
          </a:prstGeom>
        </p:spPr>
      </p:pic>
      <p:sp>
        <p:nvSpPr>
          <p:cNvPr id="30" name="TextBox 29"/>
          <p:cNvSpPr txBox="1"/>
          <p:nvPr/>
        </p:nvSpPr>
        <p:spPr>
          <a:xfrm>
            <a:off x="1230000" y="3125000"/>
            <a:ext cx="2407333"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defaultBackend</a:t>
            </a:r>
          </a:p>
        </p:txBody>
      </p:sp>
      <p:sp>
        <p:nvSpPr>
          <p:cNvPr id="31" name="TextBox 30"/>
          <p:cNvSpPr txBox="1"/>
          <p:nvPr/>
        </p:nvSpPr>
        <p:spPr>
          <a:xfrm>
            <a:off x="820000" y="3485000"/>
            <a:ext cx="3037333" cy="595000"/>
          </a:xfrm>
          <a:prstGeom prst="rect">
            <a:avLst/>
          </a:prstGeom>
          <a:noFill/>
        </p:spPr>
        <p:txBody>
          <a:bodyPr wrap="square" anchor="t" lIns="0" rIns="0" tIns="0" bIns="0">
            <a:noAutofit/>
          </a:bodyPr>
          <a:lstStyle/>
          <a:p>
            <a:pPr algn="l" marL="0" indent="0">
              <a:lnSpc>
                <a:spcPct val="112000"/>
              </a:lnSpc>
              <a:spcBef>
                <a:spcPts val="0"/>
              </a:spcBef>
              <a:spcAft>
                <a:spcPts val="0"/>
              </a:spcAft>
              <a:buNone/>
            </a:pPr>
            <a:r>
              <a:rPr sz="1000" b="0" i="0">
                <a:solidFill>
                  <a:srgbClr val="BDC9DB"/>
                </a:solidFill>
                <a:latin typeface="Segoe UI"/>
              </a:rPr>
              <a:t>A dónde va lo que no encaja con ninguna regla. Sin él, 404 del controlador.</a:t>
            </a:r>
          </a:p>
        </p:txBody>
      </p:sp>
      <p:sp>
        <p:nvSpPr>
          <p:cNvPr id="32" name="Rounded Rectangle 31"/>
          <p:cNvSpPr/>
          <p:nvPr/>
        </p:nvSpPr>
        <p:spPr>
          <a:xfrm>
            <a:off x="4377333" y="2925000"/>
            <a:ext cx="3437333" cy="1215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3" name="Rectangle 32"/>
          <p:cNvSpPr/>
          <p:nvPr/>
        </p:nvSpPr>
        <p:spPr>
          <a:xfrm>
            <a:off x="4401333" y="2925000"/>
            <a:ext cx="3389333"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4" name="Oval 33"/>
          <p:cNvSpPr/>
          <p:nvPr/>
        </p:nvSpPr>
        <p:spPr>
          <a:xfrm>
            <a:off x="4577333" y="3145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pic>
        <p:nvPicPr>
          <p:cNvPr id="35" name="Picture 34" descr="kubernetes.png"/>
          <p:cNvPicPr>
            <a:picLocks noChangeAspect="1"/>
          </p:cNvPicPr>
          <p:nvPr/>
        </p:nvPicPr>
        <p:blipFill>
          <a:blip r:embed="rId2"/>
          <a:stretch>
            <a:fillRect/>
          </a:stretch>
        </p:blipFill>
        <p:spPr>
          <a:xfrm>
            <a:off x="7284666" y="3131000"/>
            <a:ext cx="330000" cy="330000"/>
          </a:xfrm>
          <a:prstGeom prst="rect">
            <a:avLst/>
          </a:prstGeom>
        </p:spPr>
      </p:pic>
      <p:sp>
        <p:nvSpPr>
          <p:cNvPr id="36" name="TextBox 35"/>
          <p:cNvSpPr txBox="1"/>
          <p:nvPr/>
        </p:nvSpPr>
        <p:spPr>
          <a:xfrm>
            <a:off x="4987333" y="3125000"/>
            <a:ext cx="2407333"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Reescritura de path</a:t>
            </a:r>
          </a:p>
        </p:txBody>
      </p:sp>
      <p:sp>
        <p:nvSpPr>
          <p:cNvPr id="37" name="TextBox 36"/>
          <p:cNvSpPr txBox="1"/>
          <p:nvPr/>
        </p:nvSpPr>
        <p:spPr>
          <a:xfrm>
            <a:off x="4577333" y="3485000"/>
            <a:ext cx="3037333" cy="595000"/>
          </a:xfrm>
          <a:prstGeom prst="rect">
            <a:avLst/>
          </a:prstGeom>
          <a:noFill/>
        </p:spPr>
        <p:txBody>
          <a:bodyPr wrap="square" anchor="t" lIns="0" rIns="0" tIns="0" bIns="0">
            <a:noAutofit/>
          </a:bodyPr>
          <a:lstStyle/>
          <a:p>
            <a:pPr algn="l" marL="0" indent="0">
              <a:lnSpc>
                <a:spcPct val="112000"/>
              </a:lnSpc>
              <a:spcBef>
                <a:spcPts val="0"/>
              </a:spcBef>
              <a:spcAft>
                <a:spcPts val="0"/>
              </a:spcAft>
              <a:buNone/>
            </a:pPr>
            <a:r>
              <a:rPr sz="1000" b="0" i="0">
                <a:solidFill>
                  <a:srgbClr val="BDC9DB"/>
                </a:solidFill>
                <a:latin typeface="Segoe UI"/>
              </a:rPr>
              <a:t>El backend recibe el path tal cual. Si espera / y le llega /api, hace falta rewrite (anotación del controlador).</a:t>
            </a:r>
          </a:p>
        </p:txBody>
      </p:sp>
      <p:sp>
        <p:nvSpPr>
          <p:cNvPr id="38" name="Rounded Rectangle 37"/>
          <p:cNvSpPr/>
          <p:nvPr/>
        </p:nvSpPr>
        <p:spPr>
          <a:xfrm>
            <a:off x="8134666" y="2925000"/>
            <a:ext cx="3437333" cy="1215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9" name="Rectangle 38"/>
          <p:cNvSpPr/>
          <p:nvPr/>
        </p:nvSpPr>
        <p:spPr>
          <a:xfrm>
            <a:off x="8158666" y="2925000"/>
            <a:ext cx="3389333"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40" name="Oval 39"/>
          <p:cNvSpPr/>
          <p:nvPr/>
        </p:nvSpPr>
        <p:spPr>
          <a:xfrm>
            <a:off x="8334666" y="3145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6</a:t>
            </a:r>
          </a:p>
        </p:txBody>
      </p:sp>
      <p:pic>
        <p:nvPicPr>
          <p:cNvPr id="41" name="Picture 40" descr="kubernetes.png"/>
          <p:cNvPicPr>
            <a:picLocks noChangeAspect="1"/>
          </p:cNvPicPr>
          <p:nvPr/>
        </p:nvPicPr>
        <p:blipFill>
          <a:blip r:embed="rId2"/>
          <a:stretch>
            <a:fillRect/>
          </a:stretch>
        </p:blipFill>
        <p:spPr>
          <a:xfrm>
            <a:off x="11042000" y="3131000"/>
            <a:ext cx="330000" cy="330000"/>
          </a:xfrm>
          <a:prstGeom prst="rect">
            <a:avLst/>
          </a:prstGeom>
        </p:spPr>
      </p:pic>
      <p:sp>
        <p:nvSpPr>
          <p:cNvPr id="42" name="TextBox 41"/>
          <p:cNvSpPr txBox="1"/>
          <p:nvPr/>
        </p:nvSpPr>
        <p:spPr>
          <a:xfrm>
            <a:off x="8744666" y="3125000"/>
            <a:ext cx="2407333"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Precedencia</a:t>
            </a:r>
          </a:p>
        </p:txBody>
      </p:sp>
      <p:sp>
        <p:nvSpPr>
          <p:cNvPr id="43" name="TextBox 42"/>
          <p:cNvSpPr txBox="1"/>
          <p:nvPr/>
        </p:nvSpPr>
        <p:spPr>
          <a:xfrm>
            <a:off x="8334666" y="3485000"/>
            <a:ext cx="3037333" cy="595000"/>
          </a:xfrm>
          <a:prstGeom prst="rect">
            <a:avLst/>
          </a:prstGeom>
          <a:noFill/>
        </p:spPr>
        <p:txBody>
          <a:bodyPr wrap="square" anchor="t" lIns="0" rIns="0" tIns="0" bIns="0">
            <a:noAutofit/>
          </a:bodyPr>
          <a:lstStyle/>
          <a:p>
            <a:pPr algn="l" marL="0" indent="0">
              <a:lnSpc>
                <a:spcPct val="112000"/>
              </a:lnSpc>
              <a:spcBef>
                <a:spcPts val="0"/>
              </a:spcBef>
              <a:spcAft>
                <a:spcPts val="0"/>
              </a:spcAft>
              <a:buNone/>
            </a:pPr>
            <a:r>
              <a:rPr sz="1000" b="0" i="0">
                <a:solidFill>
                  <a:srgbClr val="BDC9DB"/>
                </a:solidFill>
                <a:latin typeface="Segoe UI"/>
              </a:rPr>
              <a:t>Ante varias coincidencias, gana la de path más largo. El host debe coincidir exacto (o comodín si el controlador lo admite).</a:t>
            </a:r>
          </a:p>
        </p:txBody>
      </p:sp>
      <p:sp>
        <p:nvSpPr>
          <p:cNvPr id="44" name="Rounded Rectangle 43"/>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45" name="Rectangle 44"/>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46" name="TextBox 45"/>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50" b="0" i="0">
                <a:solidFill>
                  <a:srgbClr val="BDC9DB"/>
                </a:solidFill>
                <a:latin typeface="Segoe UI"/>
              </a:rPr>
              <a:t>El enrutado por host mira la cabecera Host: de la petición. Una regla con host: gratitud.example.com y otra con host: admin.gratitud.example.com mandan a Services distintos aunque compartan IP de entrada y puerto. Es lo que permite servir muchos dominios desde un único controlador.</a:t>
            </a:r>
          </a:p>
          <a:p>
            <a:pPr algn="l" marL="0" indent="0">
              <a:lnSpc>
                <a:spcPct val="128000"/>
              </a:lnSpc>
              <a:spcBef>
                <a:spcPts val="0"/>
              </a:spcBef>
              <a:spcAft>
                <a:spcPts val="400"/>
              </a:spcAft>
              <a:buNone/>
            </a:pPr>
            <a:r>
              <a:rPr sz="1050" b="0" i="0">
                <a:solidFill>
                  <a:srgbClr val="BDC9DB"/>
                </a:solidFill>
                <a:latin typeface="Segoe UI"/>
              </a:rPr>
              <a:t>El enrutado por path mira la ruta de la URL dentro de un mismo host: / al portal, /api a la API, /docs a la documentación. Se combina con host: una regla puede tener host y varios paths. Cuando varias reglas podrían encajar, los controladores aplican la de path más largo (más específica) primero.</a:t>
            </a:r>
          </a:p>
          <a:p>
            <a:pPr algn="l" marL="0" indent="0">
              <a:lnSpc>
                <a:spcPct val="128000"/>
              </a:lnSpc>
              <a:spcBef>
                <a:spcPts val="0"/>
              </a:spcBef>
              <a:spcAft>
                <a:spcPts val="400"/>
              </a:spcAft>
              <a:buNone/>
            </a:pPr>
            <a:r>
              <a:rPr sz="1050" b="0" i="0">
                <a:solidFill>
                  <a:srgbClr val="BDC9DB"/>
                </a:solidFill>
                <a:latin typeface="Segoe UI"/>
              </a:rPr>
              <a:t>defaultBackend es la red de seguridad: a dónde va lo que no encaja con ninguna regla. Sin él, una petición a un host o path no contemplado recibe el 404 del controlador. Y recuerda: el backend recibe el path tal cual llega; si tu app espera / y le llega /api, necesitas reescritura de path (una anotación propietaria del controlador).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SINTAXIS</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Un Ingress con host y varios paths</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10</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14</a:t>
            </a:r>
          </a:p>
        </p:txBody>
      </p:sp>
      <p:pic>
        <p:nvPicPr>
          <p:cNvPr id="8" name="Picture 7" descr="ing.png"/>
          <p:cNvPicPr>
            <a:picLocks noChangeAspect="1"/>
          </p:cNvPicPr>
          <p:nvPr/>
        </p:nvPicPr>
        <p:blipFill>
          <a:blip r:embed="rId2"/>
          <a:stretch>
            <a:fillRect/>
          </a:stretch>
        </p:blipFill>
        <p:spPr>
          <a:xfrm>
            <a:off x="10932000" y="275000"/>
            <a:ext cx="640000" cy="640000"/>
          </a:xfrm>
          <a:prstGeom prst="rect">
            <a:avLst/>
          </a:prstGeom>
        </p:spPr>
      </p:pic>
      <p:sp>
        <p:nvSpPr>
          <p:cNvPr id="9" name="Rounded Rectangle 8"/>
          <p:cNvSpPr/>
          <p:nvPr/>
        </p:nvSpPr>
        <p:spPr>
          <a:xfrm>
            <a:off x="620000" y="1510000"/>
            <a:ext cx="10952000" cy="3512000"/>
          </a:xfrm>
          <a:prstGeom prst="roundRect">
            <a:avLst>
              <a:gd name="adj" fmla="val 5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Rectangle 9"/>
          <p:cNvSpPr/>
          <p:nvPr/>
        </p:nvSpPr>
        <p:spPr>
          <a:xfrm>
            <a:off x="620000" y="1510000"/>
            <a:ext cx="46000" cy="3512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850000" y="1630000"/>
            <a:ext cx="10492000" cy="26000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000" b="1" i="0" spc="180">
                <a:solidFill>
                  <a:srgbClr val="8493AD"/>
                </a:solidFill>
                <a:latin typeface="Segoe UI Semibold"/>
              </a:rPr>
              <a:t>GRATITUD.EXAMPLE.COM CON TRES RUTAS</a:t>
            </a:r>
          </a:p>
        </p:txBody>
      </p:sp>
      <p:sp>
        <p:nvSpPr>
          <p:cNvPr id="12" name="TextBox 11"/>
          <p:cNvSpPr txBox="1"/>
          <p:nvPr/>
        </p:nvSpPr>
        <p:spPr>
          <a:xfrm>
            <a:off x="890000" y="1910000"/>
            <a:ext cx="10412000" cy="3052000"/>
          </a:xfrm>
          <a:prstGeom prst="rect">
            <a:avLst/>
          </a:prstGeom>
          <a:noFill/>
        </p:spPr>
        <p:txBody>
          <a:bodyPr wrap="square" anchor="t" lIns="0" rIns="0" tIns="0" bIns="0">
            <a:noAutofit/>
          </a:bodyPr>
          <a:lstStyle/>
          <a:p>
            <a:pPr marL="0" indent="0">
              <a:lnSpc>
                <a:spcPct val="134000"/>
              </a:lnSpc>
              <a:spcAft>
                <a:spcPts val="0"/>
              </a:spcAft>
              <a:buNone/>
            </a:pPr>
            <a:r>
              <a:rPr sz="1100" b="0" i="0">
                <a:solidFill>
                  <a:srgbClr val="E6EDF3"/>
                </a:solidFill>
                <a:latin typeface="Consolas"/>
              </a:rPr>
              <a:t>spec:</a:t>
            </a:r>
          </a:p>
          <a:p>
            <a:pPr marL="0" indent="0">
              <a:lnSpc>
                <a:spcPct val="134000"/>
              </a:lnSpc>
              <a:spcAft>
                <a:spcPts val="0"/>
              </a:spcAft>
              <a:buNone/>
            </a:pPr>
            <a:r>
              <a:rPr sz="1100" b="0" i="0">
                <a:solidFill>
                  <a:srgbClr val="E6EDF3"/>
                </a:solidFill>
                <a:latin typeface="Consolas"/>
              </a:rPr>
              <a:t>  ingressClassName: traefik</a:t>
            </a:r>
          </a:p>
          <a:p>
            <a:pPr marL="0" indent="0">
              <a:lnSpc>
                <a:spcPct val="134000"/>
              </a:lnSpc>
              <a:spcAft>
                <a:spcPts val="0"/>
              </a:spcAft>
              <a:buNone/>
            </a:pPr>
            <a:r>
              <a:rPr sz="1100" b="0" i="0">
                <a:solidFill>
                  <a:srgbClr val="E6EDF3"/>
                </a:solidFill>
                <a:latin typeface="Consolas"/>
              </a:rPr>
              <a:t>  rules:</a:t>
            </a:r>
          </a:p>
          <a:p>
            <a:pPr marL="0" indent="0">
              <a:lnSpc>
                <a:spcPct val="134000"/>
              </a:lnSpc>
              <a:spcAft>
                <a:spcPts val="0"/>
              </a:spcAft>
              <a:buNone/>
            </a:pPr>
            <a:r>
              <a:rPr sz="1100" b="0" i="0">
                <a:solidFill>
                  <a:srgbClr val="E6EDF3"/>
                </a:solidFill>
                <a:latin typeface="Consolas"/>
              </a:rPr>
              <a:t>    - host: gratitud.example.com</a:t>
            </a:r>
          </a:p>
          <a:p>
            <a:pPr marL="0" indent="0">
              <a:lnSpc>
                <a:spcPct val="134000"/>
              </a:lnSpc>
              <a:spcAft>
                <a:spcPts val="0"/>
              </a:spcAft>
              <a:buNone/>
            </a:pPr>
            <a:r>
              <a:rPr sz="1100" b="0" i="0">
                <a:solidFill>
                  <a:srgbClr val="E6EDF3"/>
                </a:solidFill>
                <a:latin typeface="Consolas"/>
              </a:rPr>
              <a:t>      http:</a:t>
            </a:r>
          </a:p>
          <a:p>
            <a:pPr marL="0" indent="0">
              <a:lnSpc>
                <a:spcPct val="134000"/>
              </a:lnSpc>
              <a:spcAft>
                <a:spcPts val="0"/>
              </a:spcAft>
              <a:buNone/>
            </a:pPr>
            <a:r>
              <a:rPr sz="1100" b="0" i="0">
                <a:solidFill>
                  <a:srgbClr val="E6EDF3"/>
                </a:solidFill>
                <a:latin typeface="Consolas"/>
              </a:rPr>
              <a:t>        paths:</a:t>
            </a:r>
          </a:p>
          <a:p>
            <a:pPr marL="0" indent="0">
              <a:lnSpc>
                <a:spcPct val="134000"/>
              </a:lnSpc>
              <a:spcAft>
                <a:spcPts val="0"/>
              </a:spcAft>
              <a:buNone/>
            </a:pPr>
            <a:r>
              <a:rPr sz="1100" b="0" i="0">
                <a:solidFill>
                  <a:srgbClr val="E6EDF3"/>
                </a:solidFill>
                <a:latin typeface="Consolas"/>
              </a:rPr>
              <a:t>          - {path: /,     pathType: Prefix, backend: {service: {name: portal, port: {number: 80}}}}</a:t>
            </a:r>
          </a:p>
          <a:p>
            <a:pPr marL="0" indent="0">
              <a:lnSpc>
                <a:spcPct val="134000"/>
              </a:lnSpc>
              <a:spcAft>
                <a:spcPts val="0"/>
              </a:spcAft>
              <a:buNone/>
            </a:pPr>
            <a:r>
              <a:rPr sz="1100" b="0" i="0">
                <a:solidFill>
                  <a:srgbClr val="E6EDF3"/>
                </a:solidFill>
                <a:latin typeface="Consolas"/>
              </a:rPr>
              <a:t>          - {path: /api,  pathType: Prefix, backend: {service: {name: api,    port: {number: 80}}}}</a:t>
            </a:r>
          </a:p>
          <a:p>
            <a:pPr marL="0" indent="0">
              <a:lnSpc>
                <a:spcPct val="134000"/>
              </a:lnSpc>
              <a:spcAft>
                <a:spcPts val="0"/>
              </a:spcAft>
              <a:buNone/>
            </a:pPr>
            <a:r>
              <a:rPr sz="1100" b="0" i="0">
                <a:solidFill>
                  <a:srgbClr val="E6EDF3"/>
                </a:solidFill>
                <a:latin typeface="Consolas"/>
              </a:rPr>
              <a:t>          - {path: /docs, pathType: Prefix, backend: {service: {name: docs,   port: {number: 80}}}}</a:t>
            </a:r>
          </a:p>
          <a:p>
            <a:pPr marL="0" indent="0">
              <a:lnSpc>
                <a:spcPct val="134000"/>
              </a:lnSpc>
              <a:spcAft>
                <a:spcPts val="0"/>
              </a:spcAft>
              <a:buNone/>
            </a:pPr>
            <a:r>
              <a:rPr sz="1100" b="0" i="0">
                <a:solidFill>
                  <a:srgbClr val="E6EDF3"/>
                </a:solidFill>
                <a:latin typeface="Consolas"/>
              </a:rPr>
              <a:t>    - host: admin.gratitud.example.com</a:t>
            </a:r>
          </a:p>
          <a:p>
            <a:pPr marL="0" indent="0">
              <a:lnSpc>
                <a:spcPct val="134000"/>
              </a:lnSpc>
              <a:spcAft>
                <a:spcPts val="0"/>
              </a:spcAft>
              <a:buNone/>
            </a:pPr>
            <a:r>
              <a:rPr sz="1100" b="0" i="0">
                <a:solidFill>
                  <a:srgbClr val="E6EDF3"/>
                </a:solidFill>
                <a:latin typeface="Consolas"/>
              </a:rPr>
              <a:t>      http:</a:t>
            </a:r>
          </a:p>
          <a:p>
            <a:pPr marL="0" indent="0">
              <a:lnSpc>
                <a:spcPct val="134000"/>
              </a:lnSpc>
              <a:spcAft>
                <a:spcPts val="0"/>
              </a:spcAft>
              <a:buNone/>
            </a:pPr>
            <a:r>
              <a:rPr sz="1100" b="0" i="0">
                <a:solidFill>
                  <a:srgbClr val="E6EDF3"/>
                </a:solidFill>
                <a:latin typeface="Consolas"/>
              </a:rPr>
              <a:t>        paths:</a:t>
            </a:r>
          </a:p>
          <a:p>
            <a:pPr marL="0" indent="0">
              <a:lnSpc>
                <a:spcPct val="134000"/>
              </a:lnSpc>
              <a:spcAft>
                <a:spcPts val="0"/>
              </a:spcAft>
              <a:buNone/>
            </a:pPr>
            <a:r>
              <a:rPr sz="1100" b="0" i="0">
                <a:solidFill>
                  <a:srgbClr val="E6EDF3"/>
                </a:solidFill>
                <a:latin typeface="Consolas"/>
              </a:rPr>
              <a:t>          - {path: /, pathType: Prefix, backend: {service: {name: panel, port: {number: 80}}}}</a:t>
            </a:r>
          </a:p>
        </p:txBody>
      </p:sp>
      <p:sp>
        <p:nvSpPr>
          <p:cNvPr id="13" name="Rounded Rectangle 12"/>
          <p:cNvSpPr/>
          <p:nvPr/>
        </p:nvSpPr>
        <p:spPr>
          <a:xfrm>
            <a:off x="620000" y="5222000"/>
            <a:ext cx="10952000" cy="1048000"/>
          </a:xfrm>
          <a:prstGeom prst="roundRect">
            <a:avLst>
              <a:gd name="adj" fmla="val 5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620000" y="5222000"/>
            <a:ext cx="46000" cy="1048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850000" y="5342000"/>
            <a:ext cx="10492000" cy="26000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000" b="1" i="0" spc="180">
                <a:solidFill>
                  <a:srgbClr val="8493AD"/>
                </a:solidFill>
                <a:latin typeface="Segoe UI Semibold"/>
              </a:rPr>
              <a:t>PROBAR CADA RUTA SIN TOCAR /ETC/HOSTS</a:t>
            </a:r>
          </a:p>
        </p:txBody>
      </p:sp>
      <p:sp>
        <p:nvSpPr>
          <p:cNvPr id="16" name="TextBox 15"/>
          <p:cNvSpPr txBox="1"/>
          <p:nvPr/>
        </p:nvSpPr>
        <p:spPr>
          <a:xfrm>
            <a:off x="890000" y="5622000"/>
            <a:ext cx="10412000" cy="588000"/>
          </a:xfrm>
          <a:prstGeom prst="rect">
            <a:avLst/>
          </a:prstGeom>
          <a:noFill/>
        </p:spPr>
        <p:txBody>
          <a:bodyPr wrap="square" anchor="t" lIns="0" rIns="0" tIns="0" bIns="0">
            <a:noAutofit/>
          </a:bodyPr>
          <a:lstStyle/>
          <a:p>
            <a:pPr marL="0" indent="0">
              <a:lnSpc>
                <a:spcPct val="134000"/>
              </a:lnSpc>
              <a:spcAft>
                <a:spcPts val="0"/>
              </a:spcAft>
              <a:buNone/>
            </a:pPr>
            <a:r>
              <a:rPr sz="1100" b="0" i="0">
                <a:solidFill>
                  <a:srgbClr val="E6EDF3"/>
                </a:solidFill>
                <a:latin typeface="Consolas"/>
              </a:rPr>
              <a:t>curl --resolve gratitud.example.com:32080:&lt;IP-NODO&gt; http://gratitud.example.com:32080/api</a:t>
            </a:r>
          </a:p>
          <a:p>
            <a:pPr marL="0" indent="0">
              <a:lnSpc>
                <a:spcPct val="134000"/>
              </a:lnSpc>
              <a:spcAft>
                <a:spcPts val="0"/>
              </a:spcAft>
              <a:buNone/>
            </a:pPr>
            <a:r>
              <a:rPr sz="1100" b="0" i="0">
                <a:solidFill>
                  <a:srgbClr val="E6EDF3"/>
                </a:solidFill>
                <a:latin typeface="Consolas"/>
              </a:rPr>
              <a:t>curl --resolve admin.gratitud.example.com:32080:&lt;IP-NODO&gt; http://admin.gratitud.example.com:32080/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992000" y="-1500000"/>
            <a:ext cx="3400000" cy="34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470000"/>
            <a:ext cx="2500000" cy="360000"/>
          </a:xfrm>
          <a:prstGeom prst="roundRect">
            <a:avLst>
              <a:gd name="adj" fmla="val 50000"/>
            </a:avLst>
          </a:prstGeom>
          <a:noFill/>
          <a:ln w="1270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000" b="1" i="0" spc="140">
                <a:solidFill>
                  <a:srgbClr val="74A6FF"/>
                </a:solidFill>
                <a:latin typeface="Segoe UI"/>
              </a:rPr>
              <a:t>Nivel intermedio</a:t>
            </a:r>
          </a:p>
        </p:txBody>
      </p:sp>
      <p:sp>
        <p:nvSpPr>
          <p:cNvPr id="4" name="TextBox 3"/>
          <p:cNvSpPr txBox="1"/>
          <p:nvPr/>
        </p:nvSpPr>
        <p:spPr>
          <a:xfrm>
            <a:off x="640000" y="990000"/>
            <a:ext cx="10912000" cy="76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3100" b="0" i="0">
                <a:solidFill>
                  <a:srgbClr val="F3F6FC"/>
                </a:solidFill>
                <a:latin typeface="Segoe UI Light"/>
              </a:rPr>
              <a:t>LAB 10.2 — Enrutar GRATITUD por host y por path</a:t>
            </a:r>
          </a:p>
        </p:txBody>
      </p:sp>
      <p:sp>
        <p:nvSpPr>
          <p:cNvPr id="5" name="TextBox 4"/>
          <p:cNvSpPr txBox="1"/>
          <p:nvPr/>
        </p:nvSpPr>
        <p:spPr>
          <a:xfrm>
            <a:off x="640000" y="1800000"/>
            <a:ext cx="7452000" cy="64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300" b="0" i="1">
                <a:solidFill>
                  <a:srgbClr val="BDC9DB"/>
                </a:solidFill>
                <a:latin typeface="Segoe UI"/>
              </a:rPr>
              <a:t>Publicar el portal, la API, la documentación y el panel de GRATITUD tras un único Ingress, combinando reglas por host y por path.</a:t>
            </a:r>
          </a:p>
        </p:txBody>
      </p:sp>
      <p:sp>
        <p:nvSpPr>
          <p:cNvPr id="6" name="Oval 5"/>
          <p:cNvSpPr/>
          <p:nvPr/>
        </p:nvSpPr>
        <p:spPr>
          <a:xfrm>
            <a:off x="640000" y="2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7" name="TextBox 6"/>
          <p:cNvSpPr txBox="1"/>
          <p:nvPr/>
        </p:nvSpPr>
        <p:spPr>
          <a:xfrm>
            <a:off x="1110000" y="256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Desplegar portal, api, docs y panel con sus Services en sus namespaces.</a:t>
            </a:r>
          </a:p>
        </p:txBody>
      </p:sp>
      <p:sp>
        <p:nvSpPr>
          <p:cNvPr id="8" name="Oval 7"/>
          <p:cNvSpPr/>
          <p:nvPr/>
        </p:nvSpPr>
        <p:spPr>
          <a:xfrm>
            <a:off x="640000" y="325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9" name="TextBox 8"/>
          <p:cNvSpPr txBox="1"/>
          <p:nvPr/>
        </p:nvSpPr>
        <p:spPr>
          <a:xfrm>
            <a:off x="1110000" y="312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Un Ingress con host gratitud.example.com y paths / , /api y /docs.</a:t>
            </a:r>
          </a:p>
        </p:txBody>
      </p:sp>
      <p:sp>
        <p:nvSpPr>
          <p:cNvPr id="10" name="Oval 9"/>
          <p:cNvSpPr/>
          <p:nvPr/>
        </p:nvSpPr>
        <p:spPr>
          <a:xfrm>
            <a:off x="640000" y="381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1" name="TextBox 10"/>
          <p:cNvSpPr txBox="1"/>
          <p:nvPr/>
        </p:nvSpPr>
        <p:spPr>
          <a:xfrm>
            <a:off x="1110000" y="368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Una segunda regla con host admin.gratitud.example.com hacia el panel.</a:t>
            </a:r>
          </a:p>
        </p:txBody>
      </p:sp>
      <p:sp>
        <p:nvSpPr>
          <p:cNvPr id="12" name="Oval 11"/>
          <p:cNvSpPr/>
          <p:nvPr/>
        </p:nvSpPr>
        <p:spPr>
          <a:xfrm>
            <a:off x="640000" y="437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3" name="TextBox 12"/>
          <p:cNvSpPr txBox="1"/>
          <p:nvPr/>
        </p:nvSpPr>
        <p:spPr>
          <a:xfrm>
            <a:off x="1110000" y="424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Ajustar pathType y comprobar el efecto de Exact frente a Prefix en /api/algo.</a:t>
            </a:r>
          </a:p>
        </p:txBody>
      </p:sp>
      <p:sp>
        <p:nvSpPr>
          <p:cNvPr id="14" name="Oval 13"/>
          <p:cNvSpPr/>
          <p:nvPr/>
        </p:nvSpPr>
        <p:spPr>
          <a:xfrm>
            <a:off x="640000" y="493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sp>
        <p:nvSpPr>
          <p:cNvPr id="15" name="TextBox 14"/>
          <p:cNvSpPr txBox="1"/>
          <p:nvPr/>
        </p:nvSpPr>
        <p:spPr>
          <a:xfrm>
            <a:off x="1110000" y="480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Aplicar reescritura de path para que la API reciba / en vez de /api.</a:t>
            </a:r>
          </a:p>
        </p:txBody>
      </p:sp>
      <p:sp>
        <p:nvSpPr>
          <p:cNvPr id="16" name="Freeform 15"/>
          <p:cNvSpPr/>
          <p:nvPr/>
        </p:nvSpPr>
        <p:spPr>
          <a:xfrm>
            <a:off x="9590000" y="1418800"/>
            <a:ext cx="784000" cy="842800"/>
          </a:xfrm>
          <a:custGeom>
            <a:avLst/>
            <a:gdLst/>
            <a:ahLst/>
            <a:cxnLst/>
            <a:rect l="l" t="t" r="r" b="b"/>
            <a:pathLst>
              <a:path w="784000" h="842800">
                <a:moveTo>
                  <a:pt x="235200" y="0"/>
                </a:moveTo>
                <a:lnTo>
                  <a:pt x="235200" y="333200"/>
                </a:lnTo>
                <a:lnTo>
                  <a:pt x="0" y="842800"/>
                </a:lnTo>
                <a:lnTo>
                  <a:pt x="784000" y="842800"/>
                </a:lnTo>
                <a:lnTo>
                  <a:pt x="548800" y="333200"/>
                </a:lnTo>
                <a:lnTo>
                  <a:pt x="548800" y="0"/>
                </a:lnTo>
              </a:path>
            </a:pathLst>
          </a:custGeom>
          <a:noFill/>
          <a:ln w="3302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9766400" y="1418800"/>
            <a:ext cx="4312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727200" y="2006800"/>
            <a:ext cx="5096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392000" y="2560000"/>
            <a:ext cx="3180000" cy="3510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Rectangle 19"/>
          <p:cNvSpPr/>
          <p:nvPr/>
        </p:nvSpPr>
        <p:spPr>
          <a:xfrm>
            <a:off x="8392000" y="2560000"/>
            <a:ext cx="318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8592000" y="274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ARCHIVO</a:t>
            </a:r>
          </a:p>
          <a:p>
            <a:pPr algn="l" marL="0" indent="0">
              <a:lnSpc>
                <a:spcPct val="112000"/>
              </a:lnSpc>
              <a:spcBef>
                <a:spcPts val="0"/>
              </a:spcBef>
              <a:spcAft>
                <a:spcPts val="0"/>
              </a:spcAft>
              <a:buNone/>
            </a:pPr>
            <a:r>
              <a:rPr sz="1100" b="0" i="0">
                <a:solidFill>
                  <a:srgbClr val="F3F6FC"/>
                </a:solidFill>
                <a:latin typeface="Consolas"/>
              </a:rPr>
              <a:t>CLASE-10/LABORATORIOS/LAB-02-INTERMEDIO.md</a:t>
            </a:r>
          </a:p>
        </p:txBody>
      </p:sp>
      <p:sp>
        <p:nvSpPr>
          <p:cNvPr id="22" name="Rectangle 21"/>
          <p:cNvSpPr/>
          <p:nvPr/>
        </p:nvSpPr>
        <p:spPr>
          <a:xfrm>
            <a:off x="8592000" y="379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TextBox 22"/>
          <p:cNvSpPr txBox="1"/>
          <p:nvPr/>
        </p:nvSpPr>
        <p:spPr>
          <a:xfrm>
            <a:off x="8592000" y="383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DURACIÓN</a:t>
            </a:r>
          </a:p>
          <a:p>
            <a:pPr algn="l" marL="0" indent="0">
              <a:lnSpc>
                <a:spcPct val="112000"/>
              </a:lnSpc>
              <a:spcBef>
                <a:spcPts val="0"/>
              </a:spcBef>
              <a:spcAft>
                <a:spcPts val="0"/>
              </a:spcAft>
              <a:buNone/>
            </a:pPr>
            <a:r>
              <a:rPr sz="1100" b="1" i="0">
                <a:solidFill>
                  <a:srgbClr val="F3F6FC"/>
                </a:solidFill>
                <a:latin typeface="Segoe UI Semibold"/>
              </a:rPr>
              <a:t>32 min</a:t>
            </a:r>
          </a:p>
        </p:txBody>
      </p:sp>
      <p:sp>
        <p:nvSpPr>
          <p:cNvPr id="24" name="Rectangle 23"/>
          <p:cNvSpPr/>
          <p:nvPr/>
        </p:nvSpPr>
        <p:spPr>
          <a:xfrm>
            <a:off x="8592000" y="488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8592000" y="492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VALIDACIÓN</a:t>
            </a:r>
          </a:p>
          <a:p>
            <a:pPr algn="l" marL="0" indent="0">
              <a:lnSpc>
                <a:spcPct val="112000"/>
              </a:lnSpc>
              <a:spcBef>
                <a:spcPts val="0"/>
              </a:spcBef>
              <a:spcAft>
                <a:spcPts val="0"/>
              </a:spcAft>
              <a:buNone/>
            </a:pPr>
            <a:r>
              <a:rPr sz="1100" b="0" i="0">
                <a:solidFill>
                  <a:srgbClr val="F3F6FC"/>
                </a:solidFill>
                <a:latin typeface="Consolas"/>
              </a:rPr>
              <a:t>k describe ingress gratitud</a:t>
            </a:r>
          </a:p>
        </p:txBody>
      </p:sp>
      <p:sp>
        <p:nvSpPr>
          <p:cNvPr id="26" name="Rectangle 25"/>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TextBox 26"/>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10</a:t>
            </a:r>
          </a:p>
        </p:txBody>
      </p:sp>
      <p:sp>
        <p:nvSpPr>
          <p:cNvPr id="28" name="TextBox 27"/>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1500000" y="4258000"/>
            <a:ext cx="4200000" cy="42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ng.png"/>
          <p:cNvPicPr>
            <a:picLocks noChangeAspect="1"/>
          </p:cNvPicPr>
          <p:nvPr/>
        </p:nvPicPr>
        <p:blipFill>
          <a:blip r:embed="rId2"/>
          <a:stretch>
            <a:fillRect/>
          </a:stretch>
        </p:blipFill>
        <p:spPr>
          <a:xfrm>
            <a:off x="8842000" y="2150000"/>
            <a:ext cx="1800000" cy="1800000"/>
          </a:xfrm>
          <a:prstGeom prst="rect">
            <a:avLst/>
          </a:prstGeom>
        </p:spPr>
      </p:pic>
      <p:sp>
        <p:nvSpPr>
          <p:cNvPr id="4" name="TextBox 3"/>
          <p:cNvSpPr txBox="1"/>
          <p:nvPr/>
        </p:nvSpPr>
        <p:spPr>
          <a:xfrm>
            <a:off x="590000" y="1150000"/>
            <a:ext cx="4000000" cy="2600000"/>
          </a:xfrm>
          <a:prstGeom prst="rect">
            <a:avLst/>
          </a:prstGeom>
          <a:noFill/>
        </p:spPr>
        <p:txBody>
          <a:bodyPr wrap="square" anchor="t" lIns="0" rIns="0" tIns="0" bIns="0">
            <a:noAutofit/>
          </a:bodyPr>
          <a:lstStyle/>
          <a:p>
            <a:pPr algn="l" marL="0" indent="0">
              <a:lnSpc>
                <a:spcPct val="90000"/>
              </a:lnSpc>
              <a:spcBef>
                <a:spcPts val="0"/>
              </a:spcBef>
              <a:spcAft>
                <a:spcPts val="0"/>
              </a:spcAft>
              <a:buNone/>
            </a:pPr>
            <a:r>
              <a:rPr sz="15000" b="0" i="0">
                <a:solidFill>
                  <a:srgbClr val="4C5B75"/>
                </a:solidFill>
                <a:latin typeface="Segoe UI Light"/>
              </a:rPr>
              <a:t>03</a:t>
            </a:r>
          </a:p>
        </p:txBody>
      </p:sp>
      <p:sp>
        <p:nvSpPr>
          <p:cNvPr id="5" name="TextBox 4"/>
          <p:cNvSpPr txBox="1"/>
          <p:nvPr/>
        </p:nvSpPr>
        <p:spPr>
          <a:xfrm>
            <a:off x="640000" y="3050000"/>
            <a:ext cx="9200000" cy="3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60">
                <a:solidFill>
                  <a:srgbClr val="74A6FF"/>
                </a:solidFill>
                <a:latin typeface="Segoe UI Semibold"/>
              </a:rPr>
              <a:t>BLOQUE 3</a:t>
            </a:r>
          </a:p>
        </p:txBody>
      </p:sp>
      <p:sp>
        <p:nvSpPr>
          <p:cNvPr id="6" name="TextBox 5"/>
          <p:cNvSpPr txBox="1"/>
          <p:nvPr/>
        </p:nvSpPr>
        <p:spPr>
          <a:xfrm>
            <a:off x="640000" y="3350000"/>
            <a:ext cx="10200000" cy="1000000"/>
          </a:xfrm>
          <a:prstGeom prst="rect">
            <a:avLst/>
          </a:prstGeom>
          <a:noFill/>
        </p:spPr>
        <p:txBody>
          <a:bodyPr wrap="square" anchor="t" lIns="0" rIns="0" tIns="0" bIns="0">
            <a:noAutofit/>
          </a:bodyPr>
          <a:lstStyle/>
          <a:p>
            <a:pPr algn="l" marL="0" indent="0">
              <a:lnSpc>
                <a:spcPct val="102000"/>
              </a:lnSpc>
              <a:spcBef>
                <a:spcPts val="0"/>
              </a:spcBef>
              <a:spcAft>
                <a:spcPts val="0"/>
              </a:spcAft>
              <a:buNone/>
            </a:pPr>
            <a:r>
              <a:rPr sz="5400" b="0" i="0">
                <a:solidFill>
                  <a:srgbClr val="F3F6FC"/>
                </a:solidFill>
                <a:latin typeface="Segoe UI Light"/>
              </a:rPr>
              <a:t>TLS y capa 7</a:t>
            </a:r>
          </a:p>
        </p:txBody>
      </p:sp>
      <p:sp>
        <p:nvSpPr>
          <p:cNvPr id="7" name="Rectangle 6"/>
          <p:cNvSpPr/>
          <p:nvPr/>
        </p:nvSpPr>
        <p:spPr>
          <a:xfrm>
            <a:off x="644000" y="438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8" name="TextBox 7"/>
          <p:cNvSpPr txBox="1"/>
          <p:nvPr/>
        </p:nvSpPr>
        <p:spPr>
          <a:xfrm>
            <a:off x="640000" y="4560000"/>
            <a:ext cx="9600000" cy="62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500" b="0" i="1">
                <a:solidFill>
                  <a:srgbClr val="BDC9DB"/>
                </a:solidFill>
                <a:latin typeface="Segoe UI"/>
              </a:rPr>
              <a:t>HTTPS propio y balanceo que entiende de HTTP</a:t>
            </a:r>
          </a:p>
        </p:txBody>
      </p:sp>
      <p:sp>
        <p:nvSpPr>
          <p:cNvPr id="9" name="Rectangle 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10</a:t>
            </a:r>
          </a:p>
        </p:txBody>
      </p:sp>
      <p:sp>
        <p:nvSpPr>
          <p:cNvPr id="11" name="TextBox 1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TERMINACIÓN TLS</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El certificado vive en un Secret, el descifrado en el borde</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10</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17</a:t>
            </a:r>
          </a:p>
        </p:txBody>
      </p:sp>
      <p:pic>
        <p:nvPicPr>
          <p:cNvPr id="8" name="Picture 7" descr="secret.png"/>
          <p:cNvPicPr>
            <a:picLocks noChangeAspect="1"/>
          </p:cNvPicPr>
          <p:nvPr/>
        </p:nvPicPr>
        <p:blipFill>
          <a:blip r:embed="rId2"/>
          <a:stretch>
            <a:fillRect/>
          </a:stretch>
        </p:blipFill>
        <p:spPr>
          <a:xfrm>
            <a:off x="10932000" y="275000"/>
            <a:ext cx="640000" cy="640000"/>
          </a:xfrm>
          <a:prstGeom prst="rect">
            <a:avLst/>
          </a:prstGeom>
        </p:spPr>
      </p:pic>
      <p:sp>
        <p:nvSpPr>
          <p:cNvPr id="9" name="Oval 8"/>
          <p:cNvSpPr/>
          <p:nvPr/>
        </p:nvSpPr>
        <p:spPr>
          <a:xfrm>
            <a:off x="636000" y="17517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0000" y="14700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spec.tls asocia hosts ↔ Secret kubernetes.io/tls (tls.crt + tls.key), en el mismo namespace.</a:t>
            </a:r>
          </a:p>
        </p:txBody>
      </p:sp>
      <p:sp>
        <p:nvSpPr>
          <p:cNvPr id="11" name="Oval 10"/>
          <p:cNvSpPr/>
          <p:nvPr/>
        </p:nvSpPr>
        <p:spPr>
          <a:xfrm>
            <a:off x="636000" y="24192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0000" y="21375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El controlador descifra en el borde: del controlador al Pod el tráfico va en claro.</a:t>
            </a:r>
          </a:p>
        </p:txBody>
      </p:sp>
      <p:sp>
        <p:nvSpPr>
          <p:cNvPr id="13" name="Oval 12"/>
          <p:cNvSpPr/>
          <p:nvPr/>
        </p:nvSpPr>
        <p:spPr>
          <a:xfrm>
            <a:off x="636000" y="30867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0000" y="28050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El certificado se elige por SNI (el host que pide el cliente). Sin coincidencia, cert por defecto.</a:t>
            </a:r>
          </a:p>
        </p:txBody>
      </p:sp>
      <p:sp>
        <p:nvSpPr>
          <p:cNvPr id="15" name="Oval 14"/>
          <p:cNvSpPr/>
          <p:nvPr/>
        </p:nvSpPr>
        <p:spPr>
          <a:xfrm>
            <a:off x="636000" y="37542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0000" y="34725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Prueba con curl --resolve y mira subject/issuer en la salida -v.</a:t>
            </a:r>
          </a:p>
        </p:txBody>
      </p:sp>
      <p:sp>
        <p:nvSpPr>
          <p:cNvPr id="17" name="Rounded Rectangle 16"/>
          <p:cNvSpPr/>
          <p:nvPr/>
        </p:nvSpPr>
        <p:spPr>
          <a:xfrm>
            <a:off x="6635040" y="1470000"/>
            <a:ext cx="4936960" cy="2670000"/>
          </a:xfrm>
          <a:prstGeom prst="roundRect">
            <a:avLst>
              <a:gd name="adj" fmla="val 3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Rectangle 17"/>
          <p:cNvSpPr/>
          <p:nvPr/>
        </p:nvSpPr>
        <p:spPr>
          <a:xfrm>
            <a:off x="6635040" y="1770000"/>
            <a:ext cx="46000" cy="237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6825040" y="1530000"/>
            <a:ext cx="4556960" cy="26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80">
                <a:solidFill>
                  <a:srgbClr val="8493AD"/>
                </a:solidFill>
                <a:latin typeface="Segoe UI Semibold"/>
              </a:rPr>
              <a:t>SECRET TLS Y BLOQUE TLS</a:t>
            </a:r>
          </a:p>
        </p:txBody>
      </p:sp>
      <p:sp>
        <p:nvSpPr>
          <p:cNvPr id="20" name="Rectangle 19"/>
          <p:cNvSpPr/>
          <p:nvPr/>
        </p:nvSpPr>
        <p:spPr>
          <a:xfrm>
            <a:off x="6825040" y="1764000"/>
            <a:ext cx="4556960" cy="1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6865040" y="1960000"/>
            <a:ext cx="4516960" cy="1983740"/>
          </a:xfrm>
          <a:prstGeom prst="rect">
            <a:avLst/>
          </a:prstGeom>
          <a:noFill/>
        </p:spPr>
        <p:txBody>
          <a:bodyPr wrap="square" anchor="t" lIns="0" rIns="0" tIns="0" bIns="0">
            <a:noAutofit/>
          </a:bodyPr>
          <a:lstStyle/>
          <a:p>
            <a:pPr marL="0" indent="0">
              <a:lnSpc>
                <a:spcPct val="134000"/>
              </a:lnSpc>
              <a:spcAft>
                <a:spcPts val="0"/>
              </a:spcAft>
              <a:buNone/>
            </a:pPr>
            <a:r>
              <a:rPr sz="1000" b="0" i="0">
                <a:solidFill>
                  <a:srgbClr val="E6EDF3"/>
                </a:solidFill>
                <a:latin typeface="Consolas"/>
              </a:rPr>
              <a:t>k create secret tls gratitud-tls \</a:t>
            </a:r>
          </a:p>
          <a:p>
            <a:pPr marL="0" indent="0">
              <a:lnSpc>
                <a:spcPct val="134000"/>
              </a:lnSpc>
              <a:spcAft>
                <a:spcPts val="0"/>
              </a:spcAft>
              <a:buNone/>
            </a:pPr>
            <a:r>
              <a:rPr sz="1000" b="0" i="0">
                <a:solidFill>
                  <a:srgbClr val="E6EDF3"/>
                </a:solidFill>
                <a:latin typeface="Consolas"/>
              </a:rPr>
              <a:t>  --cert=cert.pem --key=key.pem \</a:t>
            </a:r>
          </a:p>
          <a:p>
            <a:pPr marL="0" indent="0">
              <a:lnSpc>
                <a:spcPct val="134000"/>
              </a:lnSpc>
              <a:spcAft>
                <a:spcPts val="0"/>
              </a:spcAft>
              <a:buNone/>
            </a:pPr>
            <a:r>
              <a:rPr sz="1000" b="0" i="0">
                <a:solidFill>
                  <a:srgbClr val="E6EDF3"/>
                </a:solidFill>
                <a:latin typeface="Consolas"/>
              </a:rPr>
              <a:t>  -n gratitud-frontend</a:t>
            </a:r>
          </a:p>
          <a:p>
            <a:pPr marL="0" indent="0">
              <a:lnSpc>
                <a:spcPct val="134000"/>
              </a:lnSpc>
              <a:spcAft>
                <a:spcPts val="0"/>
              </a:spcAft>
              <a:buNone/>
            </a:pPr>
            <a:r>
              <a:rPr sz="1000" b="0" i="0">
                <a:solidFill>
                  <a:srgbClr val="E6EDF3"/>
                </a:solidFill>
                <a:latin typeface="Consolas"/>
              </a:rPr>
              <a:t/>
            </a:r>
          </a:p>
          <a:p>
            <a:pPr marL="0" indent="0">
              <a:lnSpc>
                <a:spcPct val="134000"/>
              </a:lnSpc>
              <a:spcAft>
                <a:spcPts val="0"/>
              </a:spcAft>
              <a:buNone/>
            </a:pPr>
            <a:r>
              <a:rPr sz="1000" b="0" i="0">
                <a:solidFill>
                  <a:srgbClr val="E6EDF3"/>
                </a:solidFill>
                <a:latin typeface="Consolas"/>
              </a:rPr>
              <a:t>spec:</a:t>
            </a:r>
          </a:p>
          <a:p>
            <a:pPr marL="0" indent="0">
              <a:lnSpc>
                <a:spcPct val="134000"/>
              </a:lnSpc>
              <a:spcAft>
                <a:spcPts val="0"/>
              </a:spcAft>
              <a:buNone/>
            </a:pPr>
            <a:r>
              <a:rPr sz="1000" b="0" i="0">
                <a:solidFill>
                  <a:srgbClr val="E6EDF3"/>
                </a:solidFill>
                <a:latin typeface="Consolas"/>
              </a:rPr>
              <a:t>  tls:</a:t>
            </a:r>
          </a:p>
          <a:p>
            <a:pPr marL="0" indent="0">
              <a:lnSpc>
                <a:spcPct val="134000"/>
              </a:lnSpc>
              <a:spcAft>
                <a:spcPts val="0"/>
              </a:spcAft>
              <a:buNone/>
            </a:pPr>
            <a:r>
              <a:rPr sz="1000" b="0" i="0">
                <a:solidFill>
                  <a:srgbClr val="E6EDF3"/>
                </a:solidFill>
                <a:latin typeface="Consolas"/>
              </a:rPr>
              <a:t>    - hosts: [gratitud.example.com]</a:t>
            </a:r>
          </a:p>
          <a:p>
            <a:pPr marL="0" indent="0">
              <a:lnSpc>
                <a:spcPct val="134000"/>
              </a:lnSpc>
              <a:spcAft>
                <a:spcPts val="0"/>
              </a:spcAft>
              <a:buNone/>
            </a:pPr>
            <a:r>
              <a:rPr sz="1000" b="0" i="0">
                <a:solidFill>
                  <a:srgbClr val="E6EDF3"/>
                </a:solidFill>
                <a:latin typeface="Consolas"/>
              </a:rPr>
              <a:t>      secretName: gratitud-tls</a:t>
            </a:r>
          </a:p>
          <a:p>
            <a:pPr marL="0" indent="0">
              <a:lnSpc>
                <a:spcPct val="134000"/>
              </a:lnSpc>
              <a:spcAft>
                <a:spcPts val="0"/>
              </a:spcAft>
              <a:buNone/>
            </a:pPr>
            <a:r>
              <a:rPr sz="1000" b="0" i="0">
                <a:solidFill>
                  <a:srgbClr val="E6EDF3"/>
                </a:solidFill>
                <a:latin typeface="Consolas"/>
              </a:rPr>
              <a:t>  rules:</a:t>
            </a:r>
          </a:p>
          <a:p>
            <a:pPr marL="0" indent="0">
              <a:lnSpc>
                <a:spcPct val="134000"/>
              </a:lnSpc>
              <a:spcAft>
                <a:spcPts val="0"/>
              </a:spcAft>
              <a:buNone/>
            </a:pPr>
            <a:r>
              <a:rPr sz="1000" b="0" i="0">
                <a:solidFill>
                  <a:srgbClr val="E6EDF3"/>
                </a:solidFill>
                <a:latin typeface="Consolas"/>
              </a:rPr>
              <a:t>    - host: gratitud.example.com</a:t>
            </a:r>
          </a:p>
          <a:p>
            <a:pPr marL="0" indent="0">
              <a:lnSpc>
                <a:spcPct val="134000"/>
              </a:lnSpc>
              <a:spcAft>
                <a:spcPts val="0"/>
              </a:spcAft>
              <a:buNone/>
            </a:pPr>
            <a:r>
              <a:rPr sz="1000" b="0" i="0">
                <a:solidFill>
                  <a:srgbClr val="E6EDF3"/>
                </a:solidFill>
                <a:latin typeface="Consolas"/>
              </a:rPr>
              <a:t>      http: { ... }</a:t>
            </a:r>
          </a:p>
        </p:txBody>
      </p:sp>
      <p:sp>
        <p:nvSpPr>
          <p:cNvPr id="22" name="Rounded Rectangle 21"/>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Rectangle 22"/>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00" b="0" i="0">
                <a:solidFill>
                  <a:srgbClr val="BDC9DB"/>
                </a:solidFill>
                <a:latin typeface="Segoe UI"/>
              </a:rPr>
              <a:t>Para servir HTTPS, el Ingress lleva una sección tls que asocia una lista de hosts a un Secret de tipo kubernetes.io/tls. Ese Secret contiene dos claves, tls.crt y tls.key, y tiene que estar en el MISMO namespace que el objeto Ingress. Se crea con kubectl create secret tls &lt;nombre&gt; --cert=... --key=...</a:t>
            </a:r>
          </a:p>
          <a:p>
            <a:pPr algn="l" marL="0" indent="0">
              <a:lnSpc>
                <a:spcPct val="128000"/>
              </a:lnSpc>
              <a:spcBef>
                <a:spcPts val="0"/>
              </a:spcBef>
              <a:spcAft>
                <a:spcPts val="400"/>
              </a:spcAft>
              <a:buNone/>
            </a:pPr>
            <a:r>
              <a:rPr sz="1000" b="0" i="0">
                <a:solidFill>
                  <a:srgbClr val="BDC9DB"/>
                </a:solidFill>
                <a:latin typeface="Segoe UI"/>
              </a:rPr>
              <a:t>El controlador termina el TLS en el borde: presenta el certificado al cliente, descifra la petición y, del controlador al Pod, el tráfico viaja en claro dentro del cluster. Elige qué certificado presentar según SNI, es decir, según el host que pide el cliente; si ninguno encaja, sirve un certificado por defecto autofirmado del propio controlador —y ahí es donde se ve que algo falla.</a:t>
            </a:r>
          </a:p>
          <a:p>
            <a:pPr algn="l" marL="0" indent="0">
              <a:lnSpc>
                <a:spcPct val="128000"/>
              </a:lnSpc>
              <a:spcBef>
                <a:spcPts val="0"/>
              </a:spcBef>
              <a:spcAft>
                <a:spcPts val="400"/>
              </a:spcAft>
              <a:buNone/>
            </a:pPr>
            <a:r>
              <a:rPr sz="1000" b="0" i="0">
                <a:solidFill>
                  <a:srgbClr val="BDC9DB"/>
                </a:solidFill>
                <a:latin typeface="Segoe UI"/>
              </a:rPr>
              <a:t>Para probar sin tocar /etc/hosts se usa curl --resolve host:puerto:IP, que fuerza la resolución de ese host a esa IP solo para esa llamada. En la salida -v se comprueba el subject y el issuer del certificado presentado: si aparece el CN que pusiste, la terminación TLS es tuya; si aparece el del controlador, el Secret no se está aplicando.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BALANCEO</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Capa 4 (kube-proxy) frente a capa 7 (controlador)</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10</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18</a:t>
            </a:r>
          </a:p>
        </p:txBody>
      </p:sp>
      <p:pic>
        <p:nvPicPr>
          <p:cNvPr id="8" name="Picture 7" descr="deploy.png"/>
          <p:cNvPicPr>
            <a:picLocks noChangeAspect="1"/>
          </p:cNvPicPr>
          <p:nvPr/>
        </p:nvPicPr>
        <p:blipFill>
          <a:blip r:embed="rId2"/>
          <a:stretch>
            <a:fillRect/>
          </a:stretch>
        </p:blipFill>
        <p:spPr>
          <a:xfrm>
            <a:off x="10932000" y="275000"/>
            <a:ext cx="640000" cy="640000"/>
          </a:xfrm>
          <a:prstGeom prst="rect">
            <a:avLst/>
          </a:prstGeom>
        </p:spPr>
      </p:pic>
      <p:sp>
        <p:nvSpPr>
          <p:cNvPr id="9" name="Rounded Rectangle 8"/>
          <p:cNvSpPr/>
          <p:nvPr/>
        </p:nvSpPr>
        <p:spPr>
          <a:xfrm>
            <a:off x="620000" y="1470000"/>
            <a:ext cx="5316000" cy="2670000"/>
          </a:xfrm>
          <a:prstGeom prst="roundRect">
            <a:avLst>
              <a:gd name="adj" fmla="val 5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Rectangle 9"/>
          <p:cNvSpPr/>
          <p:nvPr/>
        </p:nvSpPr>
        <p:spPr>
          <a:xfrm>
            <a:off x="644000" y="1470000"/>
            <a:ext cx="5268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880000" y="1730000"/>
            <a:ext cx="4796000" cy="570000"/>
          </a:xfrm>
          <a:prstGeom prst="rect">
            <a:avLst/>
          </a:prstGeom>
          <a:noFill/>
        </p:spPr>
        <p:txBody>
          <a:bodyPr wrap="square" anchor="t" lIns="0" rIns="0" tIns="0" bIns="0">
            <a:noAutofit/>
          </a:bodyPr>
          <a:lstStyle/>
          <a:p>
            <a:pPr algn="l" marL="0" indent="0">
              <a:lnSpc>
                <a:spcPct val="105000"/>
              </a:lnSpc>
              <a:spcBef>
                <a:spcPts val="0"/>
              </a:spcBef>
              <a:spcAft>
                <a:spcPts val="400"/>
              </a:spcAft>
              <a:buNone/>
            </a:pPr>
            <a:r>
              <a:rPr sz="1600" b="1" i="0">
                <a:solidFill>
                  <a:srgbClr val="F3F6FC"/>
                </a:solidFill>
                <a:latin typeface="Segoe UI Semibold"/>
              </a:rPr>
              <a:t>Capa 4 · kube-proxy</a:t>
            </a:r>
          </a:p>
          <a:p>
            <a:pPr algn="l" marL="0" indent="0">
              <a:lnSpc>
                <a:spcPct val="112000"/>
              </a:lnSpc>
              <a:spcBef>
                <a:spcPts val="0"/>
              </a:spcBef>
              <a:spcAft>
                <a:spcPts val="0"/>
              </a:spcAft>
              <a:buNone/>
            </a:pPr>
            <a:r>
              <a:rPr sz="1100" b="0" i="1">
                <a:solidFill>
                  <a:srgbClr val="8493AD"/>
                </a:solidFill>
                <a:latin typeface="Segoe UI"/>
              </a:rPr>
              <a:t>Por conexión</a:t>
            </a:r>
          </a:p>
        </p:txBody>
      </p:sp>
      <p:sp>
        <p:nvSpPr>
          <p:cNvPr id="12" name="TextBox 11"/>
          <p:cNvSpPr txBox="1"/>
          <p:nvPr/>
        </p:nvSpPr>
        <p:spPr>
          <a:xfrm>
            <a:off x="880000" y="2300000"/>
            <a:ext cx="4796000" cy="1660000"/>
          </a:xfrm>
          <a:prstGeom prst="rect">
            <a:avLst/>
          </a:prstGeom>
          <a:noFill/>
        </p:spPr>
        <p:txBody>
          <a:bodyPr wrap="square" anchor="t" lIns="0" rIns="0" tIns="0" bIns="0">
            <a:noAutofit/>
          </a:bodyPr>
          <a:lstStyle/>
          <a:p/>
          <a:p>
            <a:pPr algn="l" marL="182880" indent="-182880">
              <a:lnSpc>
                <a:spcPct val="116000"/>
              </a:lnSpc>
              <a:spcBef>
                <a:spcPts val="0"/>
              </a:spcBef>
              <a:spcAft>
                <a:spcPts val="800"/>
              </a:spcAft>
              <a:buFont typeface="Arial"/>
              <a:buChar char="•"/>
            </a:pPr>
            <a:r>
              <a:rPr sz="1100" b="0" i="0">
                <a:solidFill>
                  <a:srgbClr val="BDC9DB"/>
                </a:solidFill>
                <a:latin typeface="Segoe UI"/>
              </a:rPr>
              <a:t>Elige endpoint al abrir la conexión TCP y no cambia.</a:t>
            </a:r>
          </a:p>
          <a:p>
            <a:pPr algn="l" marL="182880" indent="-182880">
              <a:lnSpc>
                <a:spcPct val="116000"/>
              </a:lnSpc>
              <a:spcBef>
                <a:spcPts val="0"/>
              </a:spcBef>
              <a:spcAft>
                <a:spcPts val="800"/>
              </a:spcAft>
              <a:buFont typeface="Arial"/>
              <a:buChar char="•"/>
            </a:pPr>
            <a:r>
              <a:rPr sz="1100" b="0" i="0">
                <a:solidFill>
                  <a:srgbClr val="BDC9DB"/>
                </a:solidFill>
                <a:latin typeface="Segoe UI"/>
              </a:rPr>
              <a:t>No mira URL, cabeceras ni método.</a:t>
            </a:r>
          </a:p>
          <a:p>
            <a:pPr algn="l" marL="182880" indent="-182880">
              <a:lnSpc>
                <a:spcPct val="116000"/>
              </a:lnSpc>
              <a:spcBef>
                <a:spcPts val="0"/>
              </a:spcBef>
              <a:spcAft>
                <a:spcPts val="800"/>
              </a:spcAft>
              <a:buFont typeface="Arial"/>
              <a:buChar char="•"/>
            </a:pPr>
            <a:r>
              <a:rPr sz="1100" b="0" i="0">
                <a:solidFill>
                  <a:srgbClr val="BDC9DB"/>
                </a:solidFill>
                <a:latin typeface="Segoe UI"/>
              </a:rPr>
              <a:t>Sin afinidad por cookie, sin reintentos HTTP.</a:t>
            </a:r>
          </a:p>
          <a:p>
            <a:pPr algn="l" marL="182880" indent="-182880">
              <a:lnSpc>
                <a:spcPct val="116000"/>
              </a:lnSpc>
              <a:spcBef>
                <a:spcPts val="0"/>
              </a:spcBef>
              <a:spcAft>
                <a:spcPts val="800"/>
              </a:spcAft>
              <a:buFont typeface="Arial"/>
              <a:buChar char="•"/>
            </a:pPr>
            <a:r>
              <a:rPr sz="1100" b="0" i="0">
                <a:solidFill>
                  <a:srgbClr val="BDC9DB"/>
                </a:solidFill>
                <a:latin typeface="Segoe UI"/>
              </a:rPr>
              <a:t>Rápido y simple; es el balanceo del Service.</a:t>
            </a:r>
          </a:p>
        </p:txBody>
      </p:sp>
      <p:sp>
        <p:nvSpPr>
          <p:cNvPr id="13" name="Rounded Rectangle 12"/>
          <p:cNvSpPr/>
          <p:nvPr/>
        </p:nvSpPr>
        <p:spPr>
          <a:xfrm>
            <a:off x="6256000" y="1470000"/>
            <a:ext cx="5316000" cy="2670000"/>
          </a:xfrm>
          <a:prstGeom prst="roundRect">
            <a:avLst>
              <a:gd name="adj" fmla="val 5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6280000" y="1470000"/>
            <a:ext cx="5268000" cy="46000"/>
          </a:xfrm>
          <a:prstGeom prst="rect">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6516000" y="1730000"/>
            <a:ext cx="4796000" cy="570000"/>
          </a:xfrm>
          <a:prstGeom prst="rect">
            <a:avLst/>
          </a:prstGeom>
          <a:noFill/>
        </p:spPr>
        <p:txBody>
          <a:bodyPr wrap="square" anchor="t" lIns="0" rIns="0" tIns="0" bIns="0">
            <a:noAutofit/>
          </a:bodyPr>
          <a:lstStyle/>
          <a:p>
            <a:pPr algn="l" marL="0" indent="0">
              <a:lnSpc>
                <a:spcPct val="105000"/>
              </a:lnSpc>
              <a:spcBef>
                <a:spcPts val="0"/>
              </a:spcBef>
              <a:spcAft>
                <a:spcPts val="400"/>
              </a:spcAft>
              <a:buNone/>
            </a:pPr>
            <a:r>
              <a:rPr sz="1600" b="1" i="0">
                <a:solidFill>
                  <a:srgbClr val="F3F6FC"/>
                </a:solidFill>
                <a:latin typeface="Segoe UI Semibold"/>
              </a:rPr>
              <a:t>Capa 7 · controlador</a:t>
            </a:r>
          </a:p>
          <a:p>
            <a:pPr algn="l" marL="0" indent="0">
              <a:lnSpc>
                <a:spcPct val="112000"/>
              </a:lnSpc>
              <a:spcBef>
                <a:spcPts val="0"/>
              </a:spcBef>
              <a:spcAft>
                <a:spcPts val="0"/>
              </a:spcAft>
              <a:buNone/>
            </a:pPr>
            <a:r>
              <a:rPr sz="1100" b="0" i="1">
                <a:solidFill>
                  <a:srgbClr val="8493AD"/>
                </a:solidFill>
                <a:latin typeface="Segoe UI"/>
              </a:rPr>
              <a:t>Por petición</a:t>
            </a:r>
          </a:p>
        </p:txBody>
      </p:sp>
      <p:sp>
        <p:nvSpPr>
          <p:cNvPr id="16" name="TextBox 15"/>
          <p:cNvSpPr txBox="1"/>
          <p:nvPr/>
        </p:nvSpPr>
        <p:spPr>
          <a:xfrm>
            <a:off x="6516000" y="2300000"/>
            <a:ext cx="4796000" cy="1660000"/>
          </a:xfrm>
          <a:prstGeom prst="rect">
            <a:avLst/>
          </a:prstGeom>
          <a:noFill/>
        </p:spPr>
        <p:txBody>
          <a:bodyPr wrap="square" anchor="t" lIns="0" rIns="0" tIns="0" bIns="0">
            <a:noAutofit/>
          </a:bodyPr>
          <a:lstStyle/>
          <a:p/>
          <a:p>
            <a:pPr algn="l" marL="182880" indent="-182880">
              <a:lnSpc>
                <a:spcPct val="116000"/>
              </a:lnSpc>
              <a:spcBef>
                <a:spcPts val="0"/>
              </a:spcBef>
              <a:spcAft>
                <a:spcPts val="800"/>
              </a:spcAft>
              <a:buFont typeface="Arial"/>
              <a:buChar char="•"/>
            </a:pPr>
            <a:r>
              <a:rPr sz="1100" b="0" i="0">
                <a:solidFill>
                  <a:srgbClr val="BDC9DB"/>
                </a:solidFill>
                <a:latin typeface="Segoe UI"/>
              </a:rPr>
              <a:t>Reparte petición a petición sobre la misma conexión.</a:t>
            </a:r>
          </a:p>
          <a:p>
            <a:pPr algn="l" marL="182880" indent="-182880">
              <a:lnSpc>
                <a:spcPct val="116000"/>
              </a:lnSpc>
              <a:spcBef>
                <a:spcPts val="0"/>
              </a:spcBef>
              <a:spcAft>
                <a:spcPts val="800"/>
              </a:spcAft>
              <a:buFont typeface="Arial"/>
              <a:buChar char="•"/>
            </a:pPr>
            <a:r>
              <a:rPr sz="1100" b="0" i="0">
                <a:solidFill>
                  <a:srgbClr val="BDC9DB"/>
                </a:solidFill>
                <a:latin typeface="Segoe UI"/>
              </a:rPr>
              <a:t>Enruta por path, host, cabecera, método.</a:t>
            </a:r>
          </a:p>
          <a:p>
            <a:pPr algn="l" marL="182880" indent="-182880">
              <a:lnSpc>
                <a:spcPct val="116000"/>
              </a:lnSpc>
              <a:spcBef>
                <a:spcPts val="0"/>
              </a:spcBef>
              <a:spcAft>
                <a:spcPts val="800"/>
              </a:spcAft>
              <a:buFont typeface="Arial"/>
              <a:buChar char="•"/>
            </a:pPr>
            <a:r>
              <a:rPr sz="1100" b="0" i="0">
                <a:solidFill>
                  <a:srgbClr val="BDC9DB"/>
                </a:solidFill>
                <a:latin typeface="Segoe UI"/>
              </a:rPr>
              <a:t>Afinidad de sesión por cookie; reintentos; health checks activos.</a:t>
            </a:r>
          </a:p>
          <a:p>
            <a:pPr algn="l" marL="182880" indent="-182880">
              <a:lnSpc>
                <a:spcPct val="116000"/>
              </a:lnSpc>
              <a:spcBef>
                <a:spcPts val="0"/>
              </a:spcBef>
              <a:spcAft>
                <a:spcPts val="800"/>
              </a:spcAft>
              <a:buFont typeface="Arial"/>
              <a:buChar char="•"/>
            </a:pPr>
            <a:r>
              <a:rPr sz="1100" b="0" i="0">
                <a:solidFill>
                  <a:srgbClr val="BDC9DB"/>
                </a:solidFill>
                <a:latin typeface="Segoe UI"/>
              </a:rPr>
              <a:t>A menudo habla directo a las IPs del EndpointSlice.</a:t>
            </a:r>
          </a:p>
        </p:txBody>
      </p:sp>
      <p:sp>
        <p:nvSpPr>
          <p:cNvPr id="17" name="Rounded Rectangle 16"/>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Rectangle 17"/>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50" b="0" i="0">
                <a:solidFill>
                  <a:srgbClr val="BDC9DB"/>
                </a:solidFill>
                <a:latin typeface="Segoe UI"/>
              </a:rPr>
              <a:t>kube-proxy balancea en capa 4: elige un endpoint por conexión TCP y no vuelve a mirar. No sabe qué viaja dentro, así que todas las peticiones de una misma conexión keep-alive caen en el mismo Pod, y no puede tomar decisiones por URL, cabecera o método.</a:t>
            </a:r>
          </a:p>
          <a:p>
            <a:pPr algn="l" marL="0" indent="0">
              <a:lnSpc>
                <a:spcPct val="128000"/>
              </a:lnSpc>
              <a:spcBef>
                <a:spcPts val="0"/>
              </a:spcBef>
              <a:spcAft>
                <a:spcPts val="400"/>
              </a:spcAft>
              <a:buNone/>
            </a:pPr>
            <a:r>
              <a:rPr sz="1050" b="0" i="0">
                <a:solidFill>
                  <a:srgbClr val="BDC9DB"/>
                </a:solidFill>
                <a:latin typeface="Segoe UI"/>
              </a:rPr>
              <a:t>El Ingress Controller balancea en capa 7: como habla HTTP, puede repartir petición a petición aunque compartan conexión, enrutar según path o cabeceras, mantener afinidad de sesión con una cookie, reintentar una petición fallida contra otro Pod y sacar de rotación los backends que fallan sus health checks.</a:t>
            </a:r>
          </a:p>
          <a:p>
            <a:pPr algn="l" marL="0" indent="0">
              <a:lnSpc>
                <a:spcPct val="128000"/>
              </a:lnSpc>
              <a:spcBef>
                <a:spcPts val="0"/>
              </a:spcBef>
              <a:spcAft>
                <a:spcPts val="400"/>
              </a:spcAft>
              <a:buNone/>
            </a:pPr>
            <a:r>
              <a:rPr sz="1050" b="0" i="0">
                <a:solidFill>
                  <a:srgbClr val="BDC9DB"/>
                </a:solidFill>
                <a:latin typeface="Segoe UI"/>
              </a:rPr>
              <a:t>En la práctica conviven: el tráfico entra por el Service del controlador (capa 4) y, ya dentro, el controlador aplica su balanceo de capa 7 hacia los Pods. Muchos controladores se saltan la ClusterIP del Service backend y hablan directamente con las IPs del EndpointSlice para tener ese control fino.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992000" y="-1500000"/>
            <a:ext cx="3400000" cy="34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470000"/>
            <a:ext cx="4492000" cy="360000"/>
          </a:xfrm>
          <a:prstGeom prst="roundRect">
            <a:avLst>
              <a:gd name="adj" fmla="val 50000"/>
            </a:avLst>
          </a:prstGeom>
          <a:noFill/>
          <a:ln w="1270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000" b="1" i="0" spc="140">
                <a:solidFill>
                  <a:srgbClr val="74A6FF"/>
                </a:solidFill>
                <a:latin typeface="Segoe UI"/>
              </a:rPr>
              <a:t>Nivel avanzado — solo requerimientos</a:t>
            </a:r>
          </a:p>
        </p:txBody>
      </p:sp>
      <p:sp>
        <p:nvSpPr>
          <p:cNvPr id="4" name="TextBox 3"/>
          <p:cNvSpPr txBox="1"/>
          <p:nvPr/>
        </p:nvSpPr>
        <p:spPr>
          <a:xfrm>
            <a:off x="640000" y="990000"/>
            <a:ext cx="10912000" cy="76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3100" b="0" i="0">
                <a:solidFill>
                  <a:srgbClr val="F3F6FC"/>
                </a:solidFill>
                <a:latin typeface="Segoe UI Light"/>
              </a:rPr>
              <a:t>LAB 10.3 — HTTPS propio para GRATITUD</a:t>
            </a:r>
          </a:p>
        </p:txBody>
      </p:sp>
      <p:sp>
        <p:nvSpPr>
          <p:cNvPr id="5" name="TextBox 4"/>
          <p:cNvSpPr txBox="1"/>
          <p:nvPr/>
        </p:nvSpPr>
        <p:spPr>
          <a:xfrm>
            <a:off x="640000" y="1800000"/>
            <a:ext cx="7452000" cy="64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300" b="0" i="1">
                <a:solidFill>
                  <a:srgbClr val="BDC9DB"/>
                </a:solidFill>
                <a:latin typeface="Segoe UI"/>
              </a:rPr>
              <a:t>Partir del Ingress HTTP del LAB 10.2 y llegar, solo a partir de requerimientos de seguridad, a HTTPS con certificado propio en dos dominios.</a:t>
            </a:r>
          </a:p>
        </p:txBody>
      </p:sp>
      <p:sp>
        <p:nvSpPr>
          <p:cNvPr id="6" name="Oval 5"/>
          <p:cNvSpPr/>
          <p:nvPr/>
        </p:nvSpPr>
        <p:spPr>
          <a:xfrm>
            <a:off x="640000" y="2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7" name="TextBox 6"/>
          <p:cNvSpPr txBox="1"/>
          <p:nvPr/>
        </p:nvSpPr>
        <p:spPr>
          <a:xfrm>
            <a:off x="1110000" y="256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Generar un certificado para gratitud.example.com y otro para admin.gratitud.example.com.</a:t>
            </a:r>
          </a:p>
        </p:txBody>
      </p:sp>
      <p:sp>
        <p:nvSpPr>
          <p:cNvPr id="8" name="Oval 7"/>
          <p:cNvSpPr/>
          <p:nvPr/>
        </p:nvSpPr>
        <p:spPr>
          <a:xfrm>
            <a:off x="640000" y="325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9" name="TextBox 8"/>
          <p:cNvSpPr txBox="1"/>
          <p:nvPr/>
        </p:nvSpPr>
        <p:spPr>
          <a:xfrm>
            <a:off x="1110000" y="312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Crear los Secret kubernetes.io/tls en el namespace correcto.</a:t>
            </a:r>
          </a:p>
        </p:txBody>
      </p:sp>
      <p:sp>
        <p:nvSpPr>
          <p:cNvPr id="10" name="Oval 9"/>
          <p:cNvSpPr/>
          <p:nvPr/>
        </p:nvSpPr>
        <p:spPr>
          <a:xfrm>
            <a:off x="640000" y="381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1" name="TextBox 10"/>
          <p:cNvSpPr txBox="1"/>
          <p:nvPr/>
        </p:nvSpPr>
        <p:spPr>
          <a:xfrm>
            <a:off x="1110000" y="368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Añadir la sección tls al Ingress y asociar cada host a su Secret.</a:t>
            </a:r>
          </a:p>
        </p:txBody>
      </p:sp>
      <p:sp>
        <p:nvSpPr>
          <p:cNvPr id="12" name="Oval 11"/>
          <p:cNvSpPr/>
          <p:nvPr/>
        </p:nvSpPr>
        <p:spPr>
          <a:xfrm>
            <a:off x="640000" y="437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3" name="TextBox 12"/>
          <p:cNvSpPr txBox="1"/>
          <p:nvPr/>
        </p:nvSpPr>
        <p:spPr>
          <a:xfrm>
            <a:off x="1110000" y="424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Probar HTTPS con curl --resolve y verificar subject e issuer del certificado presentado.</a:t>
            </a:r>
          </a:p>
        </p:txBody>
      </p:sp>
      <p:sp>
        <p:nvSpPr>
          <p:cNvPr id="14" name="Oval 13"/>
          <p:cNvSpPr/>
          <p:nvPr/>
        </p:nvSpPr>
        <p:spPr>
          <a:xfrm>
            <a:off x="640000" y="493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sp>
        <p:nvSpPr>
          <p:cNvPr id="15" name="TextBox 14"/>
          <p:cNvSpPr txBox="1"/>
          <p:nvPr/>
        </p:nvSpPr>
        <p:spPr>
          <a:xfrm>
            <a:off x="1110000" y="480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Forzar el caso de fallo: quitar el Secret y observar el certificado por defecto del controlador.</a:t>
            </a:r>
          </a:p>
        </p:txBody>
      </p:sp>
      <p:sp>
        <p:nvSpPr>
          <p:cNvPr id="16" name="Freeform 15"/>
          <p:cNvSpPr/>
          <p:nvPr/>
        </p:nvSpPr>
        <p:spPr>
          <a:xfrm>
            <a:off x="9590000" y="1418800"/>
            <a:ext cx="784000" cy="842800"/>
          </a:xfrm>
          <a:custGeom>
            <a:avLst/>
            <a:gdLst/>
            <a:ahLst/>
            <a:cxnLst/>
            <a:rect l="l" t="t" r="r" b="b"/>
            <a:pathLst>
              <a:path w="784000" h="842800">
                <a:moveTo>
                  <a:pt x="235200" y="0"/>
                </a:moveTo>
                <a:lnTo>
                  <a:pt x="235200" y="333200"/>
                </a:lnTo>
                <a:lnTo>
                  <a:pt x="0" y="842800"/>
                </a:lnTo>
                <a:lnTo>
                  <a:pt x="784000" y="842800"/>
                </a:lnTo>
                <a:lnTo>
                  <a:pt x="548800" y="333200"/>
                </a:lnTo>
                <a:lnTo>
                  <a:pt x="548800" y="0"/>
                </a:lnTo>
              </a:path>
            </a:pathLst>
          </a:custGeom>
          <a:noFill/>
          <a:ln w="3302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9766400" y="1418800"/>
            <a:ext cx="4312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727200" y="2006800"/>
            <a:ext cx="5096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392000" y="2560000"/>
            <a:ext cx="3180000" cy="3510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Rectangle 19"/>
          <p:cNvSpPr/>
          <p:nvPr/>
        </p:nvSpPr>
        <p:spPr>
          <a:xfrm>
            <a:off x="8392000" y="2560000"/>
            <a:ext cx="318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8592000" y="274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ARCHIVO</a:t>
            </a:r>
          </a:p>
          <a:p>
            <a:pPr algn="l" marL="0" indent="0">
              <a:lnSpc>
                <a:spcPct val="112000"/>
              </a:lnSpc>
              <a:spcBef>
                <a:spcPts val="0"/>
              </a:spcBef>
              <a:spcAft>
                <a:spcPts val="0"/>
              </a:spcAft>
              <a:buNone/>
            </a:pPr>
            <a:r>
              <a:rPr sz="1100" b="0" i="0">
                <a:solidFill>
                  <a:srgbClr val="F3F6FC"/>
                </a:solidFill>
                <a:latin typeface="Consolas"/>
              </a:rPr>
              <a:t>CLASE-10/LABORATORIOS/LAB-03-AVANZADO.md</a:t>
            </a:r>
          </a:p>
        </p:txBody>
      </p:sp>
      <p:sp>
        <p:nvSpPr>
          <p:cNvPr id="22" name="Rectangle 21"/>
          <p:cNvSpPr/>
          <p:nvPr/>
        </p:nvSpPr>
        <p:spPr>
          <a:xfrm>
            <a:off x="8592000" y="379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TextBox 22"/>
          <p:cNvSpPr txBox="1"/>
          <p:nvPr/>
        </p:nvSpPr>
        <p:spPr>
          <a:xfrm>
            <a:off x="8592000" y="383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DURACIÓN</a:t>
            </a:r>
          </a:p>
          <a:p>
            <a:pPr algn="l" marL="0" indent="0">
              <a:lnSpc>
                <a:spcPct val="112000"/>
              </a:lnSpc>
              <a:spcBef>
                <a:spcPts val="0"/>
              </a:spcBef>
              <a:spcAft>
                <a:spcPts val="0"/>
              </a:spcAft>
              <a:buNone/>
            </a:pPr>
            <a:r>
              <a:rPr sz="1100" b="1" i="0">
                <a:solidFill>
                  <a:srgbClr val="F3F6FC"/>
                </a:solidFill>
                <a:latin typeface="Segoe UI Semibold"/>
              </a:rPr>
              <a:t>30 min</a:t>
            </a:r>
          </a:p>
        </p:txBody>
      </p:sp>
      <p:sp>
        <p:nvSpPr>
          <p:cNvPr id="24" name="Rectangle 23"/>
          <p:cNvSpPr/>
          <p:nvPr/>
        </p:nvSpPr>
        <p:spPr>
          <a:xfrm>
            <a:off x="8592000" y="488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8592000" y="492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VALIDACIÓN</a:t>
            </a:r>
          </a:p>
          <a:p>
            <a:pPr algn="l" marL="0" indent="0">
              <a:lnSpc>
                <a:spcPct val="112000"/>
              </a:lnSpc>
              <a:spcBef>
                <a:spcPts val="0"/>
              </a:spcBef>
              <a:spcAft>
                <a:spcPts val="0"/>
              </a:spcAft>
              <a:buNone/>
            </a:pPr>
            <a:r>
              <a:rPr sz="1100" b="0" i="0">
                <a:solidFill>
                  <a:srgbClr val="F3F6FC"/>
                </a:solidFill>
                <a:latin typeface="Consolas"/>
              </a:rPr>
              <a:t>curl -kv --resolve ...</a:t>
            </a:r>
          </a:p>
        </p:txBody>
      </p:sp>
      <p:sp>
        <p:nvSpPr>
          <p:cNvPr id="26" name="Rectangle 25"/>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TextBox 26"/>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10</a:t>
            </a:r>
          </a:p>
        </p:txBody>
      </p:sp>
      <p:sp>
        <p:nvSpPr>
          <p:cNvPr id="28" name="TextBox 27"/>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992000" y="-1500000"/>
            <a:ext cx="3400000" cy="34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470000"/>
            <a:ext cx="4604000" cy="360000"/>
          </a:xfrm>
          <a:prstGeom prst="roundRect">
            <a:avLst>
              <a:gd name="adj" fmla="val 50000"/>
            </a:avLst>
          </a:prstGeom>
          <a:noFill/>
          <a:ln w="12700">
            <a:solidFill>
              <a:srgbClr val="F8514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000" b="1" i="0" spc="140">
                <a:solidFill>
                  <a:srgbClr val="FF7B72"/>
                </a:solidFill>
                <a:latin typeface="Segoe UI"/>
              </a:rPr>
              <a:t>Challenge — el escenario arranca roto</a:t>
            </a:r>
          </a:p>
        </p:txBody>
      </p:sp>
      <p:sp>
        <p:nvSpPr>
          <p:cNvPr id="4" name="TextBox 3"/>
          <p:cNvSpPr txBox="1"/>
          <p:nvPr/>
        </p:nvSpPr>
        <p:spPr>
          <a:xfrm>
            <a:off x="640000" y="990000"/>
            <a:ext cx="10912000" cy="76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3100" b="0" i="0">
                <a:solidFill>
                  <a:srgbClr val="F3F6FC"/>
                </a:solidFill>
                <a:latin typeface="Segoe UI Light"/>
              </a:rPr>
              <a:t>LAB 10.4 — Challenge: «el Ingress no enruta»</a:t>
            </a:r>
          </a:p>
        </p:txBody>
      </p:sp>
      <p:sp>
        <p:nvSpPr>
          <p:cNvPr id="5" name="TextBox 4"/>
          <p:cNvSpPr txBox="1"/>
          <p:nvPr/>
        </p:nvSpPr>
        <p:spPr>
          <a:xfrm>
            <a:off x="640000" y="1800000"/>
            <a:ext cx="7452000" cy="64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300" b="0" i="1">
                <a:solidFill>
                  <a:srgbClr val="BDC9DB"/>
                </a:solidFill>
                <a:latin typeface="Segoe UI"/>
              </a:rPr>
              <a:t>El Ingress existe pero el portal da 404, la API da 503 y el HTTPS presenta un certificado que no es el nuestro. Cuatro fallos: clase, backend, pathType y TLS.</a:t>
            </a:r>
          </a:p>
        </p:txBody>
      </p:sp>
      <p:sp>
        <p:nvSpPr>
          <p:cNvPr id="6" name="Oval 5"/>
          <p:cNvSpPr/>
          <p:nvPr/>
        </p:nvSpPr>
        <p:spPr>
          <a:xfrm>
            <a:off x="640000" y="2690000"/>
            <a:ext cx="300000" cy="300000"/>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7" name="TextBox 6"/>
          <p:cNvSpPr txBox="1"/>
          <p:nvPr/>
        </p:nvSpPr>
        <p:spPr>
          <a:xfrm>
            <a:off x="1110000" y="256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Prepara el escenario: RECURSOS/SCRIPTS/setup-lab.sh (requiere el controlador del LAB 10.1).</a:t>
            </a:r>
          </a:p>
        </p:txBody>
      </p:sp>
      <p:sp>
        <p:nvSpPr>
          <p:cNvPr id="8" name="Oval 7"/>
          <p:cNvSpPr/>
          <p:nvPr/>
        </p:nvSpPr>
        <p:spPr>
          <a:xfrm>
            <a:off x="640000" y="3250000"/>
            <a:ext cx="300000" cy="300000"/>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9" name="TextBox 8"/>
          <p:cNvSpPr txBox="1"/>
          <p:nvPr/>
        </p:nvSpPr>
        <p:spPr>
          <a:xfrm>
            <a:off x="1110000" y="312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Empieza por lo que funciona: ¿tiene ADDRESS el Ingress? ¿tienen endpoints los Services?</a:t>
            </a:r>
          </a:p>
        </p:txBody>
      </p:sp>
      <p:sp>
        <p:nvSpPr>
          <p:cNvPr id="10" name="Oval 9"/>
          <p:cNvSpPr/>
          <p:nvPr/>
        </p:nvSpPr>
        <p:spPr>
          <a:xfrm>
            <a:off x="640000" y="3810000"/>
            <a:ext cx="300000" cy="300000"/>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1" name="TextBox 10"/>
          <p:cNvSpPr txBox="1"/>
          <p:nvPr/>
        </p:nvSpPr>
        <p:spPr>
          <a:xfrm>
            <a:off x="1110000" y="368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Ruta: ingressClassName → Service backend y puerto → pathType/path → host y Secret TLS.</a:t>
            </a:r>
          </a:p>
        </p:txBody>
      </p:sp>
      <p:sp>
        <p:nvSpPr>
          <p:cNvPr id="12" name="Oval 11"/>
          <p:cNvSpPr/>
          <p:nvPr/>
        </p:nvSpPr>
        <p:spPr>
          <a:xfrm>
            <a:off x="640000" y="4370000"/>
            <a:ext cx="300000" cy="300000"/>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3" name="TextBox 12"/>
          <p:cNvSpPr txBox="1"/>
          <p:nvPr/>
        </p:nvSpPr>
        <p:spPr>
          <a:xfrm>
            <a:off x="1110000" y="424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Corrige in situ. Prohibido borrar el Ingress o exponer los Services por NodePort.</a:t>
            </a:r>
          </a:p>
        </p:txBody>
      </p:sp>
      <p:sp>
        <p:nvSpPr>
          <p:cNvPr id="14" name="Oval 13"/>
          <p:cNvSpPr/>
          <p:nvPr/>
        </p:nvSpPr>
        <p:spPr>
          <a:xfrm>
            <a:off x="9825200" y="1497200"/>
            <a:ext cx="313600" cy="313600"/>
          </a:xfrm>
          <a:prstGeom prst="ellipse">
            <a:avLst/>
          </a:prstGeom>
          <a:noFill/>
          <a:ln w="33020">
            <a:solidFill>
              <a:srgbClr val="FF7B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66400" y="1752000"/>
            <a:ext cx="431200" cy="490000"/>
          </a:xfrm>
          <a:prstGeom prst="ellipse">
            <a:avLst/>
          </a:prstGeom>
          <a:noFill/>
          <a:ln w="33020">
            <a:solidFill>
              <a:srgbClr val="FF7B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flipH="1" flipV="1">
            <a:off x="9550800" y="17912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0178000" y="17912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9550800" y="19480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178000" y="19480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9550800" y="21048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0178000" y="21048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392000" y="2560000"/>
            <a:ext cx="3180000" cy="3510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Rectangle 22"/>
          <p:cNvSpPr/>
          <p:nvPr/>
        </p:nvSpPr>
        <p:spPr>
          <a:xfrm>
            <a:off x="8392000" y="2560000"/>
            <a:ext cx="3180000" cy="46000"/>
          </a:xfrm>
          <a:prstGeom prst="rect">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8592000" y="274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ARCHIVO</a:t>
            </a:r>
          </a:p>
          <a:p>
            <a:pPr algn="l" marL="0" indent="0">
              <a:lnSpc>
                <a:spcPct val="112000"/>
              </a:lnSpc>
              <a:spcBef>
                <a:spcPts val="0"/>
              </a:spcBef>
              <a:spcAft>
                <a:spcPts val="0"/>
              </a:spcAft>
              <a:buNone/>
            </a:pPr>
            <a:r>
              <a:rPr sz="1100" b="0" i="0">
                <a:solidFill>
                  <a:srgbClr val="F3F6FC"/>
                </a:solidFill>
                <a:latin typeface="Consolas"/>
              </a:rPr>
              <a:t>CLASE-10/LABORATORIOS/LAB-04-CHALLENGE.md</a:t>
            </a:r>
          </a:p>
        </p:txBody>
      </p:sp>
      <p:sp>
        <p:nvSpPr>
          <p:cNvPr id="25" name="Rectangle 24"/>
          <p:cNvSpPr/>
          <p:nvPr/>
        </p:nvSpPr>
        <p:spPr>
          <a:xfrm>
            <a:off x="8592000" y="379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6" name="TextBox 25"/>
          <p:cNvSpPr txBox="1"/>
          <p:nvPr/>
        </p:nvSpPr>
        <p:spPr>
          <a:xfrm>
            <a:off x="8592000" y="383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DURACIÓN</a:t>
            </a:r>
          </a:p>
          <a:p>
            <a:pPr algn="l" marL="0" indent="0">
              <a:lnSpc>
                <a:spcPct val="112000"/>
              </a:lnSpc>
              <a:spcBef>
                <a:spcPts val="0"/>
              </a:spcBef>
              <a:spcAft>
                <a:spcPts val="0"/>
              </a:spcAft>
              <a:buNone/>
            </a:pPr>
            <a:r>
              <a:rPr sz="1100" b="1" i="0">
                <a:solidFill>
                  <a:srgbClr val="F3F6FC"/>
                </a:solidFill>
                <a:latin typeface="Segoe UI Semibold"/>
              </a:rPr>
              <a:t>20 min</a:t>
            </a:r>
          </a:p>
        </p:txBody>
      </p:sp>
      <p:sp>
        <p:nvSpPr>
          <p:cNvPr id="27" name="Rectangle 26"/>
          <p:cNvSpPr/>
          <p:nvPr/>
        </p:nvSpPr>
        <p:spPr>
          <a:xfrm>
            <a:off x="8592000" y="488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8" name="TextBox 27"/>
          <p:cNvSpPr txBox="1"/>
          <p:nvPr/>
        </p:nvSpPr>
        <p:spPr>
          <a:xfrm>
            <a:off x="8592000" y="492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VALIDACIÓN</a:t>
            </a:r>
          </a:p>
          <a:p>
            <a:pPr algn="l" marL="0" indent="0">
              <a:lnSpc>
                <a:spcPct val="112000"/>
              </a:lnSpc>
              <a:spcBef>
                <a:spcPts val="0"/>
              </a:spcBef>
              <a:spcAft>
                <a:spcPts val="0"/>
              </a:spcAft>
              <a:buNone/>
            </a:pPr>
            <a:r>
              <a:rPr sz="1100" b="0" i="0">
                <a:solidFill>
                  <a:srgbClr val="F3F6FC"/>
                </a:solidFill>
                <a:latin typeface="Consolas"/>
              </a:rPr>
              <a:t>./validate-lab.sh</a:t>
            </a:r>
          </a:p>
        </p:txBody>
      </p:sp>
      <p:sp>
        <p:nvSpPr>
          <p:cNvPr id="29" name="Rectangle 2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0" name="TextBox 2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10</a:t>
            </a:r>
          </a:p>
        </p:txBody>
      </p:sp>
      <p:sp>
        <p:nvSpPr>
          <p:cNvPr id="31" name="TextBox 3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MENTAL MODEL</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Traducción de síntomas de Ingress</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10</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21</a:t>
            </a:r>
          </a:p>
        </p:txBody>
      </p:sp>
      <p:pic>
        <p:nvPicPr>
          <p:cNvPr id="8" name="Picture 7" descr="ing.png"/>
          <p:cNvPicPr>
            <a:picLocks noChangeAspect="1"/>
          </p:cNvPicPr>
          <p:nvPr/>
        </p:nvPicPr>
        <p:blipFill>
          <a:blip r:embed="rId2"/>
          <a:stretch>
            <a:fillRect/>
          </a:stretch>
        </p:blipFill>
        <p:spPr>
          <a:xfrm>
            <a:off x="10932000" y="275000"/>
            <a:ext cx="640000" cy="640000"/>
          </a:xfrm>
          <a:prstGeom prst="rect">
            <a:avLst/>
          </a:prstGeom>
        </p:spPr>
      </p:pic>
      <p:sp>
        <p:nvSpPr>
          <p:cNvPr id="9" name="Rectangle 8"/>
          <p:cNvSpPr/>
          <p:nvPr/>
        </p:nvSpPr>
        <p:spPr>
          <a:xfrm>
            <a:off x="620000" y="1470000"/>
            <a:ext cx="10952000" cy="420000"/>
          </a:xfrm>
          <a:prstGeom prst="rect">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Rectangle 9"/>
          <p:cNvSpPr/>
          <p:nvPr/>
        </p:nvSpPr>
        <p:spPr>
          <a:xfrm>
            <a:off x="620000" y="1882000"/>
            <a:ext cx="10952000" cy="1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780000" y="1470000"/>
            <a:ext cx="3065600" cy="4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60">
                <a:solidFill>
                  <a:srgbClr val="74A6FF"/>
                </a:solidFill>
                <a:latin typeface="Segoe UI Semibold"/>
              </a:rPr>
              <a:t>LO QUE OBSERVAS</a:t>
            </a:r>
          </a:p>
        </p:txBody>
      </p:sp>
      <p:sp>
        <p:nvSpPr>
          <p:cNvPr id="12" name="TextBox 11"/>
          <p:cNvSpPr txBox="1"/>
          <p:nvPr/>
        </p:nvSpPr>
        <p:spPr>
          <a:xfrm>
            <a:off x="4065600" y="1470000"/>
            <a:ext cx="4160800" cy="4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60">
                <a:solidFill>
                  <a:srgbClr val="74A6FF"/>
                </a:solidFill>
                <a:latin typeface="Segoe UI Semibold"/>
              </a:rPr>
              <a:t>DÓNDE ESTÁ EL PROBLEMA</a:t>
            </a:r>
          </a:p>
        </p:txBody>
      </p:sp>
      <p:sp>
        <p:nvSpPr>
          <p:cNvPr id="13" name="TextBox 12"/>
          <p:cNvSpPr txBox="1"/>
          <p:nvPr/>
        </p:nvSpPr>
        <p:spPr>
          <a:xfrm>
            <a:off x="8446400" y="1470000"/>
            <a:ext cx="3065600" cy="4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60">
                <a:solidFill>
                  <a:srgbClr val="74A6FF"/>
                </a:solidFill>
                <a:latin typeface="Segoe UI Semibold"/>
              </a:rPr>
              <a:t>COMANDO</a:t>
            </a:r>
          </a:p>
        </p:txBody>
      </p:sp>
      <p:sp>
        <p:nvSpPr>
          <p:cNvPr id="14" name="Rectangle 13"/>
          <p:cNvSpPr/>
          <p:nvPr/>
        </p:nvSpPr>
        <p:spPr>
          <a:xfrm>
            <a:off x="620000" y="245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780000" y="189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ADDRESS vacío tras 2 min</a:t>
            </a:r>
          </a:p>
        </p:txBody>
      </p:sp>
      <p:sp>
        <p:nvSpPr>
          <p:cNvPr id="16" name="TextBox 15"/>
          <p:cNvSpPr txBox="1"/>
          <p:nvPr/>
        </p:nvSpPr>
        <p:spPr>
          <a:xfrm>
            <a:off x="4065600" y="1890000"/>
            <a:ext cx="41608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ingressClassName, o el controlador no corre</a:t>
            </a:r>
          </a:p>
        </p:txBody>
      </p:sp>
      <p:sp>
        <p:nvSpPr>
          <p:cNvPr id="17" name="TextBox 16"/>
          <p:cNvSpPr txBox="1"/>
          <p:nvPr/>
        </p:nvSpPr>
        <p:spPr>
          <a:xfrm>
            <a:off x="8446400" y="189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get ingress,ingressclass</a:t>
            </a:r>
          </a:p>
        </p:txBody>
      </p:sp>
      <p:sp>
        <p:nvSpPr>
          <p:cNvPr id="18" name="Rectangle 17"/>
          <p:cNvSpPr/>
          <p:nvPr/>
        </p:nvSpPr>
        <p:spPr>
          <a:xfrm>
            <a:off x="620000" y="2450000"/>
            <a:ext cx="10952000" cy="560000"/>
          </a:xfrm>
          <a:prstGeom prst="rect">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Rectangle 18"/>
          <p:cNvSpPr/>
          <p:nvPr/>
        </p:nvSpPr>
        <p:spPr>
          <a:xfrm>
            <a:off x="620000" y="301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TextBox 19"/>
          <p:cNvSpPr txBox="1"/>
          <p:nvPr/>
        </p:nvSpPr>
        <p:spPr>
          <a:xfrm>
            <a:off x="780000" y="245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404 del controlador</a:t>
            </a:r>
          </a:p>
        </p:txBody>
      </p:sp>
      <p:sp>
        <p:nvSpPr>
          <p:cNvPr id="21" name="TextBox 20"/>
          <p:cNvSpPr txBox="1"/>
          <p:nvPr/>
        </p:nvSpPr>
        <p:spPr>
          <a:xfrm>
            <a:off x="4065600" y="2450000"/>
            <a:ext cx="41608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host o path no encajan con ninguna regla</a:t>
            </a:r>
          </a:p>
        </p:txBody>
      </p:sp>
      <p:sp>
        <p:nvSpPr>
          <p:cNvPr id="22" name="TextBox 21"/>
          <p:cNvSpPr txBox="1"/>
          <p:nvPr/>
        </p:nvSpPr>
        <p:spPr>
          <a:xfrm>
            <a:off x="8446400" y="245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describe ingress</a:t>
            </a:r>
          </a:p>
        </p:txBody>
      </p:sp>
      <p:sp>
        <p:nvSpPr>
          <p:cNvPr id="23" name="Rectangle 22"/>
          <p:cNvSpPr/>
          <p:nvPr/>
        </p:nvSpPr>
        <p:spPr>
          <a:xfrm>
            <a:off x="620000" y="357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780000" y="301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503 en una ruta concreta</a:t>
            </a:r>
          </a:p>
        </p:txBody>
      </p:sp>
      <p:sp>
        <p:nvSpPr>
          <p:cNvPr id="25" name="TextBox 24"/>
          <p:cNvSpPr txBox="1"/>
          <p:nvPr/>
        </p:nvSpPr>
        <p:spPr>
          <a:xfrm>
            <a:off x="4065600" y="3010000"/>
            <a:ext cx="41608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el Service backend no tiene endpoints</a:t>
            </a:r>
          </a:p>
        </p:txBody>
      </p:sp>
      <p:sp>
        <p:nvSpPr>
          <p:cNvPr id="26" name="TextBox 25"/>
          <p:cNvSpPr txBox="1"/>
          <p:nvPr/>
        </p:nvSpPr>
        <p:spPr>
          <a:xfrm>
            <a:off x="8446400" y="301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get endpointslices</a:t>
            </a:r>
          </a:p>
        </p:txBody>
      </p:sp>
      <p:sp>
        <p:nvSpPr>
          <p:cNvPr id="27" name="Rectangle 26"/>
          <p:cNvSpPr/>
          <p:nvPr/>
        </p:nvSpPr>
        <p:spPr>
          <a:xfrm>
            <a:off x="620000" y="3570000"/>
            <a:ext cx="10952000" cy="560000"/>
          </a:xfrm>
          <a:prstGeom prst="rect">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8" name="Rectangle 27"/>
          <p:cNvSpPr/>
          <p:nvPr/>
        </p:nvSpPr>
        <p:spPr>
          <a:xfrm>
            <a:off x="620000" y="413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9" name="TextBox 28"/>
          <p:cNvSpPr txBox="1"/>
          <p:nvPr/>
        </p:nvSpPr>
        <p:spPr>
          <a:xfrm>
            <a:off x="780000" y="357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Backend responde 404 propio</a:t>
            </a:r>
          </a:p>
        </p:txBody>
      </p:sp>
      <p:sp>
        <p:nvSpPr>
          <p:cNvPr id="30" name="TextBox 29"/>
          <p:cNvSpPr txBox="1"/>
          <p:nvPr/>
        </p:nvSpPr>
        <p:spPr>
          <a:xfrm>
            <a:off x="4065600" y="3570000"/>
            <a:ext cx="41608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le llega el path sin reescribir</a:t>
            </a:r>
          </a:p>
        </p:txBody>
      </p:sp>
      <p:sp>
        <p:nvSpPr>
          <p:cNvPr id="31" name="TextBox 30"/>
          <p:cNvSpPr txBox="1"/>
          <p:nvPr/>
        </p:nvSpPr>
        <p:spPr>
          <a:xfrm>
            <a:off x="8446400" y="357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logs del backend</a:t>
            </a:r>
          </a:p>
        </p:txBody>
      </p:sp>
      <p:sp>
        <p:nvSpPr>
          <p:cNvPr id="32" name="Rectangle 31"/>
          <p:cNvSpPr/>
          <p:nvPr/>
        </p:nvSpPr>
        <p:spPr>
          <a:xfrm>
            <a:off x="620000" y="469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3" name="TextBox 32"/>
          <p:cNvSpPr txBox="1"/>
          <p:nvPr/>
        </p:nvSpPr>
        <p:spPr>
          <a:xfrm>
            <a:off x="780000" y="413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HTTPS con cert por defecto</a:t>
            </a:r>
          </a:p>
        </p:txBody>
      </p:sp>
      <p:sp>
        <p:nvSpPr>
          <p:cNvPr id="34" name="TextBox 33"/>
          <p:cNvSpPr txBox="1"/>
          <p:nvPr/>
        </p:nvSpPr>
        <p:spPr>
          <a:xfrm>
            <a:off x="4065600" y="4130000"/>
            <a:ext cx="41608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Secret TLS ausente, mal nombrado o en otro ns</a:t>
            </a:r>
          </a:p>
        </p:txBody>
      </p:sp>
      <p:sp>
        <p:nvSpPr>
          <p:cNvPr id="35" name="TextBox 34"/>
          <p:cNvSpPr txBox="1"/>
          <p:nvPr/>
        </p:nvSpPr>
        <p:spPr>
          <a:xfrm>
            <a:off x="8446400" y="413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get secret -n &lt;ns-ingress&gt;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CHECKLIST</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Comprueba que puedes hacer esto sin apuntes</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10</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22</a:t>
            </a:r>
          </a:p>
        </p:txBody>
      </p:sp>
      <p:sp>
        <p:nvSpPr>
          <p:cNvPr id="8" name="Rounded Rectangle 7"/>
          <p:cNvSpPr/>
          <p:nvPr/>
        </p:nvSpPr>
        <p:spPr>
          <a:xfrm>
            <a:off x="10996000" y="339000"/>
            <a:ext cx="512000" cy="512000"/>
          </a:xfrm>
          <a:prstGeom prst="roundRect">
            <a:avLst>
              <a:gd name="adj" fmla="val 20000"/>
            </a:avLst>
          </a:prstGeom>
          <a:noFill/>
          <a:ln w="3810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1124000" y="607800"/>
            <a:ext cx="89600" cy="102400"/>
          </a:xfrm>
          <a:prstGeom prst="line">
            <a:avLst/>
          </a:prstGeom>
          <a:ln w="4953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213600" y="479800"/>
            <a:ext cx="179200" cy="230400"/>
          </a:xfrm>
          <a:prstGeom prst="line">
            <a:avLst/>
          </a:prstGeom>
          <a:ln w="4953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0000" y="262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12" name="TextBox 11"/>
          <p:cNvSpPr txBox="1"/>
          <p:nvPr/>
        </p:nvSpPr>
        <p:spPr>
          <a:xfrm>
            <a:off x="1120000" y="249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Explico qué añade un Ingress Controller sobre un Service.</a:t>
            </a:r>
          </a:p>
        </p:txBody>
      </p:sp>
      <p:sp>
        <p:nvSpPr>
          <p:cNvPr id="13" name="Rounded Rectangle 12"/>
          <p:cNvSpPr/>
          <p:nvPr/>
        </p:nvSpPr>
        <p:spPr>
          <a:xfrm>
            <a:off x="620000" y="318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14" name="TextBox 13"/>
          <p:cNvSpPr txBox="1"/>
          <p:nvPr/>
        </p:nvSpPr>
        <p:spPr>
          <a:xfrm>
            <a:off x="1120000" y="305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Distingo el objeto Ingress del controlador que lo ejecuta.</a:t>
            </a:r>
          </a:p>
        </p:txBody>
      </p:sp>
      <p:sp>
        <p:nvSpPr>
          <p:cNvPr id="15" name="Rounded Rectangle 14"/>
          <p:cNvSpPr/>
          <p:nvPr/>
        </p:nvSpPr>
        <p:spPr>
          <a:xfrm>
            <a:off x="620000" y="374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16" name="TextBox 15"/>
          <p:cNvSpPr txBox="1"/>
          <p:nvPr/>
        </p:nvSpPr>
        <p:spPr>
          <a:xfrm>
            <a:off x="1120000" y="361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Sé qué es ingressClassName y qué pasa si no existe la clase.</a:t>
            </a:r>
          </a:p>
        </p:txBody>
      </p:sp>
      <p:sp>
        <p:nvSpPr>
          <p:cNvPr id="17" name="Rounded Rectangle 16"/>
          <p:cNvSpPr/>
          <p:nvPr/>
        </p:nvSpPr>
        <p:spPr>
          <a:xfrm>
            <a:off x="620000" y="430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18" name="TextBox 17"/>
          <p:cNvSpPr txBox="1"/>
          <p:nvPr/>
        </p:nvSpPr>
        <p:spPr>
          <a:xfrm>
            <a:off x="1120000" y="417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Escribo reglas por host y por path en un solo Ingress.</a:t>
            </a:r>
          </a:p>
        </p:txBody>
      </p:sp>
      <p:sp>
        <p:nvSpPr>
          <p:cNvPr id="19" name="Rounded Rectangle 18"/>
          <p:cNvSpPr/>
          <p:nvPr/>
        </p:nvSpPr>
        <p:spPr>
          <a:xfrm>
            <a:off x="620000" y="486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20" name="TextBox 19"/>
          <p:cNvSpPr txBox="1"/>
          <p:nvPr/>
        </p:nvSpPr>
        <p:spPr>
          <a:xfrm>
            <a:off x="1120000" y="473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Elijo bien entre pathType Prefix y Exact.</a:t>
            </a:r>
          </a:p>
        </p:txBody>
      </p:sp>
      <p:sp>
        <p:nvSpPr>
          <p:cNvPr id="21" name="Rounded Rectangle 20"/>
          <p:cNvSpPr/>
          <p:nvPr/>
        </p:nvSpPr>
        <p:spPr>
          <a:xfrm>
            <a:off x="6256000" y="262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22" name="TextBox 21"/>
          <p:cNvSpPr txBox="1"/>
          <p:nvPr/>
        </p:nvSpPr>
        <p:spPr>
          <a:xfrm>
            <a:off x="6756000" y="249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Sé que el backend recibe el path sin reescribir salvo que use rewrite.</a:t>
            </a:r>
          </a:p>
        </p:txBody>
      </p:sp>
      <p:sp>
        <p:nvSpPr>
          <p:cNvPr id="23" name="Rounded Rectangle 22"/>
          <p:cNvSpPr/>
          <p:nvPr/>
        </p:nvSpPr>
        <p:spPr>
          <a:xfrm>
            <a:off x="6256000" y="318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24" name="TextBox 23"/>
          <p:cNvSpPr txBox="1"/>
          <p:nvPr/>
        </p:nvSpPr>
        <p:spPr>
          <a:xfrm>
            <a:off x="6756000" y="305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Creo un Secret kubernetes.io/tls y lo asocio a un host.</a:t>
            </a:r>
          </a:p>
        </p:txBody>
      </p:sp>
      <p:sp>
        <p:nvSpPr>
          <p:cNvPr id="25" name="Rounded Rectangle 24"/>
          <p:cNvSpPr/>
          <p:nvPr/>
        </p:nvSpPr>
        <p:spPr>
          <a:xfrm>
            <a:off x="6256000" y="374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26" name="TextBox 25"/>
          <p:cNvSpPr txBox="1"/>
          <p:nvPr/>
        </p:nvSpPr>
        <p:spPr>
          <a:xfrm>
            <a:off x="6756000" y="361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Pruebo HTTPS con curl --resolve y leo subject/issuer.</a:t>
            </a:r>
          </a:p>
        </p:txBody>
      </p:sp>
      <p:sp>
        <p:nvSpPr>
          <p:cNvPr id="27" name="Rounded Rectangle 26"/>
          <p:cNvSpPr/>
          <p:nvPr/>
        </p:nvSpPr>
        <p:spPr>
          <a:xfrm>
            <a:off x="6256000" y="430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28" name="TextBox 27"/>
          <p:cNvSpPr txBox="1"/>
          <p:nvPr/>
        </p:nvSpPr>
        <p:spPr>
          <a:xfrm>
            <a:off x="6756000" y="417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Explico el balanceo de capa 7 frente al de kube-proxy.</a:t>
            </a:r>
          </a:p>
        </p:txBody>
      </p:sp>
      <p:sp>
        <p:nvSpPr>
          <p:cNvPr id="29" name="Rounded Rectangle 28"/>
          <p:cNvSpPr/>
          <p:nvPr/>
        </p:nvSpPr>
        <p:spPr>
          <a:xfrm>
            <a:off x="6256000" y="486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30" name="TextBox 29"/>
          <p:cNvSpPr txBox="1"/>
          <p:nvPr/>
        </p:nvSpPr>
        <p:spPr>
          <a:xfrm>
            <a:off x="6756000" y="473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Diagnostico un 404, un 503 y un certificado por defecto.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592000" y="-1400000"/>
            <a:ext cx="4000000" cy="40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00000" y="4358000"/>
            <a:ext cx="3800000" cy="38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ubernetes.png"/>
          <p:cNvPicPr>
            <a:picLocks noChangeAspect="1"/>
          </p:cNvPicPr>
          <p:nvPr/>
        </p:nvPicPr>
        <p:blipFill>
          <a:blip r:embed="rId2"/>
          <a:stretch>
            <a:fillRect/>
          </a:stretch>
        </p:blipFill>
        <p:spPr>
          <a:xfrm>
            <a:off x="9542000" y="900000"/>
            <a:ext cx="1650000" cy="1650000"/>
          </a:xfrm>
          <a:prstGeom prst="rect">
            <a:avLst/>
          </a:prstGeom>
        </p:spPr>
      </p:pic>
      <p:sp>
        <p:nvSpPr>
          <p:cNvPr id="5" name="TextBox 4"/>
          <p:cNvSpPr txBox="1"/>
          <p:nvPr/>
        </p:nvSpPr>
        <p:spPr>
          <a:xfrm>
            <a:off x="640000" y="300000"/>
            <a:ext cx="9000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CIERRE DE LA SESIÓN</a:t>
            </a:r>
          </a:p>
        </p:txBody>
      </p:sp>
      <p:sp>
        <p:nvSpPr>
          <p:cNvPr id="6" name="TextBox 5"/>
          <p:cNvSpPr txBox="1"/>
          <p:nvPr/>
        </p:nvSpPr>
        <p:spPr>
          <a:xfrm>
            <a:off x="640000" y="1560000"/>
            <a:ext cx="9200000" cy="900000"/>
          </a:xfrm>
          <a:prstGeom prst="rect">
            <a:avLst/>
          </a:prstGeom>
          <a:noFill/>
        </p:spPr>
        <p:txBody>
          <a:bodyPr wrap="square" anchor="t" lIns="0" rIns="0" tIns="0" bIns="0">
            <a:noAutofit/>
          </a:bodyPr>
          <a:lstStyle/>
          <a:p>
            <a:pPr algn="l" marL="0" indent="0">
              <a:lnSpc>
                <a:spcPct val="104000"/>
              </a:lnSpc>
              <a:spcBef>
                <a:spcPts val="0"/>
              </a:spcBef>
              <a:spcAft>
                <a:spcPts val="0"/>
              </a:spcAft>
              <a:buNone/>
            </a:pPr>
            <a:r>
              <a:rPr sz="4400" b="0" i="0">
                <a:solidFill>
                  <a:srgbClr val="F3F6FC"/>
                </a:solidFill>
                <a:latin typeface="Segoe UI Light"/>
              </a:rPr>
              <a:t>Sesión 10 completada</a:t>
            </a:r>
          </a:p>
        </p:txBody>
      </p:sp>
      <p:sp>
        <p:nvSpPr>
          <p:cNvPr id="7" name="Rectangle 6"/>
          <p:cNvSpPr/>
          <p:nvPr/>
        </p:nvSpPr>
        <p:spPr>
          <a:xfrm>
            <a:off x="644000" y="256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8" name="TextBox 7"/>
          <p:cNvSpPr txBox="1"/>
          <p:nvPr/>
        </p:nvSpPr>
        <p:spPr>
          <a:xfrm>
            <a:off x="640000" y="2820000"/>
            <a:ext cx="9752000" cy="2600000"/>
          </a:xfrm>
          <a:prstGeom prst="rect">
            <a:avLst/>
          </a:prstGeom>
          <a:noFill/>
        </p:spPr>
        <p:txBody>
          <a:bodyPr wrap="square" anchor="t" lIns="0" rIns="0" tIns="0" bIns="0">
            <a:noAutofit/>
          </a:bodyPr>
          <a:lstStyle/>
          <a:p>
            <a:pPr algn="l" marL="0" indent="0">
              <a:lnSpc>
                <a:spcPct val="132000"/>
              </a:lnSpc>
              <a:spcBef>
                <a:spcPts val="0"/>
              </a:spcBef>
              <a:spcAft>
                <a:spcPts val="1400"/>
              </a:spcAft>
              <a:buNone/>
            </a:pPr>
            <a:r>
              <a:rPr sz="1500" b="0" i="0">
                <a:solidFill>
                  <a:srgbClr val="BDC9DB"/>
                </a:solidFill>
                <a:latin typeface="Segoe UI"/>
              </a:rPr>
              <a:t>Ya publicas muchas aplicaciones tras una sola entrada y decides por host y por path quién llega a dónde.</a:t>
            </a:r>
          </a:p>
          <a:p>
            <a:pPr algn="l" marL="0" indent="0">
              <a:lnSpc>
                <a:spcPct val="132000"/>
              </a:lnSpc>
              <a:spcBef>
                <a:spcPts val="0"/>
              </a:spcBef>
              <a:spcAft>
                <a:spcPts val="1400"/>
              </a:spcAft>
              <a:buNone/>
            </a:pPr>
            <a:r>
              <a:rPr sz="1500" b="0" i="0">
                <a:solidFill>
                  <a:srgbClr val="BDC9DB"/>
                </a:solidFill>
                <a:latin typeface="Segoe UI"/>
              </a:rPr>
              <a:t>El Ingress es solo reglas; el controlador es quien enruta, termina el TLS y balancea en capa 7. Sin controlador, el YAML no hace nada.</a:t>
            </a:r>
          </a:p>
          <a:p>
            <a:pPr algn="l" marL="0" indent="0">
              <a:lnSpc>
                <a:spcPct val="132000"/>
              </a:lnSpc>
              <a:spcBef>
                <a:spcPts val="0"/>
              </a:spcBef>
              <a:spcAft>
                <a:spcPts val="1400"/>
              </a:spcAft>
              <a:buNone/>
            </a:pPr>
            <a:r>
              <a:rPr sz="1500" b="0" i="0">
                <a:solidFill>
                  <a:srgbClr val="BDC9DB"/>
                </a:solidFill>
                <a:latin typeface="Segoe UI"/>
              </a:rPr>
              <a:t>GRATITUD ya se sirve por HTTPS con tu propio certificado. El siguiente paso es controlar quién puede hablar con quién: NetworkPolicy.</a:t>
            </a:r>
          </a:p>
        </p:txBody>
      </p:sp>
      <p:sp>
        <p:nvSpPr>
          <p:cNvPr id="9" name="Rectangle 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10</a:t>
            </a:r>
          </a:p>
        </p:txBody>
      </p:sp>
      <p:sp>
        <p:nvSpPr>
          <p:cNvPr id="11" name="TextBox 1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10 — Control de Tráfico Excluyente (Ingress)</dc:title>
  <dc:subject>Sesión 10 — Control de Tráfico Excluyente (Ingress)</dc:subject>
  <dc:creator>CKA Hands-On Training</dc:creator>
  <cp:keywords/>
  <dc:description>Generado con generador-diapositivas/</dc:description>
  <cp:lastModifiedBy>Steve Canny</cp:lastModifiedBy>
  <cp:revision>1</cp:revision>
  <dcterms:created xsi:type="dcterms:W3CDTF">2013-01-27T09:14:16Z</dcterms:created>
  <dcterms:modified xsi:type="dcterms:W3CDTF">2013-01-27T09:15:58Z</dcterms:modified>
  <cp:category/>
</cp:coreProperties>
</file>